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80"/>
  </p:notesMasterIdLst>
  <p:handoutMasterIdLst>
    <p:handoutMasterId r:id="rId81"/>
  </p:handoutMasterIdLst>
  <p:sldIdLst>
    <p:sldId id="256" r:id="rId2"/>
    <p:sldId id="688" r:id="rId3"/>
    <p:sldId id="644" r:id="rId4"/>
    <p:sldId id="704" r:id="rId5"/>
    <p:sldId id="705" r:id="rId6"/>
    <p:sldId id="706" r:id="rId7"/>
    <p:sldId id="502" r:id="rId8"/>
    <p:sldId id="707" r:id="rId9"/>
    <p:sldId id="473" r:id="rId10"/>
    <p:sldId id="474" r:id="rId11"/>
    <p:sldId id="748" r:id="rId12"/>
    <p:sldId id="472" r:id="rId13"/>
    <p:sldId id="746" r:id="rId14"/>
    <p:sldId id="721" r:id="rId15"/>
    <p:sldId id="747" r:id="rId16"/>
    <p:sldId id="750" r:id="rId17"/>
    <p:sldId id="751" r:id="rId18"/>
    <p:sldId id="752" r:id="rId19"/>
    <p:sldId id="773" r:id="rId20"/>
    <p:sldId id="774" r:id="rId21"/>
    <p:sldId id="775" r:id="rId22"/>
    <p:sldId id="776" r:id="rId23"/>
    <p:sldId id="777" r:id="rId24"/>
    <p:sldId id="778" r:id="rId25"/>
    <p:sldId id="784" r:id="rId26"/>
    <p:sldId id="785" r:id="rId27"/>
    <p:sldId id="786" r:id="rId28"/>
    <p:sldId id="787" r:id="rId29"/>
    <p:sldId id="788" r:id="rId30"/>
    <p:sldId id="779" r:id="rId31"/>
    <p:sldId id="780" r:id="rId32"/>
    <p:sldId id="781" r:id="rId33"/>
    <p:sldId id="782" r:id="rId34"/>
    <p:sldId id="783" r:id="rId35"/>
    <p:sldId id="757" r:id="rId36"/>
    <p:sldId id="790" r:id="rId37"/>
    <p:sldId id="789" r:id="rId38"/>
    <p:sldId id="755" r:id="rId39"/>
    <p:sldId id="756" r:id="rId40"/>
    <p:sldId id="754" r:id="rId41"/>
    <p:sldId id="758" r:id="rId42"/>
    <p:sldId id="759" r:id="rId43"/>
    <p:sldId id="760" r:id="rId44"/>
    <p:sldId id="761" r:id="rId45"/>
    <p:sldId id="593" r:id="rId46"/>
    <p:sldId id="739" r:id="rId47"/>
    <p:sldId id="745" r:id="rId48"/>
    <p:sldId id="730" r:id="rId49"/>
    <p:sldId id="594" r:id="rId50"/>
    <p:sldId id="595" r:id="rId51"/>
    <p:sldId id="596" r:id="rId52"/>
    <p:sldId id="713" r:id="rId53"/>
    <p:sldId id="726" r:id="rId54"/>
    <p:sldId id="710" r:id="rId55"/>
    <p:sldId id="609" r:id="rId56"/>
    <p:sldId id="728" r:id="rId57"/>
    <p:sldId id="727" r:id="rId58"/>
    <p:sldId id="729" r:id="rId59"/>
    <p:sldId id="612" r:id="rId60"/>
    <p:sldId id="715" r:id="rId61"/>
    <p:sldId id="613" r:id="rId62"/>
    <p:sldId id="616" r:id="rId63"/>
    <p:sldId id="716" r:id="rId64"/>
    <p:sldId id="717" r:id="rId65"/>
    <p:sldId id="731" r:id="rId66"/>
    <p:sldId id="722" r:id="rId67"/>
    <p:sldId id="724" r:id="rId68"/>
    <p:sldId id="766" r:id="rId69"/>
    <p:sldId id="767" r:id="rId70"/>
    <p:sldId id="768" r:id="rId71"/>
    <p:sldId id="769" r:id="rId72"/>
    <p:sldId id="770" r:id="rId73"/>
    <p:sldId id="771" r:id="rId74"/>
    <p:sldId id="772" r:id="rId75"/>
    <p:sldId id="645" r:id="rId76"/>
    <p:sldId id="646" r:id="rId77"/>
    <p:sldId id="647" r:id="rId78"/>
    <p:sldId id="648" r:id="rId7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67"/>
    <p:restoredTop sz="94294"/>
  </p:normalViewPr>
  <p:slideViewPr>
    <p:cSldViewPr>
      <p:cViewPr varScale="1">
        <p:scale>
          <a:sx n="115" d="100"/>
          <a:sy n="115" d="100"/>
        </p:scale>
        <p:origin x="208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615097-50F6-E1F3-0C81-7336706CF1A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charset="0"/>
                <a:ea typeface="ＭＳ Ｐゴシック" charset="-128"/>
              </a:defRPr>
            </a:lvl1pPr>
          </a:lstStyle>
          <a:p>
            <a:pPr>
              <a:defRPr/>
            </a:pPr>
            <a:endParaRPr lang="en-US"/>
          </a:p>
        </p:txBody>
      </p:sp>
      <p:sp>
        <p:nvSpPr>
          <p:cNvPr id="3" name="Date Placeholder 2">
            <a:extLst>
              <a:ext uri="{FF2B5EF4-FFF2-40B4-BE49-F238E27FC236}">
                <a16:creationId xmlns:a16="http://schemas.microsoft.com/office/drawing/2014/main" id="{AA07716A-2FE9-D845-82B8-2639AC4AC05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a:latin typeface="Arial" charset="0"/>
                <a:ea typeface="ＭＳ Ｐゴシック" charset="-128"/>
              </a:defRPr>
            </a:lvl1pPr>
          </a:lstStyle>
          <a:p>
            <a:pPr>
              <a:defRPr/>
            </a:pPr>
            <a:fld id="{9DE3ED04-B676-AF4D-AB89-22BF8964BD72}" type="datetimeFigureOut">
              <a:rPr lang="en-US"/>
              <a:pPr>
                <a:defRPr/>
              </a:pPr>
              <a:t>9/28/26</a:t>
            </a:fld>
            <a:endParaRPr lang="en-US" dirty="0"/>
          </a:p>
        </p:txBody>
      </p:sp>
      <p:sp>
        <p:nvSpPr>
          <p:cNvPr id="4" name="Footer Placeholder 3">
            <a:extLst>
              <a:ext uri="{FF2B5EF4-FFF2-40B4-BE49-F238E27FC236}">
                <a16:creationId xmlns:a16="http://schemas.microsoft.com/office/drawing/2014/main" id="{DF7A466B-FAA3-1551-6489-223BC15A1B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charset="0"/>
                <a:ea typeface="ＭＳ Ｐゴシック" charset="-128"/>
              </a:defRPr>
            </a:lvl1pPr>
          </a:lstStyle>
          <a:p>
            <a:pPr>
              <a:defRPr/>
            </a:pPr>
            <a:endParaRPr lang="en-US"/>
          </a:p>
        </p:txBody>
      </p:sp>
      <p:sp>
        <p:nvSpPr>
          <p:cNvPr id="5" name="Slide Number Placeholder 4">
            <a:extLst>
              <a:ext uri="{FF2B5EF4-FFF2-40B4-BE49-F238E27FC236}">
                <a16:creationId xmlns:a16="http://schemas.microsoft.com/office/drawing/2014/main" id="{FA7CE727-389B-B682-90BD-C40216778C89}"/>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0054BD65-0CB9-6F46-B14B-BDF830FE0A6F}" type="slidenum">
              <a:rPr lang="en-US" altLang="en-US"/>
              <a:pPr>
                <a:defRPr/>
              </a:pPr>
              <a:t>‹#›</a:t>
            </a:fld>
            <a:endParaRPr lang="en-US" alt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3522" name="Rectangle 2">
            <a:extLst>
              <a:ext uri="{FF2B5EF4-FFF2-40B4-BE49-F238E27FC236}">
                <a16:creationId xmlns:a16="http://schemas.microsoft.com/office/drawing/2014/main" id="{7D1204D1-DAED-AA4B-62E2-07ACAABBA57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128"/>
              </a:defRPr>
            </a:lvl1pPr>
          </a:lstStyle>
          <a:p>
            <a:pPr>
              <a:defRPr/>
            </a:pPr>
            <a:endParaRPr lang="x-none" altLang="x-none"/>
          </a:p>
        </p:txBody>
      </p:sp>
      <p:sp>
        <p:nvSpPr>
          <p:cNvPr id="363523" name="Rectangle 3">
            <a:extLst>
              <a:ext uri="{FF2B5EF4-FFF2-40B4-BE49-F238E27FC236}">
                <a16:creationId xmlns:a16="http://schemas.microsoft.com/office/drawing/2014/main" id="{720BCFC9-156D-BE13-BA08-EDFB6D020391}"/>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128"/>
              </a:defRPr>
            </a:lvl1pPr>
          </a:lstStyle>
          <a:p>
            <a:pPr>
              <a:defRPr/>
            </a:pPr>
            <a:endParaRPr lang="x-none" altLang="x-none"/>
          </a:p>
        </p:txBody>
      </p:sp>
      <p:sp>
        <p:nvSpPr>
          <p:cNvPr id="13316" name="Rectangle 4">
            <a:extLst>
              <a:ext uri="{FF2B5EF4-FFF2-40B4-BE49-F238E27FC236}">
                <a16:creationId xmlns:a16="http://schemas.microsoft.com/office/drawing/2014/main" id="{970AA96C-BE41-81D8-2E77-E661BD31A92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3525" name="Rectangle 5">
            <a:extLst>
              <a:ext uri="{FF2B5EF4-FFF2-40B4-BE49-F238E27FC236}">
                <a16:creationId xmlns:a16="http://schemas.microsoft.com/office/drawing/2014/main" id="{865DBCF9-ABD7-D09A-CB66-2F4C3326DC70}"/>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3526" name="Rectangle 6">
            <a:extLst>
              <a:ext uri="{FF2B5EF4-FFF2-40B4-BE49-F238E27FC236}">
                <a16:creationId xmlns:a16="http://schemas.microsoft.com/office/drawing/2014/main" id="{B2D15BCD-22FC-B94C-E52D-0BE98A764DC8}"/>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128"/>
              </a:defRPr>
            </a:lvl1pPr>
          </a:lstStyle>
          <a:p>
            <a:pPr>
              <a:defRPr/>
            </a:pPr>
            <a:endParaRPr lang="x-none" altLang="x-none"/>
          </a:p>
        </p:txBody>
      </p:sp>
      <p:sp>
        <p:nvSpPr>
          <p:cNvPr id="363527" name="Rectangle 7">
            <a:extLst>
              <a:ext uri="{FF2B5EF4-FFF2-40B4-BE49-F238E27FC236}">
                <a16:creationId xmlns:a16="http://schemas.microsoft.com/office/drawing/2014/main" id="{01835F88-7B3C-C403-80E1-03670BBA1B6B}"/>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77B3FF5-6F16-9B49-B58B-E780940FDD04}"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246AE8EB-9355-BAB8-B114-B7C92DCE40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0636E312-A661-484B-9159-D4EF558DFB67}" type="slidenum">
              <a:rPr lang="en-US" altLang="en-US" smtClean="0"/>
              <a:pPr>
                <a:spcBef>
                  <a:spcPct val="0"/>
                </a:spcBef>
              </a:pPr>
              <a:t>1</a:t>
            </a:fld>
            <a:endParaRPr lang="en-US" altLang="en-US"/>
          </a:p>
        </p:txBody>
      </p:sp>
      <p:sp>
        <p:nvSpPr>
          <p:cNvPr id="16386" name="Rectangle 2">
            <a:extLst>
              <a:ext uri="{FF2B5EF4-FFF2-40B4-BE49-F238E27FC236}">
                <a16:creationId xmlns:a16="http://schemas.microsoft.com/office/drawing/2014/main" id="{CE59FC04-27A5-8ACB-4D39-F6BC6C869AAB}"/>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2BC96BFD-C753-B394-F7D5-E43B84E14D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a:extLst>
              <a:ext uri="{FF2B5EF4-FFF2-40B4-BE49-F238E27FC236}">
                <a16:creationId xmlns:a16="http://schemas.microsoft.com/office/drawing/2014/main" id="{5F834F02-87F5-B79D-5E69-EB951F02CE4A}"/>
              </a:ext>
            </a:extLst>
          </p:cNvPr>
          <p:cNvSpPr>
            <a:spLocks noGrp="1" noRot="1" noChangeAspect="1" noChangeArrowheads="1" noTextEdit="1"/>
          </p:cNvSpPr>
          <p:nvPr>
            <p:ph type="sldImg"/>
          </p:nvPr>
        </p:nvSpPr>
        <p:spPr>
          <a:ln/>
        </p:spPr>
      </p:sp>
      <p:sp>
        <p:nvSpPr>
          <p:cNvPr id="66562" name="Notes Placeholder 2">
            <a:extLst>
              <a:ext uri="{FF2B5EF4-FFF2-40B4-BE49-F238E27FC236}">
                <a16:creationId xmlns:a16="http://schemas.microsoft.com/office/drawing/2014/main" id="{98F4F1D9-387C-FE8E-93C8-6E85616063D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66563" name="Slide Number Placeholder 3">
            <a:extLst>
              <a:ext uri="{FF2B5EF4-FFF2-40B4-BE49-F238E27FC236}">
                <a16:creationId xmlns:a16="http://schemas.microsoft.com/office/drawing/2014/main" id="{5A853FAB-3290-99C6-4B65-81AA89F0B93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F17877B3-E423-0542-B71F-5C674C5DF6EA}" type="slidenum">
              <a:rPr lang="en-US" altLang="en-US" smtClean="0"/>
              <a:pPr>
                <a:spcBef>
                  <a:spcPct val="0"/>
                </a:spcBef>
              </a:pPr>
              <a:t>3</a:t>
            </a:fld>
            <a:endParaRPr lang="en-US" altLang="en-US" dirty="0"/>
          </a:p>
        </p:txBody>
      </p:sp>
    </p:spTree>
    <p:extLst>
      <p:ext uri="{BB962C8B-B14F-4D97-AF65-F5344CB8AC3E}">
        <p14:creationId xmlns:p14="http://schemas.microsoft.com/office/powerpoint/2010/main" val="1089857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8E0FF415-4552-F74E-969C-11F2D50F9154}" type="slidenum">
              <a:rPr lang="en-US" altLang="x-none" sz="1200"/>
              <a:pPr eaLnBrk="1" hangingPunct="1"/>
              <a:t>12</a:t>
            </a:fld>
            <a:endParaRPr lang="en-US" altLang="x-none" sz="1200" dirty="0"/>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x-none" altLang="x-none">
              <a:ea typeface="ＭＳ Ｐゴシック" charset="-128"/>
            </a:endParaRPr>
          </a:p>
        </p:txBody>
      </p:sp>
    </p:spTree>
    <p:extLst>
      <p:ext uri="{BB962C8B-B14F-4D97-AF65-F5344CB8AC3E}">
        <p14:creationId xmlns:p14="http://schemas.microsoft.com/office/powerpoint/2010/main" val="3004387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5EC1E429-CB6D-582B-477E-39D0C75DDA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4A489A12-717D-5846-8C4D-31BC3AD3542B}" type="slidenum">
              <a:rPr lang="en-US" altLang="en-US" smtClean="0"/>
              <a:pPr>
                <a:spcBef>
                  <a:spcPct val="0"/>
                </a:spcBef>
              </a:pPr>
              <a:t>45</a:t>
            </a:fld>
            <a:endParaRPr lang="en-US" altLang="en-US"/>
          </a:p>
        </p:txBody>
      </p:sp>
      <p:sp>
        <p:nvSpPr>
          <p:cNvPr id="22530" name="Rectangle 2">
            <a:extLst>
              <a:ext uri="{FF2B5EF4-FFF2-40B4-BE49-F238E27FC236}">
                <a16:creationId xmlns:a16="http://schemas.microsoft.com/office/drawing/2014/main" id="{E57635EC-373A-56E9-EB2F-588647C21B8C}"/>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9FD5EDC7-6220-6139-28D4-58ED82F113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0565AB4E-E63B-D3B1-263C-6CBE652610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F539A210-C521-F245-AFA3-07E829B9A856}" type="slidenum">
              <a:rPr lang="en-US" altLang="en-US" smtClean="0"/>
              <a:pPr>
                <a:spcBef>
                  <a:spcPct val="0"/>
                </a:spcBef>
              </a:pPr>
              <a:t>48</a:t>
            </a:fld>
            <a:endParaRPr lang="en-US" altLang="en-US"/>
          </a:p>
        </p:txBody>
      </p:sp>
      <p:sp>
        <p:nvSpPr>
          <p:cNvPr id="27650" name="Rectangle 2">
            <a:extLst>
              <a:ext uri="{FF2B5EF4-FFF2-40B4-BE49-F238E27FC236}">
                <a16:creationId xmlns:a16="http://schemas.microsoft.com/office/drawing/2014/main" id="{3EB74544-64C6-7461-7CCB-6426C2A9E008}"/>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69A217BB-4CE1-FF91-AF6B-63BC64202A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917463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Image Placeholder 1">
            <a:extLst>
              <a:ext uri="{FF2B5EF4-FFF2-40B4-BE49-F238E27FC236}">
                <a16:creationId xmlns:a16="http://schemas.microsoft.com/office/drawing/2014/main" id="{4EEDB2A0-E37F-FB86-8855-6755E6C30639}"/>
              </a:ext>
            </a:extLst>
          </p:cNvPr>
          <p:cNvSpPr>
            <a:spLocks noGrp="1" noRot="1" noChangeAspect="1" noChangeArrowheads="1" noTextEdit="1"/>
          </p:cNvSpPr>
          <p:nvPr>
            <p:ph type="sldImg"/>
          </p:nvPr>
        </p:nvSpPr>
        <p:spPr>
          <a:ln/>
        </p:spPr>
      </p:sp>
      <p:sp>
        <p:nvSpPr>
          <p:cNvPr id="48130" name="Notes Placeholder 2">
            <a:extLst>
              <a:ext uri="{FF2B5EF4-FFF2-40B4-BE49-F238E27FC236}">
                <a16:creationId xmlns:a16="http://schemas.microsoft.com/office/drawing/2014/main" id="{2E71ED1E-25AD-E4B8-5206-2C2B0082033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
        <p:nvSpPr>
          <p:cNvPr id="48131" name="Slide Number Placeholder 3">
            <a:extLst>
              <a:ext uri="{FF2B5EF4-FFF2-40B4-BE49-F238E27FC236}">
                <a16:creationId xmlns:a16="http://schemas.microsoft.com/office/drawing/2014/main" id="{1A2E707D-BBA0-1158-7385-CDBCC5454B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0FA351E7-C5B3-C248-954F-0F12BEA458D6}" type="slidenum">
              <a:rPr lang="en-US" altLang="en-US" smtClean="0"/>
              <a:pPr>
                <a:spcBef>
                  <a:spcPct val="0"/>
                </a:spcBef>
              </a:pPr>
              <a:t>59</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81FB83B-B98E-CED4-38EC-CAF576604629}"/>
              </a:ext>
            </a:extLst>
          </p:cNvPr>
          <p:cNvGrpSpPr>
            <a:grpSpLocks/>
          </p:cNvGrpSpPr>
          <p:nvPr/>
        </p:nvGrpSpPr>
        <p:grpSpPr bwMode="auto">
          <a:xfrm>
            <a:off x="0" y="3902075"/>
            <a:ext cx="3400425" cy="2949575"/>
            <a:chOff x="0" y="2458"/>
            <a:chExt cx="2142" cy="1858"/>
          </a:xfrm>
        </p:grpSpPr>
        <p:sp>
          <p:nvSpPr>
            <p:cNvPr id="3" name="Freeform 3">
              <a:extLst>
                <a:ext uri="{FF2B5EF4-FFF2-40B4-BE49-F238E27FC236}">
                  <a16:creationId xmlns:a16="http://schemas.microsoft.com/office/drawing/2014/main" id="{22C01187-6BCF-678E-399E-036EF7FC560C}"/>
                </a:ext>
              </a:extLst>
            </p:cNvPr>
            <p:cNvSpPr>
              <a:spLocks/>
            </p:cNvSpPr>
            <p:nvPr/>
          </p:nvSpPr>
          <p:spPr bwMode="ltGray">
            <a:xfrm>
              <a:off x="0" y="2508"/>
              <a:ext cx="2142" cy="1804"/>
            </a:xfrm>
            <a:custGeom>
              <a:avLst/>
              <a:gdLst/>
              <a:ahLst/>
              <a:cxnLst>
                <a:cxn ang="0">
                  <a:pos x="329" y="66"/>
                </a:cxn>
                <a:cxn ang="0">
                  <a:pos x="161" y="30"/>
                </a:cxn>
                <a:cxn ang="0">
                  <a:pos x="0" y="0"/>
                </a:cxn>
                <a:cxn ang="0">
                  <a:pos x="0" y="12"/>
                </a:cxn>
                <a:cxn ang="0">
                  <a:pos x="161" y="42"/>
                </a:cxn>
                <a:cxn ang="0">
                  <a:pos x="323" y="78"/>
                </a:cxn>
                <a:cxn ang="0">
                  <a:pos x="556" y="150"/>
                </a:cxn>
                <a:cxn ang="0">
                  <a:pos x="777" y="245"/>
                </a:cxn>
                <a:cxn ang="0">
                  <a:pos x="993" y="365"/>
                </a:cxn>
                <a:cxn ang="0">
                  <a:pos x="1196" y="503"/>
                </a:cxn>
                <a:cxn ang="0">
                  <a:pos x="1381" y="653"/>
                </a:cxn>
                <a:cxn ang="0">
                  <a:pos x="1555" y="827"/>
                </a:cxn>
                <a:cxn ang="0">
                  <a:pos x="1710" y="1019"/>
                </a:cxn>
                <a:cxn ang="0">
                  <a:pos x="1854" y="1229"/>
                </a:cxn>
                <a:cxn ang="0">
                  <a:pos x="1937" y="1366"/>
                </a:cxn>
                <a:cxn ang="0">
                  <a:pos x="2009" y="1510"/>
                </a:cxn>
                <a:cxn ang="0">
                  <a:pos x="2069" y="1654"/>
                </a:cxn>
                <a:cxn ang="0">
                  <a:pos x="2123" y="1804"/>
                </a:cxn>
                <a:cxn ang="0">
                  <a:pos x="2135" y="1804"/>
                </a:cxn>
                <a:cxn ang="0">
                  <a:pos x="2081" y="1654"/>
                </a:cxn>
                <a:cxn ang="0">
                  <a:pos x="2021" y="1510"/>
                </a:cxn>
                <a:cxn ang="0">
                  <a:pos x="1949" y="1366"/>
                </a:cxn>
                <a:cxn ang="0">
                  <a:pos x="1866" y="1223"/>
                </a:cxn>
                <a:cxn ang="0">
                  <a:pos x="1722" y="1013"/>
                </a:cxn>
                <a:cxn ang="0">
                  <a:pos x="1561" y="821"/>
                </a:cxn>
                <a:cxn ang="0">
                  <a:pos x="1387" y="647"/>
                </a:cxn>
                <a:cxn ang="0">
                  <a:pos x="1202" y="491"/>
                </a:cxn>
                <a:cxn ang="0">
                  <a:pos x="999" y="353"/>
                </a:cxn>
                <a:cxn ang="0">
                  <a:pos x="783" y="239"/>
                </a:cxn>
                <a:cxn ang="0">
                  <a:pos x="562" y="138"/>
                </a:cxn>
                <a:cxn ang="0">
                  <a:pos x="329" y="66"/>
                </a:cxn>
                <a:cxn ang="0">
                  <a:pos x="329" y="66"/>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4" name="Freeform 4">
              <a:extLst>
                <a:ext uri="{FF2B5EF4-FFF2-40B4-BE49-F238E27FC236}">
                  <a16:creationId xmlns:a16="http://schemas.microsoft.com/office/drawing/2014/main" id="{BC9BBB1A-4A4B-B074-8B00-F3ACB4A8A801}"/>
                </a:ext>
              </a:extLst>
            </p:cNvPr>
            <p:cNvSpPr>
              <a:spLocks/>
            </p:cNvSpPr>
            <p:nvPr/>
          </p:nvSpPr>
          <p:spPr bwMode="hidden">
            <a:xfrm>
              <a:off x="0" y="2458"/>
              <a:ext cx="1854" cy="1858"/>
            </a:xfrm>
            <a:custGeom>
              <a:avLst/>
              <a:gdLst/>
              <a:ahLst/>
              <a:cxnLst>
                <a:cxn ang="0">
                  <a:pos x="1854" y="1858"/>
                </a:cxn>
                <a:cxn ang="0">
                  <a:pos x="0" y="1858"/>
                </a:cxn>
                <a:cxn ang="0">
                  <a:pos x="0" y="0"/>
                </a:cxn>
                <a:cxn ang="0">
                  <a:pos x="1854" y="1858"/>
                </a:cxn>
                <a:cxn ang="0">
                  <a:pos x="1854" y="1858"/>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5" name="Freeform 5">
              <a:extLst>
                <a:ext uri="{FF2B5EF4-FFF2-40B4-BE49-F238E27FC236}">
                  <a16:creationId xmlns:a16="http://schemas.microsoft.com/office/drawing/2014/main" id="{F3E34FBA-E685-ABCC-8AB0-7A5FD5D66FDA}"/>
                </a:ext>
              </a:extLst>
            </p:cNvPr>
            <p:cNvSpPr>
              <a:spLocks/>
            </p:cNvSpPr>
            <p:nvPr/>
          </p:nvSpPr>
          <p:spPr bwMode="ltGray">
            <a:xfrm>
              <a:off x="0" y="2735"/>
              <a:ext cx="1745" cy="1577"/>
            </a:xfrm>
            <a:custGeom>
              <a:avLst/>
              <a:gdLst/>
              <a:ahLst/>
              <a:cxnLst>
                <a:cxn ang="0">
                  <a:pos x="1640" y="1377"/>
                </a:cxn>
                <a:cxn ang="0">
                  <a:pos x="1692" y="1479"/>
                </a:cxn>
                <a:cxn ang="0">
                  <a:pos x="1732" y="1577"/>
                </a:cxn>
                <a:cxn ang="0">
                  <a:pos x="1745" y="1577"/>
                </a:cxn>
                <a:cxn ang="0">
                  <a:pos x="1703" y="1469"/>
                </a:cxn>
                <a:cxn ang="0">
                  <a:pos x="1649" y="1367"/>
                </a:cxn>
                <a:cxn ang="0">
                  <a:pos x="1535" y="1157"/>
                </a:cxn>
                <a:cxn ang="0">
                  <a:pos x="1395" y="951"/>
                </a:cxn>
                <a:cxn ang="0">
                  <a:pos x="1236" y="756"/>
                </a:cxn>
                <a:cxn ang="0">
                  <a:pos x="1061" y="582"/>
                </a:cxn>
                <a:cxn ang="0">
                  <a:pos x="876" y="426"/>
                </a:cxn>
                <a:cxn ang="0">
                  <a:pos x="672" y="294"/>
                </a:cxn>
                <a:cxn ang="0">
                  <a:pos x="455" y="174"/>
                </a:cxn>
                <a:cxn ang="0">
                  <a:pos x="234" y="78"/>
                </a:cxn>
                <a:cxn ang="0">
                  <a:pos x="0" y="0"/>
                </a:cxn>
                <a:cxn ang="0">
                  <a:pos x="0" y="12"/>
                </a:cxn>
                <a:cxn ang="0">
                  <a:pos x="222" y="89"/>
                </a:cxn>
                <a:cxn ang="0">
                  <a:pos x="446" y="185"/>
                </a:cxn>
                <a:cxn ang="0">
                  <a:pos x="662" y="305"/>
                </a:cxn>
                <a:cxn ang="0">
                  <a:pos x="866" y="437"/>
                </a:cxn>
                <a:cxn ang="0">
                  <a:pos x="1052" y="593"/>
                </a:cxn>
                <a:cxn ang="0">
                  <a:pos x="1226" y="767"/>
                </a:cxn>
                <a:cxn ang="0">
                  <a:pos x="1385" y="960"/>
                </a:cxn>
                <a:cxn ang="0">
                  <a:pos x="1526" y="1167"/>
                </a:cxn>
                <a:cxn ang="0">
                  <a:pos x="1640" y="1377"/>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6" name="Freeform 6">
              <a:extLst>
                <a:ext uri="{FF2B5EF4-FFF2-40B4-BE49-F238E27FC236}">
                  <a16:creationId xmlns:a16="http://schemas.microsoft.com/office/drawing/2014/main" id="{5F6A04D4-95D2-7779-3D25-5135815E1CB5}"/>
                </a:ext>
              </a:extLst>
            </p:cNvPr>
            <p:cNvSpPr>
              <a:spLocks/>
            </p:cNvSpPr>
            <p:nvPr/>
          </p:nvSpPr>
          <p:spPr bwMode="ltGray">
            <a:xfrm>
              <a:off x="0" y="2544"/>
              <a:ext cx="1745" cy="1768"/>
            </a:xfrm>
            <a:custGeom>
              <a:avLst/>
              <a:gdLst/>
              <a:ahLst/>
              <a:cxnLst>
                <a:cxn ang="0">
                  <a:pos x="0" y="0"/>
                </a:cxn>
                <a:cxn ang="0">
                  <a:pos x="0" y="12"/>
                </a:cxn>
                <a:cxn ang="0">
                  <a:pos x="210" y="88"/>
                </a:cxn>
                <a:cxn ang="0">
                  <a:pos x="426" y="190"/>
                </a:cxn>
                <a:cxn ang="0">
                  <a:pos x="630" y="304"/>
                </a:cxn>
                <a:cxn ang="0">
                  <a:pos x="818" y="442"/>
                </a:cxn>
                <a:cxn ang="0">
                  <a:pos x="998" y="592"/>
                </a:cxn>
                <a:cxn ang="0">
                  <a:pos x="1164" y="766"/>
                </a:cxn>
                <a:cxn ang="0">
                  <a:pos x="1310" y="942"/>
                </a:cxn>
                <a:cxn ang="0">
                  <a:pos x="1454" y="1146"/>
                </a:cxn>
                <a:cxn ang="0">
                  <a:pos x="1536" y="1298"/>
                </a:cxn>
                <a:cxn ang="0">
                  <a:pos x="1614" y="1456"/>
                </a:cxn>
                <a:cxn ang="0">
                  <a:pos x="1682" y="1616"/>
                </a:cxn>
                <a:cxn ang="0">
                  <a:pos x="1733" y="1768"/>
                </a:cxn>
                <a:cxn ang="0">
                  <a:pos x="1745" y="1768"/>
                </a:cxn>
                <a:cxn ang="0">
                  <a:pos x="1691" y="1606"/>
                </a:cxn>
                <a:cxn ang="0">
                  <a:pos x="1623" y="1445"/>
                </a:cxn>
                <a:cxn ang="0">
                  <a:pos x="1547" y="1288"/>
                </a:cxn>
                <a:cxn ang="0">
                  <a:pos x="1463" y="1136"/>
                </a:cxn>
                <a:cxn ang="0">
                  <a:pos x="1320" y="932"/>
                </a:cxn>
                <a:cxn ang="0">
                  <a:pos x="1173" y="755"/>
                </a:cxn>
                <a:cxn ang="0">
                  <a:pos x="1008" y="581"/>
                </a:cxn>
                <a:cxn ang="0">
                  <a:pos x="827" y="431"/>
                </a:cxn>
                <a:cxn ang="0">
                  <a:pos x="642" y="293"/>
                </a:cxn>
                <a:cxn ang="0">
                  <a:pos x="437" y="179"/>
                </a:cxn>
                <a:cxn ang="0">
                  <a:pos x="222" y="78"/>
                </a:cxn>
                <a:cxn ang="0">
                  <a:pos x="0" y="0"/>
                </a:cxn>
                <a:cxn ang="0">
                  <a:pos x="0" y="0"/>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7" name="Oval 7">
              <a:extLst>
                <a:ext uri="{FF2B5EF4-FFF2-40B4-BE49-F238E27FC236}">
                  <a16:creationId xmlns:a16="http://schemas.microsoft.com/office/drawing/2014/main" id="{D105F622-96F5-82AD-0533-524B30554954}"/>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8" name="Oval 8">
              <a:extLst>
                <a:ext uri="{FF2B5EF4-FFF2-40B4-BE49-F238E27FC236}">
                  <a16:creationId xmlns:a16="http://schemas.microsoft.com/office/drawing/2014/main" id="{E8852F2B-7BDC-C112-94CE-8FAE1CFABEFD}"/>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9" name="Oval 9">
              <a:extLst>
                <a:ext uri="{FF2B5EF4-FFF2-40B4-BE49-F238E27FC236}">
                  <a16:creationId xmlns:a16="http://schemas.microsoft.com/office/drawing/2014/main" id="{99592C18-E432-54FD-8BE1-CBF613B76326}"/>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grpSp>
      <p:sp>
        <p:nvSpPr>
          <p:cNvPr id="338954" name="Rectangle 10"/>
          <p:cNvSpPr>
            <a:spLocks noGrp="1" noChangeArrowheads="1"/>
          </p:cNvSpPr>
          <p:nvPr>
            <p:ph type="ctrTitle" sz="quarter"/>
          </p:nvPr>
        </p:nvSpPr>
        <p:spPr>
          <a:xfrm>
            <a:off x="685800" y="1873250"/>
            <a:ext cx="7772400" cy="1555750"/>
          </a:xfrm>
        </p:spPr>
        <p:txBody>
          <a:bodyPr/>
          <a:lstStyle>
            <a:lvl1pPr>
              <a:defRPr sz="4800"/>
            </a:lvl1pPr>
          </a:lstStyle>
          <a:p>
            <a:r>
              <a:rPr lang="en-US"/>
              <a:t>Click to edit Master title style</a:t>
            </a:r>
          </a:p>
        </p:txBody>
      </p:sp>
      <p:sp>
        <p:nvSpPr>
          <p:cNvPr id="338955" name="Rectangle 11"/>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0" name="Rectangle 12">
            <a:extLst>
              <a:ext uri="{FF2B5EF4-FFF2-40B4-BE49-F238E27FC236}">
                <a16:creationId xmlns:a16="http://schemas.microsoft.com/office/drawing/2014/main" id="{C8FB597A-D2EC-6913-9928-E98407BE145E}"/>
              </a:ext>
            </a:extLst>
          </p:cNvPr>
          <p:cNvSpPr>
            <a:spLocks noGrp="1" noChangeArrowheads="1"/>
          </p:cNvSpPr>
          <p:nvPr>
            <p:ph type="dt" sz="quarter" idx="10"/>
          </p:nvPr>
        </p:nvSpPr>
        <p:spPr/>
        <p:txBody>
          <a:bodyPr/>
          <a:lstStyle>
            <a:lvl1pPr>
              <a:defRPr/>
            </a:lvl1pPr>
          </a:lstStyle>
          <a:p>
            <a:pPr>
              <a:defRPr/>
            </a:pPr>
            <a:endParaRPr lang="x-none" altLang="x-none"/>
          </a:p>
        </p:txBody>
      </p:sp>
      <p:sp>
        <p:nvSpPr>
          <p:cNvPr id="11" name="Rectangle 13">
            <a:extLst>
              <a:ext uri="{FF2B5EF4-FFF2-40B4-BE49-F238E27FC236}">
                <a16:creationId xmlns:a16="http://schemas.microsoft.com/office/drawing/2014/main" id="{B27A2EB2-DE74-CAAD-3033-C5060F91BF9A}"/>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12" name="Rectangle 14">
            <a:extLst>
              <a:ext uri="{FF2B5EF4-FFF2-40B4-BE49-F238E27FC236}">
                <a16:creationId xmlns:a16="http://schemas.microsoft.com/office/drawing/2014/main" id="{154C63F5-0C90-75C6-8229-5E8D29550397}"/>
              </a:ext>
            </a:extLst>
          </p:cNvPr>
          <p:cNvSpPr>
            <a:spLocks noGrp="1" noChangeArrowheads="1"/>
          </p:cNvSpPr>
          <p:nvPr>
            <p:ph type="sldNum" sz="quarter" idx="12"/>
          </p:nvPr>
        </p:nvSpPr>
        <p:spPr/>
        <p:txBody>
          <a:bodyPr/>
          <a:lstStyle>
            <a:lvl1pPr>
              <a:defRPr/>
            </a:lvl1pPr>
          </a:lstStyle>
          <a:p>
            <a:pPr>
              <a:defRPr/>
            </a:pPr>
            <a:fld id="{1CB21FDC-AEAB-8743-8262-561A430D8E4B}" type="slidenum">
              <a:rPr lang="en-US" altLang="en-US"/>
              <a:pPr>
                <a:defRPr/>
              </a:pPr>
              <a:t>‹#›</a:t>
            </a:fld>
            <a:endParaRPr lang="en-US" altLang="en-US" dirty="0"/>
          </a:p>
        </p:txBody>
      </p:sp>
    </p:spTree>
    <p:extLst>
      <p:ext uri="{BB962C8B-B14F-4D97-AF65-F5344CB8AC3E}">
        <p14:creationId xmlns:p14="http://schemas.microsoft.com/office/powerpoint/2010/main" val="3934052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729B555F-6BE1-E190-F982-941B733F3A60}"/>
              </a:ext>
            </a:extLst>
          </p:cNvPr>
          <p:cNvSpPr>
            <a:spLocks noGrp="1" noChangeArrowheads="1"/>
          </p:cNvSpPr>
          <p:nvPr>
            <p:ph type="dt" sz="half" idx="10"/>
          </p:nvPr>
        </p:nvSpPr>
        <p:spPr/>
        <p:txBody>
          <a:bodyPr/>
          <a:lstStyle>
            <a:lvl1pPr>
              <a:defRPr/>
            </a:lvl1pPr>
          </a:lstStyle>
          <a:p>
            <a:pPr>
              <a:defRPr/>
            </a:pPr>
            <a:endParaRPr lang="x-none" altLang="x-none"/>
          </a:p>
        </p:txBody>
      </p:sp>
      <p:sp>
        <p:nvSpPr>
          <p:cNvPr id="5" name="Rectangle 13">
            <a:extLst>
              <a:ext uri="{FF2B5EF4-FFF2-40B4-BE49-F238E27FC236}">
                <a16:creationId xmlns:a16="http://schemas.microsoft.com/office/drawing/2014/main" id="{DA199763-A677-2712-8682-8BFB978CDAFC}"/>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6" name="Rectangle 14">
            <a:extLst>
              <a:ext uri="{FF2B5EF4-FFF2-40B4-BE49-F238E27FC236}">
                <a16:creationId xmlns:a16="http://schemas.microsoft.com/office/drawing/2014/main" id="{06DB89C7-7E5E-6220-5833-E6E14CC78A8B}"/>
              </a:ext>
            </a:extLst>
          </p:cNvPr>
          <p:cNvSpPr>
            <a:spLocks noGrp="1" noChangeArrowheads="1"/>
          </p:cNvSpPr>
          <p:nvPr>
            <p:ph type="sldNum" sz="quarter" idx="12"/>
          </p:nvPr>
        </p:nvSpPr>
        <p:spPr/>
        <p:txBody>
          <a:bodyPr/>
          <a:lstStyle>
            <a:lvl1pPr>
              <a:defRPr/>
            </a:lvl1pPr>
          </a:lstStyle>
          <a:p>
            <a:pPr>
              <a:defRPr/>
            </a:pPr>
            <a:fld id="{8927F1D5-F3C7-5E4F-9C2E-F45E82E43350}" type="slidenum">
              <a:rPr lang="en-US" altLang="en-US"/>
              <a:pPr>
                <a:defRPr/>
              </a:pPr>
              <a:t>‹#›</a:t>
            </a:fld>
            <a:endParaRPr lang="en-US" altLang="en-US" dirty="0"/>
          </a:p>
        </p:txBody>
      </p:sp>
    </p:spTree>
    <p:extLst>
      <p:ext uri="{BB962C8B-B14F-4D97-AF65-F5344CB8AC3E}">
        <p14:creationId xmlns:p14="http://schemas.microsoft.com/office/powerpoint/2010/main" val="2028052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a:extLst>
              <a:ext uri="{FF2B5EF4-FFF2-40B4-BE49-F238E27FC236}">
                <a16:creationId xmlns:a16="http://schemas.microsoft.com/office/drawing/2014/main" id="{A5F2F914-B087-0567-B446-4029E96333D9}"/>
              </a:ext>
            </a:extLst>
          </p:cNvPr>
          <p:cNvSpPr>
            <a:spLocks noGrp="1" noChangeArrowheads="1"/>
          </p:cNvSpPr>
          <p:nvPr>
            <p:ph type="dt" sz="half" idx="10"/>
          </p:nvPr>
        </p:nvSpPr>
        <p:spPr/>
        <p:txBody>
          <a:bodyPr/>
          <a:lstStyle>
            <a:lvl1pPr>
              <a:defRPr/>
            </a:lvl1pPr>
          </a:lstStyle>
          <a:p>
            <a:pPr>
              <a:defRPr/>
            </a:pPr>
            <a:endParaRPr lang="x-none" altLang="x-none"/>
          </a:p>
        </p:txBody>
      </p:sp>
      <p:sp>
        <p:nvSpPr>
          <p:cNvPr id="5" name="Rectangle 13">
            <a:extLst>
              <a:ext uri="{FF2B5EF4-FFF2-40B4-BE49-F238E27FC236}">
                <a16:creationId xmlns:a16="http://schemas.microsoft.com/office/drawing/2014/main" id="{5B2AE4BA-DBCF-D162-6F71-0A89E8C9A6A9}"/>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6" name="Rectangle 14">
            <a:extLst>
              <a:ext uri="{FF2B5EF4-FFF2-40B4-BE49-F238E27FC236}">
                <a16:creationId xmlns:a16="http://schemas.microsoft.com/office/drawing/2014/main" id="{B20C4DF6-F48D-47BD-B78D-0F1DADAB642D}"/>
              </a:ext>
            </a:extLst>
          </p:cNvPr>
          <p:cNvSpPr>
            <a:spLocks noGrp="1" noChangeArrowheads="1"/>
          </p:cNvSpPr>
          <p:nvPr>
            <p:ph type="sldNum" sz="quarter" idx="12"/>
          </p:nvPr>
        </p:nvSpPr>
        <p:spPr/>
        <p:txBody>
          <a:bodyPr/>
          <a:lstStyle>
            <a:lvl1pPr>
              <a:defRPr/>
            </a:lvl1pPr>
          </a:lstStyle>
          <a:p>
            <a:pPr>
              <a:defRPr/>
            </a:pPr>
            <a:fld id="{CBCE2D21-A21A-C744-9CED-04DD10CE9295}" type="slidenum">
              <a:rPr lang="en-US" altLang="en-US"/>
              <a:pPr>
                <a:defRPr/>
              </a:pPr>
              <a:t>‹#›</a:t>
            </a:fld>
            <a:endParaRPr lang="en-US" altLang="en-US" dirty="0"/>
          </a:p>
        </p:txBody>
      </p:sp>
    </p:spTree>
    <p:extLst>
      <p:ext uri="{BB962C8B-B14F-4D97-AF65-F5344CB8AC3E}">
        <p14:creationId xmlns:p14="http://schemas.microsoft.com/office/powerpoint/2010/main" val="1134400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a:extLst>
              <a:ext uri="{FF2B5EF4-FFF2-40B4-BE49-F238E27FC236}">
                <a16:creationId xmlns:a16="http://schemas.microsoft.com/office/drawing/2014/main" id="{B4A73B3C-DAA2-8195-D898-E48B4D4E085C}"/>
              </a:ext>
            </a:extLst>
          </p:cNvPr>
          <p:cNvSpPr>
            <a:spLocks noGrp="1" noChangeArrowheads="1"/>
          </p:cNvSpPr>
          <p:nvPr>
            <p:ph type="dt" sz="half" idx="10"/>
          </p:nvPr>
        </p:nvSpPr>
        <p:spPr/>
        <p:txBody>
          <a:bodyPr/>
          <a:lstStyle>
            <a:lvl1pPr>
              <a:defRPr/>
            </a:lvl1pPr>
          </a:lstStyle>
          <a:p>
            <a:pPr>
              <a:defRPr/>
            </a:pPr>
            <a:endParaRPr lang="x-none" altLang="x-none"/>
          </a:p>
        </p:txBody>
      </p:sp>
      <p:sp>
        <p:nvSpPr>
          <p:cNvPr id="6" name="Rectangle 13">
            <a:extLst>
              <a:ext uri="{FF2B5EF4-FFF2-40B4-BE49-F238E27FC236}">
                <a16:creationId xmlns:a16="http://schemas.microsoft.com/office/drawing/2014/main" id="{DF49DD38-AA85-A971-4B3A-20DCC3C83BC0}"/>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7" name="Rectangle 14">
            <a:extLst>
              <a:ext uri="{FF2B5EF4-FFF2-40B4-BE49-F238E27FC236}">
                <a16:creationId xmlns:a16="http://schemas.microsoft.com/office/drawing/2014/main" id="{0938E0CC-B254-C385-4C89-3A4457011CD1}"/>
              </a:ext>
            </a:extLst>
          </p:cNvPr>
          <p:cNvSpPr>
            <a:spLocks noGrp="1" noChangeArrowheads="1"/>
          </p:cNvSpPr>
          <p:nvPr>
            <p:ph type="sldNum" sz="quarter" idx="12"/>
          </p:nvPr>
        </p:nvSpPr>
        <p:spPr/>
        <p:txBody>
          <a:bodyPr/>
          <a:lstStyle>
            <a:lvl1pPr>
              <a:defRPr/>
            </a:lvl1pPr>
          </a:lstStyle>
          <a:p>
            <a:pPr>
              <a:defRPr/>
            </a:pPr>
            <a:fld id="{DEC76A6F-4DE9-A64F-A4F3-166780D9528A}" type="slidenum">
              <a:rPr lang="en-US" altLang="en-US"/>
              <a:pPr>
                <a:defRPr/>
              </a:pPr>
              <a:t>‹#›</a:t>
            </a:fld>
            <a:endParaRPr lang="en-US" altLang="en-US" dirty="0"/>
          </a:p>
        </p:txBody>
      </p:sp>
    </p:spTree>
    <p:extLst>
      <p:ext uri="{BB962C8B-B14F-4D97-AF65-F5344CB8AC3E}">
        <p14:creationId xmlns:p14="http://schemas.microsoft.com/office/powerpoint/2010/main" val="1842913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a:extLst>
              <a:ext uri="{FF2B5EF4-FFF2-40B4-BE49-F238E27FC236}">
                <a16:creationId xmlns:a16="http://schemas.microsoft.com/office/drawing/2014/main" id="{C804D2DE-14ED-BC38-6F1A-C36C01C13B47}"/>
              </a:ext>
            </a:extLst>
          </p:cNvPr>
          <p:cNvSpPr>
            <a:spLocks noGrp="1" noChangeArrowheads="1"/>
          </p:cNvSpPr>
          <p:nvPr>
            <p:ph type="dt" sz="half" idx="10"/>
          </p:nvPr>
        </p:nvSpPr>
        <p:spPr/>
        <p:txBody>
          <a:bodyPr/>
          <a:lstStyle>
            <a:lvl1pPr>
              <a:defRPr/>
            </a:lvl1pPr>
          </a:lstStyle>
          <a:p>
            <a:pPr>
              <a:defRPr/>
            </a:pPr>
            <a:endParaRPr lang="x-none" altLang="x-none"/>
          </a:p>
        </p:txBody>
      </p:sp>
      <p:sp>
        <p:nvSpPr>
          <p:cNvPr id="8" name="Rectangle 13">
            <a:extLst>
              <a:ext uri="{FF2B5EF4-FFF2-40B4-BE49-F238E27FC236}">
                <a16:creationId xmlns:a16="http://schemas.microsoft.com/office/drawing/2014/main" id="{447517C0-EC7A-E20B-C3AE-690162F0588C}"/>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9" name="Rectangle 14">
            <a:extLst>
              <a:ext uri="{FF2B5EF4-FFF2-40B4-BE49-F238E27FC236}">
                <a16:creationId xmlns:a16="http://schemas.microsoft.com/office/drawing/2014/main" id="{784B0F1D-4DE3-B24C-A77F-DD564DE8A794}"/>
              </a:ext>
            </a:extLst>
          </p:cNvPr>
          <p:cNvSpPr>
            <a:spLocks noGrp="1" noChangeArrowheads="1"/>
          </p:cNvSpPr>
          <p:nvPr>
            <p:ph type="sldNum" sz="quarter" idx="12"/>
          </p:nvPr>
        </p:nvSpPr>
        <p:spPr/>
        <p:txBody>
          <a:bodyPr/>
          <a:lstStyle>
            <a:lvl1pPr>
              <a:defRPr/>
            </a:lvl1pPr>
          </a:lstStyle>
          <a:p>
            <a:pPr>
              <a:defRPr/>
            </a:pPr>
            <a:fld id="{C836A53E-BB7F-0A4C-9493-8F0BEC5CA0CA}" type="slidenum">
              <a:rPr lang="en-US" altLang="en-US"/>
              <a:pPr>
                <a:defRPr/>
              </a:pPr>
              <a:t>‹#›</a:t>
            </a:fld>
            <a:endParaRPr lang="en-US" altLang="en-US" dirty="0"/>
          </a:p>
        </p:txBody>
      </p:sp>
    </p:spTree>
    <p:extLst>
      <p:ext uri="{BB962C8B-B14F-4D97-AF65-F5344CB8AC3E}">
        <p14:creationId xmlns:p14="http://schemas.microsoft.com/office/powerpoint/2010/main" val="3149261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a:extLst>
              <a:ext uri="{FF2B5EF4-FFF2-40B4-BE49-F238E27FC236}">
                <a16:creationId xmlns:a16="http://schemas.microsoft.com/office/drawing/2014/main" id="{E7CBA68C-7B78-3B80-580B-CE70DC3D34D4}"/>
              </a:ext>
            </a:extLst>
          </p:cNvPr>
          <p:cNvSpPr>
            <a:spLocks noGrp="1" noChangeArrowheads="1"/>
          </p:cNvSpPr>
          <p:nvPr>
            <p:ph type="dt" sz="half" idx="10"/>
          </p:nvPr>
        </p:nvSpPr>
        <p:spPr/>
        <p:txBody>
          <a:bodyPr/>
          <a:lstStyle>
            <a:lvl1pPr>
              <a:defRPr/>
            </a:lvl1pPr>
          </a:lstStyle>
          <a:p>
            <a:pPr>
              <a:defRPr/>
            </a:pPr>
            <a:endParaRPr lang="x-none" altLang="x-none"/>
          </a:p>
        </p:txBody>
      </p:sp>
      <p:sp>
        <p:nvSpPr>
          <p:cNvPr id="4" name="Rectangle 13">
            <a:extLst>
              <a:ext uri="{FF2B5EF4-FFF2-40B4-BE49-F238E27FC236}">
                <a16:creationId xmlns:a16="http://schemas.microsoft.com/office/drawing/2014/main" id="{CF3A105D-F16A-8991-0C4E-C064C1BA2950}"/>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5" name="Rectangle 14">
            <a:extLst>
              <a:ext uri="{FF2B5EF4-FFF2-40B4-BE49-F238E27FC236}">
                <a16:creationId xmlns:a16="http://schemas.microsoft.com/office/drawing/2014/main" id="{BF44471E-EAF2-58FB-7AB6-2CE9959BC833}"/>
              </a:ext>
            </a:extLst>
          </p:cNvPr>
          <p:cNvSpPr>
            <a:spLocks noGrp="1" noChangeArrowheads="1"/>
          </p:cNvSpPr>
          <p:nvPr>
            <p:ph type="sldNum" sz="quarter" idx="12"/>
          </p:nvPr>
        </p:nvSpPr>
        <p:spPr/>
        <p:txBody>
          <a:bodyPr/>
          <a:lstStyle>
            <a:lvl1pPr>
              <a:defRPr/>
            </a:lvl1pPr>
          </a:lstStyle>
          <a:p>
            <a:pPr>
              <a:defRPr/>
            </a:pPr>
            <a:fld id="{3502086A-9EC4-6646-B782-2F18A719435B}" type="slidenum">
              <a:rPr lang="en-US" altLang="en-US"/>
              <a:pPr>
                <a:defRPr/>
              </a:pPr>
              <a:t>‹#›</a:t>
            </a:fld>
            <a:endParaRPr lang="en-US" altLang="en-US" dirty="0"/>
          </a:p>
        </p:txBody>
      </p:sp>
    </p:spTree>
    <p:extLst>
      <p:ext uri="{BB962C8B-B14F-4D97-AF65-F5344CB8AC3E}">
        <p14:creationId xmlns:p14="http://schemas.microsoft.com/office/powerpoint/2010/main" val="3366248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0B91B5D9-6153-4F15-E2F9-5393FC6722E6}"/>
              </a:ext>
            </a:extLst>
          </p:cNvPr>
          <p:cNvSpPr>
            <a:spLocks noGrp="1" noChangeArrowheads="1"/>
          </p:cNvSpPr>
          <p:nvPr>
            <p:ph type="dt" sz="half" idx="10"/>
          </p:nvPr>
        </p:nvSpPr>
        <p:spPr/>
        <p:txBody>
          <a:bodyPr/>
          <a:lstStyle>
            <a:lvl1pPr>
              <a:defRPr/>
            </a:lvl1pPr>
          </a:lstStyle>
          <a:p>
            <a:pPr>
              <a:defRPr/>
            </a:pPr>
            <a:endParaRPr lang="x-none" altLang="x-none"/>
          </a:p>
        </p:txBody>
      </p:sp>
      <p:sp>
        <p:nvSpPr>
          <p:cNvPr id="3" name="Rectangle 13">
            <a:extLst>
              <a:ext uri="{FF2B5EF4-FFF2-40B4-BE49-F238E27FC236}">
                <a16:creationId xmlns:a16="http://schemas.microsoft.com/office/drawing/2014/main" id="{6CF7904E-C2CC-3DC9-43CE-A0177FBD1D6B}"/>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4" name="Rectangle 14">
            <a:extLst>
              <a:ext uri="{FF2B5EF4-FFF2-40B4-BE49-F238E27FC236}">
                <a16:creationId xmlns:a16="http://schemas.microsoft.com/office/drawing/2014/main" id="{1C01D814-19FE-8938-B4E4-C7852751BA1B}"/>
              </a:ext>
            </a:extLst>
          </p:cNvPr>
          <p:cNvSpPr>
            <a:spLocks noGrp="1" noChangeArrowheads="1"/>
          </p:cNvSpPr>
          <p:nvPr>
            <p:ph type="sldNum" sz="quarter" idx="12"/>
          </p:nvPr>
        </p:nvSpPr>
        <p:spPr/>
        <p:txBody>
          <a:bodyPr/>
          <a:lstStyle>
            <a:lvl1pPr>
              <a:defRPr/>
            </a:lvl1pPr>
          </a:lstStyle>
          <a:p>
            <a:pPr>
              <a:defRPr/>
            </a:pPr>
            <a:fld id="{63D89D09-722A-CF4C-85F2-4DB40811CA26}" type="slidenum">
              <a:rPr lang="en-US" altLang="en-US"/>
              <a:pPr>
                <a:defRPr/>
              </a:pPr>
              <a:t>‹#›</a:t>
            </a:fld>
            <a:endParaRPr lang="en-US" altLang="en-US" dirty="0"/>
          </a:p>
        </p:txBody>
      </p:sp>
    </p:spTree>
    <p:extLst>
      <p:ext uri="{BB962C8B-B14F-4D97-AF65-F5344CB8AC3E}">
        <p14:creationId xmlns:p14="http://schemas.microsoft.com/office/powerpoint/2010/main" val="3127434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a:extLst>
              <a:ext uri="{FF2B5EF4-FFF2-40B4-BE49-F238E27FC236}">
                <a16:creationId xmlns:a16="http://schemas.microsoft.com/office/drawing/2014/main" id="{B1180D7A-F442-4CDB-6289-2BCA78C992D9}"/>
              </a:ext>
            </a:extLst>
          </p:cNvPr>
          <p:cNvSpPr>
            <a:spLocks noGrp="1" noChangeArrowheads="1"/>
          </p:cNvSpPr>
          <p:nvPr>
            <p:ph type="dt" sz="half" idx="10"/>
          </p:nvPr>
        </p:nvSpPr>
        <p:spPr/>
        <p:txBody>
          <a:bodyPr/>
          <a:lstStyle>
            <a:lvl1pPr>
              <a:defRPr/>
            </a:lvl1pPr>
          </a:lstStyle>
          <a:p>
            <a:pPr>
              <a:defRPr/>
            </a:pPr>
            <a:endParaRPr lang="x-none" altLang="x-none"/>
          </a:p>
        </p:txBody>
      </p:sp>
      <p:sp>
        <p:nvSpPr>
          <p:cNvPr id="6" name="Rectangle 13">
            <a:extLst>
              <a:ext uri="{FF2B5EF4-FFF2-40B4-BE49-F238E27FC236}">
                <a16:creationId xmlns:a16="http://schemas.microsoft.com/office/drawing/2014/main" id="{0E1FE734-8ABC-C6D7-8947-E4D5C2FD7C60}"/>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7" name="Rectangle 14">
            <a:extLst>
              <a:ext uri="{FF2B5EF4-FFF2-40B4-BE49-F238E27FC236}">
                <a16:creationId xmlns:a16="http://schemas.microsoft.com/office/drawing/2014/main" id="{DD4EECE8-ED05-FE7B-0888-07FCF6A6C3F5}"/>
              </a:ext>
            </a:extLst>
          </p:cNvPr>
          <p:cNvSpPr>
            <a:spLocks noGrp="1" noChangeArrowheads="1"/>
          </p:cNvSpPr>
          <p:nvPr>
            <p:ph type="sldNum" sz="quarter" idx="12"/>
          </p:nvPr>
        </p:nvSpPr>
        <p:spPr/>
        <p:txBody>
          <a:bodyPr/>
          <a:lstStyle>
            <a:lvl1pPr>
              <a:defRPr/>
            </a:lvl1pPr>
          </a:lstStyle>
          <a:p>
            <a:pPr>
              <a:defRPr/>
            </a:pPr>
            <a:fld id="{CC986B8A-F8FB-2541-BC9D-47AA6165A39F}" type="slidenum">
              <a:rPr lang="en-US" altLang="en-US"/>
              <a:pPr>
                <a:defRPr/>
              </a:pPr>
              <a:t>‹#›</a:t>
            </a:fld>
            <a:endParaRPr lang="en-US" altLang="en-US" dirty="0"/>
          </a:p>
        </p:txBody>
      </p:sp>
    </p:spTree>
    <p:extLst>
      <p:ext uri="{BB962C8B-B14F-4D97-AF65-F5344CB8AC3E}">
        <p14:creationId xmlns:p14="http://schemas.microsoft.com/office/powerpoint/2010/main" val="622967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a:extLst>
              <a:ext uri="{FF2B5EF4-FFF2-40B4-BE49-F238E27FC236}">
                <a16:creationId xmlns:a16="http://schemas.microsoft.com/office/drawing/2014/main" id="{1868CFE9-20C8-533A-6300-3CE4FEB9FF6A}"/>
              </a:ext>
            </a:extLst>
          </p:cNvPr>
          <p:cNvSpPr>
            <a:spLocks noGrp="1" noChangeArrowheads="1"/>
          </p:cNvSpPr>
          <p:nvPr>
            <p:ph type="dt" sz="half" idx="10"/>
          </p:nvPr>
        </p:nvSpPr>
        <p:spPr/>
        <p:txBody>
          <a:bodyPr/>
          <a:lstStyle>
            <a:lvl1pPr>
              <a:defRPr/>
            </a:lvl1pPr>
          </a:lstStyle>
          <a:p>
            <a:pPr>
              <a:defRPr/>
            </a:pPr>
            <a:endParaRPr lang="x-none" altLang="x-none"/>
          </a:p>
        </p:txBody>
      </p:sp>
      <p:sp>
        <p:nvSpPr>
          <p:cNvPr id="6" name="Rectangle 13">
            <a:extLst>
              <a:ext uri="{FF2B5EF4-FFF2-40B4-BE49-F238E27FC236}">
                <a16:creationId xmlns:a16="http://schemas.microsoft.com/office/drawing/2014/main" id="{4A585810-E391-BC48-3DFC-AC47F5DAFC98}"/>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7" name="Rectangle 14">
            <a:extLst>
              <a:ext uri="{FF2B5EF4-FFF2-40B4-BE49-F238E27FC236}">
                <a16:creationId xmlns:a16="http://schemas.microsoft.com/office/drawing/2014/main" id="{9ED2ED66-CF73-6D8A-30C6-EF2B6599363D}"/>
              </a:ext>
            </a:extLst>
          </p:cNvPr>
          <p:cNvSpPr>
            <a:spLocks noGrp="1" noChangeArrowheads="1"/>
          </p:cNvSpPr>
          <p:nvPr>
            <p:ph type="sldNum" sz="quarter" idx="12"/>
          </p:nvPr>
        </p:nvSpPr>
        <p:spPr/>
        <p:txBody>
          <a:bodyPr/>
          <a:lstStyle>
            <a:lvl1pPr>
              <a:defRPr/>
            </a:lvl1pPr>
          </a:lstStyle>
          <a:p>
            <a:pPr>
              <a:defRPr/>
            </a:pPr>
            <a:fld id="{8F0DE5AD-8BD5-884F-9BFF-FCDECFFF7870}" type="slidenum">
              <a:rPr lang="en-US" altLang="en-US"/>
              <a:pPr>
                <a:defRPr/>
              </a:pPr>
              <a:t>‹#›</a:t>
            </a:fld>
            <a:endParaRPr lang="en-US" altLang="en-US" dirty="0"/>
          </a:p>
        </p:txBody>
      </p:sp>
    </p:spTree>
    <p:extLst>
      <p:ext uri="{BB962C8B-B14F-4D97-AF65-F5344CB8AC3E}">
        <p14:creationId xmlns:p14="http://schemas.microsoft.com/office/powerpoint/2010/main" val="3185732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5F3D03EB-9C89-EA5A-7434-973090474FBE}"/>
              </a:ext>
            </a:extLst>
          </p:cNvPr>
          <p:cNvSpPr>
            <a:spLocks noGrp="1" noChangeArrowheads="1"/>
          </p:cNvSpPr>
          <p:nvPr>
            <p:ph type="dt" sz="half" idx="10"/>
          </p:nvPr>
        </p:nvSpPr>
        <p:spPr/>
        <p:txBody>
          <a:bodyPr/>
          <a:lstStyle>
            <a:lvl1pPr>
              <a:defRPr/>
            </a:lvl1pPr>
          </a:lstStyle>
          <a:p>
            <a:pPr>
              <a:defRPr/>
            </a:pPr>
            <a:endParaRPr lang="x-none" altLang="x-none"/>
          </a:p>
        </p:txBody>
      </p:sp>
      <p:sp>
        <p:nvSpPr>
          <p:cNvPr id="5" name="Rectangle 13">
            <a:extLst>
              <a:ext uri="{FF2B5EF4-FFF2-40B4-BE49-F238E27FC236}">
                <a16:creationId xmlns:a16="http://schemas.microsoft.com/office/drawing/2014/main" id="{B29623DD-3C0F-146F-75BC-45F54259C4C0}"/>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6" name="Rectangle 14">
            <a:extLst>
              <a:ext uri="{FF2B5EF4-FFF2-40B4-BE49-F238E27FC236}">
                <a16:creationId xmlns:a16="http://schemas.microsoft.com/office/drawing/2014/main" id="{88054E9B-F6E5-66D6-3C1C-BE55EEEEDF45}"/>
              </a:ext>
            </a:extLst>
          </p:cNvPr>
          <p:cNvSpPr>
            <a:spLocks noGrp="1" noChangeArrowheads="1"/>
          </p:cNvSpPr>
          <p:nvPr>
            <p:ph type="sldNum" sz="quarter" idx="12"/>
          </p:nvPr>
        </p:nvSpPr>
        <p:spPr/>
        <p:txBody>
          <a:bodyPr/>
          <a:lstStyle>
            <a:lvl1pPr>
              <a:defRPr/>
            </a:lvl1pPr>
          </a:lstStyle>
          <a:p>
            <a:pPr>
              <a:defRPr/>
            </a:pPr>
            <a:fld id="{324533DA-76D9-0E44-8750-0A5F6C221537}" type="slidenum">
              <a:rPr lang="en-US" altLang="en-US"/>
              <a:pPr>
                <a:defRPr/>
              </a:pPr>
              <a:t>‹#›</a:t>
            </a:fld>
            <a:endParaRPr lang="en-US" altLang="en-US" dirty="0"/>
          </a:p>
        </p:txBody>
      </p:sp>
    </p:spTree>
    <p:extLst>
      <p:ext uri="{BB962C8B-B14F-4D97-AF65-F5344CB8AC3E}">
        <p14:creationId xmlns:p14="http://schemas.microsoft.com/office/powerpoint/2010/main" val="1310278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A64741E0-B432-B219-BDFD-AB18852BFE50}"/>
              </a:ext>
            </a:extLst>
          </p:cNvPr>
          <p:cNvSpPr>
            <a:spLocks noGrp="1" noChangeArrowheads="1"/>
          </p:cNvSpPr>
          <p:nvPr>
            <p:ph type="dt" sz="half" idx="10"/>
          </p:nvPr>
        </p:nvSpPr>
        <p:spPr/>
        <p:txBody>
          <a:bodyPr/>
          <a:lstStyle>
            <a:lvl1pPr>
              <a:defRPr/>
            </a:lvl1pPr>
          </a:lstStyle>
          <a:p>
            <a:pPr>
              <a:defRPr/>
            </a:pPr>
            <a:endParaRPr lang="x-none" altLang="x-none"/>
          </a:p>
        </p:txBody>
      </p:sp>
      <p:sp>
        <p:nvSpPr>
          <p:cNvPr id="5" name="Rectangle 13">
            <a:extLst>
              <a:ext uri="{FF2B5EF4-FFF2-40B4-BE49-F238E27FC236}">
                <a16:creationId xmlns:a16="http://schemas.microsoft.com/office/drawing/2014/main" id="{4BF8DAA3-BC16-6E22-5BCC-8020E990DBB4}"/>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6" name="Rectangle 14">
            <a:extLst>
              <a:ext uri="{FF2B5EF4-FFF2-40B4-BE49-F238E27FC236}">
                <a16:creationId xmlns:a16="http://schemas.microsoft.com/office/drawing/2014/main" id="{BF9C5F87-205B-2E6D-3F0C-C307D1681E80}"/>
              </a:ext>
            </a:extLst>
          </p:cNvPr>
          <p:cNvSpPr>
            <a:spLocks noGrp="1" noChangeArrowheads="1"/>
          </p:cNvSpPr>
          <p:nvPr>
            <p:ph type="sldNum" sz="quarter" idx="12"/>
          </p:nvPr>
        </p:nvSpPr>
        <p:spPr/>
        <p:txBody>
          <a:bodyPr/>
          <a:lstStyle>
            <a:lvl1pPr>
              <a:defRPr/>
            </a:lvl1pPr>
          </a:lstStyle>
          <a:p>
            <a:pPr>
              <a:defRPr/>
            </a:pPr>
            <a:fld id="{EB8E0C17-BD16-3F4C-A439-DBE418078510}" type="slidenum">
              <a:rPr lang="en-US" altLang="en-US"/>
              <a:pPr>
                <a:defRPr/>
              </a:pPr>
              <a:t>‹#›</a:t>
            </a:fld>
            <a:endParaRPr lang="en-US" altLang="en-US" dirty="0"/>
          </a:p>
        </p:txBody>
      </p:sp>
    </p:spTree>
    <p:extLst>
      <p:ext uri="{BB962C8B-B14F-4D97-AF65-F5344CB8AC3E}">
        <p14:creationId xmlns:p14="http://schemas.microsoft.com/office/powerpoint/2010/main" val="4243821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6A6FD60A-B856-C0D4-88F0-AFCDA0B8949E}"/>
              </a:ext>
            </a:extLst>
          </p:cNvPr>
          <p:cNvGrpSpPr>
            <a:grpSpLocks/>
          </p:cNvGrpSpPr>
          <p:nvPr/>
        </p:nvGrpSpPr>
        <p:grpSpPr bwMode="auto">
          <a:xfrm>
            <a:off x="0" y="3902075"/>
            <a:ext cx="3400425" cy="2949575"/>
            <a:chOff x="0" y="2458"/>
            <a:chExt cx="2142" cy="1858"/>
          </a:xfrm>
        </p:grpSpPr>
        <p:sp>
          <p:nvSpPr>
            <p:cNvPr id="337923" name="Freeform 3">
              <a:extLst>
                <a:ext uri="{FF2B5EF4-FFF2-40B4-BE49-F238E27FC236}">
                  <a16:creationId xmlns:a16="http://schemas.microsoft.com/office/drawing/2014/main" id="{D77FA1C8-4C12-9495-0A63-C1192EF76769}"/>
                </a:ext>
              </a:extLst>
            </p:cNvPr>
            <p:cNvSpPr>
              <a:spLocks/>
            </p:cNvSpPr>
            <p:nvPr/>
          </p:nvSpPr>
          <p:spPr bwMode="ltGray">
            <a:xfrm>
              <a:off x="0" y="2508"/>
              <a:ext cx="2142" cy="1804"/>
            </a:xfrm>
            <a:custGeom>
              <a:avLst/>
              <a:gdLst/>
              <a:ahLst/>
              <a:cxnLst>
                <a:cxn ang="0">
                  <a:pos x="329" y="66"/>
                </a:cxn>
                <a:cxn ang="0">
                  <a:pos x="161" y="30"/>
                </a:cxn>
                <a:cxn ang="0">
                  <a:pos x="0" y="0"/>
                </a:cxn>
                <a:cxn ang="0">
                  <a:pos x="0" y="12"/>
                </a:cxn>
                <a:cxn ang="0">
                  <a:pos x="161" y="42"/>
                </a:cxn>
                <a:cxn ang="0">
                  <a:pos x="323" y="78"/>
                </a:cxn>
                <a:cxn ang="0">
                  <a:pos x="556" y="150"/>
                </a:cxn>
                <a:cxn ang="0">
                  <a:pos x="777" y="245"/>
                </a:cxn>
                <a:cxn ang="0">
                  <a:pos x="993" y="365"/>
                </a:cxn>
                <a:cxn ang="0">
                  <a:pos x="1196" y="503"/>
                </a:cxn>
                <a:cxn ang="0">
                  <a:pos x="1381" y="653"/>
                </a:cxn>
                <a:cxn ang="0">
                  <a:pos x="1555" y="827"/>
                </a:cxn>
                <a:cxn ang="0">
                  <a:pos x="1710" y="1019"/>
                </a:cxn>
                <a:cxn ang="0">
                  <a:pos x="1854" y="1229"/>
                </a:cxn>
                <a:cxn ang="0">
                  <a:pos x="1937" y="1366"/>
                </a:cxn>
                <a:cxn ang="0">
                  <a:pos x="2009" y="1510"/>
                </a:cxn>
                <a:cxn ang="0">
                  <a:pos x="2069" y="1654"/>
                </a:cxn>
                <a:cxn ang="0">
                  <a:pos x="2123" y="1804"/>
                </a:cxn>
                <a:cxn ang="0">
                  <a:pos x="2135" y="1804"/>
                </a:cxn>
                <a:cxn ang="0">
                  <a:pos x="2081" y="1654"/>
                </a:cxn>
                <a:cxn ang="0">
                  <a:pos x="2021" y="1510"/>
                </a:cxn>
                <a:cxn ang="0">
                  <a:pos x="1949" y="1366"/>
                </a:cxn>
                <a:cxn ang="0">
                  <a:pos x="1866" y="1223"/>
                </a:cxn>
                <a:cxn ang="0">
                  <a:pos x="1722" y="1013"/>
                </a:cxn>
                <a:cxn ang="0">
                  <a:pos x="1561" y="821"/>
                </a:cxn>
                <a:cxn ang="0">
                  <a:pos x="1387" y="647"/>
                </a:cxn>
                <a:cxn ang="0">
                  <a:pos x="1202" y="491"/>
                </a:cxn>
                <a:cxn ang="0">
                  <a:pos x="999" y="353"/>
                </a:cxn>
                <a:cxn ang="0">
                  <a:pos x="783" y="239"/>
                </a:cxn>
                <a:cxn ang="0">
                  <a:pos x="562" y="138"/>
                </a:cxn>
                <a:cxn ang="0">
                  <a:pos x="329" y="66"/>
                </a:cxn>
                <a:cxn ang="0">
                  <a:pos x="329" y="66"/>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337924" name="Freeform 4">
              <a:extLst>
                <a:ext uri="{FF2B5EF4-FFF2-40B4-BE49-F238E27FC236}">
                  <a16:creationId xmlns:a16="http://schemas.microsoft.com/office/drawing/2014/main" id="{0313B4D2-8712-E8E1-EF07-04161FF01AC8}"/>
                </a:ext>
              </a:extLst>
            </p:cNvPr>
            <p:cNvSpPr>
              <a:spLocks/>
            </p:cNvSpPr>
            <p:nvPr/>
          </p:nvSpPr>
          <p:spPr bwMode="hidden">
            <a:xfrm>
              <a:off x="0" y="2458"/>
              <a:ext cx="1854" cy="1858"/>
            </a:xfrm>
            <a:custGeom>
              <a:avLst/>
              <a:gdLst/>
              <a:ahLst/>
              <a:cxnLst>
                <a:cxn ang="0">
                  <a:pos x="1854" y="1858"/>
                </a:cxn>
                <a:cxn ang="0">
                  <a:pos x="0" y="1858"/>
                </a:cxn>
                <a:cxn ang="0">
                  <a:pos x="0" y="0"/>
                </a:cxn>
                <a:cxn ang="0">
                  <a:pos x="1854" y="1858"/>
                </a:cxn>
                <a:cxn ang="0">
                  <a:pos x="1854" y="1858"/>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337925" name="Freeform 5">
              <a:extLst>
                <a:ext uri="{FF2B5EF4-FFF2-40B4-BE49-F238E27FC236}">
                  <a16:creationId xmlns:a16="http://schemas.microsoft.com/office/drawing/2014/main" id="{F2C91351-E0D8-ABF1-2290-E20B7824EF34}"/>
                </a:ext>
              </a:extLst>
            </p:cNvPr>
            <p:cNvSpPr>
              <a:spLocks/>
            </p:cNvSpPr>
            <p:nvPr/>
          </p:nvSpPr>
          <p:spPr bwMode="ltGray">
            <a:xfrm>
              <a:off x="0" y="2735"/>
              <a:ext cx="1745" cy="1577"/>
            </a:xfrm>
            <a:custGeom>
              <a:avLst/>
              <a:gdLst/>
              <a:ahLst/>
              <a:cxnLst>
                <a:cxn ang="0">
                  <a:pos x="1640" y="1377"/>
                </a:cxn>
                <a:cxn ang="0">
                  <a:pos x="1692" y="1479"/>
                </a:cxn>
                <a:cxn ang="0">
                  <a:pos x="1732" y="1577"/>
                </a:cxn>
                <a:cxn ang="0">
                  <a:pos x="1745" y="1577"/>
                </a:cxn>
                <a:cxn ang="0">
                  <a:pos x="1703" y="1469"/>
                </a:cxn>
                <a:cxn ang="0">
                  <a:pos x="1649" y="1367"/>
                </a:cxn>
                <a:cxn ang="0">
                  <a:pos x="1535" y="1157"/>
                </a:cxn>
                <a:cxn ang="0">
                  <a:pos x="1395" y="951"/>
                </a:cxn>
                <a:cxn ang="0">
                  <a:pos x="1236" y="756"/>
                </a:cxn>
                <a:cxn ang="0">
                  <a:pos x="1061" y="582"/>
                </a:cxn>
                <a:cxn ang="0">
                  <a:pos x="876" y="426"/>
                </a:cxn>
                <a:cxn ang="0">
                  <a:pos x="672" y="294"/>
                </a:cxn>
                <a:cxn ang="0">
                  <a:pos x="455" y="174"/>
                </a:cxn>
                <a:cxn ang="0">
                  <a:pos x="234" y="78"/>
                </a:cxn>
                <a:cxn ang="0">
                  <a:pos x="0" y="0"/>
                </a:cxn>
                <a:cxn ang="0">
                  <a:pos x="0" y="12"/>
                </a:cxn>
                <a:cxn ang="0">
                  <a:pos x="222" y="89"/>
                </a:cxn>
                <a:cxn ang="0">
                  <a:pos x="446" y="185"/>
                </a:cxn>
                <a:cxn ang="0">
                  <a:pos x="662" y="305"/>
                </a:cxn>
                <a:cxn ang="0">
                  <a:pos x="866" y="437"/>
                </a:cxn>
                <a:cxn ang="0">
                  <a:pos x="1052" y="593"/>
                </a:cxn>
                <a:cxn ang="0">
                  <a:pos x="1226" y="767"/>
                </a:cxn>
                <a:cxn ang="0">
                  <a:pos x="1385" y="960"/>
                </a:cxn>
                <a:cxn ang="0">
                  <a:pos x="1526" y="1167"/>
                </a:cxn>
                <a:cxn ang="0">
                  <a:pos x="1640" y="1377"/>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337926" name="Freeform 6">
              <a:extLst>
                <a:ext uri="{FF2B5EF4-FFF2-40B4-BE49-F238E27FC236}">
                  <a16:creationId xmlns:a16="http://schemas.microsoft.com/office/drawing/2014/main" id="{B9B49FB1-3B88-4133-F0CB-A985AB05F180}"/>
                </a:ext>
              </a:extLst>
            </p:cNvPr>
            <p:cNvSpPr>
              <a:spLocks/>
            </p:cNvSpPr>
            <p:nvPr/>
          </p:nvSpPr>
          <p:spPr bwMode="ltGray">
            <a:xfrm>
              <a:off x="0" y="2544"/>
              <a:ext cx="1745" cy="1768"/>
            </a:xfrm>
            <a:custGeom>
              <a:avLst/>
              <a:gdLst/>
              <a:ahLst/>
              <a:cxnLst>
                <a:cxn ang="0">
                  <a:pos x="0" y="0"/>
                </a:cxn>
                <a:cxn ang="0">
                  <a:pos x="0" y="12"/>
                </a:cxn>
                <a:cxn ang="0">
                  <a:pos x="210" y="88"/>
                </a:cxn>
                <a:cxn ang="0">
                  <a:pos x="426" y="190"/>
                </a:cxn>
                <a:cxn ang="0">
                  <a:pos x="630" y="304"/>
                </a:cxn>
                <a:cxn ang="0">
                  <a:pos x="818" y="442"/>
                </a:cxn>
                <a:cxn ang="0">
                  <a:pos x="998" y="592"/>
                </a:cxn>
                <a:cxn ang="0">
                  <a:pos x="1164" y="766"/>
                </a:cxn>
                <a:cxn ang="0">
                  <a:pos x="1310" y="942"/>
                </a:cxn>
                <a:cxn ang="0">
                  <a:pos x="1454" y="1146"/>
                </a:cxn>
                <a:cxn ang="0">
                  <a:pos x="1536" y="1298"/>
                </a:cxn>
                <a:cxn ang="0">
                  <a:pos x="1614" y="1456"/>
                </a:cxn>
                <a:cxn ang="0">
                  <a:pos x="1682" y="1616"/>
                </a:cxn>
                <a:cxn ang="0">
                  <a:pos x="1733" y="1768"/>
                </a:cxn>
                <a:cxn ang="0">
                  <a:pos x="1745" y="1768"/>
                </a:cxn>
                <a:cxn ang="0">
                  <a:pos x="1691" y="1606"/>
                </a:cxn>
                <a:cxn ang="0">
                  <a:pos x="1623" y="1445"/>
                </a:cxn>
                <a:cxn ang="0">
                  <a:pos x="1547" y="1288"/>
                </a:cxn>
                <a:cxn ang="0">
                  <a:pos x="1463" y="1136"/>
                </a:cxn>
                <a:cxn ang="0">
                  <a:pos x="1320" y="932"/>
                </a:cxn>
                <a:cxn ang="0">
                  <a:pos x="1173" y="755"/>
                </a:cxn>
                <a:cxn ang="0">
                  <a:pos x="1008" y="581"/>
                </a:cxn>
                <a:cxn ang="0">
                  <a:pos x="827" y="431"/>
                </a:cxn>
                <a:cxn ang="0">
                  <a:pos x="642" y="293"/>
                </a:cxn>
                <a:cxn ang="0">
                  <a:pos x="437" y="179"/>
                </a:cxn>
                <a:cxn ang="0">
                  <a:pos x="222" y="78"/>
                </a:cxn>
                <a:cxn ang="0">
                  <a:pos x="0" y="0"/>
                </a:cxn>
                <a:cxn ang="0">
                  <a:pos x="0" y="0"/>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1036" name="Oval 7">
              <a:extLst>
                <a:ext uri="{FF2B5EF4-FFF2-40B4-BE49-F238E27FC236}">
                  <a16:creationId xmlns:a16="http://schemas.microsoft.com/office/drawing/2014/main" id="{F0B561F0-8CDC-A50F-EC4E-9CDE8960ECF5}"/>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1037" name="Oval 8">
              <a:extLst>
                <a:ext uri="{FF2B5EF4-FFF2-40B4-BE49-F238E27FC236}">
                  <a16:creationId xmlns:a16="http://schemas.microsoft.com/office/drawing/2014/main" id="{02654BC6-955B-A56B-7936-BE86F4AFCBAD}"/>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1038" name="Oval 9">
              <a:extLst>
                <a:ext uri="{FF2B5EF4-FFF2-40B4-BE49-F238E27FC236}">
                  <a16:creationId xmlns:a16="http://schemas.microsoft.com/office/drawing/2014/main" id="{98313211-A50C-4737-6E76-D5E7ACC6AF9C}"/>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grpSp>
      <p:sp>
        <p:nvSpPr>
          <p:cNvPr id="337930" name="Rectangle 10">
            <a:extLst>
              <a:ext uri="{FF2B5EF4-FFF2-40B4-BE49-F238E27FC236}">
                <a16:creationId xmlns:a16="http://schemas.microsoft.com/office/drawing/2014/main" id="{B80EE913-210B-99F3-C083-ACF421C9B51B}"/>
              </a:ext>
            </a:extLst>
          </p:cNvPr>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337931" name="Rectangle 11">
            <a:extLst>
              <a:ext uri="{FF2B5EF4-FFF2-40B4-BE49-F238E27FC236}">
                <a16:creationId xmlns:a16="http://schemas.microsoft.com/office/drawing/2014/main" id="{465D7F91-2411-7A63-FE99-1CADFAFB9AFE}"/>
              </a:ext>
            </a:extLst>
          </p:cNvPr>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7932" name="Rectangle 12">
            <a:extLst>
              <a:ext uri="{FF2B5EF4-FFF2-40B4-BE49-F238E27FC236}">
                <a16:creationId xmlns:a16="http://schemas.microsoft.com/office/drawing/2014/main" id="{C1C0C42F-A469-5864-8FBC-A6627DA7980A}"/>
              </a:ext>
            </a:extLst>
          </p:cNvPr>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10199"/>
                  </a:outerShdw>
                </a:effectLst>
                <a:latin typeface="Arial" charset="0"/>
                <a:ea typeface="ＭＳ Ｐゴシック" charset="-128"/>
              </a:defRPr>
            </a:lvl1pPr>
          </a:lstStyle>
          <a:p>
            <a:pPr>
              <a:defRPr/>
            </a:pPr>
            <a:endParaRPr lang="x-none" altLang="x-none"/>
          </a:p>
        </p:txBody>
      </p:sp>
      <p:sp>
        <p:nvSpPr>
          <p:cNvPr id="337933" name="Rectangle 13">
            <a:extLst>
              <a:ext uri="{FF2B5EF4-FFF2-40B4-BE49-F238E27FC236}">
                <a16:creationId xmlns:a16="http://schemas.microsoft.com/office/drawing/2014/main" id="{DF7B4E48-069D-6D2D-733D-9EDC48E1CD0D}"/>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10199"/>
                  </a:outerShdw>
                </a:effectLst>
                <a:latin typeface="Arial" charset="0"/>
                <a:ea typeface="ＭＳ Ｐゴシック" charset="-128"/>
              </a:defRPr>
            </a:lvl1pPr>
          </a:lstStyle>
          <a:p>
            <a:pPr>
              <a:defRPr/>
            </a:pPr>
            <a:endParaRPr lang="x-none" altLang="x-none"/>
          </a:p>
        </p:txBody>
      </p:sp>
      <p:sp>
        <p:nvSpPr>
          <p:cNvPr id="337934" name="Rectangle 14">
            <a:extLst>
              <a:ext uri="{FF2B5EF4-FFF2-40B4-BE49-F238E27FC236}">
                <a16:creationId xmlns:a16="http://schemas.microsoft.com/office/drawing/2014/main" id="{13FFA000-B214-DE04-9178-E9A70C47ED95}"/>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10199"/>
                  </a:outerShdw>
                </a:effectLst>
              </a:defRPr>
            </a:lvl1pPr>
          </a:lstStyle>
          <a:p>
            <a:pPr>
              <a:defRPr/>
            </a:pPr>
            <a:fld id="{95A42512-A2A6-1940-88E9-E1E576925297}" type="slidenum">
              <a:rPr lang="en-US" altLang="en-US"/>
              <a:pPr>
                <a:defRPr/>
              </a:pPr>
              <a:t>‹#›</a:t>
            </a:fld>
            <a:endParaRPr lang="en-US" altLang="en-US" dirty="0"/>
          </a:p>
        </p:txBody>
      </p:sp>
    </p:spTree>
  </p:cSld>
  <p:clrMap bg1="dk2" tx1="lt1" bg2="dk1" tx2="lt2" accent1="accent1" accent2="accent2" accent3="accent3" accent4="accent4" accent5="accent5" accent6="accent6" hlink="hlink" folHlink="folHlink"/>
  <p:sldLayoutIdLst>
    <p:sldLayoutId id="2147484182" r:id="rId1"/>
    <p:sldLayoutId id="2147484183" r:id="rId2"/>
    <p:sldLayoutId id="2147484184" r:id="rId3"/>
    <p:sldLayoutId id="2147484185" r:id="rId4"/>
    <p:sldLayoutId id="2147484186" r:id="rId5"/>
    <p:sldLayoutId id="2147484187" r:id="rId6"/>
    <p:sldLayoutId id="2147484188" r:id="rId7"/>
    <p:sldLayoutId id="2147484189" r:id="rId8"/>
    <p:sldLayoutId id="2147484190" r:id="rId9"/>
    <p:sldLayoutId id="2147484191" r:id="rId10"/>
    <p:sldLayoutId id="2147484192"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mj-lt"/>
          <a:ea typeface="ＭＳ Ｐゴシック" charset="0"/>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l"/>
        <a:defRPr sz="3200">
          <a:solidFill>
            <a:schemeClr val="tx1"/>
          </a:solidFill>
          <a:effectLst>
            <a:outerShdw blurRad="38100" dist="38100" dir="2700000" algn="tl">
              <a:srgbClr val="010199"/>
            </a:outerShdw>
          </a:effectLst>
          <a:latin typeface="+mn-lt"/>
          <a:ea typeface="ＭＳ Ｐゴシック" charset="0"/>
          <a:cs typeface="+mn-cs"/>
        </a:defRPr>
      </a:lvl1pPr>
      <a:lvl2pPr marL="742950" indent="-285750" algn="l" rtl="0" eaLnBrk="0" fontAlgn="base" hangingPunct="0">
        <a:spcBef>
          <a:spcPct val="20000"/>
        </a:spcBef>
        <a:spcAft>
          <a:spcPct val="0"/>
        </a:spcAft>
        <a:buClr>
          <a:schemeClr val="tx2"/>
        </a:buClr>
        <a:buSzPct val="75000"/>
        <a:buFont typeface="Wingdings" pitchFamily="2" charset="2"/>
        <a:buChar char="l"/>
        <a:defRPr sz="2800">
          <a:solidFill>
            <a:schemeClr val="tx1"/>
          </a:solidFill>
          <a:effectLst>
            <a:outerShdw blurRad="38100" dist="38100" dir="2700000" algn="tl">
              <a:srgbClr val="010199"/>
            </a:outerShdw>
          </a:effectLst>
          <a:latin typeface="+mn-lt"/>
          <a:ea typeface="Arial" pitchFamily="-65" charset="0"/>
          <a:cs typeface="+mn-cs"/>
        </a:defRPr>
      </a:lvl2pPr>
      <a:lvl3pPr marL="1143000" indent="-228600" algn="l" rtl="0" eaLnBrk="0" fontAlgn="base" hangingPunct="0">
        <a:spcBef>
          <a:spcPct val="20000"/>
        </a:spcBef>
        <a:spcAft>
          <a:spcPct val="0"/>
        </a:spcAft>
        <a:buClr>
          <a:schemeClr val="accent2"/>
        </a:buClr>
        <a:buSzPct val="75000"/>
        <a:buFont typeface="Wingdings" pitchFamily="2" charset="2"/>
        <a:buChar char="l"/>
        <a:defRPr sz="2400">
          <a:solidFill>
            <a:schemeClr val="tx1"/>
          </a:solidFill>
          <a:effectLst>
            <a:outerShdw blurRad="38100" dist="38100" dir="2700000" algn="tl">
              <a:srgbClr val="010199"/>
            </a:outerShdw>
          </a:effectLst>
          <a:latin typeface="+mn-lt"/>
          <a:ea typeface="Arial" pitchFamily="-65" charset="0"/>
          <a:cs typeface="+mn-cs"/>
        </a:defRPr>
      </a:lvl3pPr>
      <a:lvl4pPr marL="1600200" indent="-228600" algn="l" rtl="0" eaLnBrk="0" fontAlgn="base" hangingPunct="0">
        <a:spcBef>
          <a:spcPct val="20000"/>
        </a:spcBef>
        <a:spcAft>
          <a:spcPct val="0"/>
        </a:spcAft>
        <a:buClr>
          <a:schemeClr val="folHlink"/>
        </a:buClr>
        <a:buSzPct val="75000"/>
        <a:buFont typeface="Wingdings" pitchFamily="2" charset="2"/>
        <a:buChar char="l"/>
        <a:defRPr sz="2000">
          <a:solidFill>
            <a:schemeClr val="tx1"/>
          </a:solidFill>
          <a:effectLst>
            <a:outerShdw blurRad="38100" dist="38100" dir="2700000" algn="tl">
              <a:srgbClr val="010199"/>
            </a:outerShdw>
          </a:effectLst>
          <a:latin typeface="+mn-lt"/>
          <a:ea typeface="Arial" pitchFamily="-65" charset="0"/>
          <a:cs typeface="+mn-cs"/>
        </a:defRPr>
      </a:lvl4pPr>
      <a:lvl5pPr marL="2057400" indent="-228600" algn="l" rtl="0" eaLnBrk="0" fontAlgn="base" hangingPunct="0">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ea typeface="Arial" pitchFamily="-65" charset="0"/>
          <a:cs typeface="+mn-cs"/>
        </a:defRPr>
      </a:lvl5pPr>
      <a:lvl6pPr marL="25146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6pPr>
      <a:lvl7pPr marL="29718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7pPr>
      <a:lvl8pPr marL="34290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8pPr>
      <a:lvl9pPr marL="38862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DBE81476-5860-FF77-4895-DA45701AEB22}"/>
              </a:ext>
            </a:extLst>
          </p:cNvPr>
          <p:cNvSpPr>
            <a:spLocks noGrp="1" noChangeArrowheads="1"/>
          </p:cNvSpPr>
          <p:nvPr>
            <p:ph type="ctrTitle"/>
          </p:nvPr>
        </p:nvSpPr>
        <p:spPr>
          <a:xfrm>
            <a:off x="685800" y="990600"/>
            <a:ext cx="7772400" cy="2438400"/>
          </a:xfrm>
        </p:spPr>
        <p:txBody>
          <a:bodyPr/>
          <a:lstStyle/>
          <a:p>
            <a:pPr eaLnBrk="1" hangingPunct="1">
              <a:defRPr/>
            </a:pPr>
            <a:r>
              <a:rPr lang="en-US" altLang="x-none" dirty="0">
                <a:solidFill>
                  <a:srgbClr val="FFFF00"/>
                </a:solidFill>
                <a:ea typeface="ＭＳ Ｐゴシック" charset="-128"/>
              </a:rPr>
              <a:t>PIA 3121</a:t>
            </a:r>
            <a:br>
              <a:rPr lang="en-US" altLang="x-none" dirty="0">
                <a:solidFill>
                  <a:srgbClr val="FFFF00"/>
                </a:solidFill>
                <a:ea typeface="ＭＳ Ｐゴシック" charset="-128"/>
              </a:rPr>
            </a:br>
            <a:br>
              <a:rPr lang="en-US" altLang="x-none" sz="2800" dirty="0">
                <a:solidFill>
                  <a:srgbClr val="FFFF00"/>
                </a:solidFill>
                <a:ea typeface="ＭＳ Ｐゴシック" charset="-128"/>
              </a:rPr>
            </a:br>
            <a:r>
              <a:rPr lang="en-US" altLang="x-none" sz="2400" dirty="0">
                <a:solidFill>
                  <a:srgbClr val="FFFF00"/>
                </a:solidFill>
                <a:ea typeface="ＭＳ Ｐゴシック" charset="-128"/>
              </a:rPr>
              <a:t>29 September 2026</a:t>
            </a:r>
          </a:p>
        </p:txBody>
      </p:sp>
      <p:sp>
        <p:nvSpPr>
          <p:cNvPr id="362499" name="Rectangle 3">
            <a:extLst>
              <a:ext uri="{FF2B5EF4-FFF2-40B4-BE49-F238E27FC236}">
                <a16:creationId xmlns:a16="http://schemas.microsoft.com/office/drawing/2014/main" id="{1C7600D1-4BE9-169A-4A39-9FD98D66ED0F}"/>
              </a:ext>
            </a:extLst>
          </p:cNvPr>
          <p:cNvSpPr>
            <a:spLocks noGrp="1" noChangeArrowheads="1"/>
          </p:cNvSpPr>
          <p:nvPr>
            <p:ph type="subTitle" idx="1"/>
          </p:nvPr>
        </p:nvSpPr>
        <p:spPr/>
        <p:txBody>
          <a:bodyPr/>
          <a:lstStyle/>
          <a:p>
            <a:pPr eaLnBrk="1" hangingPunct="1">
              <a:buFont typeface="Wingdings" charset="2"/>
              <a:buNone/>
              <a:defRPr/>
            </a:pPr>
            <a:r>
              <a:rPr lang="en-US" altLang="x-none" sz="4000" dirty="0">
                <a:ea typeface="ＭＳ Ｐゴシック" charset="-128"/>
              </a:rPr>
              <a:t>Economic Structuralism</a:t>
            </a:r>
          </a:p>
          <a:p>
            <a:pPr eaLnBrk="1" hangingPunct="1">
              <a:buFont typeface="Wingdings" charset="2"/>
              <a:buNone/>
              <a:defRPr/>
            </a:pPr>
            <a:r>
              <a:rPr lang="en-US" altLang="x-none" sz="4000" dirty="0">
                <a:ea typeface="ＭＳ Ｐゴシック" charset="-128"/>
              </a:rPr>
              <a:t>and Globalization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lstStyle/>
          <a:p>
            <a:r>
              <a:rPr lang="en-US" sz="3600" u="sng" dirty="0">
                <a:solidFill>
                  <a:schemeClr val="tx1"/>
                </a:solidFill>
                <a:highlight>
                  <a:srgbClr val="800080"/>
                </a:highlight>
              </a:rPr>
              <a:t>PIA 3121 Schedule</a:t>
            </a:r>
          </a:p>
        </p:txBody>
      </p:sp>
      <p:sp>
        <p:nvSpPr>
          <p:cNvPr id="3" name="Content Placeholder 2"/>
          <p:cNvSpPr>
            <a:spLocks noGrp="1"/>
          </p:cNvSpPr>
          <p:nvPr>
            <p:ph idx="1"/>
          </p:nvPr>
        </p:nvSpPr>
        <p:spPr>
          <a:xfrm>
            <a:off x="445265" y="1447800"/>
            <a:ext cx="8229600" cy="4713287"/>
          </a:xfrm>
        </p:spPr>
        <p:txBody>
          <a:bodyPr/>
          <a:lstStyle/>
          <a:p>
            <a:pPr marL="0" indent="0" eaLnBrk="1" fontAlgn="auto" hangingPunct="1">
              <a:spcBef>
                <a:spcPts val="0"/>
              </a:spcBef>
              <a:spcAft>
                <a:spcPts val="0"/>
              </a:spcAft>
              <a:buClrTx/>
              <a:buSzTx/>
              <a:buNone/>
              <a:defRPr/>
            </a:pPr>
            <a:r>
              <a:rPr lang="en-US" sz="1800" dirty="0">
                <a:solidFill>
                  <a:srgbClr val="FFFF00"/>
                </a:solidFill>
              </a:rPr>
              <a:t>1 Sept:		</a:t>
            </a:r>
            <a:r>
              <a:rPr lang="en-US" sz="1800" dirty="0"/>
              <a:t>Tools of Analysis / Foundational Concepts</a:t>
            </a:r>
            <a:endParaRPr lang="en-US" sz="1800" dirty="0">
              <a:solidFill>
                <a:srgbClr val="FFFF00"/>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8 Sept</a:t>
            </a:r>
            <a:r>
              <a:rPr lang="en-US" sz="1800" dirty="0"/>
              <a:t>:		Realism</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15 Sept</a:t>
            </a:r>
            <a:r>
              <a:rPr lang="en-US" sz="1800" dirty="0"/>
              <a:t>:		Liberalism</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22 Sept</a:t>
            </a:r>
            <a:r>
              <a:rPr lang="en-US" sz="1800" dirty="0"/>
              <a:t>:		Neorealism and Neoliberalism</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29 Sept:</a:t>
            </a:r>
            <a:r>
              <a:rPr lang="en-US" sz="1800" dirty="0"/>
              <a:t>		Economic Structuralism and Globalization</a:t>
            </a: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6 Oct</a:t>
            </a:r>
            <a:r>
              <a:rPr lang="en-US" sz="1800" dirty="0"/>
              <a:t>:		Constructivism</a:t>
            </a: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endParaRPr lang="en-US" sz="1400" dirty="0"/>
          </a:p>
          <a:p>
            <a:pPr marL="0" indent="0" eaLnBrk="1" fontAlgn="auto" hangingPunct="1">
              <a:spcBef>
                <a:spcPts val="0"/>
              </a:spcBef>
              <a:spcAft>
                <a:spcPts val="0"/>
              </a:spcAft>
              <a:buClrTx/>
              <a:buSzTx/>
              <a:buNone/>
              <a:defRPr/>
            </a:pPr>
            <a:r>
              <a:rPr lang="en-US" sz="1800" dirty="0">
                <a:highlight>
                  <a:srgbClr val="800000"/>
                </a:highlight>
              </a:rPr>
              <a:t>13 Oct:		MIDTERM QUIZ</a:t>
            </a:r>
          </a:p>
          <a:p>
            <a:pPr marL="0" indent="0" eaLnBrk="1" fontAlgn="auto" hangingPunct="1">
              <a:spcBef>
                <a:spcPts val="0"/>
              </a:spcBef>
              <a:spcAft>
                <a:spcPts val="0"/>
              </a:spcAft>
              <a:buClrTx/>
              <a:buSzTx/>
              <a:buNone/>
              <a:defRPr/>
            </a:pPr>
            <a:endParaRPr lang="en-US" sz="1800" dirty="0"/>
          </a:p>
          <a:p>
            <a:pPr marL="0" indent="0" eaLnBrk="1" fontAlgn="auto" hangingPunct="1">
              <a:spcBef>
                <a:spcPts val="0"/>
              </a:spcBef>
              <a:spcAft>
                <a:spcPts val="0"/>
              </a:spcAft>
              <a:buClrTx/>
              <a:buSzTx/>
              <a:buNone/>
              <a:defRPr/>
            </a:pPr>
            <a:r>
              <a:rPr lang="en-US" sz="1800" dirty="0">
                <a:solidFill>
                  <a:srgbClr val="FFFF00"/>
                </a:solidFill>
              </a:rPr>
              <a:t>20 Oct</a:t>
            </a:r>
            <a:r>
              <a:rPr lang="en-US" sz="1800" dirty="0"/>
              <a:t>:		Ontological Security Theory</a:t>
            </a:r>
          </a:p>
          <a:p>
            <a:pPr marL="0" indent="0" eaLnBrk="1" fontAlgn="auto" hangingPunct="1">
              <a:spcBef>
                <a:spcPts val="0"/>
              </a:spcBef>
              <a:spcAft>
                <a:spcPts val="0"/>
              </a:spcAft>
              <a:buClrTx/>
              <a:buSzTx/>
              <a:buNone/>
              <a:defRPr/>
            </a:pPr>
            <a:r>
              <a:rPr lang="en-US" sz="1800" dirty="0">
                <a:solidFill>
                  <a:srgbClr val="FFFF00"/>
                </a:solidFill>
              </a:rPr>
              <a:t>27 Oct</a:t>
            </a:r>
            <a:r>
              <a:rPr lang="en-US" sz="1800" dirty="0"/>
              <a:t>:		The English School</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3 Nov</a:t>
            </a:r>
            <a:r>
              <a:rPr lang="en-US" sz="1800" dirty="0"/>
              <a:t>:		Democratization / Global Culture / Revolution</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10 Nov</a:t>
            </a:r>
            <a:r>
              <a:rPr lang="en-US" sz="1800" dirty="0"/>
              <a:t>:		Critical Theory / Gender in IR / Global Civil Society</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17 Nov</a:t>
            </a:r>
            <a:r>
              <a:rPr lang="en-US" sz="1800" dirty="0"/>
              <a:t>:		Chaos and Complexity in IR / Existential Risks</a:t>
            </a:r>
          </a:p>
          <a:p>
            <a:pPr marL="0" marR="0" lvl="0" indent="0" defTabSz="914400" eaLnBrk="1" fontAlgn="auto" latinLnBrk="0" hangingPunct="1">
              <a:lnSpc>
                <a:spcPct val="100000"/>
              </a:lnSpc>
              <a:spcBef>
                <a:spcPts val="0"/>
              </a:spcBef>
              <a:spcAft>
                <a:spcPts val="0"/>
              </a:spcAft>
              <a:buClrTx/>
              <a:buSzTx/>
              <a:buFontTx/>
              <a:buNone/>
              <a:tabLst/>
              <a:defRPr/>
            </a:pP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r>
              <a:rPr lang="en-US" sz="1800" dirty="0">
                <a:highlight>
                  <a:srgbClr val="000080"/>
                </a:highlight>
              </a:rPr>
              <a:t>24 Nov:		FINAL QUIZ / Discussion of Group Projects</a:t>
            </a:r>
            <a:endParaRPr lang="en-US" sz="1400" dirty="0">
              <a:highlight>
                <a:srgbClr val="000080"/>
              </a:highlight>
            </a:endParaRPr>
          </a:p>
          <a:p>
            <a:pPr marL="0" indent="0" eaLnBrk="1" fontAlgn="auto" hangingPunct="1">
              <a:spcBef>
                <a:spcPts val="0"/>
              </a:spcBef>
              <a:spcAft>
                <a:spcPts val="0"/>
              </a:spcAft>
              <a:buClrTx/>
              <a:buSzTx/>
              <a:buNone/>
              <a:defRPr/>
            </a:pPr>
            <a:endParaRPr lang="en-US" sz="1400" dirty="0"/>
          </a:p>
          <a:p>
            <a:pPr marL="0" indent="0" eaLnBrk="1" fontAlgn="auto" hangingPunct="1">
              <a:spcBef>
                <a:spcPts val="0"/>
              </a:spcBef>
              <a:spcAft>
                <a:spcPts val="0"/>
              </a:spcAft>
              <a:buClrTx/>
              <a:buSzTx/>
              <a:buNone/>
              <a:defRPr/>
            </a:pPr>
            <a:r>
              <a:rPr lang="en-US" sz="1800" dirty="0">
                <a:highlight>
                  <a:srgbClr val="008080"/>
                </a:highlight>
              </a:rPr>
              <a:t>8 Dec:		GROUP PAPER PROJECT DUE</a:t>
            </a:r>
          </a:p>
        </p:txBody>
      </p:sp>
    </p:spTree>
    <p:extLst>
      <p:ext uri="{BB962C8B-B14F-4D97-AF65-F5344CB8AC3E}">
        <p14:creationId xmlns:p14="http://schemas.microsoft.com/office/powerpoint/2010/main" val="1935469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7" name="Title 1">
            <a:extLst>
              <a:ext uri="{FF2B5EF4-FFF2-40B4-BE49-F238E27FC236}">
                <a16:creationId xmlns:a16="http://schemas.microsoft.com/office/drawing/2014/main" id="{5057BF8A-2C2D-2FAC-ADC9-F7B9E8F3FFDD}"/>
              </a:ext>
            </a:extLst>
          </p:cNvPr>
          <p:cNvPicPr>
            <a:picLocks noGrp="1" noChangeArrowheads="1"/>
          </p:cNvPicPr>
          <p:nvPr>
            <p:ph type="title"/>
          </p:nvPr>
        </p:nvPicPr>
        <p:blipFill>
          <a:blip r:embed="rId3">
            <a:extLst>
              <a:ext uri="{28A0092B-C50C-407E-A947-70E740481C1C}">
                <a14:useLocalDpi xmlns:a14="http://schemas.microsoft.com/office/drawing/2010/main" val="0"/>
              </a:ext>
            </a:extLst>
          </a:blip>
          <a:srcRect/>
          <a:stretch>
            <a:fillRect/>
          </a:stretch>
        </p:blipFill>
        <p:spPr>
          <a:xfrm>
            <a:off x="0" y="0"/>
            <a:ext cx="9144000" cy="1066800"/>
          </a:xfrm>
        </p:spPr>
      </p:pic>
      <p:sp>
        <p:nvSpPr>
          <p:cNvPr id="5" name="Content Placeholder 4">
            <a:extLst>
              <a:ext uri="{FF2B5EF4-FFF2-40B4-BE49-F238E27FC236}">
                <a16:creationId xmlns:a16="http://schemas.microsoft.com/office/drawing/2014/main" id="{21E60BB0-0CCF-A1F4-6191-7630C45AAE0C}"/>
              </a:ext>
            </a:extLst>
          </p:cNvPr>
          <p:cNvSpPr>
            <a:spLocks noGrp="1"/>
          </p:cNvSpPr>
          <p:nvPr>
            <p:ph idx="1"/>
          </p:nvPr>
        </p:nvSpPr>
        <p:spPr>
          <a:xfrm>
            <a:off x="304800" y="1600200"/>
            <a:ext cx="8534400" cy="4530725"/>
          </a:xfrm>
        </p:spPr>
        <p:txBody>
          <a:bodyPr/>
          <a:lstStyle/>
          <a:p>
            <a:pPr marL="0" indent="0">
              <a:spcBef>
                <a:spcPct val="0"/>
              </a:spcBef>
              <a:buFont typeface="Wingdings" charset="2"/>
              <a:buNone/>
              <a:defRPr/>
            </a:pPr>
            <a:r>
              <a:rPr lang="en-US" altLang="x-none" sz="2400" dirty="0">
                <a:ea typeface="ＭＳ Ｐゴシック" charset="-128"/>
              </a:rPr>
              <a:t>Possibly Realists are right that states were born as war-fighting machines and still tend toward suspicion of each other because of the security dilemma.</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2400" i="1" dirty="0">
                <a:ea typeface="ＭＳ Ｐゴシック" charset="-128"/>
              </a:rPr>
              <a:t>But over the ages, </a:t>
            </a:r>
            <a:r>
              <a:rPr lang="en-US" altLang="x-none" sz="2400" i="1" dirty="0">
                <a:solidFill>
                  <a:srgbClr val="FFFF00"/>
                </a:solidFill>
                <a:effectLst>
                  <a:outerShdw blurRad="38100" dist="38100" dir="2700000" algn="tl">
                    <a:srgbClr val="FFFFFF"/>
                  </a:outerShdw>
                </a:effectLst>
                <a:ea typeface="ＭＳ Ｐゴシック" charset="-128"/>
              </a:rPr>
              <a:t>states that fail to cooperate will gradually be eliminated from the world scene</a:t>
            </a:r>
            <a:r>
              <a:rPr lang="en-US" altLang="x-none" sz="2400" i="1" dirty="0">
                <a:ea typeface="ＭＳ Ｐゴシック" charset="-128"/>
              </a:rPr>
              <a:t>.  </a:t>
            </a:r>
            <a:r>
              <a:rPr lang="en-US" altLang="x-none" sz="2400" dirty="0">
                <a:ea typeface="ＭＳ Ｐゴシック" charset="-128"/>
              </a:rPr>
              <a:t>Completely naïve states will also be eliminated.</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2400" dirty="0">
                <a:ea typeface="ＭＳ Ｐゴシック" charset="-128"/>
              </a:rPr>
              <a:t>The surviving states will be those that </a:t>
            </a:r>
            <a:r>
              <a:rPr lang="en-US" altLang="x-none" sz="2400" u="sng" dirty="0">
                <a:ea typeface="ＭＳ Ｐゴシック" charset="-128"/>
              </a:rPr>
              <a:t>prosper through the benefits cooperation confers</a:t>
            </a:r>
            <a:r>
              <a:rPr lang="en-US" altLang="x-none" sz="2400" dirty="0">
                <a:ea typeface="ＭＳ Ｐゴシック" charset="-128"/>
              </a:rPr>
              <a:t> </a:t>
            </a:r>
            <a:r>
              <a:rPr lang="en-US" altLang="x-none" sz="2400" i="1" dirty="0">
                <a:ea typeface="ＭＳ Ｐゴシック" charset="-128"/>
              </a:rPr>
              <a:t>when balanced by a vigorous—yet reasonable—defense of state interests</a:t>
            </a:r>
            <a:r>
              <a:rPr lang="en-US" altLang="x-none" sz="2400" dirty="0">
                <a:ea typeface="ＭＳ Ｐゴシック" charset="-128"/>
              </a:rPr>
              <a:t>.</a:t>
            </a:r>
          </a:p>
          <a:p>
            <a:pPr marL="0" indent="0">
              <a:spcBef>
                <a:spcPct val="0"/>
              </a:spcBef>
              <a:buFont typeface="Wingdings" charset="2"/>
              <a:buNone/>
              <a:defRPr/>
            </a:pPr>
            <a:endParaRPr lang="en-US" altLang="x-none" sz="1800" u="sng" dirty="0">
              <a:ea typeface="ＭＳ Ｐゴシック" charset="-128"/>
            </a:endParaRPr>
          </a:p>
          <a:p>
            <a:pPr marL="0" indent="0">
              <a:spcBef>
                <a:spcPct val="0"/>
              </a:spcBef>
              <a:buFont typeface="Wingdings" charset="2"/>
              <a:buNone/>
              <a:defRPr/>
            </a:pPr>
            <a:r>
              <a:rPr lang="en-US" altLang="x-none" sz="2400" u="sng" dirty="0">
                <a:ea typeface="ＭＳ Ｐゴシック" charset="-128"/>
              </a:rPr>
              <a:t>SO REALISTS MUST </a:t>
            </a:r>
            <a:r>
              <a:rPr lang="en-US" altLang="x-none" sz="2400" u="sng" dirty="0">
                <a:solidFill>
                  <a:srgbClr val="FFFF00"/>
                </a:solidFill>
                <a:effectLst>
                  <a:outerShdw blurRad="38100" dist="38100" dir="2700000" algn="tl">
                    <a:srgbClr val="FFFFFF"/>
                  </a:outerShdw>
                </a:effectLst>
                <a:ea typeface="ＭＳ Ｐゴシック" charset="-128"/>
              </a:rPr>
              <a:t>RECONSIDER</a:t>
            </a:r>
            <a:r>
              <a:rPr lang="en-US" altLang="x-none" sz="2400" u="sng" dirty="0">
                <a:ea typeface="ＭＳ Ｐゴシック" charset="-128"/>
              </a:rPr>
              <a:t> SEVERAL ISSUES</a:t>
            </a:r>
            <a:r>
              <a:rPr lang="en-US" altLang="x-none" sz="2400" dirty="0">
                <a:ea typeface="ＭＳ Ｐゴシック" charset="-128"/>
              </a:rPr>
              <a:t>:  the world as anarchic today, the impossibility of progress, etc.</a:t>
            </a:r>
          </a:p>
        </p:txBody>
      </p:sp>
    </p:spTree>
    <p:extLst>
      <p:ext uri="{BB962C8B-B14F-4D97-AF65-F5344CB8AC3E}">
        <p14:creationId xmlns:p14="http://schemas.microsoft.com/office/powerpoint/2010/main" val="30954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230B80-2FDE-72F7-885C-0340AFD90AA0}"/>
              </a:ext>
            </a:extLst>
          </p:cNvPr>
          <p:cNvSpPr>
            <a:spLocks noGrp="1"/>
          </p:cNvSpPr>
          <p:nvPr>
            <p:ph idx="1"/>
          </p:nvPr>
        </p:nvSpPr>
        <p:spPr>
          <a:xfrm>
            <a:off x="304800" y="1447800"/>
            <a:ext cx="8534400" cy="4759325"/>
          </a:xfrm>
        </p:spPr>
        <p:txBody>
          <a:bodyPr/>
          <a:lstStyle/>
          <a:p>
            <a:pPr marL="0" indent="0">
              <a:spcBef>
                <a:spcPct val="0"/>
              </a:spcBef>
              <a:buFont typeface="Wingdings" charset="2"/>
              <a:buNone/>
              <a:defRPr/>
            </a:pPr>
            <a:r>
              <a:rPr lang="en-US" altLang="x-none" sz="2400" dirty="0">
                <a:ea typeface="ＭＳ Ｐゴシック" charset="-128"/>
              </a:rPr>
              <a:t>Neorealists responded to the Neoliberals</a:t>
            </a:r>
            <a:r>
              <a:rPr lang="ja-JP" altLang="en-US" sz="2400">
                <a:ea typeface="ＭＳ Ｐゴシック" charset="-128"/>
              </a:rPr>
              <a:t>’</a:t>
            </a:r>
            <a:r>
              <a:rPr lang="en-US" altLang="ja-JP" sz="2400" dirty="0">
                <a:ea typeface="ＭＳ Ｐゴシック" charset="-128"/>
              </a:rPr>
              <a:t> core contribution by contending that </a:t>
            </a:r>
            <a:r>
              <a:rPr lang="en-US" altLang="ja-JP" sz="2400" i="1" dirty="0">
                <a:ea typeface="ＭＳ Ｐゴシック" charset="-128"/>
              </a:rPr>
              <a:t>its presuppositions are flawed</a:t>
            </a:r>
            <a:r>
              <a:rPr lang="en-US" altLang="ja-JP" sz="2400" dirty="0">
                <a:ea typeface="ＭＳ Ｐゴシック" charset="-128"/>
              </a:rPr>
              <a:t>:</a:t>
            </a:r>
            <a:endParaRPr lang="en-US" altLang="ja-JP"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2A37DA7F-86F3-BA0F-AFD0-45325806739E}"/>
              </a:ext>
            </a:extLst>
          </p:cNvPr>
          <p:cNvSpPr>
            <a:spLocks noGrp="1"/>
          </p:cNvSpPr>
          <p:nvPr>
            <p:ph type="title"/>
          </p:nvPr>
        </p:nvSpPr>
        <p:spPr/>
        <p:txBody>
          <a:bodyPr/>
          <a:lstStyle/>
          <a:p>
            <a:pPr>
              <a:defRPr/>
            </a:pPr>
            <a:r>
              <a:rPr lang="en-US" sz="3600" dirty="0">
                <a:solidFill>
                  <a:srgbClr val="FFFF00"/>
                </a:solidFill>
              </a:rPr>
              <a:t>The Neo-Neo Debate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9BC1B-B37A-EAC6-2405-385755B11A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19CE71-8843-8390-718C-CDCB260DA0DB}"/>
              </a:ext>
            </a:extLst>
          </p:cNvPr>
          <p:cNvSpPr>
            <a:spLocks noGrp="1"/>
          </p:cNvSpPr>
          <p:nvPr>
            <p:ph idx="1"/>
          </p:nvPr>
        </p:nvSpPr>
        <p:spPr>
          <a:xfrm>
            <a:off x="304800" y="1447800"/>
            <a:ext cx="8534400" cy="4759325"/>
          </a:xfrm>
        </p:spPr>
        <p:txBody>
          <a:bodyPr/>
          <a:lstStyle/>
          <a:p>
            <a:pPr marL="0" indent="0">
              <a:spcBef>
                <a:spcPct val="0"/>
              </a:spcBef>
              <a:buFont typeface="Wingdings" charset="2"/>
              <a:buNone/>
              <a:defRPr/>
            </a:pPr>
            <a:r>
              <a:rPr lang="en-US" altLang="x-none" sz="2400" dirty="0">
                <a:ea typeface="ＭＳ Ｐゴシック" charset="-128"/>
              </a:rPr>
              <a:t>Neorealists responded to the Neoliberals</a:t>
            </a:r>
            <a:r>
              <a:rPr lang="ja-JP" altLang="en-US" sz="2400">
                <a:ea typeface="ＭＳ Ｐゴシック" charset="-128"/>
              </a:rPr>
              <a:t>’</a:t>
            </a:r>
            <a:r>
              <a:rPr lang="en-US" altLang="ja-JP" sz="2400" dirty="0">
                <a:ea typeface="ＭＳ Ｐゴシック" charset="-128"/>
              </a:rPr>
              <a:t> core contribution by contending that </a:t>
            </a:r>
            <a:r>
              <a:rPr lang="en-US" altLang="ja-JP" sz="2400" i="1" dirty="0">
                <a:ea typeface="ＭＳ Ｐゴシック" charset="-128"/>
              </a:rPr>
              <a:t>its presuppositions are flawed</a:t>
            </a:r>
            <a:r>
              <a:rPr lang="en-US" altLang="ja-JP" sz="2400" dirty="0">
                <a:ea typeface="ＭＳ Ｐゴシック" charset="-128"/>
              </a:rPr>
              <a:t>:</a:t>
            </a:r>
            <a:endParaRPr lang="en-US" altLang="ja-JP"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2400" dirty="0">
                <a:ea typeface="ＭＳ Ｐゴシック" charset="-128"/>
              </a:rPr>
              <a:t>Neoliberals can only use </a:t>
            </a:r>
            <a:r>
              <a:rPr lang="ja-JP" altLang="en-US" sz="2400">
                <a:ea typeface="ＭＳ Ｐゴシック" charset="-128"/>
              </a:rPr>
              <a:t>“</a:t>
            </a:r>
            <a:r>
              <a:rPr lang="en-US" altLang="ja-JP" sz="2400" dirty="0">
                <a:ea typeface="ＭＳ Ｐゴシック" charset="-128"/>
              </a:rPr>
              <a:t>evolution of cooperation</a:t>
            </a:r>
            <a:r>
              <a:rPr lang="ja-JP" altLang="en-US" sz="2400">
                <a:ea typeface="ＭＳ Ｐゴシック" charset="-128"/>
              </a:rPr>
              <a:t>”</a:t>
            </a:r>
            <a:r>
              <a:rPr lang="en-US" altLang="ja-JP" sz="2400" dirty="0">
                <a:ea typeface="ＭＳ Ｐゴシック" charset="-128"/>
              </a:rPr>
              <a:t> models by assuming states primarily seek </a:t>
            </a:r>
            <a:r>
              <a:rPr lang="en-US" altLang="ja-JP" sz="2400" b="1" i="1" dirty="0">
                <a:solidFill>
                  <a:srgbClr val="FFFF00"/>
                </a:solidFill>
                <a:effectLst>
                  <a:outerShdw blurRad="38100" dist="38100" dir="2700000" algn="tl">
                    <a:srgbClr val="FFFFFF"/>
                  </a:outerShdw>
                </a:effectLst>
                <a:ea typeface="ＭＳ Ｐゴシック" charset="-128"/>
              </a:rPr>
              <a:t>absolute </a:t>
            </a:r>
            <a:r>
              <a:rPr lang="en-US" altLang="ja-JP" sz="2400" dirty="0">
                <a:ea typeface="ＭＳ Ｐゴシック" charset="-128"/>
              </a:rPr>
              <a:t>gains in their interactions each other; that is, gains compared to the past or what would have been possible from alternative courses of action.</a:t>
            </a:r>
            <a:endParaRPr lang="en-US" altLang="ja-JP"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D1C1B8AA-0CD7-7336-D3DB-D0424F6DFCB4}"/>
              </a:ext>
            </a:extLst>
          </p:cNvPr>
          <p:cNvSpPr>
            <a:spLocks noGrp="1"/>
          </p:cNvSpPr>
          <p:nvPr>
            <p:ph type="title"/>
          </p:nvPr>
        </p:nvSpPr>
        <p:spPr/>
        <p:txBody>
          <a:bodyPr/>
          <a:lstStyle/>
          <a:p>
            <a:pPr>
              <a:defRPr/>
            </a:pPr>
            <a:r>
              <a:rPr lang="en-US" sz="3600" dirty="0">
                <a:solidFill>
                  <a:srgbClr val="FFFF00"/>
                </a:solidFill>
              </a:rPr>
              <a:t>The Neo-Neo Debate</a:t>
            </a:r>
          </a:p>
        </p:txBody>
      </p:sp>
    </p:spTree>
    <p:extLst>
      <p:ext uri="{BB962C8B-B14F-4D97-AF65-F5344CB8AC3E}">
        <p14:creationId xmlns:p14="http://schemas.microsoft.com/office/powerpoint/2010/main" val="3363289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253F5-1A9E-265F-8D38-E09300EAD7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719753-EA00-0ADF-CAA1-BEED3B1D48ED}"/>
              </a:ext>
            </a:extLst>
          </p:cNvPr>
          <p:cNvSpPr>
            <a:spLocks noGrp="1"/>
          </p:cNvSpPr>
          <p:nvPr>
            <p:ph idx="1"/>
          </p:nvPr>
        </p:nvSpPr>
        <p:spPr>
          <a:xfrm>
            <a:off x="304800" y="1447800"/>
            <a:ext cx="8534400" cy="4759325"/>
          </a:xfrm>
        </p:spPr>
        <p:txBody>
          <a:bodyPr/>
          <a:lstStyle/>
          <a:p>
            <a:pPr marL="0" indent="0">
              <a:spcBef>
                <a:spcPct val="0"/>
              </a:spcBef>
              <a:buFont typeface="Wingdings" charset="2"/>
              <a:buNone/>
              <a:defRPr/>
            </a:pPr>
            <a:r>
              <a:rPr lang="en-US" altLang="x-none" sz="2400" dirty="0">
                <a:ea typeface="ＭＳ Ｐゴシック" charset="-128"/>
              </a:rPr>
              <a:t>Neorealists responded to the Neoliberals</a:t>
            </a:r>
            <a:r>
              <a:rPr lang="ja-JP" altLang="en-US" sz="2400">
                <a:ea typeface="ＭＳ Ｐゴシック" charset="-128"/>
              </a:rPr>
              <a:t>’</a:t>
            </a:r>
            <a:r>
              <a:rPr lang="en-US" altLang="ja-JP" sz="2400" dirty="0">
                <a:ea typeface="ＭＳ Ｐゴシック" charset="-128"/>
              </a:rPr>
              <a:t> core contribution by contending that </a:t>
            </a:r>
            <a:r>
              <a:rPr lang="en-US" altLang="ja-JP" sz="2400" i="1" dirty="0">
                <a:ea typeface="ＭＳ Ｐゴシック" charset="-128"/>
              </a:rPr>
              <a:t>its presuppositions are flawed</a:t>
            </a:r>
            <a:r>
              <a:rPr lang="en-US" altLang="ja-JP" sz="2400" dirty="0">
                <a:ea typeface="ＭＳ Ｐゴシック" charset="-128"/>
              </a:rPr>
              <a:t>:</a:t>
            </a:r>
            <a:endParaRPr lang="en-US" altLang="ja-JP"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2400" dirty="0">
                <a:ea typeface="ＭＳ Ｐゴシック" charset="-128"/>
              </a:rPr>
              <a:t>Neoliberals can only use </a:t>
            </a:r>
            <a:r>
              <a:rPr lang="ja-JP" altLang="en-US" sz="2400">
                <a:ea typeface="ＭＳ Ｐゴシック" charset="-128"/>
              </a:rPr>
              <a:t>“</a:t>
            </a:r>
            <a:r>
              <a:rPr lang="en-US" altLang="ja-JP" sz="2400" dirty="0">
                <a:ea typeface="ＭＳ Ｐゴシック" charset="-128"/>
              </a:rPr>
              <a:t>evolution of cooperation</a:t>
            </a:r>
            <a:r>
              <a:rPr lang="ja-JP" altLang="en-US" sz="2400">
                <a:ea typeface="ＭＳ Ｐゴシック" charset="-128"/>
              </a:rPr>
              <a:t>”</a:t>
            </a:r>
            <a:r>
              <a:rPr lang="en-US" altLang="ja-JP" sz="2400" dirty="0">
                <a:ea typeface="ＭＳ Ｐゴシック" charset="-128"/>
              </a:rPr>
              <a:t> models by assuming states primarily seek </a:t>
            </a:r>
            <a:r>
              <a:rPr lang="en-US" altLang="ja-JP" sz="2400" b="1" i="1" dirty="0">
                <a:solidFill>
                  <a:srgbClr val="FFFF00"/>
                </a:solidFill>
                <a:effectLst>
                  <a:outerShdw blurRad="38100" dist="38100" dir="2700000" algn="tl">
                    <a:srgbClr val="FFFFFF"/>
                  </a:outerShdw>
                </a:effectLst>
                <a:ea typeface="ＭＳ Ｐゴシック" charset="-128"/>
              </a:rPr>
              <a:t>absolute </a:t>
            </a:r>
            <a:r>
              <a:rPr lang="en-US" altLang="ja-JP" sz="2400" dirty="0">
                <a:ea typeface="ＭＳ Ｐゴシック" charset="-128"/>
              </a:rPr>
              <a:t>gains in their interactions each other; that is, gains compared to the past or what would have been possible from alternative courses of action.</a:t>
            </a:r>
            <a:endParaRPr lang="en-US" altLang="ja-JP"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2400" dirty="0">
                <a:ea typeface="ＭＳ Ｐゴシック" charset="-128"/>
              </a:rPr>
              <a:t>But Neorealists assert that, owing to the security dilemma, states primarily seek </a:t>
            </a:r>
            <a:r>
              <a:rPr lang="en-US" altLang="x-none" sz="2400" b="1" i="1" dirty="0">
                <a:solidFill>
                  <a:srgbClr val="FFFF00"/>
                </a:solidFill>
                <a:effectLst>
                  <a:outerShdw blurRad="38100" dist="38100" dir="2700000" algn="tl">
                    <a:srgbClr val="FFFFFF"/>
                  </a:outerShdw>
                </a:effectLst>
                <a:ea typeface="ＭＳ Ｐゴシック" charset="-128"/>
              </a:rPr>
              <a:t>relative </a:t>
            </a:r>
            <a:r>
              <a:rPr lang="en-US" altLang="x-none" sz="2400" dirty="0">
                <a:ea typeface="ＭＳ Ｐゴシック" charset="-128"/>
              </a:rPr>
              <a:t>gains in their interactions with each other.  </a:t>
            </a:r>
            <a:r>
              <a:rPr lang="en-US" altLang="x-none" sz="2400" i="1" u="sng" dirty="0">
                <a:highlight>
                  <a:srgbClr val="000080"/>
                </a:highlight>
                <a:ea typeface="ＭＳ Ｐゴシック" charset="-128"/>
              </a:rPr>
              <a:t>Peace may be passing</a:t>
            </a:r>
            <a:r>
              <a:rPr lang="en-US" altLang="x-none" sz="24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508D9A90-0586-E135-5764-E3D886B723AB}"/>
              </a:ext>
            </a:extLst>
          </p:cNvPr>
          <p:cNvSpPr>
            <a:spLocks noGrp="1"/>
          </p:cNvSpPr>
          <p:nvPr>
            <p:ph type="title"/>
          </p:nvPr>
        </p:nvSpPr>
        <p:spPr/>
        <p:txBody>
          <a:bodyPr/>
          <a:lstStyle/>
          <a:p>
            <a:pPr>
              <a:defRPr/>
            </a:pPr>
            <a:r>
              <a:rPr lang="en-US" sz="3600" dirty="0">
                <a:solidFill>
                  <a:srgbClr val="FFFF00"/>
                </a:solidFill>
              </a:rPr>
              <a:t>The Neo-Neo Debate</a:t>
            </a:r>
          </a:p>
        </p:txBody>
      </p:sp>
    </p:spTree>
    <p:extLst>
      <p:ext uri="{BB962C8B-B14F-4D97-AF65-F5344CB8AC3E}">
        <p14:creationId xmlns:p14="http://schemas.microsoft.com/office/powerpoint/2010/main" val="3997582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D5B59-8F12-2B19-16E0-6D21D380F5B1}"/>
              </a:ext>
            </a:extLst>
          </p:cNvPr>
          <p:cNvSpPr>
            <a:spLocks noGrp="1"/>
          </p:cNvSpPr>
          <p:nvPr>
            <p:ph type="title"/>
          </p:nvPr>
        </p:nvSpPr>
        <p:spPr>
          <a:xfrm>
            <a:off x="457200" y="0"/>
            <a:ext cx="8229600" cy="1066800"/>
          </a:xfrm>
        </p:spPr>
        <p:txBody>
          <a:bodyPr/>
          <a:lstStyle/>
          <a:p>
            <a:pPr>
              <a:defRPr/>
            </a:pPr>
            <a:r>
              <a:rPr lang="en-US" altLang="x-none" sz="3600" dirty="0">
                <a:solidFill>
                  <a:srgbClr val="FFFF00"/>
                </a:solidFill>
                <a:ea typeface="ＭＳ Ｐゴシック" charset="-128"/>
              </a:rPr>
              <a:t>The Neo-Neo Debate</a:t>
            </a:r>
          </a:p>
        </p:txBody>
      </p:sp>
      <p:sp>
        <p:nvSpPr>
          <p:cNvPr id="3" name="Content Placeholder 2">
            <a:extLst>
              <a:ext uri="{FF2B5EF4-FFF2-40B4-BE49-F238E27FC236}">
                <a16:creationId xmlns:a16="http://schemas.microsoft.com/office/drawing/2014/main" id="{859AA5DE-240A-3D04-5069-0F7ED65D9E5B}"/>
              </a:ext>
            </a:extLst>
          </p:cNvPr>
          <p:cNvSpPr>
            <a:spLocks noGrp="1"/>
          </p:cNvSpPr>
          <p:nvPr>
            <p:ph idx="1"/>
          </p:nvPr>
        </p:nvSpPr>
        <p:spPr>
          <a:xfrm>
            <a:off x="457200" y="1219200"/>
            <a:ext cx="8229600" cy="4911725"/>
          </a:xfrm>
        </p:spPr>
        <p:txBody>
          <a:bodyPr/>
          <a:lstStyle/>
          <a:p>
            <a:pPr>
              <a:buFont typeface="Wingdings" charset="0"/>
              <a:buNone/>
              <a:defRPr/>
            </a:pPr>
            <a:endParaRPr lang="en-US" sz="1800" dirty="0"/>
          </a:p>
        </p:txBody>
      </p:sp>
    </p:spTree>
    <p:extLst>
      <p:ext uri="{BB962C8B-B14F-4D97-AF65-F5344CB8AC3E}">
        <p14:creationId xmlns:p14="http://schemas.microsoft.com/office/powerpoint/2010/main" val="2024647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E6F71-22D0-33FD-54FF-901F3DDE4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BD9AB-EB59-0C7D-133A-7ADCDA0E6557}"/>
              </a:ext>
            </a:extLst>
          </p:cNvPr>
          <p:cNvSpPr>
            <a:spLocks noGrp="1"/>
          </p:cNvSpPr>
          <p:nvPr>
            <p:ph type="title"/>
          </p:nvPr>
        </p:nvSpPr>
        <p:spPr>
          <a:xfrm>
            <a:off x="457200" y="0"/>
            <a:ext cx="8229600" cy="1066800"/>
          </a:xfrm>
        </p:spPr>
        <p:txBody>
          <a:bodyPr/>
          <a:lstStyle/>
          <a:p>
            <a:pPr>
              <a:defRPr/>
            </a:pPr>
            <a:r>
              <a:rPr lang="en-US" altLang="x-none" sz="3600" dirty="0">
                <a:solidFill>
                  <a:srgbClr val="FFFF00"/>
                </a:solidFill>
                <a:ea typeface="ＭＳ Ｐゴシック" charset="-128"/>
              </a:rPr>
              <a:t>The Neo-Neo Debate</a:t>
            </a:r>
          </a:p>
        </p:txBody>
      </p:sp>
      <p:sp>
        <p:nvSpPr>
          <p:cNvPr id="3" name="Content Placeholder 2">
            <a:extLst>
              <a:ext uri="{FF2B5EF4-FFF2-40B4-BE49-F238E27FC236}">
                <a16:creationId xmlns:a16="http://schemas.microsoft.com/office/drawing/2014/main" id="{C582A749-1615-2ACB-FFCF-669DF1D05967}"/>
              </a:ext>
            </a:extLst>
          </p:cNvPr>
          <p:cNvSpPr>
            <a:spLocks noGrp="1"/>
          </p:cNvSpPr>
          <p:nvPr>
            <p:ph idx="1"/>
          </p:nvPr>
        </p:nvSpPr>
        <p:spPr>
          <a:xfrm>
            <a:off x="457200" y="1219200"/>
            <a:ext cx="8229600" cy="4911725"/>
          </a:xfrm>
        </p:spPr>
        <p:txBody>
          <a:bodyPr/>
          <a:lstStyle/>
          <a:p>
            <a:pPr>
              <a:buFont typeface="Wingdings" charset="0"/>
              <a:buNone/>
              <a:defRPr/>
            </a:pPr>
            <a:r>
              <a:rPr lang="en-US" dirty="0"/>
              <a:t>1.		Both sides agree that regimes exist 	and are important.</a:t>
            </a:r>
          </a:p>
          <a:p>
            <a:pPr>
              <a:buFont typeface="Wingdings" charset="0"/>
              <a:buNone/>
              <a:defRPr/>
            </a:pPr>
            <a:endParaRPr lang="en-US" sz="1800" dirty="0"/>
          </a:p>
        </p:txBody>
      </p:sp>
    </p:spTree>
    <p:extLst>
      <p:ext uri="{BB962C8B-B14F-4D97-AF65-F5344CB8AC3E}">
        <p14:creationId xmlns:p14="http://schemas.microsoft.com/office/powerpoint/2010/main" val="3996278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9D8DC-B997-7B3D-CA0F-BB5A368FFE3F}"/>
              </a:ext>
            </a:extLst>
          </p:cNvPr>
          <p:cNvSpPr>
            <a:spLocks noGrp="1"/>
          </p:cNvSpPr>
          <p:nvPr>
            <p:ph type="title"/>
          </p:nvPr>
        </p:nvSpPr>
        <p:spPr>
          <a:xfrm>
            <a:off x="457200" y="0"/>
            <a:ext cx="8229600" cy="1066800"/>
          </a:xfrm>
        </p:spPr>
        <p:txBody>
          <a:bodyPr/>
          <a:lstStyle/>
          <a:p>
            <a:pPr>
              <a:defRPr/>
            </a:pPr>
            <a:r>
              <a:rPr lang="en-US" altLang="x-none" sz="3600" dirty="0">
                <a:solidFill>
                  <a:srgbClr val="FFFF00"/>
                </a:solidFill>
                <a:ea typeface="ＭＳ Ｐゴシック" charset="-128"/>
              </a:rPr>
              <a:t>The Neo-Neo Debate</a:t>
            </a:r>
          </a:p>
        </p:txBody>
      </p:sp>
      <p:sp>
        <p:nvSpPr>
          <p:cNvPr id="3" name="Content Placeholder 2">
            <a:extLst>
              <a:ext uri="{FF2B5EF4-FFF2-40B4-BE49-F238E27FC236}">
                <a16:creationId xmlns:a16="http://schemas.microsoft.com/office/drawing/2014/main" id="{2180768C-53C2-7584-59CB-44530B3C9687}"/>
              </a:ext>
            </a:extLst>
          </p:cNvPr>
          <p:cNvSpPr>
            <a:spLocks noGrp="1"/>
          </p:cNvSpPr>
          <p:nvPr>
            <p:ph idx="1"/>
          </p:nvPr>
        </p:nvSpPr>
        <p:spPr>
          <a:xfrm>
            <a:off x="457200" y="1219200"/>
            <a:ext cx="8229600" cy="4911725"/>
          </a:xfrm>
        </p:spPr>
        <p:txBody>
          <a:bodyPr/>
          <a:lstStyle/>
          <a:p>
            <a:pPr>
              <a:buFont typeface="Wingdings" charset="0"/>
              <a:buNone/>
              <a:defRPr/>
            </a:pPr>
            <a:r>
              <a:rPr lang="en-US" dirty="0"/>
              <a:t>1.		Both sides agree that regimes exist 	and are important.</a:t>
            </a:r>
          </a:p>
          <a:p>
            <a:pPr>
              <a:buFont typeface="Wingdings" charset="0"/>
              <a:buNone/>
              <a:defRPr/>
            </a:pPr>
            <a:endParaRPr lang="en-US" sz="1800" dirty="0"/>
          </a:p>
          <a:p>
            <a:pPr>
              <a:buFont typeface="Wingdings" charset="0"/>
              <a:buNone/>
              <a:defRPr/>
            </a:pPr>
            <a:r>
              <a:rPr lang="en-US" dirty="0"/>
              <a:t>2.		Neorealists think powerful states are 	relatively less constrained by regime 	norms and rules.</a:t>
            </a:r>
          </a:p>
          <a:p>
            <a:pPr>
              <a:buFont typeface="Wingdings" charset="0"/>
              <a:buNone/>
              <a:defRPr/>
            </a:pPr>
            <a:endParaRPr lang="en-US" sz="1800" dirty="0"/>
          </a:p>
        </p:txBody>
      </p:sp>
    </p:spTree>
    <p:extLst>
      <p:ext uri="{BB962C8B-B14F-4D97-AF65-F5344CB8AC3E}">
        <p14:creationId xmlns:p14="http://schemas.microsoft.com/office/powerpoint/2010/main" val="2533957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4A059-7BD2-DE5A-A75B-B576CECFEBDC}"/>
              </a:ext>
            </a:extLst>
          </p:cNvPr>
          <p:cNvSpPr>
            <a:spLocks noGrp="1"/>
          </p:cNvSpPr>
          <p:nvPr>
            <p:ph type="title"/>
          </p:nvPr>
        </p:nvSpPr>
        <p:spPr>
          <a:xfrm>
            <a:off x="457200" y="0"/>
            <a:ext cx="8229600" cy="1066800"/>
          </a:xfrm>
        </p:spPr>
        <p:txBody>
          <a:bodyPr/>
          <a:lstStyle/>
          <a:p>
            <a:pPr>
              <a:defRPr/>
            </a:pPr>
            <a:r>
              <a:rPr lang="en-US" altLang="x-none" sz="3600" dirty="0">
                <a:solidFill>
                  <a:srgbClr val="FFFF00"/>
                </a:solidFill>
                <a:ea typeface="ＭＳ Ｐゴシック" charset="-128"/>
              </a:rPr>
              <a:t>The Neo-Neo Debate</a:t>
            </a:r>
          </a:p>
        </p:txBody>
      </p:sp>
      <p:sp>
        <p:nvSpPr>
          <p:cNvPr id="3" name="Content Placeholder 2">
            <a:extLst>
              <a:ext uri="{FF2B5EF4-FFF2-40B4-BE49-F238E27FC236}">
                <a16:creationId xmlns:a16="http://schemas.microsoft.com/office/drawing/2014/main" id="{02D64C4C-489A-1B6D-6B60-88325492B2C1}"/>
              </a:ext>
            </a:extLst>
          </p:cNvPr>
          <p:cNvSpPr>
            <a:spLocks noGrp="1"/>
          </p:cNvSpPr>
          <p:nvPr>
            <p:ph idx="1"/>
          </p:nvPr>
        </p:nvSpPr>
        <p:spPr>
          <a:xfrm>
            <a:off x="457200" y="1219200"/>
            <a:ext cx="8229600" cy="4911725"/>
          </a:xfrm>
        </p:spPr>
        <p:txBody>
          <a:bodyPr/>
          <a:lstStyle/>
          <a:p>
            <a:pPr>
              <a:buFont typeface="Wingdings" charset="2"/>
              <a:buNone/>
              <a:defRPr/>
            </a:pPr>
            <a:r>
              <a:rPr lang="en-US" altLang="x-none" dirty="0">
                <a:ea typeface="ＭＳ Ｐゴシック" charset="-128"/>
              </a:rPr>
              <a:t>1.		Both sides agree that regimes exist 	and are important.</a:t>
            </a:r>
          </a:p>
          <a:p>
            <a:pPr>
              <a:buFont typeface="Wingdings" charset="2"/>
              <a:buNone/>
              <a:defRPr/>
            </a:pPr>
            <a:endParaRPr lang="en-US" altLang="x-none" sz="1800" dirty="0">
              <a:ea typeface="ＭＳ Ｐゴシック" charset="-128"/>
            </a:endParaRPr>
          </a:p>
          <a:p>
            <a:pPr>
              <a:buFont typeface="Wingdings" charset="2"/>
              <a:buNone/>
              <a:defRPr/>
            </a:pPr>
            <a:r>
              <a:rPr lang="en-US" altLang="x-none" dirty="0">
                <a:ea typeface="ＭＳ Ｐゴシック" charset="-128"/>
              </a:rPr>
              <a:t>2.		Neorealists think powerful states are 	relatively less constrained by regime 	norms and rules.</a:t>
            </a:r>
          </a:p>
          <a:p>
            <a:pPr>
              <a:buFont typeface="Wingdings" charset="2"/>
              <a:buNone/>
              <a:defRPr/>
            </a:pPr>
            <a:endParaRPr lang="en-US" altLang="x-none" sz="1800" dirty="0">
              <a:ea typeface="ＭＳ Ｐゴシック" charset="-128"/>
            </a:endParaRPr>
          </a:p>
          <a:p>
            <a:pPr>
              <a:buFont typeface="Wingdings" charset="2"/>
              <a:buNone/>
              <a:defRPr/>
            </a:pPr>
            <a:r>
              <a:rPr lang="en-US" altLang="x-none" dirty="0">
                <a:ea typeface="ＭＳ Ｐゴシック" charset="-128"/>
              </a:rPr>
              <a:t>3.		But Neoliberals insist that once 	regimes are created, they ensnare </a:t>
            </a:r>
            <a:r>
              <a:rPr lang="en-US" altLang="x-none" u="sng" dirty="0">
                <a:ea typeface="ＭＳ Ｐゴシック" charset="-128"/>
              </a:rPr>
              <a:t>all</a:t>
            </a:r>
            <a:r>
              <a:rPr lang="en-US" altLang="x-none" dirty="0">
                <a:ea typeface="ＭＳ Ｐゴシック" charset="-128"/>
              </a:rPr>
              <a:t> 	states in webs of governance that 	profoundly undermine anarchy.</a:t>
            </a:r>
          </a:p>
        </p:txBody>
      </p:sp>
    </p:spTree>
    <p:extLst>
      <p:ext uri="{BB962C8B-B14F-4D97-AF65-F5344CB8AC3E}">
        <p14:creationId xmlns:p14="http://schemas.microsoft.com/office/powerpoint/2010/main" val="2779851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17D44-4002-15BE-ED18-7CD38F84EE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8CC8FA-2261-0599-90D6-64682D0164C6}"/>
              </a:ext>
            </a:extLst>
          </p:cNvPr>
          <p:cNvSpPr>
            <a:spLocks noGrp="1"/>
          </p:cNvSpPr>
          <p:nvPr>
            <p:ph idx="1"/>
          </p:nvPr>
        </p:nvSpPr>
        <p:spPr>
          <a:xfrm>
            <a:off x="304800" y="1447800"/>
            <a:ext cx="8534400" cy="4759325"/>
          </a:xfrm>
        </p:spPr>
        <p:txBody>
          <a:bodyPr/>
          <a:lstStyle/>
          <a:p>
            <a:pPr marL="0" indent="0">
              <a:spcBef>
                <a:spcPct val="0"/>
              </a:spcBef>
              <a:buFont typeface="Wingdings" charset="2"/>
              <a:buNone/>
              <a:defRPr/>
            </a:pPr>
            <a:endParaRPr lang="en-US" altLang="x-none" sz="1800" u="sng" dirty="0">
              <a:ea typeface="ＭＳ Ｐゴシック" charset="-128"/>
            </a:endParaRPr>
          </a:p>
        </p:txBody>
      </p:sp>
      <p:sp>
        <p:nvSpPr>
          <p:cNvPr id="2" name="Title 1">
            <a:extLst>
              <a:ext uri="{FF2B5EF4-FFF2-40B4-BE49-F238E27FC236}">
                <a16:creationId xmlns:a16="http://schemas.microsoft.com/office/drawing/2014/main" id="{C1CB775F-152B-21A2-6A81-063F11D73FD9}"/>
              </a:ext>
            </a:extLst>
          </p:cNvPr>
          <p:cNvSpPr>
            <a:spLocks noGrp="1"/>
          </p:cNvSpPr>
          <p:nvPr>
            <p:ph type="title"/>
          </p:nvPr>
        </p:nvSpPr>
        <p:spPr/>
        <p:txBody>
          <a:bodyPr/>
          <a:lstStyle/>
          <a:p>
            <a:pPr>
              <a:defRPr/>
            </a:pPr>
            <a:r>
              <a:rPr lang="en-US" sz="3200" dirty="0">
                <a:solidFill>
                  <a:srgbClr val="FFFF00"/>
                </a:solidFill>
              </a:rPr>
              <a:t>Economic Structuralists See Power Politics as </a:t>
            </a:r>
            <a:r>
              <a:rPr lang="en-US" sz="3200" u="sng" dirty="0">
                <a:solidFill>
                  <a:srgbClr val="FFFF00"/>
                </a:solidFill>
              </a:rPr>
              <a:t>Embedded</a:t>
            </a:r>
            <a:r>
              <a:rPr lang="en-US" sz="3200" dirty="0">
                <a:solidFill>
                  <a:srgbClr val="FFFF00"/>
                </a:solidFill>
              </a:rPr>
              <a:t> in Economic Structures</a:t>
            </a:r>
          </a:p>
        </p:txBody>
      </p:sp>
    </p:spTree>
    <p:extLst>
      <p:ext uri="{BB962C8B-B14F-4D97-AF65-F5344CB8AC3E}">
        <p14:creationId xmlns:p14="http://schemas.microsoft.com/office/powerpoint/2010/main" val="2956120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7010" name="Rectangle 2"/>
          <p:cNvSpPr>
            <a:spLocks noGrp="1" noChangeArrowheads="1"/>
          </p:cNvSpPr>
          <p:nvPr>
            <p:ph type="title"/>
          </p:nvPr>
        </p:nvSpPr>
        <p:spPr/>
        <p:txBody>
          <a:bodyPr/>
          <a:lstStyle/>
          <a:p>
            <a:pPr eaLnBrk="1" hangingPunct="1">
              <a:defRPr/>
            </a:pPr>
            <a:endParaRPr lang="en-US" dirty="0">
              <a:ea typeface="Arial" charset="0"/>
            </a:endParaRPr>
          </a:p>
        </p:txBody>
      </p:sp>
      <p:sp>
        <p:nvSpPr>
          <p:cNvPr id="1067011" name="Rectangle 3"/>
          <p:cNvSpPr>
            <a:spLocks noGrp="1" noChangeArrowheads="1"/>
          </p:cNvSpPr>
          <p:nvPr>
            <p:ph type="body" idx="1"/>
          </p:nvPr>
        </p:nvSpPr>
        <p:spPr/>
        <p:txBody>
          <a:bodyPr/>
          <a:lstStyle/>
          <a:p>
            <a:pPr eaLnBrk="1" hangingPunct="1">
              <a:defRPr/>
            </a:pPr>
            <a:endParaRPr lang="en-US" dirty="0">
              <a:ea typeface="Arial" charset="0"/>
            </a:endParaRPr>
          </a:p>
        </p:txBody>
      </p:sp>
      <p:pic>
        <p:nvPicPr>
          <p:cNvPr id="70659" name="Picture 4" descr="Levels of analysi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588"/>
            <a:ext cx="6856413" cy="685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105A047C-84C2-9040-B458-1E45FB21A679}"/>
              </a:ext>
            </a:extLst>
          </p:cNvPr>
          <p:cNvSpPr txBox="1"/>
          <p:nvPr/>
        </p:nvSpPr>
        <p:spPr>
          <a:xfrm>
            <a:off x="3390106" y="873125"/>
            <a:ext cx="2362200" cy="584775"/>
          </a:xfrm>
          <a:prstGeom prst="rect">
            <a:avLst/>
          </a:prstGeom>
          <a:solidFill>
            <a:srgbClr val="FFFF00"/>
          </a:solidFill>
        </p:spPr>
        <p:txBody>
          <a:bodyPr wrap="square" rtlCol="0">
            <a:spAutoFit/>
          </a:bodyPr>
          <a:lstStyle/>
          <a:p>
            <a:pPr algn="ctr"/>
            <a:r>
              <a:rPr lang="en-US" sz="3200" b="1" dirty="0">
                <a:solidFill>
                  <a:schemeClr val="bg1"/>
                </a:solidFill>
              </a:rPr>
              <a:t>ANARCHY!</a:t>
            </a:r>
          </a:p>
        </p:txBody>
      </p:sp>
    </p:spTree>
    <p:extLst>
      <p:ext uri="{BB962C8B-B14F-4D97-AF65-F5344CB8AC3E}">
        <p14:creationId xmlns:p14="http://schemas.microsoft.com/office/powerpoint/2010/main" val="2573808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68023-6B73-3F3A-8CD2-0B6298EFC9D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D6BC04-A66E-B279-A929-E77B0EA41D4B}"/>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D834C91C-5580-8B03-024A-A476DE94DD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190500"/>
            <a:ext cx="6477000" cy="6477000"/>
          </a:xfrm>
          <a:prstGeom prst="rect">
            <a:avLst/>
          </a:prstGeom>
          <a:solidFill>
            <a:schemeClr val="tx1"/>
          </a:solidFill>
        </p:spPr>
      </p:pic>
    </p:spTree>
    <p:extLst>
      <p:ext uri="{BB962C8B-B14F-4D97-AF65-F5344CB8AC3E}">
        <p14:creationId xmlns:p14="http://schemas.microsoft.com/office/powerpoint/2010/main" val="76694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ED5F2-7574-45F1-ABE5-E5AAFB52A95B}"/>
              </a:ext>
            </a:extLst>
          </p:cNvPr>
          <p:cNvSpPr>
            <a:spLocks noGrp="1"/>
          </p:cNvSpPr>
          <p:nvPr>
            <p:ph type="title"/>
          </p:nvPr>
        </p:nvSpPr>
        <p:spPr>
          <a:xfrm>
            <a:off x="457200" y="152400"/>
            <a:ext cx="8229600" cy="685800"/>
          </a:xfrm>
        </p:spPr>
        <p:txBody>
          <a:bodyPr/>
          <a:lstStyle/>
          <a:p>
            <a:pPr>
              <a:defRPr/>
            </a:pPr>
            <a:r>
              <a:rPr lang="en-US" sz="3200" dirty="0">
                <a:solidFill>
                  <a:schemeClr val="tx1"/>
                </a:solidFill>
              </a:rPr>
              <a:t>World Income Distribution</a:t>
            </a:r>
          </a:p>
        </p:txBody>
      </p:sp>
      <p:pic>
        <p:nvPicPr>
          <p:cNvPr id="91138" name="Content Placeholder 4">
            <a:extLst>
              <a:ext uri="{FF2B5EF4-FFF2-40B4-BE49-F238E27FC236}">
                <a16:creationId xmlns:a16="http://schemas.microsoft.com/office/drawing/2014/main" id="{58343334-F409-5BDA-186B-F04B9D707E6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22388" y="990600"/>
            <a:ext cx="6499225" cy="5246688"/>
          </a:xfrm>
        </p:spPr>
      </p:pic>
      <p:sp>
        <p:nvSpPr>
          <p:cNvPr id="91139" name="TextBox 2">
            <a:extLst>
              <a:ext uri="{FF2B5EF4-FFF2-40B4-BE49-F238E27FC236}">
                <a16:creationId xmlns:a16="http://schemas.microsoft.com/office/drawing/2014/main" id="{9E6315E7-31CF-E7DD-9C53-13C26FCFB1D8}"/>
              </a:ext>
            </a:extLst>
          </p:cNvPr>
          <p:cNvSpPr txBox="1">
            <a:spLocks noChangeArrowheads="1"/>
          </p:cNvSpPr>
          <p:nvPr/>
        </p:nvSpPr>
        <p:spPr bwMode="auto">
          <a:xfrm>
            <a:off x="1196975" y="6324600"/>
            <a:ext cx="6750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200"/>
              <a:t>SOURCE:  https://saylordotorg.github.io/text_sociology-understanding-and-changing-the-social-world-comprehensive-edition/s12-01-the-nature-and-extent-of-globa.html</a:t>
            </a:r>
          </a:p>
        </p:txBody>
      </p:sp>
    </p:spTree>
    <p:extLst>
      <p:ext uri="{BB962C8B-B14F-4D97-AF65-F5344CB8AC3E}">
        <p14:creationId xmlns:p14="http://schemas.microsoft.com/office/powerpoint/2010/main" val="3364195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7C133-2C2E-6212-F762-E5AA5D8946B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3B385F3-CFB0-8CE2-200E-99185A330295}"/>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122322" y="1252176"/>
            <a:ext cx="8943785" cy="4539024"/>
          </a:xfrm>
        </p:spPr>
      </p:pic>
      <p:pic>
        <p:nvPicPr>
          <p:cNvPr id="7" name="Content Placeholder 4">
            <a:extLst>
              <a:ext uri="{FF2B5EF4-FFF2-40B4-BE49-F238E27FC236}">
                <a16:creationId xmlns:a16="http://schemas.microsoft.com/office/drawing/2014/main" id="{A90B0221-05DA-A2EB-7688-D4FBA980030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bwMode="auto">
          <a:xfrm>
            <a:off x="100107" y="1159488"/>
            <a:ext cx="8943785" cy="4539024"/>
          </a:xfrm>
          <a:prstGeom prst="rect">
            <a:avLst/>
          </a:prstGeom>
          <a:noFill/>
          <a:ln w="9525">
            <a:noFill/>
            <a:miter lim="800000"/>
            <a:headEnd/>
            <a:tailEnd/>
          </a:ln>
          <a:effectLst/>
        </p:spPr>
      </p:pic>
    </p:spTree>
    <p:extLst>
      <p:ext uri="{BB962C8B-B14F-4D97-AF65-F5344CB8AC3E}">
        <p14:creationId xmlns:p14="http://schemas.microsoft.com/office/powerpoint/2010/main" val="292870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8B5B9-5EAE-14F9-B51A-3F6993C26E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9DED3E-5D1B-0BAC-7439-508ED93A2D12}"/>
              </a:ext>
            </a:extLst>
          </p:cNvPr>
          <p:cNvSpPr>
            <a:spLocks noGrp="1"/>
          </p:cNvSpPr>
          <p:nvPr>
            <p:ph idx="1"/>
          </p:nvPr>
        </p:nvSpPr>
        <p:spPr>
          <a:xfrm>
            <a:off x="304800" y="1447800"/>
            <a:ext cx="8534400" cy="4759325"/>
          </a:xfrm>
        </p:spPr>
        <p:txBody>
          <a:bodyPr/>
          <a:lstStyle/>
          <a:p>
            <a:pPr marL="0" indent="0">
              <a:spcBef>
                <a:spcPct val="0"/>
              </a:spcBef>
              <a:buFont typeface="Wingdings" charset="2"/>
              <a:buNone/>
              <a:defRPr/>
            </a:pPr>
            <a:endParaRPr lang="en-US" altLang="x-none" sz="1800" u="sng" dirty="0">
              <a:ea typeface="ＭＳ Ｐゴシック" charset="-128"/>
            </a:endParaRPr>
          </a:p>
          <a:p>
            <a:pPr marL="0" indent="0">
              <a:spcBef>
                <a:spcPct val="0"/>
              </a:spcBef>
              <a:buFont typeface="Wingdings" charset="2"/>
              <a:buNone/>
              <a:defRPr/>
            </a:pPr>
            <a:r>
              <a:rPr lang="en-US" altLang="x-none" sz="1800" u="sng" dirty="0">
                <a:ea typeface="ＭＳ Ｐゴシック" charset="-128"/>
              </a:rPr>
              <a:t>The State</a:t>
            </a:r>
            <a:r>
              <a:rPr lang="en-US" altLang="x-none" sz="1800" dirty="0">
                <a:ea typeface="ＭＳ Ｐゴシック" charset="-128"/>
              </a:rPr>
              <a:t>:  The state is </a:t>
            </a:r>
            <a:r>
              <a:rPr lang="en-US" altLang="x-none" sz="1800" dirty="0">
                <a:highlight>
                  <a:srgbClr val="800080"/>
                </a:highlight>
                <a:ea typeface="ＭＳ Ｐゴシック" charset="-128"/>
              </a:rPr>
              <a:t>not</a:t>
            </a:r>
            <a:r>
              <a:rPr lang="en-US" altLang="x-none" sz="1800" dirty="0">
                <a:ea typeface="ＭＳ Ｐゴシック" charset="-128"/>
              </a:rPr>
              <a:t> seen as a sovereign entity primarily concerned with security in an anarchic world.  Instead, its main function is to</a:t>
            </a:r>
            <a:r>
              <a:rPr lang="en-US" altLang="x-none" sz="1800" dirty="0">
                <a:solidFill>
                  <a:srgbClr val="00B0F0"/>
                </a:solidFill>
                <a:ea typeface="ＭＳ Ｐゴシック" charset="-128"/>
              </a:rPr>
              <a:t> ensure the continuation of the capitalist mode of production</a:t>
            </a:r>
            <a:r>
              <a:rPr lang="en-US" altLang="x-none" sz="1800" dirty="0">
                <a:ea typeface="ＭＳ Ｐゴシック" charset="-128"/>
              </a:rPr>
              <a:t>.  The state’s power, therefore, is significant only in how it aids or hinders the process of capital accumulation.  </a:t>
            </a:r>
            <a:r>
              <a:rPr lang="en-US" altLang="x-none" sz="1800" i="1" dirty="0">
                <a:ea typeface="ＭＳ Ｐゴシック" charset="-128"/>
              </a:rPr>
              <a:t>Core states use their power to maintain the system that benefits them, while peripheral states are too weak to alter their subordinate role.</a:t>
            </a:r>
          </a:p>
        </p:txBody>
      </p:sp>
      <p:sp>
        <p:nvSpPr>
          <p:cNvPr id="2" name="Title 1">
            <a:extLst>
              <a:ext uri="{FF2B5EF4-FFF2-40B4-BE49-F238E27FC236}">
                <a16:creationId xmlns:a16="http://schemas.microsoft.com/office/drawing/2014/main" id="{5ED6E2DE-1F1C-D8A3-2BB4-6CC61E587135}"/>
              </a:ext>
            </a:extLst>
          </p:cNvPr>
          <p:cNvSpPr>
            <a:spLocks noGrp="1"/>
          </p:cNvSpPr>
          <p:nvPr>
            <p:ph type="title"/>
          </p:nvPr>
        </p:nvSpPr>
        <p:spPr/>
        <p:txBody>
          <a:bodyPr/>
          <a:lstStyle/>
          <a:p>
            <a:pPr>
              <a:defRPr/>
            </a:pPr>
            <a:r>
              <a:rPr lang="en-US" sz="3200" dirty="0">
                <a:solidFill>
                  <a:srgbClr val="FFFF00"/>
                </a:solidFill>
              </a:rPr>
              <a:t>Economic Structuralists See Power Politics as </a:t>
            </a:r>
            <a:r>
              <a:rPr lang="en-US" sz="3200" u="sng" dirty="0">
                <a:solidFill>
                  <a:srgbClr val="FFFF00"/>
                </a:solidFill>
              </a:rPr>
              <a:t>Embedded</a:t>
            </a:r>
            <a:r>
              <a:rPr lang="en-US" sz="3200" dirty="0">
                <a:solidFill>
                  <a:srgbClr val="FFFF00"/>
                </a:solidFill>
              </a:rPr>
              <a:t> in Economic Structures</a:t>
            </a:r>
          </a:p>
        </p:txBody>
      </p:sp>
    </p:spTree>
    <p:extLst>
      <p:ext uri="{BB962C8B-B14F-4D97-AF65-F5344CB8AC3E}">
        <p14:creationId xmlns:p14="http://schemas.microsoft.com/office/powerpoint/2010/main" val="1210080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6D02E-33ED-4CE1-2049-C302AA57166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00D77A-DE3B-1ACE-A2D3-E6CC03EB7504}"/>
              </a:ext>
            </a:extLst>
          </p:cNvPr>
          <p:cNvSpPr>
            <a:spLocks noGrp="1"/>
          </p:cNvSpPr>
          <p:nvPr>
            <p:ph idx="1"/>
          </p:nvPr>
        </p:nvSpPr>
        <p:spPr>
          <a:xfrm>
            <a:off x="304800" y="1447800"/>
            <a:ext cx="8534400" cy="4759325"/>
          </a:xfrm>
        </p:spPr>
        <p:txBody>
          <a:bodyPr/>
          <a:lstStyle/>
          <a:p>
            <a:pPr marL="0" indent="0">
              <a:spcBef>
                <a:spcPct val="0"/>
              </a:spcBef>
              <a:buFont typeface="Wingdings" charset="2"/>
              <a:buNone/>
              <a:defRPr/>
            </a:pPr>
            <a:endParaRPr lang="en-US" altLang="x-none" sz="1800" u="sng" dirty="0">
              <a:ea typeface="ＭＳ Ｐゴシック" charset="-128"/>
            </a:endParaRPr>
          </a:p>
          <a:p>
            <a:pPr marL="0" indent="0">
              <a:spcBef>
                <a:spcPct val="0"/>
              </a:spcBef>
              <a:buFont typeface="Wingdings" charset="2"/>
              <a:buNone/>
              <a:defRPr/>
            </a:pPr>
            <a:r>
              <a:rPr lang="en-US" altLang="x-none" sz="1800" u="sng" dirty="0">
                <a:ea typeface="ＭＳ Ｐゴシック" charset="-128"/>
              </a:rPr>
              <a:t>The State</a:t>
            </a:r>
            <a:r>
              <a:rPr lang="en-US" altLang="x-none" sz="1800" dirty="0">
                <a:ea typeface="ＭＳ Ｐゴシック" charset="-128"/>
              </a:rPr>
              <a:t>:  The state is </a:t>
            </a:r>
            <a:r>
              <a:rPr lang="en-US" altLang="x-none" sz="1800" dirty="0">
                <a:highlight>
                  <a:srgbClr val="800080"/>
                </a:highlight>
                <a:ea typeface="ＭＳ Ｐゴシック" charset="-128"/>
              </a:rPr>
              <a:t>not</a:t>
            </a:r>
            <a:r>
              <a:rPr lang="en-US" altLang="x-none" sz="1800" dirty="0">
                <a:ea typeface="ＭＳ Ｐゴシック" charset="-128"/>
              </a:rPr>
              <a:t> seen as a sovereign entity primarily concerned with security in an anarchic world.  Instead, its main function is to </a:t>
            </a:r>
            <a:r>
              <a:rPr lang="en-US" altLang="x-none" sz="1800" dirty="0">
                <a:solidFill>
                  <a:srgbClr val="00B0F0"/>
                </a:solidFill>
                <a:ea typeface="ＭＳ Ｐゴシック" charset="-128"/>
              </a:rPr>
              <a:t>ensure the continuation of the capitalist mode of production</a:t>
            </a:r>
            <a:r>
              <a:rPr lang="en-US" altLang="x-none" sz="1800" dirty="0">
                <a:ea typeface="ＭＳ Ｐゴシック" charset="-128"/>
              </a:rPr>
              <a:t>.  The state’s power, therefore, is significant only in how it aids or hinders the process of capital accumulation.  </a:t>
            </a:r>
            <a:r>
              <a:rPr lang="en-US" altLang="x-none" sz="1800" i="1" dirty="0">
                <a:ea typeface="ＭＳ Ｐゴシック" charset="-128"/>
              </a:rPr>
              <a:t>Core states use their power to maintain the system that benefits them, while peripheral states are too weak to alter their subordinate role.</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ea typeface="ＭＳ Ｐゴシック" charset="-128"/>
              </a:rPr>
              <a:t>The Balance of Power</a:t>
            </a:r>
            <a:r>
              <a:rPr lang="en-US" altLang="x-none" sz="1800" dirty="0">
                <a:ea typeface="ＭＳ Ｐゴシック" charset="-128"/>
              </a:rPr>
              <a:t>:  </a:t>
            </a:r>
            <a:r>
              <a:rPr lang="en-US" altLang="x-none" sz="1800" dirty="0">
                <a:highlight>
                  <a:srgbClr val="000080"/>
                </a:highlight>
                <a:ea typeface="ＭＳ Ｐゴシック" charset="-128"/>
              </a:rPr>
              <a:t>World-system theorists </a:t>
            </a:r>
            <a:r>
              <a:rPr lang="en-US" altLang="x-none" sz="1800" dirty="0">
                <a:ea typeface="ＭＳ Ｐゴシック" charset="-128"/>
              </a:rPr>
              <a:t>like </a:t>
            </a:r>
            <a:r>
              <a:rPr lang="en-US" altLang="x-none" sz="1800" u="sng" dirty="0">
                <a:ea typeface="ＭＳ Ｐゴシック" charset="-128"/>
              </a:rPr>
              <a:t>Wallerstein</a:t>
            </a:r>
            <a:r>
              <a:rPr lang="en-US" altLang="x-none" sz="1800" dirty="0">
                <a:ea typeface="ＭＳ Ｐゴシック" charset="-128"/>
              </a:rPr>
              <a:t> analyze the distribution of power, but </a:t>
            </a:r>
            <a:r>
              <a:rPr lang="en-US" altLang="x-none" sz="1800" dirty="0">
                <a:solidFill>
                  <a:srgbClr val="FFC000"/>
                </a:solidFill>
                <a:ea typeface="ＭＳ Ｐゴシック" charset="-128"/>
              </a:rPr>
              <a:t>they argue it's a </a:t>
            </a:r>
            <a:r>
              <a:rPr lang="en-US" altLang="x-none" sz="1800" i="1" dirty="0">
                <a:solidFill>
                  <a:srgbClr val="FFC000"/>
                </a:solidFill>
                <a:ea typeface="ＭＳ Ｐゴシック" charset="-128"/>
              </a:rPr>
              <a:t>consequence</a:t>
            </a:r>
            <a:r>
              <a:rPr lang="en-US" altLang="x-none" sz="1800" dirty="0">
                <a:solidFill>
                  <a:srgbClr val="FFC000"/>
                </a:solidFill>
                <a:ea typeface="ＭＳ Ｐゴシック" charset="-128"/>
              </a:rPr>
              <a:t> of the world-economy, not the primary </a:t>
            </a:r>
            <a:r>
              <a:rPr lang="en-US" altLang="x-none" sz="1800" i="1" dirty="0">
                <a:solidFill>
                  <a:srgbClr val="FFC000"/>
                </a:solidFill>
                <a:ea typeface="ＭＳ Ｐゴシック" charset="-128"/>
              </a:rPr>
              <a:t>cause</a:t>
            </a:r>
            <a:r>
              <a:rPr lang="en-US" altLang="x-none" sz="1800" dirty="0">
                <a:solidFill>
                  <a:srgbClr val="FFC000"/>
                </a:solidFill>
                <a:ea typeface="ＭＳ Ｐゴシック" charset="-128"/>
              </a:rPr>
              <a:t> of events</a:t>
            </a:r>
            <a:r>
              <a:rPr lang="en-US" altLang="x-none" sz="1800" dirty="0">
                <a:ea typeface="ＭＳ Ｐゴシック" charset="-128"/>
              </a:rPr>
              <a:t>.  They would contend that realists focus on the balance of power but fail to see that “there are important economic processes at work that are critical in accounting for the particular distribution of capabilities or balance of power in the first place.”</a:t>
            </a: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E1C0420D-DFAE-6F1B-864B-50CB4E03165C}"/>
              </a:ext>
            </a:extLst>
          </p:cNvPr>
          <p:cNvSpPr>
            <a:spLocks noGrp="1"/>
          </p:cNvSpPr>
          <p:nvPr>
            <p:ph type="title"/>
          </p:nvPr>
        </p:nvSpPr>
        <p:spPr/>
        <p:txBody>
          <a:bodyPr/>
          <a:lstStyle/>
          <a:p>
            <a:pPr>
              <a:defRPr/>
            </a:pPr>
            <a:r>
              <a:rPr lang="en-US" sz="3200" dirty="0">
                <a:solidFill>
                  <a:srgbClr val="FFFF00"/>
                </a:solidFill>
              </a:rPr>
              <a:t>Economic Structuralists See Power Politics as </a:t>
            </a:r>
            <a:r>
              <a:rPr lang="en-US" sz="3200" u="sng" dirty="0">
                <a:solidFill>
                  <a:srgbClr val="FFFF00"/>
                </a:solidFill>
              </a:rPr>
              <a:t>Embedded</a:t>
            </a:r>
            <a:r>
              <a:rPr lang="en-US" sz="3200" dirty="0">
                <a:solidFill>
                  <a:srgbClr val="FFFF00"/>
                </a:solidFill>
              </a:rPr>
              <a:t> in Economic Structures</a:t>
            </a:r>
          </a:p>
        </p:txBody>
      </p:sp>
    </p:spTree>
    <p:extLst>
      <p:ext uri="{BB962C8B-B14F-4D97-AF65-F5344CB8AC3E}">
        <p14:creationId xmlns:p14="http://schemas.microsoft.com/office/powerpoint/2010/main" val="309850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035C7-518A-8A02-B3E9-AEC18075F7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81E9FB-1BC1-D3B0-16DB-F057CDF7123F}"/>
              </a:ext>
            </a:extLst>
          </p:cNvPr>
          <p:cNvSpPr>
            <a:spLocks noGrp="1"/>
          </p:cNvSpPr>
          <p:nvPr>
            <p:ph idx="1"/>
          </p:nvPr>
        </p:nvSpPr>
        <p:spPr>
          <a:xfrm>
            <a:off x="304800" y="1447800"/>
            <a:ext cx="8534400" cy="4759325"/>
          </a:xfrm>
        </p:spPr>
        <p:txBody>
          <a:bodyPr/>
          <a:lstStyle/>
          <a:p>
            <a:pPr marL="0" indent="0">
              <a:spcBef>
                <a:spcPct val="0"/>
              </a:spcBef>
              <a:buFont typeface="Wingdings" charset="2"/>
              <a:buNone/>
              <a:defRPr/>
            </a:pPr>
            <a:endParaRPr lang="en-US" altLang="x-none" sz="1800" u="sng" dirty="0">
              <a:ea typeface="ＭＳ Ｐゴシック" charset="-128"/>
            </a:endParaRPr>
          </a:p>
          <a:p>
            <a:pPr marL="0" indent="0">
              <a:spcBef>
                <a:spcPct val="0"/>
              </a:spcBef>
              <a:buFont typeface="Wingdings" charset="2"/>
              <a:buNone/>
              <a:defRPr/>
            </a:pPr>
            <a:r>
              <a:rPr lang="en-US" altLang="x-none" sz="1800" u="sng" dirty="0">
                <a:ea typeface="ＭＳ Ｐゴシック" charset="-128"/>
              </a:rPr>
              <a:t>The State</a:t>
            </a:r>
            <a:r>
              <a:rPr lang="en-US" altLang="x-none" sz="1800" dirty="0">
                <a:ea typeface="ＭＳ Ｐゴシック" charset="-128"/>
              </a:rPr>
              <a:t>:  The state is </a:t>
            </a:r>
            <a:r>
              <a:rPr lang="en-US" altLang="x-none" sz="1800" dirty="0">
                <a:highlight>
                  <a:srgbClr val="800080"/>
                </a:highlight>
                <a:ea typeface="ＭＳ Ｐゴシック" charset="-128"/>
              </a:rPr>
              <a:t>not</a:t>
            </a:r>
            <a:r>
              <a:rPr lang="en-US" altLang="x-none" sz="1800" dirty="0">
                <a:ea typeface="ＭＳ Ｐゴシック" charset="-128"/>
              </a:rPr>
              <a:t> seen as a sovereign entity primarily concerned with security in an anarchic world.  Instead, its main function is to </a:t>
            </a:r>
            <a:r>
              <a:rPr lang="en-US" altLang="x-none" sz="1800" dirty="0">
                <a:solidFill>
                  <a:srgbClr val="00B0F0"/>
                </a:solidFill>
                <a:ea typeface="ＭＳ Ｐゴシック" charset="-128"/>
              </a:rPr>
              <a:t>ensure the continuation of the capitalist mode of production</a:t>
            </a:r>
            <a:r>
              <a:rPr lang="en-US" altLang="x-none" sz="1800" dirty="0">
                <a:ea typeface="ＭＳ Ｐゴシック" charset="-128"/>
              </a:rPr>
              <a:t>.  The state’s power, therefore, is significant only in how it aids or hinders the process of capital accumulation.  </a:t>
            </a:r>
            <a:r>
              <a:rPr lang="en-US" altLang="x-none" sz="1800" i="1" dirty="0">
                <a:ea typeface="ＭＳ Ｐゴシック" charset="-128"/>
              </a:rPr>
              <a:t>Core states use their power to maintain the system that benefits them, while peripheral states are too weak to alter their subordinate role.</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ea typeface="ＭＳ Ｐゴシック" charset="-128"/>
              </a:rPr>
              <a:t>The Balance of Power</a:t>
            </a:r>
            <a:r>
              <a:rPr lang="en-US" altLang="x-none" sz="1800" dirty="0">
                <a:ea typeface="ＭＳ Ｐゴシック" charset="-128"/>
              </a:rPr>
              <a:t>:  </a:t>
            </a:r>
            <a:r>
              <a:rPr lang="en-US" altLang="x-none" sz="1800" dirty="0">
                <a:highlight>
                  <a:srgbClr val="000080"/>
                </a:highlight>
                <a:ea typeface="ＭＳ Ｐゴシック" charset="-128"/>
              </a:rPr>
              <a:t>World-system theorists </a:t>
            </a:r>
            <a:r>
              <a:rPr lang="en-US" altLang="x-none" sz="1800" dirty="0">
                <a:ea typeface="ＭＳ Ｐゴシック" charset="-128"/>
              </a:rPr>
              <a:t>like </a:t>
            </a:r>
            <a:r>
              <a:rPr lang="en-US" altLang="x-none" sz="1800" u="sng" dirty="0">
                <a:ea typeface="ＭＳ Ｐゴシック" charset="-128"/>
              </a:rPr>
              <a:t>Wallerstein</a:t>
            </a:r>
            <a:r>
              <a:rPr lang="en-US" altLang="x-none" sz="1800" dirty="0">
                <a:ea typeface="ＭＳ Ｐゴシック" charset="-128"/>
              </a:rPr>
              <a:t> analyze the distribution of power, but </a:t>
            </a:r>
            <a:r>
              <a:rPr lang="en-US" altLang="x-none" sz="1800" dirty="0">
                <a:solidFill>
                  <a:srgbClr val="FFC000"/>
                </a:solidFill>
                <a:ea typeface="ＭＳ Ｐゴシック" charset="-128"/>
              </a:rPr>
              <a:t>they argue it's a </a:t>
            </a:r>
            <a:r>
              <a:rPr lang="en-US" altLang="x-none" sz="1800" i="1" dirty="0">
                <a:solidFill>
                  <a:srgbClr val="FFC000"/>
                </a:solidFill>
                <a:ea typeface="ＭＳ Ｐゴシック" charset="-128"/>
              </a:rPr>
              <a:t>consequence</a:t>
            </a:r>
            <a:r>
              <a:rPr lang="en-US" altLang="x-none" sz="1800" dirty="0">
                <a:solidFill>
                  <a:srgbClr val="FFC000"/>
                </a:solidFill>
                <a:ea typeface="ＭＳ Ｐゴシック" charset="-128"/>
              </a:rPr>
              <a:t> of the world-economy, not the primary </a:t>
            </a:r>
            <a:r>
              <a:rPr lang="en-US" altLang="x-none" sz="1800" i="1" dirty="0">
                <a:solidFill>
                  <a:srgbClr val="FFC000"/>
                </a:solidFill>
                <a:ea typeface="ＭＳ Ｐゴシック" charset="-128"/>
              </a:rPr>
              <a:t>cause</a:t>
            </a:r>
            <a:r>
              <a:rPr lang="en-US" altLang="x-none" sz="1800" dirty="0">
                <a:solidFill>
                  <a:srgbClr val="FFC000"/>
                </a:solidFill>
                <a:ea typeface="ＭＳ Ｐゴシック" charset="-128"/>
              </a:rPr>
              <a:t> of events</a:t>
            </a:r>
            <a:r>
              <a:rPr lang="en-US" altLang="x-none" sz="1800" dirty="0">
                <a:ea typeface="ＭＳ Ｐゴシック" charset="-128"/>
              </a:rPr>
              <a:t>.  They would contend that realists focus on the balance of power but fail to see that “there are important economic processes at work that are critical in accounting for the particular distribution of capabilities or balance of power in the first place.”</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ea typeface="ＭＳ Ｐゴシック" charset="-128"/>
              </a:rPr>
              <a:t>Anarchy</a:t>
            </a:r>
            <a:r>
              <a:rPr lang="en-US" altLang="x-none" sz="1800" dirty="0">
                <a:ea typeface="ＭＳ Ｐゴシック" charset="-128"/>
              </a:rPr>
              <a:t>:  Political anarchy is also acknowledged, but its effect is viewed differently.  </a:t>
            </a:r>
            <a:r>
              <a:rPr lang="en-US" altLang="x-none" sz="1800" dirty="0">
                <a:solidFill>
                  <a:srgbClr val="00B050"/>
                </a:solidFill>
                <a:ea typeface="ＭＳ Ｐゴシック" charset="-128"/>
              </a:rPr>
              <a:t>Rather than causing a security dilemma, </a:t>
            </a:r>
            <a:r>
              <a:rPr lang="en-US" altLang="x-none" sz="1800" u="sng" dirty="0">
                <a:highlight>
                  <a:srgbClr val="008000"/>
                </a:highlight>
                <a:ea typeface="ＭＳ Ｐゴシック" charset="-128"/>
              </a:rPr>
              <a:t>the absence of a central political authority facilitates the development and expansion of world capitalism because no single state can control the entire world economy</a:t>
            </a:r>
            <a:r>
              <a:rPr lang="en-US" altLang="x-none" sz="1800" dirty="0">
                <a:ea typeface="ＭＳ Ｐゴシック" charset="-128"/>
              </a:rPr>
              <a:t>.</a:t>
            </a:r>
          </a:p>
        </p:txBody>
      </p:sp>
      <p:sp>
        <p:nvSpPr>
          <p:cNvPr id="2" name="Title 1">
            <a:extLst>
              <a:ext uri="{FF2B5EF4-FFF2-40B4-BE49-F238E27FC236}">
                <a16:creationId xmlns:a16="http://schemas.microsoft.com/office/drawing/2014/main" id="{5B415DD9-B28E-24F2-BADB-934A3D4AA6C1}"/>
              </a:ext>
            </a:extLst>
          </p:cNvPr>
          <p:cNvSpPr>
            <a:spLocks noGrp="1"/>
          </p:cNvSpPr>
          <p:nvPr>
            <p:ph type="title"/>
          </p:nvPr>
        </p:nvSpPr>
        <p:spPr/>
        <p:txBody>
          <a:bodyPr/>
          <a:lstStyle/>
          <a:p>
            <a:pPr>
              <a:defRPr/>
            </a:pPr>
            <a:r>
              <a:rPr lang="en-US" sz="3200" dirty="0">
                <a:solidFill>
                  <a:srgbClr val="FFFF00"/>
                </a:solidFill>
              </a:rPr>
              <a:t>Economic Structuralists See Power Politics as </a:t>
            </a:r>
            <a:r>
              <a:rPr lang="en-US" sz="3200" u="sng" dirty="0">
                <a:solidFill>
                  <a:srgbClr val="FFFF00"/>
                </a:solidFill>
              </a:rPr>
              <a:t>Embedded</a:t>
            </a:r>
            <a:r>
              <a:rPr lang="en-US" sz="3200" dirty="0">
                <a:solidFill>
                  <a:srgbClr val="FFFF00"/>
                </a:solidFill>
              </a:rPr>
              <a:t> in Economic Structures</a:t>
            </a:r>
          </a:p>
        </p:txBody>
      </p:sp>
    </p:spTree>
    <p:extLst>
      <p:ext uri="{BB962C8B-B14F-4D97-AF65-F5344CB8AC3E}">
        <p14:creationId xmlns:p14="http://schemas.microsoft.com/office/powerpoint/2010/main" val="323258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6EC0C-241C-D681-C14E-587B355C8D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3A2B42-8237-AC1F-ABFD-F2EA8C99DBD0}"/>
              </a:ext>
            </a:extLst>
          </p:cNvPr>
          <p:cNvSpPr>
            <a:spLocks noGrp="1"/>
          </p:cNvSpPr>
          <p:nvPr>
            <p:ph idx="1"/>
          </p:nvPr>
        </p:nvSpPr>
        <p:spPr>
          <a:xfrm>
            <a:off x="304800" y="1143000"/>
            <a:ext cx="8534400" cy="4835525"/>
          </a:xfrm>
        </p:spPr>
        <p:txBody>
          <a:bodyPr/>
          <a:lstStyle/>
          <a:p>
            <a:pPr marL="0" indent="0">
              <a:spcBef>
                <a:spcPct val="0"/>
              </a:spcBef>
              <a:buFont typeface="Wingdings" charset="2"/>
              <a:buNone/>
              <a:defRPr/>
            </a:pPr>
            <a:endParaRPr lang="en-US" altLang="x-none" sz="1800" dirty="0">
              <a:highlight>
                <a:srgbClr val="0000FF"/>
              </a:highlight>
              <a:ea typeface="ＭＳ Ｐゴシック" charset="-128"/>
            </a:endParaRPr>
          </a:p>
        </p:txBody>
      </p:sp>
      <p:sp>
        <p:nvSpPr>
          <p:cNvPr id="2" name="Title 1">
            <a:extLst>
              <a:ext uri="{FF2B5EF4-FFF2-40B4-BE49-F238E27FC236}">
                <a16:creationId xmlns:a16="http://schemas.microsoft.com/office/drawing/2014/main" id="{34C9A99E-C69B-8BA5-7FB8-2F64015E3D7C}"/>
              </a:ext>
            </a:extLst>
          </p:cNvPr>
          <p:cNvSpPr>
            <a:spLocks noGrp="1"/>
          </p:cNvSpPr>
          <p:nvPr>
            <p:ph type="title"/>
          </p:nvPr>
        </p:nvSpPr>
        <p:spPr>
          <a:xfrm>
            <a:off x="457200" y="277813"/>
            <a:ext cx="8229600" cy="407987"/>
          </a:xfrm>
        </p:spPr>
        <p:txBody>
          <a:bodyPr/>
          <a:lstStyle/>
          <a:p>
            <a:pPr>
              <a:defRPr/>
            </a:pPr>
            <a:r>
              <a:rPr lang="en-US" sz="3200" dirty="0">
                <a:solidFill>
                  <a:schemeClr val="tx1"/>
                </a:solidFill>
              </a:rPr>
              <a:t>The Distinctive Model of Antonio Gramsci (1891-1937): World </a:t>
            </a:r>
            <a:r>
              <a:rPr lang="en-US" sz="3200" dirty="0">
                <a:solidFill>
                  <a:schemeClr val="tx1"/>
                </a:solidFill>
                <a:highlight>
                  <a:srgbClr val="000080"/>
                </a:highlight>
              </a:rPr>
              <a:t>Hegemony</a:t>
            </a:r>
          </a:p>
        </p:txBody>
      </p:sp>
    </p:spTree>
    <p:extLst>
      <p:ext uri="{BB962C8B-B14F-4D97-AF65-F5344CB8AC3E}">
        <p14:creationId xmlns:p14="http://schemas.microsoft.com/office/powerpoint/2010/main" val="2208165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04159-BA9D-4B87-C45C-11F516E3B7C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2DA3AD-00EA-4D64-180D-8503FEBF1530}"/>
              </a:ext>
            </a:extLst>
          </p:cNvPr>
          <p:cNvSpPr>
            <a:spLocks noGrp="1"/>
          </p:cNvSpPr>
          <p:nvPr>
            <p:ph idx="1"/>
          </p:nvPr>
        </p:nvSpPr>
        <p:spPr>
          <a:xfrm>
            <a:off x="304800" y="1143000"/>
            <a:ext cx="8534400" cy="4835525"/>
          </a:xfrm>
        </p:spPr>
        <p:txBody>
          <a:bodyPr/>
          <a:lstStyle/>
          <a:p>
            <a:pPr marL="0" indent="0">
              <a:spcBef>
                <a:spcPct val="0"/>
              </a:spcBef>
              <a:buFont typeface="Wingdings" charset="2"/>
              <a:buNone/>
              <a:defRPr/>
            </a:pPr>
            <a:r>
              <a:rPr lang="en-US" altLang="x-none" sz="1800" u="sng" dirty="0">
                <a:solidFill>
                  <a:srgbClr val="FFFF00"/>
                </a:solidFill>
                <a:ea typeface="ＭＳ Ｐゴシック" charset="-128"/>
              </a:rPr>
              <a:t>Beyond Economic Determinism</a:t>
            </a:r>
            <a:r>
              <a:rPr lang="en-US" altLang="x-none" sz="1800" dirty="0">
                <a:ea typeface="ＭＳ Ｐゴシック" charset="-128"/>
              </a:rPr>
              <a:t>:  Gramsci offered a more volitional (less deterministic) approach to Marxism, arguing that power is maintained not just through economic or physical force, but through </a:t>
            </a:r>
            <a:r>
              <a:rPr lang="en-US" altLang="x-none" sz="1800" dirty="0">
                <a:highlight>
                  <a:srgbClr val="008000"/>
                </a:highlight>
                <a:ea typeface="ＭＳ Ｐゴシック" charset="-128"/>
              </a:rPr>
              <a:t>ideas, culture, and consent</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62A0A4EF-F4AA-E9F3-CD69-D5BB5B504464}"/>
              </a:ext>
            </a:extLst>
          </p:cNvPr>
          <p:cNvSpPr>
            <a:spLocks noGrp="1"/>
          </p:cNvSpPr>
          <p:nvPr>
            <p:ph type="title"/>
          </p:nvPr>
        </p:nvSpPr>
        <p:spPr>
          <a:xfrm>
            <a:off x="457200" y="277813"/>
            <a:ext cx="8229600" cy="407987"/>
          </a:xfrm>
        </p:spPr>
        <p:txBody>
          <a:bodyPr/>
          <a:lstStyle/>
          <a:p>
            <a:pPr>
              <a:defRPr/>
            </a:pPr>
            <a:r>
              <a:rPr lang="en-US" sz="3200" dirty="0">
                <a:solidFill>
                  <a:schemeClr val="tx1"/>
                </a:solidFill>
              </a:rPr>
              <a:t>The Distinctive Model of Antonio Gramsci (1891-1937): World </a:t>
            </a:r>
            <a:r>
              <a:rPr lang="en-US" sz="3200" dirty="0">
                <a:solidFill>
                  <a:schemeClr val="tx1"/>
                </a:solidFill>
                <a:highlight>
                  <a:srgbClr val="000080"/>
                </a:highlight>
              </a:rPr>
              <a:t>Hegemony</a:t>
            </a:r>
          </a:p>
        </p:txBody>
      </p:sp>
    </p:spTree>
    <p:extLst>
      <p:ext uri="{BB962C8B-B14F-4D97-AF65-F5344CB8AC3E}">
        <p14:creationId xmlns:p14="http://schemas.microsoft.com/office/powerpoint/2010/main" val="245514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2CE25-8097-7F5D-77F0-DD7856F5B5F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AADBD0-365D-F7FA-123B-9307266D73CC}"/>
              </a:ext>
            </a:extLst>
          </p:cNvPr>
          <p:cNvSpPr>
            <a:spLocks noGrp="1"/>
          </p:cNvSpPr>
          <p:nvPr>
            <p:ph idx="1"/>
          </p:nvPr>
        </p:nvSpPr>
        <p:spPr>
          <a:xfrm>
            <a:off x="304800" y="1143000"/>
            <a:ext cx="8534400" cy="4835525"/>
          </a:xfrm>
        </p:spPr>
        <p:txBody>
          <a:bodyPr/>
          <a:lstStyle/>
          <a:p>
            <a:pPr marL="0" indent="0">
              <a:spcBef>
                <a:spcPct val="0"/>
              </a:spcBef>
              <a:buFont typeface="Wingdings" charset="2"/>
              <a:buNone/>
              <a:defRPr/>
            </a:pPr>
            <a:r>
              <a:rPr lang="en-US" altLang="x-none" sz="1800" u="sng" dirty="0">
                <a:solidFill>
                  <a:srgbClr val="FFFF00"/>
                </a:solidFill>
                <a:ea typeface="ＭＳ Ｐゴシック" charset="-128"/>
              </a:rPr>
              <a:t>Beyond Economic Determinism</a:t>
            </a:r>
            <a:r>
              <a:rPr lang="en-US" altLang="x-none" sz="1800" dirty="0">
                <a:ea typeface="ＭＳ Ｐゴシック" charset="-128"/>
              </a:rPr>
              <a:t>:  Gramsci offered a more volitional (less deterministic) approach to Marxism, arguing that power is maintained not just through economic or physical force, but through </a:t>
            </a:r>
            <a:r>
              <a:rPr lang="en-US" altLang="x-none" sz="1800" dirty="0">
                <a:highlight>
                  <a:srgbClr val="008000"/>
                </a:highlight>
                <a:ea typeface="ＭＳ Ｐゴシック" charset="-128"/>
              </a:rPr>
              <a:t>ideas, culture, and consent</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Core Concept – </a:t>
            </a:r>
            <a:r>
              <a:rPr lang="en-US" altLang="x-none" sz="1800" u="sng" dirty="0">
                <a:highlight>
                  <a:srgbClr val="000080"/>
                </a:highlight>
                <a:ea typeface="ＭＳ Ｐゴシック" charset="-128"/>
              </a:rPr>
              <a:t>Hegemony</a:t>
            </a:r>
            <a:r>
              <a:rPr lang="en-US" altLang="x-none" sz="1800" dirty="0">
                <a:ea typeface="ＭＳ Ｐゴシック" charset="-128"/>
              </a:rPr>
              <a:t>:  The dominance of a ruling class is fully achieved only when its </a:t>
            </a:r>
            <a:r>
              <a:rPr lang="en-US" altLang="x-none" sz="1800" i="1" dirty="0">
                <a:ea typeface="ＭＳ Ｐゴシック" charset="-128"/>
              </a:rPr>
              <a:t>social vision and values </a:t>
            </a:r>
            <a:r>
              <a:rPr lang="en-US" altLang="x-none" sz="1800" dirty="0">
                <a:ea typeface="ＭＳ Ｐゴシック" charset="-128"/>
              </a:rPr>
              <a:t>are accepted by the subordinate classes as common sense.  This is achieved by </a:t>
            </a:r>
            <a:r>
              <a:rPr lang="en-US" altLang="x-none" sz="1800" i="1" dirty="0">
                <a:highlight>
                  <a:srgbClr val="FF0000"/>
                </a:highlight>
                <a:ea typeface="ＭＳ Ｐゴシック" charset="-128"/>
              </a:rPr>
              <a:t>manufacturing consent</a:t>
            </a:r>
            <a:r>
              <a:rPr lang="en-US" altLang="x-none" sz="1800" dirty="0">
                <a:ea typeface="ＭＳ Ｐゴシック" charset="-128"/>
              </a:rPr>
              <a:t>, not just coercion.</a:t>
            </a: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81415F35-9AA1-2FF1-89B4-73D3C43AD038}"/>
              </a:ext>
            </a:extLst>
          </p:cNvPr>
          <p:cNvSpPr>
            <a:spLocks noGrp="1"/>
          </p:cNvSpPr>
          <p:nvPr>
            <p:ph type="title"/>
          </p:nvPr>
        </p:nvSpPr>
        <p:spPr>
          <a:xfrm>
            <a:off x="457200" y="277813"/>
            <a:ext cx="8229600" cy="407987"/>
          </a:xfrm>
        </p:spPr>
        <p:txBody>
          <a:bodyPr/>
          <a:lstStyle/>
          <a:p>
            <a:pPr>
              <a:defRPr/>
            </a:pPr>
            <a:r>
              <a:rPr lang="en-US" sz="3200" dirty="0">
                <a:solidFill>
                  <a:schemeClr val="tx1"/>
                </a:solidFill>
              </a:rPr>
              <a:t>The Distinctive Model of Antonio Gramsci (1891-1937): World </a:t>
            </a:r>
            <a:r>
              <a:rPr lang="en-US" sz="3200" dirty="0">
                <a:solidFill>
                  <a:schemeClr val="tx1"/>
                </a:solidFill>
                <a:highlight>
                  <a:srgbClr val="000080"/>
                </a:highlight>
              </a:rPr>
              <a:t>Hegemony</a:t>
            </a:r>
          </a:p>
        </p:txBody>
      </p:sp>
    </p:spTree>
    <p:extLst>
      <p:ext uri="{BB962C8B-B14F-4D97-AF65-F5344CB8AC3E}">
        <p14:creationId xmlns:p14="http://schemas.microsoft.com/office/powerpoint/2010/main" val="464441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74DDD-FBD7-6D96-7990-AD984E431F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140F0B-3007-0CDF-8810-9A0890291FCC}"/>
              </a:ext>
            </a:extLst>
          </p:cNvPr>
          <p:cNvSpPr>
            <a:spLocks noGrp="1"/>
          </p:cNvSpPr>
          <p:nvPr>
            <p:ph idx="1"/>
          </p:nvPr>
        </p:nvSpPr>
        <p:spPr>
          <a:xfrm>
            <a:off x="304800" y="1143000"/>
            <a:ext cx="8534400" cy="4835525"/>
          </a:xfrm>
        </p:spPr>
        <p:txBody>
          <a:bodyPr/>
          <a:lstStyle/>
          <a:p>
            <a:pPr marL="0" indent="0">
              <a:spcBef>
                <a:spcPct val="0"/>
              </a:spcBef>
              <a:buFont typeface="Wingdings" charset="2"/>
              <a:buNone/>
              <a:defRPr/>
            </a:pPr>
            <a:r>
              <a:rPr lang="en-US" altLang="x-none" sz="1800" u="sng" dirty="0">
                <a:solidFill>
                  <a:srgbClr val="FFFF00"/>
                </a:solidFill>
                <a:ea typeface="ＭＳ Ｐゴシック" charset="-128"/>
              </a:rPr>
              <a:t>Beyond Economic Determinism</a:t>
            </a:r>
            <a:r>
              <a:rPr lang="en-US" altLang="x-none" sz="1800" dirty="0">
                <a:ea typeface="ＭＳ Ｐゴシック" charset="-128"/>
              </a:rPr>
              <a:t>:  Gramsci offered a more volitional (less deterministic) approach to Marxism, arguing that power is maintained not just through economic or physical force, but through </a:t>
            </a:r>
            <a:r>
              <a:rPr lang="en-US" altLang="x-none" sz="1800" dirty="0">
                <a:highlight>
                  <a:srgbClr val="008000"/>
                </a:highlight>
                <a:ea typeface="ＭＳ Ｐゴシック" charset="-128"/>
              </a:rPr>
              <a:t>ideas, culture, and consent</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Core Concept – </a:t>
            </a:r>
            <a:r>
              <a:rPr lang="en-US" altLang="x-none" sz="1800" u="sng" dirty="0">
                <a:highlight>
                  <a:srgbClr val="000080"/>
                </a:highlight>
                <a:ea typeface="ＭＳ Ｐゴシック" charset="-128"/>
              </a:rPr>
              <a:t>Hegemony</a:t>
            </a:r>
            <a:r>
              <a:rPr lang="en-US" altLang="x-none" sz="1800" dirty="0">
                <a:ea typeface="ＭＳ Ｐゴシック" charset="-128"/>
              </a:rPr>
              <a:t>:  The dominance of a ruling class is fully achieved only when its </a:t>
            </a:r>
            <a:r>
              <a:rPr lang="en-US" altLang="x-none" sz="1800" i="1" dirty="0">
                <a:ea typeface="ＭＳ Ｐゴシック" charset="-128"/>
              </a:rPr>
              <a:t>social vision and values </a:t>
            </a:r>
            <a:r>
              <a:rPr lang="en-US" altLang="x-none" sz="1800" dirty="0">
                <a:ea typeface="ＭＳ Ｐゴシック" charset="-128"/>
              </a:rPr>
              <a:t>are accepted by the subordinate classes as common sense.  This is achieved by </a:t>
            </a:r>
            <a:r>
              <a:rPr lang="en-US" altLang="x-none" sz="1800" i="1" dirty="0">
                <a:highlight>
                  <a:srgbClr val="FF0000"/>
                </a:highlight>
                <a:ea typeface="ＭＳ Ｐゴシック" charset="-128"/>
              </a:rPr>
              <a:t>manufacturing consent</a:t>
            </a:r>
            <a:r>
              <a:rPr lang="en-US" altLang="x-none" sz="1800" dirty="0">
                <a:ea typeface="ＭＳ Ｐゴシック" charset="-128"/>
              </a:rPr>
              <a:t>, not just coercion.</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The Historic Bloc</a:t>
            </a:r>
            <a:r>
              <a:rPr lang="en-US" altLang="x-none" sz="1800" dirty="0">
                <a:ea typeface="ＭＳ Ｐゴシック" charset="-128"/>
              </a:rPr>
              <a:t>:  </a:t>
            </a:r>
            <a:r>
              <a:rPr lang="en-US" altLang="x-none" sz="1800" dirty="0">
                <a:highlight>
                  <a:srgbClr val="000080"/>
                </a:highlight>
                <a:ea typeface="ＭＳ Ｐゴシック" charset="-128"/>
              </a:rPr>
              <a:t>Hegemony</a:t>
            </a:r>
            <a:r>
              <a:rPr lang="en-US" altLang="x-none" sz="1800" dirty="0">
                <a:ea typeface="ＭＳ Ｐゴシック" charset="-128"/>
              </a:rPr>
              <a:t> is built through a “historic bloc” which fuses the material economic base of society (structure) with the ideological and cultural realms (superstructure) like </a:t>
            </a:r>
            <a:r>
              <a:rPr lang="en-US" altLang="x-none" sz="1800" dirty="0">
                <a:highlight>
                  <a:srgbClr val="808000"/>
                </a:highlight>
                <a:ea typeface="ＭＳ Ｐゴシック" charset="-128"/>
              </a:rPr>
              <a:t>schools, media, and religion</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BB38F433-4C78-8D22-DAAE-A7C5184FF846}"/>
              </a:ext>
            </a:extLst>
          </p:cNvPr>
          <p:cNvSpPr>
            <a:spLocks noGrp="1"/>
          </p:cNvSpPr>
          <p:nvPr>
            <p:ph type="title"/>
          </p:nvPr>
        </p:nvSpPr>
        <p:spPr>
          <a:xfrm>
            <a:off x="457200" y="277813"/>
            <a:ext cx="8229600" cy="407987"/>
          </a:xfrm>
        </p:spPr>
        <p:txBody>
          <a:bodyPr/>
          <a:lstStyle/>
          <a:p>
            <a:pPr>
              <a:defRPr/>
            </a:pPr>
            <a:r>
              <a:rPr lang="en-US" sz="3200" dirty="0">
                <a:solidFill>
                  <a:schemeClr val="tx1"/>
                </a:solidFill>
              </a:rPr>
              <a:t>The Distinctive Model of Antonio Gramsci (1891-1937): World </a:t>
            </a:r>
            <a:r>
              <a:rPr lang="en-US" sz="3200" dirty="0">
                <a:solidFill>
                  <a:schemeClr val="tx1"/>
                </a:solidFill>
                <a:highlight>
                  <a:srgbClr val="000080"/>
                </a:highlight>
              </a:rPr>
              <a:t>Hegemony</a:t>
            </a:r>
          </a:p>
        </p:txBody>
      </p:sp>
    </p:spTree>
    <p:extLst>
      <p:ext uri="{BB962C8B-B14F-4D97-AF65-F5344CB8AC3E}">
        <p14:creationId xmlns:p14="http://schemas.microsoft.com/office/powerpoint/2010/main" val="29302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1829F-ACBC-F96D-4573-6C73BC99A54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0F8ACC-C00C-0083-121C-1C8A046582CF}"/>
              </a:ext>
            </a:extLst>
          </p:cNvPr>
          <p:cNvSpPr>
            <a:spLocks noGrp="1"/>
          </p:cNvSpPr>
          <p:nvPr>
            <p:ph idx="1"/>
          </p:nvPr>
        </p:nvSpPr>
        <p:spPr>
          <a:xfrm>
            <a:off x="304800" y="1143000"/>
            <a:ext cx="8534400" cy="4835525"/>
          </a:xfrm>
        </p:spPr>
        <p:txBody>
          <a:bodyPr/>
          <a:lstStyle/>
          <a:p>
            <a:pPr marL="0" indent="0">
              <a:spcBef>
                <a:spcPct val="0"/>
              </a:spcBef>
              <a:buFont typeface="Wingdings" charset="2"/>
              <a:buNone/>
              <a:defRPr/>
            </a:pPr>
            <a:r>
              <a:rPr lang="en-US" altLang="x-none" sz="1800" u="sng" dirty="0">
                <a:solidFill>
                  <a:srgbClr val="FFFF00"/>
                </a:solidFill>
                <a:ea typeface="ＭＳ Ｐゴシック" charset="-128"/>
              </a:rPr>
              <a:t>Beyond Economic Determinism</a:t>
            </a:r>
            <a:r>
              <a:rPr lang="en-US" altLang="x-none" sz="1800" dirty="0">
                <a:ea typeface="ＭＳ Ｐゴシック" charset="-128"/>
              </a:rPr>
              <a:t>:  Gramsci offered a more volitional (less deterministic) approach to Marxism, arguing that power is maintained not just through economic or physical force, but through </a:t>
            </a:r>
            <a:r>
              <a:rPr lang="en-US" altLang="x-none" sz="1800" dirty="0">
                <a:highlight>
                  <a:srgbClr val="008000"/>
                </a:highlight>
                <a:ea typeface="ＭＳ Ｐゴシック" charset="-128"/>
              </a:rPr>
              <a:t>ideas, culture, and consent</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Core Concept – </a:t>
            </a:r>
            <a:r>
              <a:rPr lang="en-US" altLang="x-none" sz="1800" u="sng" dirty="0">
                <a:highlight>
                  <a:srgbClr val="000080"/>
                </a:highlight>
                <a:ea typeface="ＭＳ Ｐゴシック" charset="-128"/>
              </a:rPr>
              <a:t>Hegemony</a:t>
            </a:r>
            <a:r>
              <a:rPr lang="en-US" altLang="x-none" sz="1800" dirty="0">
                <a:ea typeface="ＭＳ Ｐゴシック" charset="-128"/>
              </a:rPr>
              <a:t>:  The dominance of a ruling class is fully achieved only when its </a:t>
            </a:r>
            <a:r>
              <a:rPr lang="en-US" altLang="x-none" sz="1800" i="1" dirty="0">
                <a:ea typeface="ＭＳ Ｐゴシック" charset="-128"/>
              </a:rPr>
              <a:t>social vision and values </a:t>
            </a:r>
            <a:r>
              <a:rPr lang="en-US" altLang="x-none" sz="1800" dirty="0">
                <a:ea typeface="ＭＳ Ｐゴシック" charset="-128"/>
              </a:rPr>
              <a:t>are accepted by the subordinate classes as common sense.  This is achieved by </a:t>
            </a:r>
            <a:r>
              <a:rPr lang="en-US" altLang="x-none" sz="1800" i="1" dirty="0">
                <a:highlight>
                  <a:srgbClr val="FF0000"/>
                </a:highlight>
                <a:ea typeface="ＭＳ Ｐゴシック" charset="-128"/>
              </a:rPr>
              <a:t>manufacturing consent</a:t>
            </a:r>
            <a:r>
              <a:rPr lang="en-US" altLang="x-none" sz="1800" dirty="0">
                <a:ea typeface="ＭＳ Ｐゴシック" charset="-128"/>
              </a:rPr>
              <a:t>, not just coercion.</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The Historic Bloc</a:t>
            </a:r>
            <a:r>
              <a:rPr lang="en-US" altLang="x-none" sz="1800" dirty="0">
                <a:ea typeface="ＭＳ Ｐゴシック" charset="-128"/>
              </a:rPr>
              <a:t>:  </a:t>
            </a:r>
            <a:r>
              <a:rPr lang="en-US" altLang="x-none" sz="1800" dirty="0">
                <a:highlight>
                  <a:srgbClr val="000080"/>
                </a:highlight>
                <a:ea typeface="ＭＳ Ｐゴシック" charset="-128"/>
              </a:rPr>
              <a:t>Hegemony</a:t>
            </a:r>
            <a:r>
              <a:rPr lang="en-US" altLang="x-none" sz="1800" dirty="0">
                <a:ea typeface="ＭＳ Ｐゴシック" charset="-128"/>
              </a:rPr>
              <a:t> is built through a “historic bloc” which fuses the material economic base of society (structure) with the ideological and cultural realms (superstructure) like </a:t>
            </a:r>
            <a:r>
              <a:rPr lang="en-US" altLang="x-none" sz="1800" dirty="0">
                <a:highlight>
                  <a:srgbClr val="808000"/>
                </a:highlight>
                <a:ea typeface="ＭＳ Ｐゴシック" charset="-128"/>
              </a:rPr>
              <a:t>schools, media, and religion</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The Role of Civil Society</a:t>
            </a:r>
            <a:r>
              <a:rPr lang="en-US" altLang="x-none" sz="1800" dirty="0">
                <a:ea typeface="ＭＳ Ｐゴシック" charset="-128"/>
              </a:rPr>
              <a:t>:  Civil society is the primary terrain where this consent is manufactured and institutionalized.  It is also the battleground where subordinate groups can challenge the dominant ideology by developing a </a:t>
            </a:r>
            <a:r>
              <a:rPr lang="en-US" altLang="x-none" sz="1800" dirty="0">
                <a:highlight>
                  <a:srgbClr val="800080"/>
                </a:highlight>
                <a:ea typeface="ＭＳ Ｐゴシック" charset="-128"/>
              </a:rPr>
              <a:t>counter-</a:t>
            </a:r>
            <a:r>
              <a:rPr lang="en-US" altLang="x-none" sz="1800" dirty="0">
                <a:highlight>
                  <a:srgbClr val="000080"/>
                </a:highlight>
                <a:ea typeface="ＭＳ Ｐゴシック" charset="-128"/>
              </a:rPr>
              <a:t>hegemony</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A577B96C-DF60-A6A5-80EA-7D75936523A6}"/>
              </a:ext>
            </a:extLst>
          </p:cNvPr>
          <p:cNvSpPr>
            <a:spLocks noGrp="1"/>
          </p:cNvSpPr>
          <p:nvPr>
            <p:ph type="title"/>
          </p:nvPr>
        </p:nvSpPr>
        <p:spPr>
          <a:xfrm>
            <a:off x="457200" y="277813"/>
            <a:ext cx="8229600" cy="407987"/>
          </a:xfrm>
        </p:spPr>
        <p:txBody>
          <a:bodyPr/>
          <a:lstStyle/>
          <a:p>
            <a:pPr>
              <a:defRPr/>
            </a:pPr>
            <a:r>
              <a:rPr lang="en-US" sz="3200" dirty="0">
                <a:solidFill>
                  <a:schemeClr val="tx1"/>
                </a:solidFill>
              </a:rPr>
              <a:t>The Distinctive Model of Antonio Gramsci (1891-1937): World </a:t>
            </a:r>
            <a:r>
              <a:rPr lang="en-US" sz="3200" dirty="0">
                <a:solidFill>
                  <a:schemeClr val="tx1"/>
                </a:solidFill>
                <a:highlight>
                  <a:srgbClr val="000080"/>
                </a:highlight>
              </a:rPr>
              <a:t>Hegemony</a:t>
            </a:r>
          </a:p>
        </p:txBody>
      </p:sp>
    </p:spTree>
    <p:extLst>
      <p:ext uri="{BB962C8B-B14F-4D97-AF65-F5344CB8AC3E}">
        <p14:creationId xmlns:p14="http://schemas.microsoft.com/office/powerpoint/2010/main" val="1695511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9571D-0CBA-79FB-40E4-74782CA9926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ED5499-255A-D538-06EF-3CF0DD2AF872}"/>
              </a:ext>
            </a:extLst>
          </p:cNvPr>
          <p:cNvSpPr>
            <a:spLocks noGrp="1"/>
          </p:cNvSpPr>
          <p:nvPr>
            <p:ph idx="1"/>
          </p:nvPr>
        </p:nvSpPr>
        <p:spPr>
          <a:xfrm>
            <a:off x="304800" y="1143000"/>
            <a:ext cx="8534400" cy="4835525"/>
          </a:xfrm>
        </p:spPr>
        <p:txBody>
          <a:bodyPr/>
          <a:lstStyle/>
          <a:p>
            <a:pPr marL="0" indent="0">
              <a:spcBef>
                <a:spcPct val="0"/>
              </a:spcBef>
              <a:buFont typeface="Wingdings" charset="2"/>
              <a:buNone/>
              <a:defRPr/>
            </a:pPr>
            <a:r>
              <a:rPr lang="en-US" altLang="x-none" sz="1800" u="sng" dirty="0">
                <a:solidFill>
                  <a:srgbClr val="FFFF00"/>
                </a:solidFill>
                <a:ea typeface="ＭＳ Ｐゴシック" charset="-128"/>
              </a:rPr>
              <a:t>Beyond Economic Determinism</a:t>
            </a:r>
            <a:r>
              <a:rPr lang="en-US" altLang="x-none" sz="1800" dirty="0">
                <a:ea typeface="ＭＳ Ｐゴシック" charset="-128"/>
              </a:rPr>
              <a:t>:  Gramsci offered a more volitional (less deterministic) approach to Marxism, arguing that power is maintained not just through economic or physical force, but through </a:t>
            </a:r>
            <a:r>
              <a:rPr lang="en-US" altLang="x-none" sz="1800" dirty="0">
                <a:highlight>
                  <a:srgbClr val="008000"/>
                </a:highlight>
                <a:ea typeface="ＭＳ Ｐゴシック" charset="-128"/>
              </a:rPr>
              <a:t>ideas, culture, and consent</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Core Concept – </a:t>
            </a:r>
            <a:r>
              <a:rPr lang="en-US" altLang="x-none" sz="1800" u="sng" dirty="0">
                <a:highlight>
                  <a:srgbClr val="000080"/>
                </a:highlight>
                <a:ea typeface="ＭＳ Ｐゴシック" charset="-128"/>
              </a:rPr>
              <a:t>Hegemony</a:t>
            </a:r>
            <a:r>
              <a:rPr lang="en-US" altLang="x-none" sz="1800" dirty="0">
                <a:ea typeface="ＭＳ Ｐゴシック" charset="-128"/>
              </a:rPr>
              <a:t>:  The dominance of a ruling class is fully achieved only when its </a:t>
            </a:r>
            <a:r>
              <a:rPr lang="en-US" altLang="x-none" sz="1800" i="1" dirty="0">
                <a:ea typeface="ＭＳ Ｐゴシック" charset="-128"/>
              </a:rPr>
              <a:t>social vision and values </a:t>
            </a:r>
            <a:r>
              <a:rPr lang="en-US" altLang="x-none" sz="1800" dirty="0">
                <a:ea typeface="ＭＳ Ｐゴシック" charset="-128"/>
              </a:rPr>
              <a:t>are accepted by the subordinate classes as common sense.  This is achieved by </a:t>
            </a:r>
            <a:r>
              <a:rPr lang="en-US" altLang="x-none" sz="1800" i="1" dirty="0">
                <a:highlight>
                  <a:srgbClr val="FF0000"/>
                </a:highlight>
                <a:ea typeface="ＭＳ Ｐゴシック" charset="-128"/>
              </a:rPr>
              <a:t>manufacturing consent</a:t>
            </a:r>
            <a:r>
              <a:rPr lang="en-US" altLang="x-none" sz="1800" dirty="0">
                <a:ea typeface="ＭＳ Ｐゴシック" charset="-128"/>
              </a:rPr>
              <a:t>, not just coercion.</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The Historic Bloc</a:t>
            </a:r>
            <a:r>
              <a:rPr lang="en-US" altLang="x-none" sz="1800" dirty="0">
                <a:ea typeface="ＭＳ Ｐゴシック" charset="-128"/>
              </a:rPr>
              <a:t>:  </a:t>
            </a:r>
            <a:r>
              <a:rPr lang="en-US" altLang="x-none" sz="1800" dirty="0">
                <a:highlight>
                  <a:srgbClr val="000080"/>
                </a:highlight>
                <a:ea typeface="ＭＳ Ｐゴシック" charset="-128"/>
              </a:rPr>
              <a:t>Hegemony</a:t>
            </a:r>
            <a:r>
              <a:rPr lang="en-US" altLang="x-none" sz="1800" dirty="0">
                <a:ea typeface="ＭＳ Ｐゴシック" charset="-128"/>
              </a:rPr>
              <a:t> is built through a “historic bloc” which fuses the material economic base of society (structure) with the ideological and cultural realms (superstructure) like </a:t>
            </a:r>
            <a:r>
              <a:rPr lang="en-US" altLang="x-none" sz="1800" dirty="0">
                <a:highlight>
                  <a:srgbClr val="808000"/>
                </a:highlight>
                <a:ea typeface="ＭＳ Ｐゴシック" charset="-128"/>
              </a:rPr>
              <a:t>schools, media, and religion</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The Role of Civil Society</a:t>
            </a:r>
            <a:r>
              <a:rPr lang="en-US" altLang="x-none" sz="1800" dirty="0">
                <a:ea typeface="ＭＳ Ｐゴシック" charset="-128"/>
              </a:rPr>
              <a:t>:  Civil society is the primary terrain where this consent is manufactured and institutionalized.  It is also the battleground where subordinate groups can challenge the dominant ideology by developing a </a:t>
            </a:r>
            <a:r>
              <a:rPr lang="en-US" altLang="x-none" sz="1800" dirty="0">
                <a:highlight>
                  <a:srgbClr val="800080"/>
                </a:highlight>
                <a:ea typeface="ＭＳ Ｐゴシック" charset="-128"/>
              </a:rPr>
              <a:t>counter-</a:t>
            </a:r>
            <a:r>
              <a:rPr lang="en-US" altLang="x-none" sz="1800" dirty="0">
                <a:highlight>
                  <a:srgbClr val="000080"/>
                </a:highlight>
                <a:ea typeface="ＭＳ Ｐゴシック" charset="-128"/>
              </a:rPr>
              <a:t>hegemony</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Application to IR</a:t>
            </a:r>
            <a:r>
              <a:rPr lang="en-US" altLang="x-none" sz="1800" dirty="0">
                <a:ea typeface="ＭＳ Ｐゴシック" charset="-128"/>
              </a:rPr>
              <a:t>:  In IR, this concept helps explain </a:t>
            </a:r>
            <a:r>
              <a:rPr lang="en-US" altLang="x-none" sz="1800" u="sng" dirty="0">
                <a:highlight>
                  <a:srgbClr val="FF0000"/>
                </a:highlight>
                <a:ea typeface="ＭＳ Ｐゴシック" charset="-128"/>
              </a:rPr>
              <a:t>world hegemony</a:t>
            </a:r>
            <a:r>
              <a:rPr lang="en-US" altLang="x-none" sz="1800" dirty="0">
                <a:highlight>
                  <a:srgbClr val="800000"/>
                </a:highlight>
                <a:ea typeface="ＭＳ Ｐゴシック" charset="-128"/>
              </a:rPr>
              <a:t>, where a dominant global class (transnational capital) and core states promote “universal” norms and institutions (e.g., IMF, World Bank) that legitimize and perpetuate the global capitalist system.</a:t>
            </a:r>
          </a:p>
        </p:txBody>
      </p:sp>
      <p:sp>
        <p:nvSpPr>
          <p:cNvPr id="2" name="Title 1">
            <a:extLst>
              <a:ext uri="{FF2B5EF4-FFF2-40B4-BE49-F238E27FC236}">
                <a16:creationId xmlns:a16="http://schemas.microsoft.com/office/drawing/2014/main" id="{39D4D6BF-D86F-87D5-D789-E0BC04A9E748}"/>
              </a:ext>
            </a:extLst>
          </p:cNvPr>
          <p:cNvSpPr>
            <a:spLocks noGrp="1"/>
          </p:cNvSpPr>
          <p:nvPr>
            <p:ph type="title"/>
          </p:nvPr>
        </p:nvSpPr>
        <p:spPr>
          <a:xfrm>
            <a:off x="457200" y="277813"/>
            <a:ext cx="8229600" cy="407987"/>
          </a:xfrm>
        </p:spPr>
        <p:txBody>
          <a:bodyPr/>
          <a:lstStyle/>
          <a:p>
            <a:pPr>
              <a:defRPr/>
            </a:pPr>
            <a:r>
              <a:rPr lang="en-US" sz="3200" dirty="0">
                <a:solidFill>
                  <a:schemeClr val="tx1"/>
                </a:solidFill>
              </a:rPr>
              <a:t>The Distinctive Model of Antonio Gramsci (1891-1937): World </a:t>
            </a:r>
            <a:r>
              <a:rPr lang="en-US" sz="3200" dirty="0">
                <a:solidFill>
                  <a:schemeClr val="tx1"/>
                </a:solidFill>
                <a:highlight>
                  <a:srgbClr val="000080"/>
                </a:highlight>
              </a:rPr>
              <a:t>Hegemony</a:t>
            </a:r>
          </a:p>
        </p:txBody>
      </p:sp>
    </p:spTree>
    <p:extLst>
      <p:ext uri="{BB962C8B-B14F-4D97-AF65-F5344CB8AC3E}">
        <p14:creationId xmlns:p14="http://schemas.microsoft.com/office/powerpoint/2010/main" val="34974400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900F1-0900-6B72-F0CF-442A3D440DA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46E2A9-683D-B82D-F70C-B6D1FFD2AF41}"/>
              </a:ext>
            </a:extLst>
          </p:cNvPr>
          <p:cNvSpPr>
            <a:spLocks noGrp="1"/>
          </p:cNvSpPr>
          <p:nvPr>
            <p:ph idx="1"/>
          </p:nvPr>
        </p:nvSpPr>
        <p:spPr>
          <a:xfrm>
            <a:off x="269488" y="1143000"/>
            <a:ext cx="8534400" cy="4759325"/>
          </a:xfrm>
        </p:spPr>
        <p:txBody>
          <a:bodyPr/>
          <a:lstStyle/>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34E96B1E-BDBE-46F3-8574-D746E7D8DD76}"/>
              </a:ext>
            </a:extLst>
          </p:cNvPr>
          <p:cNvSpPr>
            <a:spLocks noGrp="1"/>
          </p:cNvSpPr>
          <p:nvPr>
            <p:ph type="title"/>
          </p:nvPr>
        </p:nvSpPr>
        <p:spPr>
          <a:xfrm>
            <a:off x="304800" y="277814"/>
            <a:ext cx="8534400" cy="484186"/>
          </a:xfrm>
        </p:spPr>
        <p:txBody>
          <a:bodyPr/>
          <a:lstStyle/>
          <a:p>
            <a:pPr>
              <a:defRPr/>
            </a:pPr>
            <a:r>
              <a:rPr lang="en-US" sz="3200" dirty="0">
                <a:solidFill>
                  <a:srgbClr val="FFFF00"/>
                </a:solidFill>
              </a:rPr>
              <a:t>Gramsci’s Explanation for the Outbreak</a:t>
            </a:r>
            <a:br>
              <a:rPr lang="en-US" sz="3200" dirty="0">
                <a:solidFill>
                  <a:srgbClr val="FFFF00"/>
                </a:solidFill>
              </a:rPr>
            </a:br>
            <a:r>
              <a:rPr lang="en-US" sz="3200" dirty="0">
                <a:solidFill>
                  <a:srgbClr val="FFFF00"/>
                </a:solidFill>
              </a:rPr>
              <a:t>of World War I (1914-1918)</a:t>
            </a:r>
          </a:p>
        </p:txBody>
      </p:sp>
    </p:spTree>
    <p:extLst>
      <p:ext uri="{BB962C8B-B14F-4D97-AF65-F5344CB8AC3E}">
        <p14:creationId xmlns:p14="http://schemas.microsoft.com/office/powerpoint/2010/main" val="3516585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19111-3F0B-E823-DA6E-E1736684223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49D42C-79CB-2254-270A-BD868CEB24CD}"/>
              </a:ext>
            </a:extLst>
          </p:cNvPr>
          <p:cNvSpPr>
            <a:spLocks noGrp="1"/>
          </p:cNvSpPr>
          <p:nvPr>
            <p:ph idx="1"/>
          </p:nvPr>
        </p:nvSpPr>
        <p:spPr>
          <a:xfrm>
            <a:off x="269488" y="1143000"/>
            <a:ext cx="8534400" cy="4759325"/>
          </a:xfrm>
        </p:spPr>
        <p:txBody>
          <a:bodyPr/>
          <a:lstStyle/>
          <a:p>
            <a:pPr marL="0" indent="0">
              <a:spcBef>
                <a:spcPct val="0"/>
              </a:spcBef>
              <a:buFont typeface="Wingdings" charset="2"/>
              <a:buNone/>
              <a:defRPr/>
            </a:pPr>
            <a:r>
              <a:rPr lang="en-US" altLang="x-none" sz="1800" dirty="0">
                <a:highlight>
                  <a:srgbClr val="000080"/>
                </a:highlight>
                <a:ea typeface="ＭＳ Ｐゴシック" charset="-128"/>
              </a:rPr>
              <a:t>Gramsci viewed World War I NOT as an inevitable clash of states driven by MULTIPOLARITY under anarchy</a:t>
            </a:r>
            <a:r>
              <a:rPr lang="en-US" altLang="x-none" sz="1800" dirty="0">
                <a:ea typeface="ＭＳ Ｐゴシック" charset="-128"/>
              </a:rPr>
              <a:t>, but as a </a:t>
            </a:r>
            <a:r>
              <a:rPr lang="en-US" altLang="x-none" sz="1800" i="1" dirty="0">
                <a:ea typeface="ＭＳ Ｐゴシック" charset="-128"/>
              </a:rPr>
              <a:t>continental civil war </a:t>
            </a:r>
            <a:r>
              <a:rPr lang="en-US" altLang="x-none" sz="1800" dirty="0">
                <a:ea typeface="ＭＳ Ｐゴシック" charset="-128"/>
              </a:rPr>
              <a:t>that signaled the terminal crisis of the 19th-century bourgeois order.</a:t>
            </a: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DE0143E7-67A5-41BD-ECF7-2BEF55D65380}"/>
              </a:ext>
            </a:extLst>
          </p:cNvPr>
          <p:cNvSpPr>
            <a:spLocks noGrp="1"/>
          </p:cNvSpPr>
          <p:nvPr>
            <p:ph type="title"/>
          </p:nvPr>
        </p:nvSpPr>
        <p:spPr>
          <a:xfrm>
            <a:off x="304800" y="277814"/>
            <a:ext cx="8534400" cy="484186"/>
          </a:xfrm>
        </p:spPr>
        <p:txBody>
          <a:bodyPr/>
          <a:lstStyle/>
          <a:p>
            <a:pPr>
              <a:defRPr/>
            </a:pPr>
            <a:r>
              <a:rPr lang="en-US" sz="3200" dirty="0">
                <a:solidFill>
                  <a:srgbClr val="FFFF00"/>
                </a:solidFill>
              </a:rPr>
              <a:t>Gramsci’s Explanation for the Outbreak</a:t>
            </a:r>
            <a:br>
              <a:rPr lang="en-US" sz="3200" dirty="0">
                <a:solidFill>
                  <a:srgbClr val="FFFF00"/>
                </a:solidFill>
              </a:rPr>
            </a:br>
            <a:r>
              <a:rPr lang="en-US" sz="3200" dirty="0">
                <a:solidFill>
                  <a:srgbClr val="FFFF00"/>
                </a:solidFill>
              </a:rPr>
              <a:t>of World War I (1914-1918)</a:t>
            </a:r>
          </a:p>
        </p:txBody>
      </p:sp>
    </p:spTree>
    <p:extLst>
      <p:ext uri="{BB962C8B-B14F-4D97-AF65-F5344CB8AC3E}">
        <p14:creationId xmlns:p14="http://schemas.microsoft.com/office/powerpoint/2010/main" val="1052340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1C342-D02B-FB41-CB50-EB8E77D2986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02FA81-E6AB-6359-2BDF-80D19D4F8BC6}"/>
              </a:ext>
            </a:extLst>
          </p:cNvPr>
          <p:cNvSpPr>
            <a:spLocks noGrp="1"/>
          </p:cNvSpPr>
          <p:nvPr>
            <p:ph idx="1"/>
          </p:nvPr>
        </p:nvSpPr>
        <p:spPr>
          <a:xfrm>
            <a:off x="269488" y="1143000"/>
            <a:ext cx="8534400" cy="4759325"/>
          </a:xfrm>
        </p:spPr>
        <p:txBody>
          <a:bodyPr/>
          <a:lstStyle/>
          <a:p>
            <a:pPr marL="0" indent="0">
              <a:spcBef>
                <a:spcPct val="0"/>
              </a:spcBef>
              <a:buFont typeface="Wingdings" charset="2"/>
              <a:buNone/>
              <a:defRPr/>
            </a:pPr>
            <a:r>
              <a:rPr lang="en-US" altLang="x-none" sz="1800" dirty="0">
                <a:highlight>
                  <a:srgbClr val="000080"/>
                </a:highlight>
                <a:ea typeface="ＭＳ Ｐゴシック" charset="-128"/>
              </a:rPr>
              <a:t>Gramsci viewed World War I NOT as an inevitable clash of states driven by MULTIPOLARITY under anarchy</a:t>
            </a:r>
            <a:r>
              <a:rPr lang="en-US" altLang="x-none" sz="1800" dirty="0">
                <a:ea typeface="ＭＳ Ｐゴシック" charset="-128"/>
              </a:rPr>
              <a:t>, but as a </a:t>
            </a:r>
            <a:r>
              <a:rPr lang="en-US" altLang="x-none" sz="1800" i="1" dirty="0">
                <a:ea typeface="ＭＳ Ｐゴシック" charset="-128"/>
              </a:rPr>
              <a:t>continental civil war </a:t>
            </a:r>
            <a:r>
              <a:rPr lang="en-US" altLang="x-none" sz="1800" dirty="0">
                <a:ea typeface="ＭＳ Ｐゴシック" charset="-128"/>
              </a:rPr>
              <a:t>that signaled the terminal crisis of the 19th-century bourgeois order.</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Failure of the Bourgeois Hegemonic Project</a:t>
            </a:r>
            <a:r>
              <a:rPr lang="en-US" altLang="x-none" sz="1800" dirty="0">
                <a:ea typeface="ＭＳ Ｐゴシック" charset="-128"/>
              </a:rPr>
              <a:t>:  Gramsci saw the European bourgeoisie (the ruling class) as having failed to create a genuine historic bloc that incorporated the masses.  Their form of capitalism was narrowly nationalistic and exploitative, and </a:t>
            </a:r>
            <a:r>
              <a:rPr lang="en-US" altLang="x-none" sz="1800" dirty="0">
                <a:highlight>
                  <a:srgbClr val="008000"/>
                </a:highlight>
                <a:ea typeface="ＭＳ Ｐゴシック" charset="-128"/>
              </a:rPr>
              <a:t>they ruled through dominance and </a:t>
            </a:r>
            <a:r>
              <a:rPr lang="en-US" altLang="x-none" sz="1800" i="1" dirty="0">
                <a:highlight>
                  <a:srgbClr val="008000"/>
                </a:highlight>
                <a:ea typeface="ＭＳ Ｐゴシック" charset="-128"/>
              </a:rPr>
              <a:t>weak consent</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E55F70DF-D428-0AD6-590B-A8A688063556}"/>
              </a:ext>
            </a:extLst>
          </p:cNvPr>
          <p:cNvSpPr>
            <a:spLocks noGrp="1"/>
          </p:cNvSpPr>
          <p:nvPr>
            <p:ph type="title"/>
          </p:nvPr>
        </p:nvSpPr>
        <p:spPr>
          <a:xfrm>
            <a:off x="304800" y="277814"/>
            <a:ext cx="8534400" cy="484186"/>
          </a:xfrm>
        </p:spPr>
        <p:txBody>
          <a:bodyPr/>
          <a:lstStyle/>
          <a:p>
            <a:pPr>
              <a:defRPr/>
            </a:pPr>
            <a:r>
              <a:rPr lang="en-US" sz="3200" dirty="0">
                <a:solidFill>
                  <a:srgbClr val="FFFF00"/>
                </a:solidFill>
              </a:rPr>
              <a:t>Gramsci’s Explanation for the Outbreak</a:t>
            </a:r>
            <a:br>
              <a:rPr lang="en-US" sz="3200" dirty="0">
                <a:solidFill>
                  <a:srgbClr val="FFFF00"/>
                </a:solidFill>
              </a:rPr>
            </a:br>
            <a:r>
              <a:rPr lang="en-US" sz="3200" dirty="0">
                <a:solidFill>
                  <a:srgbClr val="FFFF00"/>
                </a:solidFill>
              </a:rPr>
              <a:t>of World War I (1914-1918)</a:t>
            </a:r>
          </a:p>
        </p:txBody>
      </p:sp>
    </p:spTree>
    <p:extLst>
      <p:ext uri="{BB962C8B-B14F-4D97-AF65-F5344CB8AC3E}">
        <p14:creationId xmlns:p14="http://schemas.microsoft.com/office/powerpoint/2010/main" val="28983540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8006B-D108-1E56-2FEC-34E291DB2D0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C61279-06E5-26A5-C1D2-4E47C1E69D85}"/>
              </a:ext>
            </a:extLst>
          </p:cNvPr>
          <p:cNvSpPr>
            <a:spLocks noGrp="1"/>
          </p:cNvSpPr>
          <p:nvPr>
            <p:ph idx="1"/>
          </p:nvPr>
        </p:nvSpPr>
        <p:spPr>
          <a:xfrm>
            <a:off x="269488" y="1143000"/>
            <a:ext cx="8534400" cy="4759325"/>
          </a:xfrm>
        </p:spPr>
        <p:txBody>
          <a:bodyPr/>
          <a:lstStyle/>
          <a:p>
            <a:pPr marL="0" indent="0">
              <a:spcBef>
                <a:spcPct val="0"/>
              </a:spcBef>
              <a:buFont typeface="Wingdings" charset="2"/>
              <a:buNone/>
              <a:defRPr/>
            </a:pPr>
            <a:r>
              <a:rPr lang="en-US" altLang="x-none" sz="1800" dirty="0">
                <a:highlight>
                  <a:srgbClr val="000080"/>
                </a:highlight>
                <a:ea typeface="ＭＳ Ｐゴシック" charset="-128"/>
              </a:rPr>
              <a:t>Gramsci viewed World War I NOT as an inevitable clash of states driven by MULTIPOLARITY under anarchy</a:t>
            </a:r>
            <a:r>
              <a:rPr lang="en-US" altLang="x-none" sz="1800" dirty="0">
                <a:ea typeface="ＭＳ Ｐゴシック" charset="-128"/>
              </a:rPr>
              <a:t>, but as a </a:t>
            </a:r>
            <a:r>
              <a:rPr lang="en-US" altLang="x-none" sz="1800" i="1" dirty="0">
                <a:ea typeface="ＭＳ Ｐゴシック" charset="-128"/>
              </a:rPr>
              <a:t>continental civil war </a:t>
            </a:r>
            <a:r>
              <a:rPr lang="en-US" altLang="x-none" sz="1800" dirty="0">
                <a:ea typeface="ＭＳ Ｐゴシック" charset="-128"/>
              </a:rPr>
              <a:t>that signaled the terminal crisis of the 19th-century bourgeois order.</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Failure of the Bourgeois Hegemonic Project</a:t>
            </a:r>
            <a:r>
              <a:rPr lang="en-US" altLang="x-none" sz="1800" dirty="0">
                <a:ea typeface="ＭＳ Ｐゴシック" charset="-128"/>
              </a:rPr>
              <a:t>:  Gramsci saw the European bourgeoisie (the ruling class) as having failed to create a genuine historic bloc that incorporated the masses.  Their form of capitalism was narrowly nationalistic and exploitative, and </a:t>
            </a:r>
            <a:r>
              <a:rPr lang="en-US" altLang="x-none" sz="1800" dirty="0">
                <a:highlight>
                  <a:srgbClr val="008000"/>
                </a:highlight>
                <a:ea typeface="ＭＳ Ｐゴシック" charset="-128"/>
              </a:rPr>
              <a:t>they ruled through dominance and </a:t>
            </a:r>
            <a:r>
              <a:rPr lang="en-US" altLang="x-none" sz="1800" i="1" dirty="0">
                <a:highlight>
                  <a:srgbClr val="008000"/>
                </a:highlight>
                <a:ea typeface="ＭＳ Ｐゴシック" charset="-128"/>
              </a:rPr>
              <a:t>weak consent</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“Passive Revolution:</a:t>
            </a:r>
            <a:r>
              <a:rPr lang="en-US" altLang="x-none" sz="1800" dirty="0">
                <a:solidFill>
                  <a:srgbClr val="FFFF00"/>
                </a:solidFill>
                <a:ea typeface="ＭＳ Ｐゴシック" charset="-128"/>
              </a:rPr>
              <a:t>” </a:t>
            </a:r>
            <a:r>
              <a:rPr lang="en-US" altLang="x-none" sz="1800" dirty="0">
                <a:highlight>
                  <a:srgbClr val="800000"/>
                </a:highlight>
                <a:ea typeface="ＭＳ Ｐゴシック" charset="-128"/>
              </a:rPr>
              <a:t>The 19th century modernizing and state-building European elites had said, "We must change things so that everything stays the same." </a:t>
            </a:r>
            <a:r>
              <a:rPr lang="en-US" altLang="x-none" sz="1800" dirty="0">
                <a:ea typeface="ＭＳ Ｐゴシック" charset="-128"/>
              </a:rPr>
              <a:t> They introduced modernizing reforms and initiated some social welfare schemes, but only to the extent necessary to prevent a genuine, popular uprising that would threaten their own power.  The masses did not participate.</a:t>
            </a: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57E4EC58-6806-B622-0312-3E5653666AFF}"/>
              </a:ext>
            </a:extLst>
          </p:cNvPr>
          <p:cNvSpPr>
            <a:spLocks noGrp="1"/>
          </p:cNvSpPr>
          <p:nvPr>
            <p:ph type="title"/>
          </p:nvPr>
        </p:nvSpPr>
        <p:spPr>
          <a:xfrm>
            <a:off x="304800" y="277814"/>
            <a:ext cx="8534400" cy="484186"/>
          </a:xfrm>
        </p:spPr>
        <p:txBody>
          <a:bodyPr/>
          <a:lstStyle/>
          <a:p>
            <a:pPr>
              <a:defRPr/>
            </a:pPr>
            <a:r>
              <a:rPr lang="en-US" sz="3200" dirty="0">
                <a:solidFill>
                  <a:srgbClr val="FFFF00"/>
                </a:solidFill>
              </a:rPr>
              <a:t>Gramsci’s Explanation for the Outbreak</a:t>
            </a:r>
            <a:br>
              <a:rPr lang="en-US" sz="3200" dirty="0">
                <a:solidFill>
                  <a:srgbClr val="FFFF00"/>
                </a:solidFill>
              </a:rPr>
            </a:br>
            <a:r>
              <a:rPr lang="en-US" sz="3200" dirty="0">
                <a:solidFill>
                  <a:srgbClr val="FFFF00"/>
                </a:solidFill>
              </a:rPr>
              <a:t>of World War I (1914-1918)</a:t>
            </a:r>
          </a:p>
        </p:txBody>
      </p:sp>
    </p:spTree>
    <p:extLst>
      <p:ext uri="{BB962C8B-B14F-4D97-AF65-F5344CB8AC3E}">
        <p14:creationId xmlns:p14="http://schemas.microsoft.com/office/powerpoint/2010/main" val="17615048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ED7D7-0639-55E7-313B-51F82E1226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8297C1-07E9-5A95-91B7-F1E336D7C949}"/>
              </a:ext>
            </a:extLst>
          </p:cNvPr>
          <p:cNvSpPr>
            <a:spLocks noGrp="1"/>
          </p:cNvSpPr>
          <p:nvPr>
            <p:ph idx="1"/>
          </p:nvPr>
        </p:nvSpPr>
        <p:spPr>
          <a:xfrm>
            <a:off x="269488" y="1143000"/>
            <a:ext cx="8534400" cy="4759325"/>
          </a:xfrm>
        </p:spPr>
        <p:txBody>
          <a:bodyPr/>
          <a:lstStyle/>
          <a:p>
            <a:pPr marL="0" indent="0">
              <a:spcBef>
                <a:spcPct val="0"/>
              </a:spcBef>
              <a:buFont typeface="Wingdings" charset="2"/>
              <a:buNone/>
              <a:defRPr/>
            </a:pPr>
            <a:r>
              <a:rPr lang="en-US" altLang="x-none" sz="1800" dirty="0">
                <a:highlight>
                  <a:srgbClr val="000080"/>
                </a:highlight>
                <a:ea typeface="ＭＳ Ｐゴシック" charset="-128"/>
              </a:rPr>
              <a:t>Gramsci viewed World War I NOT as an inevitable clash of states driven by MULTIPOLARITY under anarchy</a:t>
            </a:r>
            <a:r>
              <a:rPr lang="en-US" altLang="x-none" sz="1800" dirty="0">
                <a:ea typeface="ＭＳ Ｐゴシック" charset="-128"/>
              </a:rPr>
              <a:t>, but as a </a:t>
            </a:r>
            <a:r>
              <a:rPr lang="en-US" altLang="x-none" sz="1800" i="1" dirty="0">
                <a:ea typeface="ＭＳ Ｐゴシック" charset="-128"/>
              </a:rPr>
              <a:t>continental civil war </a:t>
            </a:r>
            <a:r>
              <a:rPr lang="en-US" altLang="x-none" sz="1800" dirty="0">
                <a:ea typeface="ＭＳ Ｐゴシック" charset="-128"/>
              </a:rPr>
              <a:t>that signaled the terminal crisis of the 19th-century bourgeois order.</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Failure of the Bourgeois Hegemonic Project</a:t>
            </a:r>
            <a:r>
              <a:rPr lang="en-US" altLang="x-none" sz="1800" dirty="0">
                <a:ea typeface="ＭＳ Ｐゴシック" charset="-128"/>
              </a:rPr>
              <a:t>:  Gramsci saw the European bourgeoisie (the ruling class) as having failed to create a genuine historic bloc that incorporated the masses.  Their form of capitalism was narrowly nationalistic and exploitative, and </a:t>
            </a:r>
            <a:r>
              <a:rPr lang="en-US" altLang="x-none" sz="1800" dirty="0">
                <a:highlight>
                  <a:srgbClr val="008000"/>
                </a:highlight>
                <a:ea typeface="ＭＳ Ｐゴシック" charset="-128"/>
              </a:rPr>
              <a:t>they ruled through dominance and </a:t>
            </a:r>
            <a:r>
              <a:rPr lang="en-US" altLang="x-none" sz="1800" i="1" dirty="0">
                <a:highlight>
                  <a:srgbClr val="008000"/>
                </a:highlight>
                <a:ea typeface="ＭＳ Ｐゴシック" charset="-128"/>
              </a:rPr>
              <a:t>weak consent</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“Passive Revolution:</a:t>
            </a:r>
            <a:r>
              <a:rPr lang="en-US" altLang="x-none" sz="1800" dirty="0">
                <a:solidFill>
                  <a:srgbClr val="FFFF00"/>
                </a:solidFill>
                <a:ea typeface="ＭＳ Ｐゴシック" charset="-128"/>
              </a:rPr>
              <a:t>” </a:t>
            </a:r>
            <a:r>
              <a:rPr lang="en-US" altLang="x-none" sz="1800" dirty="0">
                <a:highlight>
                  <a:srgbClr val="800000"/>
                </a:highlight>
                <a:ea typeface="ＭＳ Ｐゴシック" charset="-128"/>
              </a:rPr>
              <a:t>The 19th century modernizing and state-building European elites had said, "We must change things so that everything stays the same." </a:t>
            </a:r>
            <a:r>
              <a:rPr lang="en-US" altLang="x-none" sz="1800" dirty="0">
                <a:ea typeface="ＭＳ Ｐゴシック" charset="-128"/>
              </a:rPr>
              <a:t> They introduced modernizing reforms and initiated some social welfare schemes, but only to the extent necessary to prevent a genuine, popular uprising that would threaten their own power.  The masses did not participate.</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solidFill>
                  <a:srgbClr val="FFFF00"/>
                </a:solidFill>
                <a:ea typeface="ＭＳ Ｐゴシック" charset="-128"/>
              </a:rPr>
              <a:t>The War as Catastrophic “Solution:</a:t>
            </a:r>
            <a:r>
              <a:rPr lang="en-US" altLang="x-none" sz="1800" dirty="0">
                <a:solidFill>
                  <a:srgbClr val="FFFF00"/>
                </a:solidFill>
                <a:ea typeface="ＭＳ Ｐゴシック" charset="-128"/>
              </a:rPr>
              <a:t>”  </a:t>
            </a:r>
            <a:r>
              <a:rPr lang="en-US" altLang="x-none" sz="1800" dirty="0">
                <a:ea typeface="ＭＳ Ｐゴシック" charset="-128"/>
              </a:rPr>
              <a:t>Faced with rising socialist movements and intense class struggle at home (</a:t>
            </a:r>
            <a:r>
              <a:rPr lang="en-US" altLang="x-none" sz="1800" u="sng" dirty="0">
                <a:ea typeface="ＭＳ Ｐゴシック" charset="-128"/>
              </a:rPr>
              <a:t>a crisis of their domestic hegemony</a:t>
            </a:r>
            <a:r>
              <a:rPr lang="en-US" altLang="x-none" sz="1800" dirty="0">
                <a:ea typeface="ＭＳ Ｐゴシック" charset="-128"/>
              </a:rPr>
              <a:t>), the national bourgeoisies of Europe channeled these internal tensions outward into a catastrophic nationalist war.  </a:t>
            </a:r>
            <a:r>
              <a:rPr lang="en-US" altLang="x-none" sz="1800" dirty="0">
                <a:highlight>
                  <a:srgbClr val="008080"/>
                </a:highlight>
                <a:ea typeface="ＭＳ Ｐゴシック" charset="-128"/>
              </a:rPr>
              <a:t>The war was an attempt to forcibly re-forge national unity by mobilizing the masses against an external enemy</a:t>
            </a:r>
            <a:r>
              <a:rPr lang="en-US" altLang="x-none" sz="1800" dirty="0">
                <a:ea typeface="ＭＳ Ｐゴシック" charset="-128"/>
              </a:rPr>
              <a:t>.</a:t>
            </a:r>
          </a:p>
        </p:txBody>
      </p:sp>
      <p:sp>
        <p:nvSpPr>
          <p:cNvPr id="2" name="Title 1">
            <a:extLst>
              <a:ext uri="{FF2B5EF4-FFF2-40B4-BE49-F238E27FC236}">
                <a16:creationId xmlns:a16="http://schemas.microsoft.com/office/drawing/2014/main" id="{D0A3AB9A-E963-8C23-60E0-5AF75FFA7FAE}"/>
              </a:ext>
            </a:extLst>
          </p:cNvPr>
          <p:cNvSpPr>
            <a:spLocks noGrp="1"/>
          </p:cNvSpPr>
          <p:nvPr>
            <p:ph type="title"/>
          </p:nvPr>
        </p:nvSpPr>
        <p:spPr>
          <a:xfrm>
            <a:off x="304800" y="277814"/>
            <a:ext cx="8534400" cy="484186"/>
          </a:xfrm>
        </p:spPr>
        <p:txBody>
          <a:bodyPr/>
          <a:lstStyle/>
          <a:p>
            <a:pPr>
              <a:defRPr/>
            </a:pPr>
            <a:r>
              <a:rPr lang="en-US" sz="3200" dirty="0">
                <a:solidFill>
                  <a:srgbClr val="FFFF00"/>
                </a:solidFill>
              </a:rPr>
              <a:t>Gramsci’s Explanation for the Outbreak</a:t>
            </a:r>
            <a:br>
              <a:rPr lang="en-US" sz="3200" dirty="0">
                <a:solidFill>
                  <a:srgbClr val="FFFF00"/>
                </a:solidFill>
              </a:rPr>
            </a:br>
            <a:r>
              <a:rPr lang="en-US" sz="3200" dirty="0">
                <a:solidFill>
                  <a:srgbClr val="FFFF00"/>
                </a:solidFill>
              </a:rPr>
              <a:t>of World War I (1914-1918)</a:t>
            </a:r>
          </a:p>
        </p:txBody>
      </p:sp>
    </p:spTree>
    <p:extLst>
      <p:ext uri="{BB962C8B-B14F-4D97-AF65-F5344CB8AC3E}">
        <p14:creationId xmlns:p14="http://schemas.microsoft.com/office/powerpoint/2010/main" val="25736931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4C42F-A899-99EE-6D9B-C9EED0FC0C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D725B0-12DE-EC33-95CC-BDAFFFB13203}"/>
              </a:ext>
            </a:extLst>
          </p:cNvPr>
          <p:cNvSpPr>
            <a:spLocks noGrp="1"/>
          </p:cNvSpPr>
          <p:nvPr>
            <p:ph idx="1"/>
          </p:nvPr>
        </p:nvSpPr>
        <p:spPr>
          <a:xfrm>
            <a:off x="269488" y="1143000"/>
            <a:ext cx="8534400" cy="4759325"/>
          </a:xfrm>
        </p:spPr>
        <p:txBody>
          <a:bodyPr/>
          <a:lstStyle/>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1AF35292-FDF8-F210-972B-430AE73E3E2C}"/>
              </a:ext>
            </a:extLst>
          </p:cNvPr>
          <p:cNvSpPr>
            <a:spLocks noGrp="1"/>
          </p:cNvSpPr>
          <p:nvPr>
            <p:ph type="title"/>
          </p:nvPr>
        </p:nvSpPr>
        <p:spPr>
          <a:xfrm>
            <a:off x="304800" y="277814"/>
            <a:ext cx="8534400" cy="484186"/>
          </a:xfrm>
        </p:spPr>
        <p:txBody>
          <a:bodyPr/>
          <a:lstStyle/>
          <a:p>
            <a:pPr>
              <a:defRPr/>
            </a:pPr>
            <a:r>
              <a:rPr lang="en-US" sz="3200" dirty="0">
                <a:solidFill>
                  <a:srgbClr val="FFFF00"/>
                </a:solidFill>
              </a:rPr>
              <a:t>The Gramscian Theory of </a:t>
            </a:r>
            <a:r>
              <a:rPr lang="en-US" sz="3200" i="1" dirty="0">
                <a:solidFill>
                  <a:srgbClr val="FFFF00"/>
                </a:solidFill>
              </a:rPr>
              <a:t>Other</a:t>
            </a:r>
            <a:r>
              <a:rPr lang="en-US" sz="3200" dirty="0">
                <a:solidFill>
                  <a:srgbClr val="FFFF00"/>
                </a:solidFill>
              </a:rPr>
              <a:t> Small- and Medium Sized (Non-“Systemic”) Wars</a:t>
            </a:r>
          </a:p>
        </p:txBody>
      </p:sp>
    </p:spTree>
    <p:extLst>
      <p:ext uri="{BB962C8B-B14F-4D97-AF65-F5344CB8AC3E}">
        <p14:creationId xmlns:p14="http://schemas.microsoft.com/office/powerpoint/2010/main" val="352265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32D6D-817D-DB4D-0C26-6FE8C9D6F27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F678CE-1926-1B4B-1649-3C95F50F3580}"/>
              </a:ext>
            </a:extLst>
          </p:cNvPr>
          <p:cNvSpPr>
            <a:spLocks noGrp="1"/>
          </p:cNvSpPr>
          <p:nvPr>
            <p:ph idx="1"/>
          </p:nvPr>
        </p:nvSpPr>
        <p:spPr>
          <a:xfrm>
            <a:off x="269488" y="1143000"/>
            <a:ext cx="8534400" cy="4759325"/>
          </a:xfrm>
        </p:spPr>
        <p:txBody>
          <a:bodyPr/>
          <a:lstStyle/>
          <a:p>
            <a:pPr marL="0" indent="0">
              <a:spcBef>
                <a:spcPct val="0"/>
              </a:spcBef>
              <a:buFont typeface="Wingdings" charset="2"/>
              <a:buNone/>
              <a:defRPr/>
            </a:pPr>
            <a:r>
              <a:rPr lang="en-US" altLang="x-none" sz="1800" u="sng" dirty="0">
                <a:highlight>
                  <a:srgbClr val="008000"/>
                </a:highlight>
                <a:ea typeface="ＭＳ Ｐゴシック" charset="-128"/>
              </a:rPr>
              <a:t>Nationalism as a Hegemonic Tool</a:t>
            </a:r>
            <a:r>
              <a:rPr lang="en-US" altLang="x-none" sz="1800" dirty="0">
                <a:ea typeface="ＭＳ Ｐゴシック" charset="-128"/>
              </a:rPr>
              <a:t>:  Elites manufacture consent for their rule by using nationalism to create the historic bloc, framing their own class interests as the “national interest.”  This creates a powerful (false) “us vs. them” narrative.</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A9666642-669B-53A5-B5B8-E52DA9A82926}"/>
              </a:ext>
            </a:extLst>
          </p:cNvPr>
          <p:cNvSpPr>
            <a:spLocks noGrp="1"/>
          </p:cNvSpPr>
          <p:nvPr>
            <p:ph type="title"/>
          </p:nvPr>
        </p:nvSpPr>
        <p:spPr>
          <a:xfrm>
            <a:off x="304800" y="277814"/>
            <a:ext cx="8534400" cy="484186"/>
          </a:xfrm>
        </p:spPr>
        <p:txBody>
          <a:bodyPr/>
          <a:lstStyle/>
          <a:p>
            <a:pPr>
              <a:defRPr/>
            </a:pPr>
            <a:r>
              <a:rPr lang="en-US" sz="3200" dirty="0">
                <a:solidFill>
                  <a:srgbClr val="FFFF00"/>
                </a:solidFill>
              </a:rPr>
              <a:t>The Gramscian Theory of </a:t>
            </a:r>
            <a:r>
              <a:rPr lang="en-US" sz="3200" i="1" dirty="0">
                <a:solidFill>
                  <a:srgbClr val="FFFF00"/>
                </a:solidFill>
              </a:rPr>
              <a:t>Other</a:t>
            </a:r>
            <a:r>
              <a:rPr lang="en-US" sz="3200" dirty="0">
                <a:solidFill>
                  <a:srgbClr val="FFFF00"/>
                </a:solidFill>
              </a:rPr>
              <a:t> Small- and Medium Sized (Non-“Systemic”) Wars</a:t>
            </a:r>
          </a:p>
        </p:txBody>
      </p:sp>
    </p:spTree>
    <p:extLst>
      <p:ext uri="{BB962C8B-B14F-4D97-AF65-F5344CB8AC3E}">
        <p14:creationId xmlns:p14="http://schemas.microsoft.com/office/powerpoint/2010/main" val="41072332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DA0B2-6DF4-6A82-30A3-1CE440688FE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D6F6AA-CA01-E189-98E7-F486509845E7}"/>
              </a:ext>
            </a:extLst>
          </p:cNvPr>
          <p:cNvSpPr>
            <a:spLocks noGrp="1"/>
          </p:cNvSpPr>
          <p:nvPr>
            <p:ph idx="1"/>
          </p:nvPr>
        </p:nvSpPr>
        <p:spPr>
          <a:xfrm>
            <a:off x="269488" y="1143000"/>
            <a:ext cx="8534400" cy="4759325"/>
          </a:xfrm>
        </p:spPr>
        <p:txBody>
          <a:bodyPr/>
          <a:lstStyle/>
          <a:p>
            <a:pPr marL="0" indent="0">
              <a:spcBef>
                <a:spcPct val="0"/>
              </a:spcBef>
              <a:buFont typeface="Wingdings" charset="2"/>
              <a:buNone/>
              <a:defRPr/>
            </a:pPr>
            <a:r>
              <a:rPr lang="en-US" altLang="x-none" sz="1800" u="sng" dirty="0">
                <a:highlight>
                  <a:srgbClr val="008000"/>
                </a:highlight>
                <a:ea typeface="ＭＳ Ｐゴシック" charset="-128"/>
              </a:rPr>
              <a:t>Nationalism as a Hegemonic Tool</a:t>
            </a:r>
            <a:r>
              <a:rPr lang="en-US" altLang="x-none" sz="1800" dirty="0">
                <a:ea typeface="ＭＳ Ｐゴシック" charset="-128"/>
              </a:rPr>
              <a:t>:  Elites manufacture consent for their rule by using nationalism to create the historic bloc, framing their own class interests as the “national interest.”  This creates a powerful (false) “us vs. them” narrative.</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highlight>
                  <a:srgbClr val="800080"/>
                </a:highlight>
                <a:ea typeface="ＭＳ Ｐゴシック" charset="-128"/>
              </a:rPr>
              <a:t>Diversionary Wars (A Crisis of Hegemony)</a:t>
            </a:r>
            <a:r>
              <a:rPr lang="en-US" altLang="x-none" sz="1800" dirty="0">
                <a:ea typeface="ＭＳ Ｐゴシック" charset="-128"/>
              </a:rPr>
              <a:t>:  When an elite's domestic hegemonic project fails (e.g., due to economic crisis or political corruption), consent breaks down.  To prevent a challenge from below, elites may initiate a </a:t>
            </a:r>
            <a:r>
              <a:rPr lang="en-US" altLang="x-none" sz="1800" i="1" dirty="0">
                <a:ea typeface="ＭＳ Ｐゴシック" charset="-128"/>
              </a:rPr>
              <a:t>diversionary</a:t>
            </a:r>
            <a:r>
              <a:rPr lang="en-US" altLang="x-none" sz="1800" dirty="0">
                <a:ea typeface="ＭＳ Ｐゴシック" charset="-128"/>
              </a:rPr>
              <a:t> war against a neighbor to stoke nationalist fervor and rally the population to their side.</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159DD8CB-4963-E958-516A-B55DE6BE1B6B}"/>
              </a:ext>
            </a:extLst>
          </p:cNvPr>
          <p:cNvSpPr>
            <a:spLocks noGrp="1"/>
          </p:cNvSpPr>
          <p:nvPr>
            <p:ph type="title"/>
          </p:nvPr>
        </p:nvSpPr>
        <p:spPr>
          <a:xfrm>
            <a:off x="304800" y="277814"/>
            <a:ext cx="8534400" cy="484186"/>
          </a:xfrm>
        </p:spPr>
        <p:txBody>
          <a:bodyPr/>
          <a:lstStyle/>
          <a:p>
            <a:pPr>
              <a:defRPr/>
            </a:pPr>
            <a:r>
              <a:rPr lang="en-US" sz="3200" dirty="0">
                <a:solidFill>
                  <a:srgbClr val="FFFF00"/>
                </a:solidFill>
              </a:rPr>
              <a:t>The Gramscian Theory of </a:t>
            </a:r>
            <a:r>
              <a:rPr lang="en-US" sz="3200" i="1" dirty="0">
                <a:solidFill>
                  <a:srgbClr val="FFFF00"/>
                </a:solidFill>
              </a:rPr>
              <a:t>Other</a:t>
            </a:r>
            <a:r>
              <a:rPr lang="en-US" sz="3200" dirty="0">
                <a:solidFill>
                  <a:srgbClr val="FFFF00"/>
                </a:solidFill>
              </a:rPr>
              <a:t> Small- and Medium Sized (Non-“Systemic”) Wars</a:t>
            </a:r>
          </a:p>
        </p:txBody>
      </p:sp>
    </p:spTree>
    <p:extLst>
      <p:ext uri="{BB962C8B-B14F-4D97-AF65-F5344CB8AC3E}">
        <p14:creationId xmlns:p14="http://schemas.microsoft.com/office/powerpoint/2010/main" val="21254921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65087-C213-67EF-2E8E-95A9E0932B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ABC602-3C53-4FA9-D61A-62BAE735E99D}"/>
              </a:ext>
            </a:extLst>
          </p:cNvPr>
          <p:cNvSpPr>
            <a:spLocks noGrp="1"/>
          </p:cNvSpPr>
          <p:nvPr>
            <p:ph idx="1"/>
          </p:nvPr>
        </p:nvSpPr>
        <p:spPr>
          <a:xfrm>
            <a:off x="269488" y="1143000"/>
            <a:ext cx="8534400" cy="4759325"/>
          </a:xfrm>
        </p:spPr>
        <p:txBody>
          <a:bodyPr/>
          <a:lstStyle/>
          <a:p>
            <a:pPr marL="0" indent="0">
              <a:spcBef>
                <a:spcPct val="0"/>
              </a:spcBef>
              <a:buFont typeface="Wingdings" charset="2"/>
              <a:buNone/>
              <a:defRPr/>
            </a:pPr>
            <a:r>
              <a:rPr lang="en-US" altLang="x-none" sz="1800" u="sng" dirty="0">
                <a:highlight>
                  <a:srgbClr val="008000"/>
                </a:highlight>
                <a:ea typeface="ＭＳ Ｐゴシック" charset="-128"/>
              </a:rPr>
              <a:t>Nationalism as a Hegemonic Tool</a:t>
            </a:r>
            <a:r>
              <a:rPr lang="en-US" altLang="x-none" sz="1800" dirty="0">
                <a:ea typeface="ＭＳ Ｐゴシック" charset="-128"/>
              </a:rPr>
              <a:t>:  Elites manufacture consent for their rule by using nationalism to create the historic bloc, framing their own class interests as the “national interest.”  This creates a powerful (false) “us vs. them” narrative.</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highlight>
                  <a:srgbClr val="800080"/>
                </a:highlight>
                <a:ea typeface="ＭＳ Ｐゴシック" charset="-128"/>
              </a:rPr>
              <a:t>Diversionary Wars (A Crisis of Hegemony)</a:t>
            </a:r>
            <a:r>
              <a:rPr lang="en-US" altLang="x-none" sz="1800" dirty="0">
                <a:ea typeface="ＭＳ Ｐゴシック" charset="-128"/>
              </a:rPr>
              <a:t>:  When an elite's domestic hegemonic project fails (e.g., due to economic crisis or political corruption), consent breaks down.  To prevent a challenge from below, elites may initiate a </a:t>
            </a:r>
            <a:r>
              <a:rPr lang="en-US" altLang="x-none" sz="1800" i="1" dirty="0">
                <a:ea typeface="ＭＳ Ｐゴシック" charset="-128"/>
              </a:rPr>
              <a:t>diversionary</a:t>
            </a:r>
            <a:r>
              <a:rPr lang="en-US" altLang="x-none" sz="1800" dirty="0">
                <a:ea typeface="ＭＳ Ｐゴシック" charset="-128"/>
              </a:rPr>
              <a:t> war against a neighbor to stoke nationalist fervor and rally the population to their side.</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highlight>
                  <a:srgbClr val="800000"/>
                </a:highlight>
                <a:ea typeface="ＭＳ Ｐゴシック" charset="-128"/>
              </a:rPr>
              <a:t>Internal Wars (Crushing Counter-Hegemony)</a:t>
            </a:r>
            <a:r>
              <a:rPr lang="en-US" altLang="x-none" sz="1800" dirty="0">
                <a:ea typeface="ＭＳ Ｐゴシック" charset="-128"/>
              </a:rPr>
              <a:t>:  Civil wars, insurgencies, or the violent suppression of ethnic minorities can be understood as the state using its coercive power to crush a counter-hegemonic movement.  The state frames this internal repression as a necessary fight to preserve national unity against “terrorists” or “subversives,” thus reinforcing its own legitimacy.</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2EAFD63C-0E7F-46CB-A5EE-FF054BBEA4D0}"/>
              </a:ext>
            </a:extLst>
          </p:cNvPr>
          <p:cNvSpPr>
            <a:spLocks noGrp="1"/>
          </p:cNvSpPr>
          <p:nvPr>
            <p:ph type="title"/>
          </p:nvPr>
        </p:nvSpPr>
        <p:spPr>
          <a:xfrm>
            <a:off x="304800" y="277814"/>
            <a:ext cx="8534400" cy="484186"/>
          </a:xfrm>
        </p:spPr>
        <p:txBody>
          <a:bodyPr/>
          <a:lstStyle/>
          <a:p>
            <a:pPr>
              <a:defRPr/>
            </a:pPr>
            <a:r>
              <a:rPr lang="en-US" sz="3200" dirty="0">
                <a:solidFill>
                  <a:srgbClr val="FFFF00"/>
                </a:solidFill>
              </a:rPr>
              <a:t>The Gramscian Theory of </a:t>
            </a:r>
            <a:r>
              <a:rPr lang="en-US" sz="3200" i="1" dirty="0">
                <a:solidFill>
                  <a:srgbClr val="FFFF00"/>
                </a:solidFill>
              </a:rPr>
              <a:t>Other</a:t>
            </a:r>
            <a:r>
              <a:rPr lang="en-US" sz="3200" dirty="0">
                <a:solidFill>
                  <a:srgbClr val="FFFF00"/>
                </a:solidFill>
              </a:rPr>
              <a:t> Small- and Medium Sized (Non-“Systemic”) Wars</a:t>
            </a:r>
          </a:p>
        </p:txBody>
      </p:sp>
    </p:spTree>
    <p:extLst>
      <p:ext uri="{BB962C8B-B14F-4D97-AF65-F5344CB8AC3E}">
        <p14:creationId xmlns:p14="http://schemas.microsoft.com/office/powerpoint/2010/main" val="15892783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DD31C-78EA-54BE-C1C2-38ABFA3926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736145-9ED0-4B72-27F0-0DCCD39BDD22}"/>
              </a:ext>
            </a:extLst>
          </p:cNvPr>
          <p:cNvSpPr>
            <a:spLocks noGrp="1"/>
          </p:cNvSpPr>
          <p:nvPr>
            <p:ph idx="1"/>
          </p:nvPr>
        </p:nvSpPr>
        <p:spPr>
          <a:xfrm>
            <a:off x="269488" y="1143000"/>
            <a:ext cx="8534400" cy="4759325"/>
          </a:xfrm>
        </p:spPr>
        <p:txBody>
          <a:bodyPr/>
          <a:lstStyle/>
          <a:p>
            <a:pPr marL="0" indent="0">
              <a:spcBef>
                <a:spcPct val="0"/>
              </a:spcBef>
              <a:buFont typeface="Wingdings" charset="2"/>
              <a:buNone/>
              <a:defRPr/>
            </a:pPr>
            <a:r>
              <a:rPr lang="en-US" altLang="x-none" sz="1800" u="sng" dirty="0">
                <a:highlight>
                  <a:srgbClr val="008000"/>
                </a:highlight>
                <a:ea typeface="ＭＳ Ｐゴシック" charset="-128"/>
              </a:rPr>
              <a:t>Nationalism as a Hegemonic Tool</a:t>
            </a:r>
            <a:r>
              <a:rPr lang="en-US" altLang="x-none" sz="1800" dirty="0">
                <a:ea typeface="ＭＳ Ｐゴシック" charset="-128"/>
              </a:rPr>
              <a:t>:  Elites manufacture consent for their rule by using nationalism to create the historic bloc, framing their own class interests as the “national interest.”  This creates a powerful (false) “us vs. them” narrative.</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highlight>
                  <a:srgbClr val="800080"/>
                </a:highlight>
                <a:ea typeface="ＭＳ Ｐゴシック" charset="-128"/>
              </a:rPr>
              <a:t>Diversionary Wars (A Crisis of Hegemony)</a:t>
            </a:r>
            <a:r>
              <a:rPr lang="en-US" altLang="x-none" sz="1800" dirty="0">
                <a:ea typeface="ＭＳ Ｐゴシック" charset="-128"/>
              </a:rPr>
              <a:t>:  When an elite's domestic hegemonic project fails (e.g., due to economic crisis or political corruption), consent breaks down.  To prevent a challenge from below, elites may initiate a </a:t>
            </a:r>
            <a:r>
              <a:rPr lang="en-US" altLang="x-none" sz="1800" i="1" dirty="0">
                <a:ea typeface="ＭＳ Ｐゴシック" charset="-128"/>
              </a:rPr>
              <a:t>diversionary</a:t>
            </a:r>
            <a:r>
              <a:rPr lang="en-US" altLang="x-none" sz="1800" dirty="0">
                <a:ea typeface="ＭＳ Ｐゴシック" charset="-128"/>
              </a:rPr>
              <a:t> war against a neighbor to stoke nationalist fervor and rally the population to their side.</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highlight>
                  <a:srgbClr val="800000"/>
                </a:highlight>
                <a:ea typeface="ＭＳ Ｐゴシック" charset="-128"/>
              </a:rPr>
              <a:t>Internal Wars (Crushing Counter-Hegemony)</a:t>
            </a:r>
            <a:r>
              <a:rPr lang="en-US" altLang="x-none" sz="1800" dirty="0">
                <a:ea typeface="ＭＳ Ｐゴシック" charset="-128"/>
              </a:rPr>
              <a:t>:  Civil wars, insurgencies, or the violent suppression of ethnic minorities can be understood as the state using its coercive power to crush a counter-hegemonic movement.  The state frames this internal repression as a necessary fight to preserve national unity against “terrorists” or “subversives,” thus reinforcing its own legitimacy.</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highlight>
                  <a:srgbClr val="000080"/>
                </a:highlight>
                <a:ea typeface="ＭＳ Ｐゴシック" charset="-128"/>
              </a:rPr>
              <a:t>Proxy Wars (Serving World Hegemony)</a:t>
            </a:r>
            <a:r>
              <a:rPr lang="en-US" altLang="x-none" sz="1800" dirty="0">
                <a:ea typeface="ＭＳ Ｐゴシック" charset="-128"/>
              </a:rPr>
              <a:t>:  A smaller war may also be a proxy conflict.  In this scenario, a Core power supports a peripheral state's conflict against a neighboring regime that is resisting the global hegemonic order.  The war serves the Core's interest in disciplining rogue actors and maintaining the stability of the overall capitalist world-system.</a:t>
            </a: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337F2EE9-EB58-134B-5005-D0B5521376EF}"/>
              </a:ext>
            </a:extLst>
          </p:cNvPr>
          <p:cNvSpPr>
            <a:spLocks noGrp="1"/>
          </p:cNvSpPr>
          <p:nvPr>
            <p:ph type="title"/>
          </p:nvPr>
        </p:nvSpPr>
        <p:spPr>
          <a:xfrm>
            <a:off x="304800" y="277814"/>
            <a:ext cx="8534400" cy="484186"/>
          </a:xfrm>
        </p:spPr>
        <p:txBody>
          <a:bodyPr/>
          <a:lstStyle/>
          <a:p>
            <a:pPr>
              <a:defRPr/>
            </a:pPr>
            <a:r>
              <a:rPr lang="en-US" sz="3200" dirty="0">
                <a:solidFill>
                  <a:srgbClr val="FFFF00"/>
                </a:solidFill>
              </a:rPr>
              <a:t>The Gramscian Theory of </a:t>
            </a:r>
            <a:r>
              <a:rPr lang="en-US" sz="3200" i="1" dirty="0">
                <a:solidFill>
                  <a:srgbClr val="FFFF00"/>
                </a:solidFill>
              </a:rPr>
              <a:t>Other</a:t>
            </a:r>
            <a:r>
              <a:rPr lang="en-US" sz="3200" dirty="0">
                <a:solidFill>
                  <a:srgbClr val="FFFF00"/>
                </a:solidFill>
              </a:rPr>
              <a:t> Small- and Medium Sized (Non-“Systemic”) Wars</a:t>
            </a:r>
          </a:p>
        </p:txBody>
      </p:sp>
    </p:spTree>
    <p:extLst>
      <p:ext uri="{BB962C8B-B14F-4D97-AF65-F5344CB8AC3E}">
        <p14:creationId xmlns:p14="http://schemas.microsoft.com/office/powerpoint/2010/main" val="6679692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C3A70-AFE6-208A-7C93-9142527DB5F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4E43D4-948B-9149-9491-50E6AE114CDB}"/>
              </a:ext>
            </a:extLst>
          </p:cNvPr>
          <p:cNvSpPr>
            <a:spLocks noGrp="1"/>
          </p:cNvSpPr>
          <p:nvPr>
            <p:ph idx="1"/>
          </p:nvPr>
        </p:nvSpPr>
        <p:spPr>
          <a:xfrm>
            <a:off x="304800" y="1447800"/>
            <a:ext cx="8534400" cy="4759325"/>
          </a:xfrm>
        </p:spPr>
        <p:txBody>
          <a:bodyPr/>
          <a:lstStyle/>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dirty="0">
                <a:ea typeface="ＭＳ Ｐゴシック" charset="-128"/>
              </a:rPr>
              <a:t>1.	</a:t>
            </a:r>
            <a:r>
              <a:rPr lang="en-US" altLang="x-none" sz="1800" u="sng" dirty="0">
                <a:ea typeface="ＭＳ Ｐゴシック" charset="-128"/>
              </a:rPr>
              <a:t>The Italian and Indian Ocean Wars </a:t>
            </a:r>
            <a:r>
              <a:rPr lang="en-US" altLang="x-none" sz="1800" dirty="0">
                <a:ea typeface="ＭＳ Ｐゴシック" charset="-128"/>
              </a:rPr>
              <a:t>(1494-1517):  This series of conflicts marked the shift from an older system of competing Italian city-states (like Venice) to the first oceanic, global power -- </a:t>
            </a:r>
            <a:r>
              <a:rPr lang="en-US" altLang="x-none" sz="1800" dirty="0">
                <a:highlight>
                  <a:srgbClr val="800000"/>
                </a:highlight>
                <a:ea typeface="ＭＳ Ｐゴシック" charset="-128"/>
              </a:rPr>
              <a:t>Portugal</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dirty="0">
                <a:ea typeface="ＭＳ Ｐゴシック" charset="-128"/>
              </a:rPr>
              <a:t>2.	</a:t>
            </a:r>
            <a:r>
              <a:rPr lang="en-US" altLang="x-none" sz="1800" u="sng" dirty="0">
                <a:ea typeface="ＭＳ Ｐゴシック" charset="-128"/>
              </a:rPr>
              <a:t>The Dutch Wars of Independence </a:t>
            </a:r>
            <a:r>
              <a:rPr lang="en-US" altLang="x-none" sz="1800" dirty="0">
                <a:ea typeface="ＭＳ Ｐゴシック" charset="-128"/>
              </a:rPr>
              <a:t>(c. 1580-1609):  This long struggle represented the decline of the land-based Spanish and Portuguese empires and the rise of a new kind of commercial sea power, establishing the </a:t>
            </a:r>
            <a:r>
              <a:rPr lang="en-US" altLang="x-none" sz="1800" dirty="0">
                <a:highlight>
                  <a:srgbClr val="800000"/>
                </a:highlight>
                <a:ea typeface="ＭＳ Ｐゴシック" charset="-128"/>
              </a:rPr>
              <a:t>Netherlands</a:t>
            </a:r>
            <a:r>
              <a:rPr lang="en-US" altLang="x-none" sz="1800" dirty="0">
                <a:ea typeface="ＭＳ Ｐゴシック" charset="-128"/>
              </a:rPr>
              <a:t> as the next hegemon.</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dirty="0">
                <a:ea typeface="ＭＳ Ｐゴシック" charset="-128"/>
              </a:rPr>
              <a:t>3.	</a:t>
            </a:r>
            <a:r>
              <a:rPr lang="en-US" altLang="x-none" sz="1800" u="sng" dirty="0">
                <a:ea typeface="ＭＳ Ｐゴシック" charset="-128"/>
              </a:rPr>
              <a:t>The Wars of Louis XIV </a:t>
            </a:r>
            <a:r>
              <a:rPr lang="en-US" altLang="x-none" sz="1800" dirty="0">
                <a:ea typeface="ＭＳ Ｐゴシック" charset="-128"/>
              </a:rPr>
              <a:t>(c. 1688-1713):  This series of conflicts was a struggle against the territorial ambitions of </a:t>
            </a:r>
            <a:r>
              <a:rPr lang="en-US" altLang="x-none" sz="1800" dirty="0">
                <a:highlight>
                  <a:srgbClr val="008080"/>
                </a:highlight>
                <a:ea typeface="ＭＳ Ｐゴシック" charset="-128"/>
              </a:rPr>
              <a:t>France</a:t>
            </a:r>
            <a:r>
              <a:rPr lang="en-US" altLang="x-none" sz="1800" dirty="0">
                <a:ea typeface="ＭＳ Ｐゴシック" charset="-128"/>
              </a:rPr>
              <a:t>, the primary continental challenger.  Led to the decline of the Netherlands and the rise of </a:t>
            </a:r>
            <a:r>
              <a:rPr lang="en-US" altLang="x-none" sz="1800" dirty="0">
                <a:highlight>
                  <a:srgbClr val="800000"/>
                </a:highlight>
                <a:ea typeface="ＭＳ Ｐゴシック" charset="-128"/>
              </a:rPr>
              <a:t>Great Britain </a:t>
            </a:r>
            <a:r>
              <a:rPr lang="en-US" altLang="x-none" sz="1800" dirty="0">
                <a:ea typeface="ＭＳ Ｐゴシック" charset="-128"/>
              </a:rPr>
              <a:t>as the new world leader, based on its growing command of the seas and superior ability to finance its wars.</a:t>
            </a: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DBA2CAB5-01E4-1D44-0A6D-9A8B2E95B1F1}"/>
              </a:ext>
            </a:extLst>
          </p:cNvPr>
          <p:cNvSpPr>
            <a:spLocks noGrp="1"/>
          </p:cNvSpPr>
          <p:nvPr>
            <p:ph type="title"/>
          </p:nvPr>
        </p:nvSpPr>
        <p:spPr/>
        <p:txBody>
          <a:bodyPr/>
          <a:lstStyle/>
          <a:p>
            <a:pPr>
              <a:defRPr/>
            </a:pPr>
            <a:r>
              <a:rPr lang="en-US" sz="3200" dirty="0">
                <a:solidFill>
                  <a:srgbClr val="FFFF00"/>
                </a:solidFill>
              </a:rPr>
              <a:t>How Economic Structuralists</a:t>
            </a:r>
            <a:br>
              <a:rPr lang="en-US" sz="3200" dirty="0">
                <a:solidFill>
                  <a:srgbClr val="FFFF00"/>
                </a:solidFill>
              </a:rPr>
            </a:br>
            <a:r>
              <a:rPr lang="en-US" sz="3200" dirty="0">
                <a:solidFill>
                  <a:srgbClr val="FFFF00"/>
                </a:solidFill>
              </a:rPr>
              <a:t>Account for SYSTEMIC Wars, like these:</a:t>
            </a:r>
          </a:p>
        </p:txBody>
      </p:sp>
    </p:spTree>
    <p:extLst>
      <p:ext uri="{BB962C8B-B14F-4D97-AF65-F5344CB8AC3E}">
        <p14:creationId xmlns:p14="http://schemas.microsoft.com/office/powerpoint/2010/main" val="2883602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C6340-64C4-8E13-FBDF-018781847DF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AF82F1-F6B6-6F72-1D87-926FBF2BF388}"/>
              </a:ext>
            </a:extLst>
          </p:cNvPr>
          <p:cNvSpPr>
            <a:spLocks noGrp="1"/>
          </p:cNvSpPr>
          <p:nvPr>
            <p:ph idx="1"/>
          </p:nvPr>
        </p:nvSpPr>
        <p:spPr>
          <a:xfrm>
            <a:off x="304800" y="1447800"/>
            <a:ext cx="8534400" cy="4759325"/>
          </a:xfrm>
        </p:spPr>
        <p:txBody>
          <a:bodyPr/>
          <a:lstStyle/>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dirty="0">
                <a:ea typeface="ＭＳ Ｐゴシック" charset="-128"/>
              </a:rPr>
              <a:t>4.	The French Revolutionary &amp; Napoleonic Wars (1792-1815):  This was a massive, continent-spanning conflict to contain the revolutionary and imperial ambitions of Napoleonic </a:t>
            </a:r>
            <a:r>
              <a:rPr lang="en-US" altLang="x-none" sz="1800" dirty="0">
                <a:highlight>
                  <a:srgbClr val="008080"/>
                </a:highlight>
                <a:ea typeface="ＭＳ Ｐゴシック" charset="-128"/>
              </a:rPr>
              <a:t>France</a:t>
            </a:r>
            <a:r>
              <a:rPr lang="en-US" altLang="x-none" sz="1800" dirty="0">
                <a:ea typeface="ＭＳ Ｐゴシック" charset="-128"/>
              </a:rPr>
              <a:t>.  Re-established and solidified </a:t>
            </a:r>
            <a:r>
              <a:rPr lang="en-US" altLang="x-none" sz="1800" dirty="0">
                <a:highlight>
                  <a:srgbClr val="800000"/>
                </a:highlight>
                <a:ea typeface="ＭＳ Ｐゴシック" charset="-128"/>
              </a:rPr>
              <a:t>Great Britain</a:t>
            </a:r>
            <a:r>
              <a:rPr lang="en-US" altLang="x-none" sz="1800" dirty="0">
                <a:ea typeface="ＭＳ Ｐゴシック" charset="-128"/>
              </a:rPr>
              <a:t>'s global leadership, based on Britain's unrivaled industrial supremacy and naval power.</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dirty="0">
                <a:ea typeface="ＭＳ Ｐゴシック" charset="-128"/>
              </a:rPr>
              <a:t>5.	The World Wars I &amp; II (1914-1945):  A hugely complex pair of wars that resulted in the exhaustion and collapse of the British-led European order and established the </a:t>
            </a:r>
            <a:r>
              <a:rPr lang="en-US" altLang="x-none" sz="1800" dirty="0">
                <a:highlight>
                  <a:srgbClr val="800000"/>
                </a:highlight>
                <a:ea typeface="ＭＳ Ｐゴシック" charset="-128"/>
              </a:rPr>
              <a:t>United States </a:t>
            </a:r>
            <a:r>
              <a:rPr lang="en-US" altLang="x-none" sz="1800" dirty="0">
                <a:ea typeface="ＭＳ Ｐゴシック" charset="-128"/>
              </a:rPr>
              <a:t>as the new global hegemon, since it also (with China and others) vanquished Japan in East Asia.</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dirty="0">
                <a:highlight>
                  <a:srgbClr val="000080"/>
                </a:highlight>
                <a:ea typeface="ＭＳ Ｐゴシック" charset="-128"/>
              </a:rPr>
              <a:t>NOTE</a:t>
            </a:r>
            <a:r>
              <a:rPr lang="en-US" altLang="x-none" sz="1800" dirty="0">
                <a:ea typeface="ＭＳ Ｐゴシック" charset="-128"/>
              </a:rPr>
              <a:t> that the Qing conquest of Ming China and adjacent polities in the mid-1600s, while a massive and world-historical event, was not a global or systemic war </a:t>
            </a:r>
            <a:r>
              <a:rPr lang="en-US" altLang="x-none" sz="1800" dirty="0">
                <a:highlight>
                  <a:srgbClr val="000080"/>
                </a:highlight>
                <a:ea typeface="ＭＳ Ｐゴシック" charset="-128"/>
              </a:rPr>
              <a:t>within the context of the capitalist world-economy </a:t>
            </a:r>
            <a:r>
              <a:rPr lang="en-US" altLang="x-none" sz="1800" dirty="0">
                <a:ea typeface="ＭＳ Ｐゴシック" charset="-128"/>
              </a:rPr>
              <a:t>because, at the time it occurred, China was still largely an external arena to that system.</a:t>
            </a:r>
          </a:p>
        </p:txBody>
      </p:sp>
      <p:sp>
        <p:nvSpPr>
          <p:cNvPr id="2" name="Title 1">
            <a:extLst>
              <a:ext uri="{FF2B5EF4-FFF2-40B4-BE49-F238E27FC236}">
                <a16:creationId xmlns:a16="http://schemas.microsoft.com/office/drawing/2014/main" id="{78662107-5CCA-19D3-0826-AD02221FBAEA}"/>
              </a:ext>
            </a:extLst>
          </p:cNvPr>
          <p:cNvSpPr>
            <a:spLocks noGrp="1"/>
          </p:cNvSpPr>
          <p:nvPr>
            <p:ph type="title"/>
          </p:nvPr>
        </p:nvSpPr>
        <p:spPr/>
        <p:txBody>
          <a:bodyPr/>
          <a:lstStyle/>
          <a:p>
            <a:pPr>
              <a:defRPr/>
            </a:pPr>
            <a:r>
              <a:rPr lang="en-US" sz="3200" dirty="0">
                <a:solidFill>
                  <a:srgbClr val="FFFF00"/>
                </a:solidFill>
              </a:rPr>
              <a:t>How Economic Structuralists</a:t>
            </a:r>
            <a:br>
              <a:rPr lang="en-US" sz="3200" dirty="0">
                <a:solidFill>
                  <a:srgbClr val="FFFF00"/>
                </a:solidFill>
              </a:rPr>
            </a:br>
            <a:r>
              <a:rPr lang="en-US" sz="3200" dirty="0">
                <a:solidFill>
                  <a:srgbClr val="FFFF00"/>
                </a:solidFill>
              </a:rPr>
              <a:t>Account for SYSTEMIC Wars, like these:</a:t>
            </a:r>
          </a:p>
        </p:txBody>
      </p:sp>
    </p:spTree>
    <p:extLst>
      <p:ext uri="{BB962C8B-B14F-4D97-AF65-F5344CB8AC3E}">
        <p14:creationId xmlns:p14="http://schemas.microsoft.com/office/powerpoint/2010/main" val="4623268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7DA7D-0A2C-2221-90A5-B0F9DC2FF08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D5DBCF-6692-6B2E-AB3F-1060F5A29CC5}"/>
              </a:ext>
            </a:extLst>
          </p:cNvPr>
          <p:cNvSpPr>
            <a:spLocks noGrp="1"/>
          </p:cNvSpPr>
          <p:nvPr>
            <p:ph idx="1"/>
          </p:nvPr>
        </p:nvSpPr>
        <p:spPr>
          <a:xfrm>
            <a:off x="304800" y="1447800"/>
            <a:ext cx="8534400" cy="4759325"/>
          </a:xfrm>
        </p:spPr>
        <p:txBody>
          <a:bodyPr/>
          <a:lstStyle/>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ea typeface="ＭＳ Ｐゴシック" charset="-128"/>
              </a:rPr>
              <a:t>Primarily by using the concept of “</a:t>
            </a:r>
            <a:r>
              <a:rPr lang="en-US" altLang="x-none" sz="1800" u="sng" dirty="0">
                <a:highlight>
                  <a:srgbClr val="000080"/>
                </a:highlight>
                <a:ea typeface="ＭＳ Ｐゴシック" charset="-128"/>
              </a:rPr>
              <a:t>hegemonic cycles</a:t>
            </a:r>
            <a:r>
              <a:rPr lang="en-US" altLang="x-none" sz="1800" u="sng" dirty="0">
                <a:ea typeface="ＭＳ Ｐゴシック" charset="-128"/>
              </a:rPr>
              <a:t>:</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8DB72034-5A86-942E-AF58-4CC45E21F5A2}"/>
              </a:ext>
            </a:extLst>
          </p:cNvPr>
          <p:cNvSpPr>
            <a:spLocks noGrp="1"/>
          </p:cNvSpPr>
          <p:nvPr>
            <p:ph type="title"/>
          </p:nvPr>
        </p:nvSpPr>
        <p:spPr/>
        <p:txBody>
          <a:bodyPr/>
          <a:lstStyle/>
          <a:p>
            <a:pPr>
              <a:defRPr/>
            </a:pPr>
            <a:r>
              <a:rPr lang="en-US" sz="3200" dirty="0">
                <a:solidFill>
                  <a:srgbClr val="FFFF00"/>
                </a:solidFill>
              </a:rPr>
              <a:t>How Economic Structuralists</a:t>
            </a:r>
            <a:br>
              <a:rPr lang="en-US" sz="3200" dirty="0">
                <a:solidFill>
                  <a:srgbClr val="FFFF00"/>
                </a:solidFill>
              </a:rPr>
            </a:br>
            <a:r>
              <a:rPr lang="en-US" sz="3200" dirty="0">
                <a:solidFill>
                  <a:srgbClr val="FFFF00"/>
                </a:solidFill>
              </a:rPr>
              <a:t>Account for SYSTEMIC Wars</a:t>
            </a:r>
          </a:p>
        </p:txBody>
      </p:sp>
    </p:spTree>
    <p:extLst>
      <p:ext uri="{BB962C8B-B14F-4D97-AF65-F5344CB8AC3E}">
        <p14:creationId xmlns:p14="http://schemas.microsoft.com/office/powerpoint/2010/main" val="36659492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8874B-C30A-5E45-6337-12C3A2A15E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10944F-6CD2-D63A-E273-8CE653099095}"/>
              </a:ext>
            </a:extLst>
          </p:cNvPr>
          <p:cNvSpPr>
            <a:spLocks noGrp="1"/>
          </p:cNvSpPr>
          <p:nvPr>
            <p:ph idx="1"/>
          </p:nvPr>
        </p:nvSpPr>
        <p:spPr>
          <a:xfrm>
            <a:off x="304800" y="1447800"/>
            <a:ext cx="8534400" cy="4759325"/>
          </a:xfrm>
        </p:spPr>
        <p:txBody>
          <a:bodyPr/>
          <a:lstStyle/>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ea typeface="ＭＳ Ｐゴシック" charset="-128"/>
              </a:rPr>
              <a:t>Primarily by using the concept of “</a:t>
            </a:r>
            <a:r>
              <a:rPr lang="en-US" altLang="x-none" sz="1800" u="sng" dirty="0">
                <a:highlight>
                  <a:srgbClr val="000080"/>
                </a:highlight>
                <a:ea typeface="ＭＳ Ｐゴシック" charset="-128"/>
              </a:rPr>
              <a:t>hegemonic cycles</a:t>
            </a:r>
            <a:r>
              <a:rPr lang="en-US" altLang="x-none" sz="1800" u="sng" dirty="0">
                <a:ea typeface="ＭＳ Ｐゴシック" charset="-128"/>
              </a:rPr>
              <a:t>:</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ea typeface="ＭＳ Ｐゴシック" charset="-128"/>
              </a:rPr>
              <a:t>Periods of Cooperation (Hegemonic Stability</a:t>
            </a:r>
            <a:r>
              <a:rPr lang="en-US" altLang="x-none" sz="1800" dirty="0">
                <a:ea typeface="ＭＳ Ｐゴシック" charset="-128"/>
              </a:rPr>
              <a:t>):  A period of </a:t>
            </a:r>
            <a:r>
              <a:rPr lang="en-US" altLang="x-none" sz="1800" i="1" dirty="0">
                <a:ea typeface="ＭＳ Ｐゴシック" charset="-128"/>
              </a:rPr>
              <a:t>relative</a:t>
            </a:r>
            <a:r>
              <a:rPr lang="en-US" altLang="x-none" sz="1800" dirty="0">
                <a:ea typeface="ＭＳ Ｐゴシック" charset="-128"/>
              </a:rPr>
              <a:t> peace and cooperation, like the one from roughly </a:t>
            </a:r>
            <a:r>
              <a:rPr lang="en-US" altLang="x-none" sz="1800" dirty="0">
                <a:highlight>
                  <a:srgbClr val="008000"/>
                </a:highlight>
                <a:ea typeface="ＭＳ Ｐゴシック" charset="-128"/>
              </a:rPr>
              <a:t>1945 to 2000</a:t>
            </a:r>
            <a:r>
              <a:rPr lang="en-US" altLang="x-none" sz="1800" dirty="0">
                <a:ea typeface="ＭＳ Ｐゴシック" charset="-128"/>
              </a:rPr>
              <a:t>, corresponds to the </a:t>
            </a:r>
            <a:r>
              <a:rPr lang="en-US" altLang="x-none" sz="1800" i="1" dirty="0">
                <a:ea typeface="ＭＳ Ｐゴシック" charset="-128"/>
              </a:rPr>
              <a:t>peak of a </a:t>
            </a:r>
            <a:r>
              <a:rPr lang="en-US" altLang="x-none" sz="1800" i="1" dirty="0">
                <a:highlight>
                  <a:srgbClr val="000080"/>
                </a:highlight>
                <a:ea typeface="ＭＳ Ｐゴシック" charset="-128"/>
              </a:rPr>
              <a:t>hegemonic cycle</a:t>
            </a:r>
            <a:r>
              <a:rPr lang="en-US" altLang="x-none" sz="1800" dirty="0">
                <a:ea typeface="ＭＳ Ｐゴシック" charset="-128"/>
              </a:rPr>
              <a:t>.  During this phase, a single core power (the hegemon) is so dominant economically that it can structure the world-economy to its advantage (e.g., by putting international regimes into place).  BUT:  cooperation prevails because the other great powers profit from the system as well.</a:t>
            </a:r>
          </a:p>
          <a:p>
            <a:pPr marL="0" indent="0">
              <a:spcBef>
                <a:spcPct val="0"/>
              </a:spcBef>
              <a:buFont typeface="Wingdings" charset="2"/>
              <a:buNone/>
              <a:defRPr/>
            </a:pPr>
            <a:endParaRPr lang="en-US" altLang="x-none" sz="1800" dirty="0">
              <a:ea typeface="ＭＳ Ｐゴシック" charset="-128"/>
            </a:endParaRPr>
          </a:p>
        </p:txBody>
      </p:sp>
      <p:sp>
        <p:nvSpPr>
          <p:cNvPr id="2" name="Title 1">
            <a:extLst>
              <a:ext uri="{FF2B5EF4-FFF2-40B4-BE49-F238E27FC236}">
                <a16:creationId xmlns:a16="http://schemas.microsoft.com/office/drawing/2014/main" id="{47FB3141-0A72-47CC-D903-6C7A77B84C28}"/>
              </a:ext>
            </a:extLst>
          </p:cNvPr>
          <p:cNvSpPr>
            <a:spLocks noGrp="1"/>
          </p:cNvSpPr>
          <p:nvPr>
            <p:ph type="title"/>
          </p:nvPr>
        </p:nvSpPr>
        <p:spPr/>
        <p:txBody>
          <a:bodyPr/>
          <a:lstStyle/>
          <a:p>
            <a:pPr>
              <a:defRPr/>
            </a:pPr>
            <a:r>
              <a:rPr lang="en-US" sz="3200" dirty="0">
                <a:solidFill>
                  <a:srgbClr val="FFFF00"/>
                </a:solidFill>
              </a:rPr>
              <a:t>How Economic Structuralists</a:t>
            </a:r>
            <a:br>
              <a:rPr lang="en-US" sz="3200" dirty="0">
                <a:solidFill>
                  <a:srgbClr val="FFFF00"/>
                </a:solidFill>
              </a:rPr>
            </a:br>
            <a:r>
              <a:rPr lang="en-US" sz="3200" dirty="0">
                <a:solidFill>
                  <a:srgbClr val="FFFF00"/>
                </a:solidFill>
              </a:rPr>
              <a:t>Account for SYSTEMIC Wars</a:t>
            </a:r>
          </a:p>
        </p:txBody>
      </p:sp>
    </p:spTree>
    <p:extLst>
      <p:ext uri="{BB962C8B-B14F-4D97-AF65-F5344CB8AC3E}">
        <p14:creationId xmlns:p14="http://schemas.microsoft.com/office/powerpoint/2010/main" val="2359612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1B371-2659-2CD3-B1B4-2250550B34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D452B9-395A-CE82-1F69-542701305584}"/>
              </a:ext>
            </a:extLst>
          </p:cNvPr>
          <p:cNvSpPr>
            <a:spLocks noGrp="1"/>
          </p:cNvSpPr>
          <p:nvPr>
            <p:ph idx="1"/>
          </p:nvPr>
        </p:nvSpPr>
        <p:spPr>
          <a:xfrm>
            <a:off x="304800" y="1447800"/>
            <a:ext cx="8534400" cy="4759325"/>
          </a:xfrm>
        </p:spPr>
        <p:txBody>
          <a:bodyPr/>
          <a:lstStyle/>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ea typeface="ＭＳ Ｐゴシック" charset="-128"/>
              </a:rPr>
              <a:t>Primarily by using the concept of “</a:t>
            </a:r>
            <a:r>
              <a:rPr lang="en-US" altLang="x-none" sz="1800" u="sng" dirty="0">
                <a:highlight>
                  <a:srgbClr val="000080"/>
                </a:highlight>
                <a:ea typeface="ＭＳ Ｐゴシック" charset="-128"/>
              </a:rPr>
              <a:t>hegemonic cycles</a:t>
            </a:r>
            <a:r>
              <a:rPr lang="en-US" altLang="x-none" sz="1800" u="sng" dirty="0">
                <a:ea typeface="ＭＳ Ｐゴシック" charset="-128"/>
              </a:rPr>
              <a:t>:</a:t>
            </a:r>
            <a:r>
              <a:rPr lang="en-US" altLang="x-none" sz="1800" dirty="0">
                <a:ea typeface="ＭＳ Ｐゴシック" charset="-128"/>
              </a:rPr>
              <a:t>”</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ea typeface="ＭＳ Ｐゴシック" charset="-128"/>
              </a:rPr>
              <a:t>Periods of Cooperation (Hegemonic Stability</a:t>
            </a:r>
            <a:r>
              <a:rPr lang="en-US" altLang="x-none" sz="1800" dirty="0">
                <a:ea typeface="ＭＳ Ｐゴシック" charset="-128"/>
              </a:rPr>
              <a:t>):  A period of </a:t>
            </a:r>
            <a:r>
              <a:rPr lang="en-US" altLang="x-none" sz="1800" i="1" dirty="0">
                <a:ea typeface="ＭＳ Ｐゴシック" charset="-128"/>
              </a:rPr>
              <a:t>relative</a:t>
            </a:r>
            <a:r>
              <a:rPr lang="en-US" altLang="x-none" sz="1800" dirty="0">
                <a:ea typeface="ＭＳ Ｐゴシック" charset="-128"/>
              </a:rPr>
              <a:t> peace and cooperation, like the one from roughly </a:t>
            </a:r>
            <a:r>
              <a:rPr lang="en-US" altLang="x-none" sz="1800" dirty="0">
                <a:highlight>
                  <a:srgbClr val="008000"/>
                </a:highlight>
                <a:ea typeface="ＭＳ Ｐゴシック" charset="-128"/>
              </a:rPr>
              <a:t>1945 to 2000</a:t>
            </a:r>
            <a:r>
              <a:rPr lang="en-US" altLang="x-none" sz="1800" dirty="0">
                <a:ea typeface="ＭＳ Ｐゴシック" charset="-128"/>
              </a:rPr>
              <a:t>, corresponds to the </a:t>
            </a:r>
            <a:r>
              <a:rPr lang="en-US" altLang="x-none" sz="1800" i="1" dirty="0">
                <a:ea typeface="ＭＳ Ｐゴシック" charset="-128"/>
              </a:rPr>
              <a:t>peak of a </a:t>
            </a:r>
            <a:r>
              <a:rPr lang="en-US" altLang="x-none" sz="1800" i="1" dirty="0">
                <a:highlight>
                  <a:srgbClr val="000080"/>
                </a:highlight>
                <a:ea typeface="ＭＳ Ｐゴシック" charset="-128"/>
              </a:rPr>
              <a:t>hegemonic cycle</a:t>
            </a:r>
            <a:r>
              <a:rPr lang="en-US" altLang="x-none" sz="1800" dirty="0">
                <a:ea typeface="ＭＳ Ｐゴシック" charset="-128"/>
              </a:rPr>
              <a:t>.  During this phase, a single core power (the hegemon) is so dominant economically that it can structure the world-economy to its advantage (e.g., by putting international regimes into place).  BUT:  cooperation prevails because the other great powers profit from the system as well.</a:t>
            </a:r>
          </a:p>
          <a:p>
            <a:pPr marL="0" indent="0">
              <a:spcBef>
                <a:spcPct val="0"/>
              </a:spcBef>
              <a:buFont typeface="Wingdings" charset="2"/>
              <a:buNone/>
              <a:defRPr/>
            </a:pPr>
            <a:endParaRPr lang="en-US" altLang="x-none" sz="1800" dirty="0">
              <a:ea typeface="ＭＳ Ｐゴシック" charset="-128"/>
            </a:endParaRPr>
          </a:p>
          <a:p>
            <a:pPr marL="0" indent="0">
              <a:spcBef>
                <a:spcPct val="0"/>
              </a:spcBef>
              <a:buFont typeface="Wingdings" charset="2"/>
              <a:buNone/>
              <a:defRPr/>
            </a:pPr>
            <a:r>
              <a:rPr lang="en-US" altLang="x-none" sz="1800" u="sng" dirty="0">
                <a:ea typeface="ＭＳ Ｐゴシック" charset="-128"/>
              </a:rPr>
              <a:t>Periods of Conflict (Hegemonic Decline and Rivalry)</a:t>
            </a:r>
            <a:r>
              <a:rPr lang="en-US" altLang="x-none" sz="1800" dirty="0">
                <a:ea typeface="ＭＳ Ｐゴシック" charset="-128"/>
              </a:rPr>
              <a:t>:  The world capitalist system inevitably leads to the rise of new economic power centers that begin to challenge the hegemon's dominance.  This leads to a period of intense economic competition and rivalry among core powers.  </a:t>
            </a:r>
            <a:r>
              <a:rPr lang="en-US" altLang="x-none" sz="1800" dirty="0">
                <a:highlight>
                  <a:srgbClr val="800000"/>
                </a:highlight>
                <a:ea typeface="ＭＳ Ｐゴシック" charset="-128"/>
              </a:rPr>
              <a:t>It’s then the struggle for economic primacy – the fight over who will control the next phase of the world-economy – that is the fundamental cause of SYSTEMIC wars between great powers</a:t>
            </a:r>
            <a:r>
              <a:rPr lang="en-US" altLang="x-none" sz="1800" dirty="0">
                <a:ea typeface="ＭＳ Ｐゴシック" charset="-128"/>
              </a:rPr>
              <a:t>.</a:t>
            </a:r>
          </a:p>
        </p:txBody>
      </p:sp>
      <p:sp>
        <p:nvSpPr>
          <p:cNvPr id="2" name="Title 1">
            <a:extLst>
              <a:ext uri="{FF2B5EF4-FFF2-40B4-BE49-F238E27FC236}">
                <a16:creationId xmlns:a16="http://schemas.microsoft.com/office/drawing/2014/main" id="{50586DEC-C619-299B-6B5D-5FD92B4F9C21}"/>
              </a:ext>
            </a:extLst>
          </p:cNvPr>
          <p:cNvSpPr>
            <a:spLocks noGrp="1"/>
          </p:cNvSpPr>
          <p:nvPr>
            <p:ph type="title"/>
          </p:nvPr>
        </p:nvSpPr>
        <p:spPr/>
        <p:txBody>
          <a:bodyPr/>
          <a:lstStyle/>
          <a:p>
            <a:pPr>
              <a:defRPr/>
            </a:pPr>
            <a:r>
              <a:rPr lang="en-US" sz="3200" dirty="0">
                <a:solidFill>
                  <a:srgbClr val="FFFF00"/>
                </a:solidFill>
              </a:rPr>
              <a:t>How Economic Structuralists</a:t>
            </a:r>
            <a:br>
              <a:rPr lang="en-US" sz="3200" dirty="0">
                <a:solidFill>
                  <a:srgbClr val="FFFF00"/>
                </a:solidFill>
              </a:rPr>
            </a:br>
            <a:r>
              <a:rPr lang="en-US" sz="3200" dirty="0">
                <a:solidFill>
                  <a:srgbClr val="FFFF00"/>
                </a:solidFill>
              </a:rPr>
              <a:t>Account for SYSTEMIC Wars</a:t>
            </a:r>
          </a:p>
        </p:txBody>
      </p:sp>
    </p:spTree>
    <p:extLst>
      <p:ext uri="{BB962C8B-B14F-4D97-AF65-F5344CB8AC3E}">
        <p14:creationId xmlns:p14="http://schemas.microsoft.com/office/powerpoint/2010/main" val="18860281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920AA-E48A-9DD6-67B4-F8D3C34FB9DA}"/>
              </a:ext>
            </a:extLst>
          </p:cNvPr>
          <p:cNvSpPr>
            <a:spLocks noGrp="1"/>
          </p:cNvSpPr>
          <p:nvPr>
            <p:ph type="title"/>
          </p:nvPr>
        </p:nvSpPr>
        <p:spPr>
          <a:xfrm>
            <a:off x="457200" y="277813"/>
            <a:ext cx="8229600" cy="788987"/>
          </a:xfrm>
        </p:spPr>
        <p:txBody>
          <a:bodyPr/>
          <a:lstStyle/>
          <a:p>
            <a:r>
              <a:rPr lang="en-US" sz="3200" dirty="0">
                <a:solidFill>
                  <a:srgbClr val="FFFF00"/>
                </a:solidFill>
              </a:rPr>
              <a:t>Modelski’s Important Variation:</a:t>
            </a:r>
            <a:br>
              <a:rPr lang="en-US" sz="3200" dirty="0">
                <a:solidFill>
                  <a:srgbClr val="FFFF00"/>
                </a:solidFill>
              </a:rPr>
            </a:br>
            <a:r>
              <a:rPr lang="en-US" sz="3200" dirty="0">
                <a:solidFill>
                  <a:srgbClr val="FFFF00"/>
                </a:solidFill>
              </a:rPr>
              <a:t>Long Cycle Theory</a:t>
            </a:r>
          </a:p>
        </p:txBody>
      </p:sp>
      <p:pic>
        <p:nvPicPr>
          <p:cNvPr id="3074" name="Picture 2" descr="modelski's world leadership cycle as described in the text">
            <a:extLst>
              <a:ext uri="{FF2B5EF4-FFF2-40B4-BE49-F238E27FC236}">
                <a16:creationId xmlns:a16="http://schemas.microsoft.com/office/drawing/2014/main" id="{2838E1AB-4EAA-A8C5-8D9A-E5ED30B0B1E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676400"/>
            <a:ext cx="7485966" cy="5365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2727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DAAF0-C820-BDC7-6A9E-A356C10AF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BCFD7-132D-1392-9519-484DC0445363}"/>
              </a:ext>
            </a:extLst>
          </p:cNvPr>
          <p:cNvSpPr>
            <a:spLocks noGrp="1"/>
          </p:cNvSpPr>
          <p:nvPr>
            <p:ph type="title"/>
          </p:nvPr>
        </p:nvSpPr>
        <p:spPr>
          <a:xfrm>
            <a:off x="457200" y="277813"/>
            <a:ext cx="8229600" cy="788987"/>
          </a:xfrm>
        </p:spPr>
        <p:txBody>
          <a:bodyPr/>
          <a:lstStyle/>
          <a:p>
            <a:r>
              <a:rPr lang="en-US" sz="3200" dirty="0">
                <a:solidFill>
                  <a:srgbClr val="FFFF00"/>
                </a:solidFill>
              </a:rPr>
              <a:t>Modelski’s Important Variation:</a:t>
            </a:r>
            <a:br>
              <a:rPr lang="en-US" sz="3200" dirty="0">
                <a:solidFill>
                  <a:srgbClr val="FFFF00"/>
                </a:solidFill>
              </a:rPr>
            </a:br>
            <a:r>
              <a:rPr lang="en-US" sz="3200" dirty="0">
                <a:solidFill>
                  <a:srgbClr val="FFFF00"/>
                </a:solidFill>
              </a:rPr>
              <a:t>Long Cycle Theory</a:t>
            </a:r>
          </a:p>
        </p:txBody>
      </p:sp>
      <p:sp>
        <p:nvSpPr>
          <p:cNvPr id="3" name="Content Placeholder 2">
            <a:extLst>
              <a:ext uri="{FF2B5EF4-FFF2-40B4-BE49-F238E27FC236}">
                <a16:creationId xmlns:a16="http://schemas.microsoft.com/office/drawing/2014/main" id="{4618D17F-6D90-C6BD-5631-DAC7B5F09BC0}"/>
              </a:ext>
            </a:extLst>
          </p:cNvPr>
          <p:cNvSpPr>
            <a:spLocks noGrp="1"/>
          </p:cNvSpPr>
          <p:nvPr>
            <p:ph idx="1"/>
          </p:nvPr>
        </p:nvSpPr>
        <p:spPr/>
        <p:txBody>
          <a:bodyPr/>
          <a:lstStyle/>
          <a:p>
            <a:pPr marL="0" indent="0">
              <a:buNone/>
            </a:pPr>
            <a:r>
              <a:rPr lang="en-US" sz="1800" dirty="0"/>
              <a:t>In Phase 3, the “</a:t>
            </a:r>
            <a:r>
              <a:rPr lang="en-US" sz="1800" dirty="0">
                <a:solidFill>
                  <a:srgbClr val="92D050"/>
                </a:solidFill>
              </a:rPr>
              <a:t>GEOCULTURE</a:t>
            </a:r>
            <a:r>
              <a:rPr lang="en-US" sz="1800" dirty="0"/>
              <a:t>” established by the hegemon is discredited and loses its </a:t>
            </a:r>
            <a:r>
              <a:rPr lang="en-US" sz="1800" dirty="0">
                <a:solidFill>
                  <a:srgbClr val="FFFF00"/>
                </a:solidFill>
              </a:rPr>
              <a:t>LEGITIMACY</a:t>
            </a:r>
            <a:r>
              <a:rPr lang="en-US" sz="1800" dirty="0"/>
              <a:t> (a </a:t>
            </a:r>
            <a:r>
              <a:rPr lang="en-US" sz="1800" dirty="0">
                <a:solidFill>
                  <a:srgbClr val="00B0F0"/>
                </a:solidFill>
              </a:rPr>
              <a:t>cognitive</a:t>
            </a:r>
            <a:r>
              <a:rPr lang="en-US" sz="1800" dirty="0"/>
              <a:t>, </a:t>
            </a:r>
            <a:r>
              <a:rPr lang="en-US" sz="1800" dirty="0">
                <a:solidFill>
                  <a:srgbClr val="7030A0"/>
                </a:solidFill>
              </a:rPr>
              <a:t>psychological</a:t>
            </a:r>
            <a:r>
              <a:rPr lang="en-US" sz="1800" dirty="0"/>
              <a:t>, and </a:t>
            </a:r>
            <a:r>
              <a:rPr lang="en-US" sz="1800" dirty="0">
                <a:solidFill>
                  <a:srgbClr val="FFC000"/>
                </a:solidFill>
              </a:rPr>
              <a:t>emotional</a:t>
            </a:r>
            <a:r>
              <a:rPr lang="en-US" sz="1800" dirty="0"/>
              <a:t> variable):</a:t>
            </a:r>
            <a:endParaRPr lang="en-US" sz="1400" dirty="0"/>
          </a:p>
          <a:p>
            <a:endParaRPr lang="en-US" sz="1400" dirty="0"/>
          </a:p>
        </p:txBody>
      </p:sp>
    </p:spTree>
    <p:extLst>
      <p:ext uri="{BB962C8B-B14F-4D97-AF65-F5344CB8AC3E}">
        <p14:creationId xmlns:p14="http://schemas.microsoft.com/office/powerpoint/2010/main" val="21839125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865DE-B2E5-2284-C669-D5176676D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7E253-4E1C-F9F5-EF82-790CAC2DCADB}"/>
              </a:ext>
            </a:extLst>
          </p:cNvPr>
          <p:cNvSpPr>
            <a:spLocks noGrp="1"/>
          </p:cNvSpPr>
          <p:nvPr>
            <p:ph type="title"/>
          </p:nvPr>
        </p:nvSpPr>
        <p:spPr>
          <a:xfrm>
            <a:off x="457200" y="277813"/>
            <a:ext cx="8229600" cy="788987"/>
          </a:xfrm>
        </p:spPr>
        <p:txBody>
          <a:bodyPr/>
          <a:lstStyle/>
          <a:p>
            <a:r>
              <a:rPr lang="en-US" sz="3200" dirty="0">
                <a:solidFill>
                  <a:srgbClr val="FFFF00"/>
                </a:solidFill>
              </a:rPr>
              <a:t>Modelski’s Important Variation:</a:t>
            </a:r>
            <a:br>
              <a:rPr lang="en-US" sz="3200" dirty="0">
                <a:solidFill>
                  <a:srgbClr val="FFFF00"/>
                </a:solidFill>
              </a:rPr>
            </a:br>
            <a:r>
              <a:rPr lang="en-US" sz="3200" dirty="0">
                <a:solidFill>
                  <a:srgbClr val="FFFF00"/>
                </a:solidFill>
              </a:rPr>
              <a:t>Long Cycle Theory</a:t>
            </a:r>
          </a:p>
        </p:txBody>
      </p:sp>
      <p:sp>
        <p:nvSpPr>
          <p:cNvPr id="3" name="Content Placeholder 2">
            <a:extLst>
              <a:ext uri="{FF2B5EF4-FFF2-40B4-BE49-F238E27FC236}">
                <a16:creationId xmlns:a16="http://schemas.microsoft.com/office/drawing/2014/main" id="{F2564320-77DB-CE0A-94FE-237B1F87BBBD}"/>
              </a:ext>
            </a:extLst>
          </p:cNvPr>
          <p:cNvSpPr>
            <a:spLocks noGrp="1"/>
          </p:cNvSpPr>
          <p:nvPr>
            <p:ph idx="1"/>
          </p:nvPr>
        </p:nvSpPr>
        <p:spPr/>
        <p:txBody>
          <a:bodyPr/>
          <a:lstStyle/>
          <a:p>
            <a:pPr marL="0" indent="0">
              <a:buNone/>
            </a:pPr>
            <a:r>
              <a:rPr lang="en-US" sz="1800" dirty="0"/>
              <a:t>In Phase 3, the “</a:t>
            </a:r>
            <a:r>
              <a:rPr lang="en-US" sz="1800" dirty="0">
                <a:solidFill>
                  <a:srgbClr val="92D050"/>
                </a:solidFill>
              </a:rPr>
              <a:t>GEOCULTURE</a:t>
            </a:r>
            <a:r>
              <a:rPr lang="en-US" sz="1800" dirty="0"/>
              <a:t>” established by the hegemon is discredited and loses its </a:t>
            </a:r>
            <a:r>
              <a:rPr lang="en-US" sz="1800" dirty="0">
                <a:solidFill>
                  <a:srgbClr val="FFFF00"/>
                </a:solidFill>
              </a:rPr>
              <a:t>LEGITIMACY</a:t>
            </a:r>
            <a:r>
              <a:rPr lang="en-US" sz="1800" dirty="0"/>
              <a:t> (a </a:t>
            </a:r>
            <a:r>
              <a:rPr lang="en-US" sz="1800" dirty="0">
                <a:solidFill>
                  <a:srgbClr val="00B0F0"/>
                </a:solidFill>
              </a:rPr>
              <a:t>cognitive</a:t>
            </a:r>
            <a:r>
              <a:rPr lang="en-US" sz="1800" dirty="0"/>
              <a:t>, </a:t>
            </a:r>
            <a:r>
              <a:rPr lang="en-US" sz="1800" dirty="0">
                <a:solidFill>
                  <a:srgbClr val="7030A0"/>
                </a:solidFill>
              </a:rPr>
              <a:t>psychological</a:t>
            </a:r>
            <a:r>
              <a:rPr lang="en-US" sz="1800" dirty="0"/>
              <a:t>, and </a:t>
            </a:r>
            <a:r>
              <a:rPr lang="en-US" sz="1800" dirty="0">
                <a:solidFill>
                  <a:srgbClr val="FFC000"/>
                </a:solidFill>
              </a:rPr>
              <a:t>emotional</a:t>
            </a:r>
            <a:r>
              <a:rPr lang="en-US" sz="1800" dirty="0"/>
              <a:t> variable):</a:t>
            </a:r>
            <a:endParaRPr lang="en-US" sz="1400" dirty="0"/>
          </a:p>
          <a:p>
            <a:endParaRPr lang="en-US" sz="1400" dirty="0"/>
          </a:p>
          <a:p>
            <a:pPr marL="0" indent="0">
              <a:buNone/>
            </a:pPr>
            <a:r>
              <a:rPr lang="en-US" sz="1800" u="sng" dirty="0"/>
              <a:t>The Hegemon’s Behavior Changes</a:t>
            </a:r>
            <a:r>
              <a:rPr lang="en-US" sz="1800" dirty="0"/>
              <a:t>:  Feeling the strain, the world leader may start acting more unilaterally and coercively to preserve its status.  </a:t>
            </a:r>
            <a:r>
              <a:rPr lang="en-US" sz="1800" dirty="0">
                <a:highlight>
                  <a:srgbClr val="800080"/>
                </a:highlight>
              </a:rPr>
              <a:t>Its policies can appear more self-serving and less focused on providing global public goods</a:t>
            </a:r>
            <a:r>
              <a:rPr lang="en-US" sz="1800" dirty="0"/>
              <a:t>.  It becomes erratic, and others find this disconcerting.</a:t>
            </a:r>
            <a:endParaRPr lang="en-US" sz="1400" dirty="0"/>
          </a:p>
          <a:p>
            <a:endParaRPr lang="en-US" sz="1400" dirty="0"/>
          </a:p>
        </p:txBody>
      </p:sp>
    </p:spTree>
    <p:extLst>
      <p:ext uri="{BB962C8B-B14F-4D97-AF65-F5344CB8AC3E}">
        <p14:creationId xmlns:p14="http://schemas.microsoft.com/office/powerpoint/2010/main" val="35476143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06379-3665-314F-9CF9-5FC98F935A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4F77F-1056-1FC1-E583-2EF9DE37826B}"/>
              </a:ext>
            </a:extLst>
          </p:cNvPr>
          <p:cNvSpPr>
            <a:spLocks noGrp="1"/>
          </p:cNvSpPr>
          <p:nvPr>
            <p:ph type="title"/>
          </p:nvPr>
        </p:nvSpPr>
        <p:spPr>
          <a:xfrm>
            <a:off x="457200" y="277813"/>
            <a:ext cx="8229600" cy="788987"/>
          </a:xfrm>
        </p:spPr>
        <p:txBody>
          <a:bodyPr/>
          <a:lstStyle/>
          <a:p>
            <a:r>
              <a:rPr lang="en-US" sz="3200" dirty="0">
                <a:solidFill>
                  <a:srgbClr val="FFFF00"/>
                </a:solidFill>
              </a:rPr>
              <a:t>Modelski’s Important Variation:</a:t>
            </a:r>
            <a:br>
              <a:rPr lang="en-US" sz="3200" dirty="0">
                <a:solidFill>
                  <a:srgbClr val="FFFF00"/>
                </a:solidFill>
              </a:rPr>
            </a:br>
            <a:r>
              <a:rPr lang="en-US" sz="3200" dirty="0">
                <a:solidFill>
                  <a:srgbClr val="FFFF00"/>
                </a:solidFill>
              </a:rPr>
              <a:t>Long Cycle Theory</a:t>
            </a:r>
          </a:p>
        </p:txBody>
      </p:sp>
      <p:sp>
        <p:nvSpPr>
          <p:cNvPr id="3" name="Content Placeholder 2">
            <a:extLst>
              <a:ext uri="{FF2B5EF4-FFF2-40B4-BE49-F238E27FC236}">
                <a16:creationId xmlns:a16="http://schemas.microsoft.com/office/drawing/2014/main" id="{832D2868-3E10-F24D-C48D-824D9E2C1924}"/>
              </a:ext>
            </a:extLst>
          </p:cNvPr>
          <p:cNvSpPr>
            <a:spLocks noGrp="1"/>
          </p:cNvSpPr>
          <p:nvPr>
            <p:ph idx="1"/>
          </p:nvPr>
        </p:nvSpPr>
        <p:spPr/>
        <p:txBody>
          <a:bodyPr/>
          <a:lstStyle/>
          <a:p>
            <a:pPr marL="0" indent="0">
              <a:buNone/>
            </a:pPr>
            <a:r>
              <a:rPr lang="en-US" sz="1800" dirty="0"/>
              <a:t>In Phase 3, the “</a:t>
            </a:r>
            <a:r>
              <a:rPr lang="en-US" sz="1800" dirty="0">
                <a:solidFill>
                  <a:srgbClr val="92D050"/>
                </a:solidFill>
              </a:rPr>
              <a:t>GEOCULTURE</a:t>
            </a:r>
            <a:r>
              <a:rPr lang="en-US" sz="1800" dirty="0"/>
              <a:t>” established by the hegemon is discredited and loses its </a:t>
            </a:r>
            <a:r>
              <a:rPr lang="en-US" sz="1800" dirty="0">
                <a:solidFill>
                  <a:srgbClr val="FFFF00"/>
                </a:solidFill>
              </a:rPr>
              <a:t>LEGITIMACY</a:t>
            </a:r>
            <a:r>
              <a:rPr lang="en-US" sz="1800" dirty="0"/>
              <a:t> (a </a:t>
            </a:r>
            <a:r>
              <a:rPr lang="en-US" sz="1800" dirty="0">
                <a:solidFill>
                  <a:srgbClr val="00B0F0"/>
                </a:solidFill>
              </a:rPr>
              <a:t>cognitive</a:t>
            </a:r>
            <a:r>
              <a:rPr lang="en-US" sz="1800" dirty="0"/>
              <a:t>, </a:t>
            </a:r>
            <a:r>
              <a:rPr lang="en-US" sz="1800" dirty="0">
                <a:solidFill>
                  <a:srgbClr val="7030A0"/>
                </a:solidFill>
              </a:rPr>
              <a:t>psychological</a:t>
            </a:r>
            <a:r>
              <a:rPr lang="en-US" sz="1800" dirty="0"/>
              <a:t>, and </a:t>
            </a:r>
            <a:r>
              <a:rPr lang="en-US" sz="1800" dirty="0">
                <a:solidFill>
                  <a:srgbClr val="FFC000"/>
                </a:solidFill>
              </a:rPr>
              <a:t>emotional</a:t>
            </a:r>
            <a:r>
              <a:rPr lang="en-US" sz="1800" dirty="0"/>
              <a:t> variable):</a:t>
            </a:r>
            <a:endParaRPr lang="en-US" sz="1400" dirty="0"/>
          </a:p>
          <a:p>
            <a:endParaRPr lang="en-US" sz="1400" dirty="0"/>
          </a:p>
          <a:p>
            <a:pPr marL="0" indent="0">
              <a:buNone/>
            </a:pPr>
            <a:r>
              <a:rPr lang="en-US" sz="1800" u="sng" dirty="0"/>
              <a:t>The Hegemon’s Behavior Changes</a:t>
            </a:r>
            <a:r>
              <a:rPr lang="en-US" sz="1800" dirty="0"/>
              <a:t>:  Feeling the strain, the world leader may start acting more unilaterally and coercively to preserve its status.  </a:t>
            </a:r>
            <a:r>
              <a:rPr lang="en-US" sz="1800" dirty="0">
                <a:highlight>
                  <a:srgbClr val="800080"/>
                </a:highlight>
              </a:rPr>
              <a:t>Its policies can appear more self-serving and less focused on providing global public goods</a:t>
            </a:r>
            <a:r>
              <a:rPr lang="en-US" sz="1800" dirty="0"/>
              <a:t>.  It becomes erratic, and others find this disconcerting.</a:t>
            </a:r>
            <a:endParaRPr lang="en-US" sz="1400" dirty="0"/>
          </a:p>
          <a:p>
            <a:endParaRPr lang="en-US" sz="1400" dirty="0"/>
          </a:p>
          <a:p>
            <a:pPr marL="0" indent="0">
              <a:buNone/>
            </a:pPr>
            <a:r>
              <a:rPr lang="en-US" sz="1800" u="sng" dirty="0"/>
              <a:t>Rivals’ Perceptions Change</a:t>
            </a:r>
            <a:r>
              <a:rPr lang="en-US" sz="1800" dirty="0"/>
              <a:t>:  Rising powers no longer view the hegemon's leadership as a benefit or as just.  Instead, they begin to see the leader and the rules of its order as obstacles to their own ambitions and as sources of injustice.  </a:t>
            </a:r>
            <a:r>
              <a:rPr lang="en-US" sz="1800" dirty="0">
                <a:highlight>
                  <a:srgbClr val="000080"/>
                </a:highlight>
              </a:rPr>
              <a:t>The hegemon's actions are no longer interpreted as benevolent leadership but as self-interested dominance</a:t>
            </a:r>
            <a:r>
              <a:rPr lang="en-US" sz="1800" dirty="0"/>
              <a:t>.  The hegemon inspires </a:t>
            </a:r>
            <a:r>
              <a:rPr lang="en-US" sz="1800" i="1" dirty="0">
                <a:solidFill>
                  <a:srgbClr val="FFFF00"/>
                </a:solidFill>
              </a:rPr>
              <a:t>anxiety</a:t>
            </a:r>
            <a:r>
              <a:rPr lang="en-US" sz="1800" dirty="0"/>
              <a:t>.</a:t>
            </a:r>
            <a:endParaRPr lang="en-US" sz="1400" dirty="0"/>
          </a:p>
          <a:p>
            <a:endParaRPr lang="en-US" sz="1400" dirty="0"/>
          </a:p>
        </p:txBody>
      </p:sp>
    </p:spTree>
    <p:extLst>
      <p:ext uri="{BB962C8B-B14F-4D97-AF65-F5344CB8AC3E}">
        <p14:creationId xmlns:p14="http://schemas.microsoft.com/office/powerpoint/2010/main" val="18703061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C5DC9-DFA1-5915-833D-2A1132D24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63CA70-6060-6935-1CB0-453F2B14F92E}"/>
              </a:ext>
            </a:extLst>
          </p:cNvPr>
          <p:cNvSpPr>
            <a:spLocks noGrp="1"/>
          </p:cNvSpPr>
          <p:nvPr>
            <p:ph type="title"/>
          </p:nvPr>
        </p:nvSpPr>
        <p:spPr>
          <a:xfrm>
            <a:off x="457200" y="277813"/>
            <a:ext cx="8229600" cy="788987"/>
          </a:xfrm>
        </p:spPr>
        <p:txBody>
          <a:bodyPr/>
          <a:lstStyle/>
          <a:p>
            <a:r>
              <a:rPr lang="en-US" sz="3200" dirty="0">
                <a:solidFill>
                  <a:srgbClr val="FFFF00"/>
                </a:solidFill>
              </a:rPr>
              <a:t>Modelski’s Important Variation:</a:t>
            </a:r>
            <a:br>
              <a:rPr lang="en-US" sz="3200" dirty="0">
                <a:solidFill>
                  <a:srgbClr val="FFFF00"/>
                </a:solidFill>
              </a:rPr>
            </a:br>
            <a:r>
              <a:rPr lang="en-US" sz="3200" dirty="0">
                <a:solidFill>
                  <a:srgbClr val="FFFF00"/>
                </a:solidFill>
              </a:rPr>
              <a:t>Long Cycle Theory</a:t>
            </a:r>
          </a:p>
        </p:txBody>
      </p:sp>
      <p:sp>
        <p:nvSpPr>
          <p:cNvPr id="3" name="Content Placeholder 2">
            <a:extLst>
              <a:ext uri="{FF2B5EF4-FFF2-40B4-BE49-F238E27FC236}">
                <a16:creationId xmlns:a16="http://schemas.microsoft.com/office/drawing/2014/main" id="{1B2E5C19-A2EA-2A44-5A74-3CF4932C3559}"/>
              </a:ext>
            </a:extLst>
          </p:cNvPr>
          <p:cNvSpPr>
            <a:spLocks noGrp="1"/>
          </p:cNvSpPr>
          <p:nvPr>
            <p:ph idx="1"/>
          </p:nvPr>
        </p:nvSpPr>
        <p:spPr/>
        <p:txBody>
          <a:bodyPr/>
          <a:lstStyle/>
          <a:p>
            <a:pPr marL="0" indent="0">
              <a:buNone/>
            </a:pPr>
            <a:r>
              <a:rPr lang="en-US" sz="1800" dirty="0"/>
              <a:t>In Phase 3, the “</a:t>
            </a:r>
            <a:r>
              <a:rPr lang="en-US" sz="1800" dirty="0">
                <a:solidFill>
                  <a:srgbClr val="92D050"/>
                </a:solidFill>
              </a:rPr>
              <a:t>GEOCULTURE</a:t>
            </a:r>
            <a:r>
              <a:rPr lang="en-US" sz="1800" dirty="0"/>
              <a:t>” established by the hegemon is discredited and loses its </a:t>
            </a:r>
            <a:r>
              <a:rPr lang="en-US" sz="1800" dirty="0">
                <a:solidFill>
                  <a:srgbClr val="FFFF00"/>
                </a:solidFill>
              </a:rPr>
              <a:t>LEGITIMACY</a:t>
            </a:r>
            <a:r>
              <a:rPr lang="en-US" sz="1800" dirty="0"/>
              <a:t> (a </a:t>
            </a:r>
            <a:r>
              <a:rPr lang="en-US" sz="1800" dirty="0">
                <a:solidFill>
                  <a:srgbClr val="00B0F0"/>
                </a:solidFill>
              </a:rPr>
              <a:t>cognitive</a:t>
            </a:r>
            <a:r>
              <a:rPr lang="en-US" sz="1800" dirty="0"/>
              <a:t>, </a:t>
            </a:r>
            <a:r>
              <a:rPr lang="en-US" sz="1800" dirty="0">
                <a:solidFill>
                  <a:srgbClr val="7030A0"/>
                </a:solidFill>
              </a:rPr>
              <a:t>psychological</a:t>
            </a:r>
            <a:r>
              <a:rPr lang="en-US" sz="1800" dirty="0"/>
              <a:t>, and </a:t>
            </a:r>
            <a:r>
              <a:rPr lang="en-US" sz="1800" dirty="0">
                <a:solidFill>
                  <a:srgbClr val="FFC000"/>
                </a:solidFill>
              </a:rPr>
              <a:t>emotional</a:t>
            </a:r>
            <a:r>
              <a:rPr lang="en-US" sz="1800" dirty="0"/>
              <a:t> variable):</a:t>
            </a:r>
            <a:endParaRPr lang="en-US" sz="1400" dirty="0"/>
          </a:p>
          <a:p>
            <a:endParaRPr lang="en-US" sz="1400" dirty="0"/>
          </a:p>
          <a:p>
            <a:pPr marL="0" indent="0">
              <a:buNone/>
            </a:pPr>
            <a:r>
              <a:rPr lang="en-US" sz="1800" u="sng" dirty="0"/>
              <a:t>The Hegemon’s Behavior Changes</a:t>
            </a:r>
            <a:r>
              <a:rPr lang="en-US" sz="1800" dirty="0"/>
              <a:t>:  Feeling the strain, the world leader may start acting more unilaterally and coercively to preserve its status.  </a:t>
            </a:r>
            <a:r>
              <a:rPr lang="en-US" sz="1800" dirty="0">
                <a:highlight>
                  <a:srgbClr val="800080"/>
                </a:highlight>
              </a:rPr>
              <a:t>Its policies can appear more self-serving and less focused on providing global public goods</a:t>
            </a:r>
            <a:r>
              <a:rPr lang="en-US" sz="1800" dirty="0"/>
              <a:t>.  It becomes erratic, and others find this disconcerting.</a:t>
            </a:r>
            <a:endParaRPr lang="en-US" sz="1400" dirty="0"/>
          </a:p>
          <a:p>
            <a:endParaRPr lang="en-US" sz="1400" dirty="0"/>
          </a:p>
          <a:p>
            <a:pPr marL="0" indent="0">
              <a:buNone/>
            </a:pPr>
            <a:r>
              <a:rPr lang="en-US" sz="1800" u="sng" dirty="0"/>
              <a:t>Rivals’ Perceptions Change</a:t>
            </a:r>
            <a:r>
              <a:rPr lang="en-US" sz="1800" dirty="0"/>
              <a:t>:  Rising powers no longer view the hegemon's leadership as a benefit or as just.  Instead, they begin to see the leader and the rules of its order as obstacles to their own ambitions and as sources of injustice.  </a:t>
            </a:r>
            <a:r>
              <a:rPr lang="en-US" sz="1800" dirty="0">
                <a:highlight>
                  <a:srgbClr val="000080"/>
                </a:highlight>
              </a:rPr>
              <a:t>The hegemon's actions are no longer interpreted as benevolent leadership but as self-interested dominance</a:t>
            </a:r>
            <a:r>
              <a:rPr lang="en-US" sz="1800" dirty="0"/>
              <a:t>.  The hegemon inspires </a:t>
            </a:r>
            <a:r>
              <a:rPr lang="en-US" sz="1800" i="1" dirty="0">
                <a:solidFill>
                  <a:srgbClr val="FFFF00"/>
                </a:solidFill>
              </a:rPr>
              <a:t>anxiety</a:t>
            </a:r>
            <a:r>
              <a:rPr lang="en-US" sz="1800" dirty="0"/>
              <a:t>.</a:t>
            </a:r>
            <a:endParaRPr lang="en-US" sz="1400" dirty="0"/>
          </a:p>
          <a:p>
            <a:pPr marL="0" indent="0">
              <a:buNone/>
            </a:pPr>
            <a:endParaRPr lang="en-US" sz="1400" dirty="0"/>
          </a:p>
          <a:p>
            <a:pPr marL="0" indent="0">
              <a:buNone/>
            </a:pPr>
            <a:r>
              <a:rPr lang="en-US" sz="1800" u="sng" dirty="0"/>
              <a:t>The “Babel of Voices:</a:t>
            </a:r>
            <a:r>
              <a:rPr lang="en-US" sz="1800" dirty="0"/>
              <a:t>” This is where the ideational collapse becomes obvious. </a:t>
            </a:r>
            <a:r>
              <a:rPr lang="en-US" sz="1800" dirty="0">
                <a:highlight>
                  <a:srgbClr val="800000"/>
                </a:highlight>
              </a:rPr>
              <a:t>The shared consensus on how the world should be run disappears</a:t>
            </a:r>
            <a:r>
              <a:rPr lang="en-US" sz="1800" dirty="0"/>
              <a:t>.  As Modelski describes it, the system dissolves into “a Babel of conflicting and mutually unintelligible voices.”</a:t>
            </a:r>
          </a:p>
        </p:txBody>
      </p:sp>
    </p:spTree>
    <p:extLst>
      <p:ext uri="{BB962C8B-B14F-4D97-AF65-F5344CB8AC3E}">
        <p14:creationId xmlns:p14="http://schemas.microsoft.com/office/powerpoint/2010/main" val="36855004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8CE33084-6CC8-1090-9EEE-89C4358E9910}"/>
              </a:ext>
            </a:extLst>
          </p:cNvPr>
          <p:cNvSpPr>
            <a:spLocks noGrp="1" noChangeArrowheads="1"/>
          </p:cNvSpPr>
          <p:nvPr>
            <p:ph type="title"/>
          </p:nvPr>
        </p:nvSpPr>
        <p:spPr>
          <a:xfrm>
            <a:off x="457200" y="277813"/>
            <a:ext cx="8229600" cy="712787"/>
          </a:xfrm>
        </p:spPr>
        <p:txBody>
          <a:bodyPr/>
          <a:lstStyle/>
          <a:p>
            <a:pPr eaLnBrk="1" hangingPunct="1">
              <a:defRPr/>
            </a:pPr>
            <a:r>
              <a:rPr lang="en-US" altLang="x-none" sz="3200" dirty="0">
                <a:solidFill>
                  <a:schemeClr val="tx1"/>
                </a:solidFill>
                <a:highlight>
                  <a:srgbClr val="000080"/>
                </a:highlight>
                <a:ea typeface="ＭＳ Ｐゴシック" charset="-128"/>
              </a:rPr>
              <a:t>But what about GLOBALIZATION?</a:t>
            </a:r>
            <a:endParaRPr lang="en-US" altLang="x-none" sz="3200" u="sng" dirty="0">
              <a:solidFill>
                <a:schemeClr val="tx1"/>
              </a:solidFill>
              <a:highlight>
                <a:srgbClr val="000080"/>
              </a:highlight>
              <a:ea typeface="ＭＳ Ｐゴシック" charset="-128"/>
            </a:endParaRPr>
          </a:p>
        </p:txBody>
      </p:sp>
      <p:sp>
        <p:nvSpPr>
          <p:cNvPr id="41987" name="Rectangle 3">
            <a:extLst>
              <a:ext uri="{FF2B5EF4-FFF2-40B4-BE49-F238E27FC236}">
                <a16:creationId xmlns:a16="http://schemas.microsoft.com/office/drawing/2014/main" id="{EF88918C-9953-41A0-0435-AFFBC3D40412}"/>
              </a:ext>
            </a:extLst>
          </p:cNvPr>
          <p:cNvSpPr>
            <a:spLocks noGrp="1" noChangeArrowheads="1"/>
          </p:cNvSpPr>
          <p:nvPr>
            <p:ph type="body" idx="1"/>
          </p:nvPr>
        </p:nvSpPr>
        <p:spPr/>
        <p:txBody>
          <a:bodyPr/>
          <a:lstStyle/>
          <a:p>
            <a:pPr marL="0" indent="0" eaLnBrk="1" hangingPunct="1">
              <a:buFont typeface="Wingdings" pitchFamily="2" charset="2"/>
              <a:buNone/>
              <a:defRPr/>
            </a:pPr>
            <a:endParaRPr lang="en-US" altLang="x-none" dirty="0">
              <a:ea typeface="ＭＳ Ｐゴシック" charset="-128"/>
            </a:endParaRPr>
          </a:p>
        </p:txBody>
      </p:sp>
      <p:pic>
        <p:nvPicPr>
          <p:cNvPr id="21507" name="Picture 2">
            <a:extLst>
              <a:ext uri="{FF2B5EF4-FFF2-40B4-BE49-F238E27FC236}">
                <a16:creationId xmlns:a16="http://schemas.microsoft.com/office/drawing/2014/main" id="{6EA7905C-951E-D748-A8BF-67CFE1C2F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219200"/>
            <a:ext cx="6705600" cy="479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TextBox 3">
            <a:extLst>
              <a:ext uri="{FF2B5EF4-FFF2-40B4-BE49-F238E27FC236}">
                <a16:creationId xmlns:a16="http://schemas.microsoft.com/office/drawing/2014/main" id="{13D0E7E8-9ABD-3F0A-AA0C-6406C121AA6A}"/>
              </a:ext>
            </a:extLst>
          </p:cNvPr>
          <p:cNvSpPr txBox="1">
            <a:spLocks noChangeArrowheads="1"/>
          </p:cNvSpPr>
          <p:nvPr/>
        </p:nvSpPr>
        <p:spPr bwMode="auto">
          <a:xfrm>
            <a:off x="457200" y="6324600"/>
            <a:ext cx="8229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200"/>
              <a:t>SOURCE:  https://www.tutor2u.net/business/reference/factors-that-have-contributed-to-globalisation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E7461-C862-149E-1E4C-1B0087B10BFF}"/>
              </a:ext>
            </a:extLst>
          </p:cNvPr>
          <p:cNvSpPr>
            <a:spLocks noGrp="1"/>
          </p:cNvSpPr>
          <p:nvPr>
            <p:ph type="title"/>
          </p:nvPr>
        </p:nvSpPr>
        <p:spPr/>
        <p:txBody>
          <a:bodyPr/>
          <a:lstStyle/>
          <a:p>
            <a:pPr>
              <a:defRPr/>
            </a:pPr>
            <a:endParaRPr lang="en-US" dirty="0"/>
          </a:p>
        </p:txBody>
      </p:sp>
      <p:pic>
        <p:nvPicPr>
          <p:cNvPr id="24578" name="Content Placeholder 4">
            <a:extLst>
              <a:ext uri="{FF2B5EF4-FFF2-40B4-BE49-F238E27FC236}">
                <a16:creationId xmlns:a16="http://schemas.microsoft.com/office/drawing/2014/main" id="{7357E914-F7CE-7F9D-F0F6-B2718667CDC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1000" y="1143000"/>
            <a:ext cx="8229600" cy="3529013"/>
          </a:xfrm>
        </p:spPr>
      </p:pic>
      <p:sp>
        <p:nvSpPr>
          <p:cNvPr id="24579" name="TextBox 5">
            <a:extLst>
              <a:ext uri="{FF2B5EF4-FFF2-40B4-BE49-F238E27FC236}">
                <a16:creationId xmlns:a16="http://schemas.microsoft.com/office/drawing/2014/main" id="{3DF824F4-9C63-8028-C7B8-2E166DDCB2C7}"/>
              </a:ext>
            </a:extLst>
          </p:cNvPr>
          <p:cNvSpPr txBox="1">
            <a:spLocks noChangeArrowheads="1"/>
          </p:cNvSpPr>
          <p:nvPr/>
        </p:nvSpPr>
        <p:spPr bwMode="auto">
          <a:xfrm>
            <a:off x="381000" y="5715000"/>
            <a:ext cx="8229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200"/>
              <a:t>https://cepr.org/voxeu/columns/globalisation-and-global-crises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8E54E-ACB1-BF98-2CB7-AF096916280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666B983-AB0A-E11B-9C4C-29A78230AB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9512" y="601847"/>
            <a:ext cx="4244975" cy="5654306"/>
          </a:xfrm>
        </p:spPr>
      </p:pic>
    </p:spTree>
    <p:extLst>
      <p:ext uri="{BB962C8B-B14F-4D97-AF65-F5344CB8AC3E}">
        <p14:creationId xmlns:p14="http://schemas.microsoft.com/office/powerpoint/2010/main" val="11272007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4F437429-98B0-9010-E07D-63B17269C445}"/>
              </a:ext>
            </a:extLst>
          </p:cNvPr>
          <p:cNvSpPr>
            <a:spLocks noGrp="1" noChangeArrowheads="1"/>
          </p:cNvSpPr>
          <p:nvPr>
            <p:ph type="title"/>
          </p:nvPr>
        </p:nvSpPr>
        <p:spPr/>
        <p:txBody>
          <a:bodyPr/>
          <a:lstStyle/>
          <a:p>
            <a:pPr eaLnBrk="1" hangingPunct="1">
              <a:defRPr/>
            </a:pPr>
            <a:r>
              <a:rPr lang="en-US" altLang="x-none" sz="3200" dirty="0">
                <a:solidFill>
                  <a:srgbClr val="FFFF00"/>
                </a:solidFill>
                <a:ea typeface="ＭＳ Ｐゴシック" charset="-128"/>
              </a:rPr>
              <a:t>What IS globalization?</a:t>
            </a:r>
            <a:endParaRPr lang="en-US" altLang="x-none" sz="3200" u="sng" dirty="0">
              <a:solidFill>
                <a:srgbClr val="FFFF00"/>
              </a:solidFill>
              <a:ea typeface="ＭＳ Ｐゴシック" charset="-128"/>
            </a:endParaRPr>
          </a:p>
        </p:txBody>
      </p:sp>
      <p:sp>
        <p:nvSpPr>
          <p:cNvPr id="41987" name="Rectangle 3">
            <a:extLst>
              <a:ext uri="{FF2B5EF4-FFF2-40B4-BE49-F238E27FC236}">
                <a16:creationId xmlns:a16="http://schemas.microsoft.com/office/drawing/2014/main" id="{E32C5C0A-CD42-16C1-5262-5D0F28651926}"/>
              </a:ext>
            </a:extLst>
          </p:cNvPr>
          <p:cNvSpPr>
            <a:spLocks noGrp="1" noChangeArrowheads="1"/>
          </p:cNvSpPr>
          <p:nvPr>
            <p:ph type="body" idx="1"/>
          </p:nvPr>
        </p:nvSpPr>
        <p:spPr/>
        <p:txBody>
          <a:bodyPr/>
          <a:lstStyle/>
          <a:p>
            <a:pPr eaLnBrk="1" hangingPunct="1">
              <a:buFont typeface="Wingdings" charset="2"/>
              <a:buChar char="l"/>
              <a:defRPr/>
            </a:pPr>
            <a:endParaRPr lang="en-US" altLang="x-none" dirty="0">
              <a:ea typeface="ＭＳ Ｐゴシック" charset="-128"/>
            </a:endParaRPr>
          </a:p>
          <a:p>
            <a:pPr eaLnBrk="1" hangingPunct="1">
              <a:buFont typeface="Wingdings" charset="2"/>
              <a:buChar char="l"/>
              <a:defRPr/>
            </a:pPr>
            <a:r>
              <a:rPr lang="en-US" altLang="x-none" dirty="0">
                <a:ea typeface="ＭＳ Ｐゴシック" charset="-128"/>
              </a:rPr>
              <a:t>Stretching</a:t>
            </a:r>
          </a:p>
          <a:p>
            <a:pPr eaLnBrk="1" hangingPunct="1">
              <a:buFont typeface="Wingdings" charset="2"/>
              <a:buChar char="l"/>
              <a:defRPr/>
            </a:pPr>
            <a:endParaRPr lang="en-US" altLang="x-none" dirty="0">
              <a:ea typeface="ＭＳ Ｐゴシック" charset="-128"/>
            </a:endParaRPr>
          </a:p>
          <a:p>
            <a:pPr eaLnBrk="1" hangingPunct="1">
              <a:buFont typeface="Wingdings" charset="2"/>
              <a:buChar char="l"/>
              <a:defRPr/>
            </a:pPr>
            <a:r>
              <a:rPr lang="en-US" altLang="x-none" dirty="0">
                <a:ea typeface="ＭＳ Ｐゴシック" charset="-128"/>
              </a:rPr>
              <a:t>Thickening</a:t>
            </a:r>
          </a:p>
          <a:p>
            <a:pPr eaLnBrk="1" hangingPunct="1">
              <a:buFont typeface="Wingdings" charset="2"/>
              <a:buChar char="l"/>
              <a:defRPr/>
            </a:pPr>
            <a:endParaRPr lang="en-US" altLang="x-none" dirty="0">
              <a:ea typeface="ＭＳ Ｐゴシック" charset="-128"/>
            </a:endParaRPr>
          </a:p>
          <a:p>
            <a:pPr eaLnBrk="1" hangingPunct="1">
              <a:buFont typeface="Wingdings" charset="2"/>
              <a:buChar char="l"/>
              <a:defRPr/>
            </a:pPr>
            <a:r>
              <a:rPr lang="en-US" altLang="x-none" dirty="0">
                <a:ea typeface="ＭＳ Ｐゴシック" charset="-128"/>
              </a:rPr>
              <a:t>Accelerating</a:t>
            </a:r>
          </a:p>
          <a:p>
            <a:pPr eaLnBrk="1" hangingPunct="1">
              <a:buFont typeface="Wingdings" charset="2"/>
              <a:buNone/>
              <a:defRPr/>
            </a:pPr>
            <a:endParaRPr lang="en-US" altLang="x-none" dirty="0">
              <a:ea typeface="ＭＳ Ｐゴシック" charset="-128"/>
            </a:endParaRPr>
          </a:p>
          <a:p>
            <a:pPr eaLnBrk="1" hangingPunct="1">
              <a:buFont typeface="Wingdings" charset="2"/>
              <a:buChar char="l"/>
              <a:defRPr/>
            </a:pPr>
            <a:r>
              <a:rPr lang="en-US" altLang="x-none" dirty="0">
                <a:ea typeface="ＭＳ Ｐゴシック" charset="-128"/>
              </a:rPr>
              <a:t>Deepening</a:t>
            </a:r>
          </a:p>
        </p:txBody>
      </p:sp>
    </p:spTree>
    <p:extLst>
      <p:ext uri="{BB962C8B-B14F-4D97-AF65-F5344CB8AC3E}">
        <p14:creationId xmlns:p14="http://schemas.microsoft.com/office/powerpoint/2010/main" val="8599174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29788-45CB-A95F-35F2-C1E0EFF0B972}"/>
              </a:ext>
            </a:extLst>
          </p:cNvPr>
          <p:cNvSpPr>
            <a:spLocks noGrp="1"/>
          </p:cNvSpPr>
          <p:nvPr>
            <p:ph type="title"/>
          </p:nvPr>
        </p:nvSpPr>
        <p:spPr/>
        <p:txBody>
          <a:bodyPr/>
          <a:lstStyle/>
          <a:p>
            <a:pPr eaLnBrk="1" hangingPunct="1">
              <a:defRPr/>
            </a:pPr>
            <a:r>
              <a:rPr lang="en-US" altLang="x-none" sz="4000" dirty="0">
                <a:solidFill>
                  <a:srgbClr val="FFFF00"/>
                </a:solidFill>
                <a:ea typeface="ＭＳ Ｐゴシック" charset="-128"/>
              </a:rPr>
              <a:t>Stretching</a:t>
            </a:r>
          </a:p>
        </p:txBody>
      </p:sp>
      <p:sp>
        <p:nvSpPr>
          <p:cNvPr id="3" name="Content Placeholder 2">
            <a:extLst>
              <a:ext uri="{FF2B5EF4-FFF2-40B4-BE49-F238E27FC236}">
                <a16:creationId xmlns:a16="http://schemas.microsoft.com/office/drawing/2014/main" id="{A018EBE0-731B-3640-5BF5-C97D4DD174E4}"/>
              </a:ext>
            </a:extLst>
          </p:cNvPr>
          <p:cNvSpPr>
            <a:spLocks noGrp="1"/>
          </p:cNvSpPr>
          <p:nvPr>
            <p:ph idx="1"/>
          </p:nvPr>
        </p:nvSpPr>
        <p:spPr/>
        <p:txBody>
          <a:bodyPr/>
          <a:lstStyle/>
          <a:p>
            <a:pPr eaLnBrk="1" hangingPunct="1">
              <a:buFont typeface="Wingdings" charset="2"/>
              <a:buNone/>
              <a:defRPr/>
            </a:pPr>
            <a:endParaRPr lang="en-US" altLang="x-none" dirty="0">
              <a:ea typeface="ＭＳ Ｐゴシック" charset="-128"/>
            </a:endParaRPr>
          </a:p>
          <a:p>
            <a:pPr eaLnBrk="1" hangingPunct="1">
              <a:buFont typeface="Wingdings" charset="2"/>
              <a:buNone/>
              <a:defRPr/>
            </a:pPr>
            <a:r>
              <a:rPr lang="en-US" altLang="x-none" dirty="0">
                <a:ea typeface="ＭＳ Ｐゴシック" charset="-128"/>
              </a:rPr>
              <a:t>	</a:t>
            </a:r>
            <a:r>
              <a:rPr lang="en-US" altLang="x-none" u="sng" dirty="0">
                <a:ea typeface="ＭＳ Ｐゴシック" charset="-128"/>
              </a:rPr>
              <a:t>Stretching</a:t>
            </a:r>
            <a:r>
              <a:rPr lang="en-US" altLang="x-none" dirty="0">
                <a:ea typeface="ＭＳ Ｐゴシック" charset="-128"/>
              </a:rPr>
              <a:t> refers to how social, political, and economic activities </a:t>
            </a:r>
            <a:r>
              <a:rPr lang="en-US" altLang="x-none" i="1" dirty="0">
                <a:ea typeface="ＭＳ Ｐゴシック" charset="-128"/>
              </a:rPr>
              <a:t>expand across political frontiers</a:t>
            </a:r>
            <a:r>
              <a:rPr lang="en-US" altLang="x-none" dirty="0">
                <a:ea typeface="ＭＳ Ｐゴシック" charset="-128"/>
              </a:rPr>
              <a:t>—to the point that events, decisions, and activities in one region of the world come to have significance for individuals and communities in places far away.</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72E52-C0FD-3AFC-F188-B24844B9F90E}"/>
              </a:ext>
            </a:extLst>
          </p:cNvPr>
          <p:cNvSpPr>
            <a:spLocks noGrp="1"/>
          </p:cNvSpPr>
          <p:nvPr>
            <p:ph type="title"/>
          </p:nvPr>
        </p:nvSpPr>
        <p:spPr/>
        <p:txBody>
          <a:bodyPr/>
          <a:lstStyle/>
          <a:p>
            <a:pPr eaLnBrk="1" hangingPunct="1">
              <a:defRPr/>
            </a:pPr>
            <a:r>
              <a:rPr lang="en-US" altLang="x-none" sz="4000" dirty="0">
                <a:solidFill>
                  <a:srgbClr val="FFFF00"/>
                </a:solidFill>
                <a:ea typeface="ＭＳ Ｐゴシック" charset="-128"/>
              </a:rPr>
              <a:t>Thickening</a:t>
            </a:r>
          </a:p>
        </p:txBody>
      </p:sp>
      <p:sp>
        <p:nvSpPr>
          <p:cNvPr id="3" name="Content Placeholder 2">
            <a:extLst>
              <a:ext uri="{FF2B5EF4-FFF2-40B4-BE49-F238E27FC236}">
                <a16:creationId xmlns:a16="http://schemas.microsoft.com/office/drawing/2014/main" id="{C9B154CA-DE4D-7D4C-3780-CF10A85F300B}"/>
              </a:ext>
            </a:extLst>
          </p:cNvPr>
          <p:cNvSpPr>
            <a:spLocks noGrp="1"/>
          </p:cNvSpPr>
          <p:nvPr>
            <p:ph idx="1"/>
          </p:nvPr>
        </p:nvSpPr>
        <p:spPr/>
        <p:txBody>
          <a:bodyPr/>
          <a:lstStyle/>
          <a:p>
            <a:pPr eaLnBrk="1" hangingPunct="1">
              <a:buFont typeface="Wingdings" charset="2"/>
              <a:buNone/>
              <a:defRPr/>
            </a:pPr>
            <a:endParaRPr lang="en-US" altLang="x-none" dirty="0">
              <a:ea typeface="ＭＳ Ｐゴシック" charset="-128"/>
            </a:endParaRPr>
          </a:p>
          <a:p>
            <a:pPr marL="342900" lvl="1" indent="-342900" eaLnBrk="1" hangingPunct="1">
              <a:buClr>
                <a:schemeClr val="hlink"/>
              </a:buClr>
              <a:buFont typeface="Wingdings" charset="2"/>
              <a:buNone/>
              <a:defRPr/>
            </a:pPr>
            <a:r>
              <a:rPr lang="en-US" altLang="x-none" dirty="0">
                <a:ea typeface="Arial" charset="0"/>
              </a:rPr>
              <a:t>	</a:t>
            </a:r>
            <a:r>
              <a:rPr lang="en-US" altLang="x-none" sz="3200" u="sng" dirty="0">
                <a:ea typeface="Arial" charset="0"/>
              </a:rPr>
              <a:t>Thickening</a:t>
            </a:r>
            <a:r>
              <a:rPr lang="en-US" altLang="x-none" sz="3200" dirty="0">
                <a:ea typeface="Arial" charset="0"/>
              </a:rPr>
              <a:t> indicates the </a:t>
            </a:r>
            <a:r>
              <a:rPr lang="en-US" altLang="x-none" sz="3200" i="1" dirty="0">
                <a:ea typeface="Arial" charset="0"/>
              </a:rPr>
              <a:t>growing magnitude of interconnectedness</a:t>
            </a:r>
            <a:r>
              <a:rPr lang="en-US" altLang="x-none" sz="3200" dirty="0">
                <a:ea typeface="Arial" charset="0"/>
              </a:rPr>
              <a:t> in almost every sphere of social existence worldwide—not just the economic and the cultural, for example, but also the ecological, epidemiological, and so on.</a:t>
            </a:r>
          </a:p>
          <a:p>
            <a:pPr eaLnBrk="1" hangingPunct="1">
              <a:buFont typeface="Wingdings" charset="2"/>
              <a:buNone/>
              <a:defRPr/>
            </a:pPr>
            <a:endParaRPr lang="en-US" altLang="x-none" dirty="0">
              <a:ea typeface="ＭＳ Ｐゴシック" charset="-128"/>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CA194-F757-FFD2-ADD1-C6B609AADF23}"/>
              </a:ext>
            </a:extLst>
          </p:cNvPr>
          <p:cNvSpPr>
            <a:spLocks noGrp="1"/>
          </p:cNvSpPr>
          <p:nvPr>
            <p:ph type="title"/>
          </p:nvPr>
        </p:nvSpPr>
        <p:spPr>
          <a:xfrm>
            <a:off x="457200" y="152400"/>
            <a:ext cx="8229600" cy="762000"/>
          </a:xfrm>
        </p:spPr>
        <p:txBody>
          <a:bodyPr/>
          <a:lstStyle/>
          <a:p>
            <a:pPr eaLnBrk="1" hangingPunct="1">
              <a:defRPr/>
            </a:pPr>
            <a:r>
              <a:rPr lang="en-US" altLang="en-US" sz="2800" dirty="0">
                <a:solidFill>
                  <a:schemeClr val="tx1">
                    <a:lumMod val="95000"/>
                  </a:schemeClr>
                </a:solidFill>
                <a:ea typeface="ＭＳ Ｐゴシック" panose="020B0600070205080204" pitchFamily="34" charset="-128"/>
              </a:rPr>
              <a:t>Global transportation networks</a:t>
            </a:r>
            <a:br>
              <a:rPr lang="en-US" altLang="en-US" sz="2800" dirty="0">
                <a:solidFill>
                  <a:schemeClr val="tx1">
                    <a:lumMod val="95000"/>
                  </a:schemeClr>
                </a:solidFill>
                <a:ea typeface="ＭＳ Ｐゴシック" panose="020B0600070205080204" pitchFamily="34" charset="-128"/>
              </a:rPr>
            </a:br>
            <a:r>
              <a:rPr lang="en-US" altLang="en-US" sz="2800" dirty="0">
                <a:solidFill>
                  <a:schemeClr val="tx1">
                    <a:lumMod val="95000"/>
                  </a:schemeClr>
                </a:solidFill>
                <a:ea typeface="ＭＳ Ｐゴシック" panose="020B0600070205080204" pitchFamily="34" charset="-128"/>
              </a:rPr>
              <a:t>(green: roads / blue: shipping / red: air)</a:t>
            </a:r>
          </a:p>
        </p:txBody>
      </p:sp>
      <p:pic>
        <p:nvPicPr>
          <p:cNvPr id="30722" name="Content Placeholder 3">
            <a:extLst>
              <a:ext uri="{FF2B5EF4-FFF2-40B4-BE49-F238E27FC236}">
                <a16:creationId xmlns:a16="http://schemas.microsoft.com/office/drawing/2014/main" id="{0ED50FB9-2ECD-5D4D-CE27-0D634836ADE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8738" y="1298575"/>
            <a:ext cx="9026525" cy="4513263"/>
          </a:xfrm>
        </p:spPr>
      </p:pic>
      <p:sp>
        <p:nvSpPr>
          <p:cNvPr id="30723" name="TextBox 2">
            <a:extLst>
              <a:ext uri="{FF2B5EF4-FFF2-40B4-BE49-F238E27FC236}">
                <a16:creationId xmlns:a16="http://schemas.microsoft.com/office/drawing/2014/main" id="{F9433E0D-2EF4-06A4-782B-C9BF223589B5}"/>
              </a:ext>
            </a:extLst>
          </p:cNvPr>
          <p:cNvSpPr txBox="1">
            <a:spLocks noChangeArrowheads="1"/>
          </p:cNvSpPr>
          <p:nvPr/>
        </p:nvSpPr>
        <p:spPr bwMode="auto">
          <a:xfrm>
            <a:off x="1524000" y="6248400"/>
            <a:ext cx="6248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200"/>
              <a:t>SOURCE:  https://imgur.com/gallery/MItUKcO</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23342-280C-3A5B-F986-79A480CEC847}"/>
              </a:ext>
            </a:extLst>
          </p:cNvPr>
          <p:cNvSpPr>
            <a:spLocks noGrp="1"/>
          </p:cNvSpPr>
          <p:nvPr>
            <p:ph type="title"/>
          </p:nvPr>
        </p:nvSpPr>
        <p:spPr>
          <a:xfrm>
            <a:off x="457200" y="152400"/>
            <a:ext cx="8229600" cy="457200"/>
          </a:xfrm>
        </p:spPr>
        <p:txBody>
          <a:bodyPr/>
          <a:lstStyle/>
          <a:p>
            <a:pPr eaLnBrk="1" hangingPunct="1">
              <a:defRPr/>
            </a:pPr>
            <a:endParaRPr lang="en-US" altLang="en-US" sz="2800" dirty="0">
              <a:solidFill>
                <a:schemeClr val="tx1">
                  <a:lumMod val="95000"/>
                </a:schemeClr>
              </a:solidFill>
              <a:ea typeface="ＭＳ Ｐゴシック" panose="020B0600070205080204" pitchFamily="34" charset="-128"/>
            </a:endParaRPr>
          </a:p>
        </p:txBody>
      </p:sp>
      <p:pic>
        <p:nvPicPr>
          <p:cNvPr id="31746" name="Content Placeholder 3">
            <a:extLst>
              <a:ext uri="{FF2B5EF4-FFF2-40B4-BE49-F238E27FC236}">
                <a16:creationId xmlns:a16="http://schemas.microsoft.com/office/drawing/2014/main" id="{9F4B6A2A-FBAE-875F-E283-C6AD5E5529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23900" y="-11113"/>
            <a:ext cx="7696200" cy="10688638"/>
          </a:xfr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2EDE8-46D4-AF0F-134A-0B45E5D1F0A0}"/>
              </a:ext>
            </a:extLst>
          </p:cNvPr>
          <p:cNvSpPr>
            <a:spLocks noGrp="1"/>
          </p:cNvSpPr>
          <p:nvPr>
            <p:ph type="title"/>
          </p:nvPr>
        </p:nvSpPr>
        <p:spPr>
          <a:xfrm>
            <a:off x="457200" y="277813"/>
            <a:ext cx="8229600" cy="857250"/>
          </a:xfrm>
        </p:spPr>
        <p:txBody>
          <a:bodyPr/>
          <a:lstStyle/>
          <a:p>
            <a:pPr>
              <a:defRPr/>
            </a:pPr>
            <a:r>
              <a:rPr lang="en-US" sz="3200" dirty="0">
                <a:solidFill>
                  <a:schemeClr val="tx1"/>
                </a:solidFill>
                <a:effectLst>
                  <a:outerShdw blurRad="38100" dist="38100" dir="2700000" algn="tl">
                    <a:srgbClr val="000000">
                      <a:alpha val="43137"/>
                    </a:srgbClr>
                  </a:outerShdw>
                </a:effectLst>
              </a:rPr>
              <a:t>Internet penetration rate, 2023</a:t>
            </a:r>
          </a:p>
        </p:txBody>
      </p:sp>
      <p:pic>
        <p:nvPicPr>
          <p:cNvPr id="32770" name="Content Placeholder 3">
            <a:extLst>
              <a:ext uri="{FF2B5EF4-FFF2-40B4-BE49-F238E27FC236}">
                <a16:creationId xmlns:a16="http://schemas.microsoft.com/office/drawing/2014/main" id="{9B7DA98D-5672-34D7-B1BA-C869F45371E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3675" y="1417638"/>
            <a:ext cx="8756650" cy="4305300"/>
          </a:xfrm>
        </p:spPr>
      </p:pic>
      <p:sp>
        <p:nvSpPr>
          <p:cNvPr id="32771" name="TextBox 2">
            <a:extLst>
              <a:ext uri="{FF2B5EF4-FFF2-40B4-BE49-F238E27FC236}">
                <a16:creationId xmlns:a16="http://schemas.microsoft.com/office/drawing/2014/main" id="{8911D93F-CED0-672A-E829-145F66ED364A}"/>
              </a:ext>
            </a:extLst>
          </p:cNvPr>
          <p:cNvSpPr txBox="1">
            <a:spLocks noChangeArrowheads="1"/>
          </p:cNvSpPr>
          <p:nvPr/>
        </p:nvSpPr>
        <p:spPr bwMode="auto">
          <a:xfrm>
            <a:off x="457200" y="6324600"/>
            <a:ext cx="8229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a:t>SOURCE:  https://en.m.wikipedia.org/wiki/File:InternetPenetrationWorldMap.svg</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2CF25-96E6-5969-69F4-12D27FC91A40}"/>
              </a:ext>
            </a:extLst>
          </p:cNvPr>
          <p:cNvSpPr>
            <a:spLocks noGrp="1"/>
          </p:cNvSpPr>
          <p:nvPr>
            <p:ph type="title"/>
          </p:nvPr>
        </p:nvSpPr>
        <p:spPr>
          <a:xfrm>
            <a:off x="457200" y="277813"/>
            <a:ext cx="8229600" cy="636587"/>
          </a:xfrm>
        </p:spPr>
        <p:txBody>
          <a:bodyPr/>
          <a:lstStyle/>
          <a:p>
            <a:pPr>
              <a:defRPr/>
            </a:pPr>
            <a:r>
              <a:rPr lang="en-US" altLang="x-none" sz="2400" dirty="0">
                <a:solidFill>
                  <a:schemeClr val="tx1"/>
                </a:solidFill>
                <a:ea typeface="ＭＳ Ｐゴシック" charset="-128"/>
              </a:rPr>
              <a:t>Nighttime on the Korean Peninsula</a:t>
            </a:r>
          </a:p>
        </p:txBody>
      </p:sp>
      <p:pic>
        <p:nvPicPr>
          <p:cNvPr id="33794" name="Content Placeholder 3" descr="North Korea at night.png">
            <a:extLst>
              <a:ext uri="{FF2B5EF4-FFF2-40B4-BE49-F238E27FC236}">
                <a16:creationId xmlns:a16="http://schemas.microsoft.com/office/drawing/2014/main" id="{5C4165E9-5B38-EE27-B76E-F15285A5652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0867" r="-30867"/>
          <a:stretch>
            <a:fillRect/>
          </a:stretch>
        </p:blipFill>
        <p:spPr>
          <a:xfrm>
            <a:off x="457200" y="1295400"/>
            <a:ext cx="8229600" cy="4530725"/>
          </a:xfr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85C1E-3623-D6BA-4DDD-173BACCB6A0C}"/>
              </a:ext>
            </a:extLst>
          </p:cNvPr>
          <p:cNvSpPr>
            <a:spLocks noGrp="1"/>
          </p:cNvSpPr>
          <p:nvPr>
            <p:ph type="title"/>
          </p:nvPr>
        </p:nvSpPr>
        <p:spPr/>
        <p:txBody>
          <a:bodyPr/>
          <a:lstStyle/>
          <a:p>
            <a:pPr eaLnBrk="1" hangingPunct="1">
              <a:defRPr/>
            </a:pPr>
            <a:r>
              <a:rPr lang="en-US" altLang="x-none" sz="4000" dirty="0">
                <a:solidFill>
                  <a:srgbClr val="FFFF00"/>
                </a:solidFill>
                <a:ea typeface="ＭＳ Ｐゴシック" charset="-128"/>
              </a:rPr>
              <a:t>Accelerating</a:t>
            </a:r>
          </a:p>
        </p:txBody>
      </p:sp>
      <p:sp>
        <p:nvSpPr>
          <p:cNvPr id="3" name="Content Placeholder 2">
            <a:extLst>
              <a:ext uri="{FF2B5EF4-FFF2-40B4-BE49-F238E27FC236}">
                <a16:creationId xmlns:a16="http://schemas.microsoft.com/office/drawing/2014/main" id="{A06C572A-B18D-8F03-0701-867400C12041}"/>
              </a:ext>
            </a:extLst>
          </p:cNvPr>
          <p:cNvSpPr>
            <a:spLocks noGrp="1"/>
          </p:cNvSpPr>
          <p:nvPr>
            <p:ph idx="1"/>
          </p:nvPr>
        </p:nvSpPr>
        <p:spPr/>
        <p:txBody>
          <a:bodyPr/>
          <a:lstStyle/>
          <a:p>
            <a:pPr eaLnBrk="1" hangingPunct="1">
              <a:buFont typeface="Wingdings" charset="2"/>
              <a:buNone/>
              <a:defRPr/>
            </a:pPr>
            <a:endParaRPr lang="en-US" altLang="x-none" dirty="0">
              <a:ea typeface="ＭＳ Ｐゴシック" charset="-128"/>
            </a:endParaRPr>
          </a:p>
          <a:p>
            <a:pPr eaLnBrk="1" hangingPunct="1">
              <a:buFont typeface="Wingdings" charset="2"/>
              <a:buNone/>
              <a:defRPr/>
            </a:pPr>
            <a:r>
              <a:rPr lang="en-US" altLang="x-none" dirty="0">
                <a:ea typeface="ＭＳ Ｐゴシック" charset="-128"/>
              </a:rPr>
              <a:t>	</a:t>
            </a:r>
            <a:r>
              <a:rPr lang="en-US" altLang="x-none" u="sng" dirty="0">
                <a:ea typeface="ＭＳ Ｐゴシック" charset="-128"/>
              </a:rPr>
              <a:t>Accelerating</a:t>
            </a:r>
            <a:r>
              <a:rPr lang="en-US" altLang="x-none" dirty="0">
                <a:ea typeface="ＭＳ Ｐゴシック" charset="-128"/>
              </a:rPr>
              <a:t> indicates how new transportation and communications technologies increase the </a:t>
            </a:r>
            <a:r>
              <a:rPr lang="en-US" altLang="x-none" i="1" dirty="0">
                <a:ea typeface="ＭＳ Ｐゴシック" charset="-128"/>
              </a:rPr>
              <a:t>velocity</a:t>
            </a:r>
            <a:r>
              <a:rPr lang="en-US" altLang="x-none" dirty="0">
                <a:ea typeface="ＭＳ Ｐゴシック" charset="-128"/>
              </a:rPr>
              <a:t> at which ideas, news, goods, information, and capital—plus technology itself, </a:t>
            </a:r>
            <a:r>
              <a:rPr lang="en-US" altLang="x-none" i="1" dirty="0">
                <a:ea typeface="ＭＳ Ｐゴシック" charset="-128"/>
              </a:rPr>
              <a:t>and microbes</a:t>
            </a:r>
            <a:r>
              <a:rPr lang="en-US" altLang="x-none" dirty="0">
                <a:ea typeface="ＭＳ Ｐゴシック" charset="-128"/>
              </a:rPr>
              <a:t>—move around the world.</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F633D-6EAD-EF03-D47B-C539142D00E8}"/>
              </a:ext>
            </a:extLst>
          </p:cNvPr>
          <p:cNvSpPr>
            <a:spLocks noGrp="1"/>
          </p:cNvSpPr>
          <p:nvPr>
            <p:ph type="title"/>
          </p:nvPr>
        </p:nvSpPr>
        <p:spPr/>
        <p:txBody>
          <a:bodyPr/>
          <a:lstStyle/>
          <a:p>
            <a:pPr>
              <a:defRPr/>
            </a:pPr>
            <a:endParaRPr lang="en-US" dirty="0"/>
          </a:p>
        </p:txBody>
      </p:sp>
      <p:pic>
        <p:nvPicPr>
          <p:cNvPr id="35842" name="Content Placeholder 4">
            <a:extLst>
              <a:ext uri="{FF2B5EF4-FFF2-40B4-BE49-F238E27FC236}">
                <a16:creationId xmlns:a16="http://schemas.microsoft.com/office/drawing/2014/main" id="{7D87426F-93DB-AC9F-61E0-DCA53B3812D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609600"/>
            <a:ext cx="7162800" cy="5457825"/>
          </a:xfr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C4614-6977-5B14-5D10-55F8ADAE39EC}"/>
              </a:ext>
            </a:extLst>
          </p:cNvPr>
          <p:cNvSpPr>
            <a:spLocks noGrp="1"/>
          </p:cNvSpPr>
          <p:nvPr>
            <p:ph type="title"/>
          </p:nvPr>
        </p:nvSpPr>
        <p:spPr/>
        <p:txBody>
          <a:bodyPr/>
          <a:lstStyle/>
          <a:p>
            <a:pPr>
              <a:defRPr/>
            </a:pPr>
            <a:endParaRPr lang="en-US" dirty="0"/>
          </a:p>
        </p:txBody>
      </p:sp>
      <p:pic>
        <p:nvPicPr>
          <p:cNvPr id="45058" name="Content Placeholder 4">
            <a:extLst>
              <a:ext uri="{FF2B5EF4-FFF2-40B4-BE49-F238E27FC236}">
                <a16:creationId xmlns:a16="http://schemas.microsoft.com/office/drawing/2014/main" id="{2EE6A22A-AC12-68C3-6910-FBB1B0A3A11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3025" y="914400"/>
            <a:ext cx="8997950" cy="4648200"/>
          </a:xfr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37E1B-279F-93C8-C35F-3328AB63275B}"/>
              </a:ext>
            </a:extLst>
          </p:cNvPr>
          <p:cNvSpPr>
            <a:spLocks noGrp="1"/>
          </p:cNvSpPr>
          <p:nvPr>
            <p:ph type="title"/>
          </p:nvPr>
        </p:nvSpPr>
        <p:spPr/>
        <p:txBody>
          <a:bodyPr/>
          <a:lstStyle/>
          <a:p>
            <a:pPr>
              <a:defRPr/>
            </a:pPr>
            <a:endParaRPr lang="en-US" dirty="0"/>
          </a:p>
        </p:txBody>
      </p:sp>
      <p:pic>
        <p:nvPicPr>
          <p:cNvPr id="46082" name="Content Placeholder 4">
            <a:extLst>
              <a:ext uri="{FF2B5EF4-FFF2-40B4-BE49-F238E27FC236}">
                <a16:creationId xmlns:a16="http://schemas.microsoft.com/office/drawing/2014/main" id="{C3D601E0-922F-52AF-490A-8E6DB64FE9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38350" y="609600"/>
            <a:ext cx="5067300" cy="4938713"/>
          </a:xfrm>
        </p:spPr>
      </p:pic>
      <p:sp>
        <p:nvSpPr>
          <p:cNvPr id="46083" name="TextBox 5">
            <a:extLst>
              <a:ext uri="{FF2B5EF4-FFF2-40B4-BE49-F238E27FC236}">
                <a16:creationId xmlns:a16="http://schemas.microsoft.com/office/drawing/2014/main" id="{7FA559AF-6564-CA6C-3B86-30CD85AE07B2}"/>
              </a:ext>
            </a:extLst>
          </p:cNvPr>
          <p:cNvSpPr txBox="1">
            <a:spLocks noChangeArrowheads="1"/>
          </p:cNvSpPr>
          <p:nvPr/>
        </p:nvSpPr>
        <p:spPr bwMode="auto">
          <a:xfrm>
            <a:off x="2362200" y="6096000"/>
            <a:ext cx="4267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200"/>
              <a:t>RPK = revenue passenger kilometers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D9361-2296-271D-11AE-E77E2A30ADF3}"/>
              </a:ext>
            </a:extLst>
          </p:cNvPr>
          <p:cNvSpPr>
            <a:spLocks noGrp="1"/>
          </p:cNvSpPr>
          <p:nvPr>
            <p:ph type="title"/>
          </p:nvPr>
        </p:nvSpPr>
        <p:spPr>
          <a:xfrm>
            <a:off x="457200" y="76200"/>
            <a:ext cx="8229600" cy="1017588"/>
          </a:xfrm>
        </p:spPr>
        <p:txBody>
          <a:bodyPr/>
          <a:lstStyle/>
          <a:p>
            <a:pPr>
              <a:defRPr/>
            </a:pPr>
            <a:r>
              <a:rPr lang="en-US" altLang="x-none" sz="2800" dirty="0">
                <a:solidFill>
                  <a:srgbClr val="FFFFFF"/>
                </a:solidFill>
                <a:effectLst>
                  <a:outerShdw blurRad="38100" dist="38100" dir="2700000" algn="tl">
                    <a:srgbClr val="010199"/>
                  </a:outerShdw>
                </a:effectLst>
                <a:ea typeface="ＭＳ Ｐゴシック" charset="-128"/>
              </a:rPr>
              <a:t>Financial crises these days quickly become global</a:t>
            </a:r>
          </a:p>
        </p:txBody>
      </p:sp>
      <p:pic>
        <p:nvPicPr>
          <p:cNvPr id="47106" name="Content Placeholder 3">
            <a:extLst>
              <a:ext uri="{FF2B5EF4-FFF2-40B4-BE49-F238E27FC236}">
                <a16:creationId xmlns:a16="http://schemas.microsoft.com/office/drawing/2014/main" id="{FBDE238E-C532-97CD-6568-65CA7185877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44513" y="1295400"/>
            <a:ext cx="8054975" cy="4530725"/>
          </a:xfrm>
        </p:spPr>
      </p:pic>
      <p:sp>
        <p:nvSpPr>
          <p:cNvPr id="47107" name="TextBox 2">
            <a:extLst>
              <a:ext uri="{FF2B5EF4-FFF2-40B4-BE49-F238E27FC236}">
                <a16:creationId xmlns:a16="http://schemas.microsoft.com/office/drawing/2014/main" id="{A56C79C0-903F-6301-A97A-05F92B6CFA99}"/>
              </a:ext>
            </a:extLst>
          </p:cNvPr>
          <p:cNvSpPr txBox="1">
            <a:spLocks noChangeArrowheads="1"/>
          </p:cNvSpPr>
          <p:nvPr/>
        </p:nvSpPr>
        <p:spPr bwMode="auto">
          <a:xfrm>
            <a:off x="1562100" y="6307138"/>
            <a:ext cx="6019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200"/>
              <a:t>SOURCE:  http://blog.yardeni.com/2012/01/world-stock-prices.html</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F61B-7925-1619-D9A6-F9DBA6B7A12D}"/>
              </a:ext>
            </a:extLst>
          </p:cNvPr>
          <p:cNvSpPr>
            <a:spLocks noGrp="1"/>
          </p:cNvSpPr>
          <p:nvPr>
            <p:ph type="title"/>
          </p:nvPr>
        </p:nvSpPr>
        <p:spPr>
          <a:xfrm>
            <a:off x="457200" y="228600"/>
            <a:ext cx="8229600" cy="636588"/>
          </a:xfrm>
        </p:spPr>
        <p:txBody>
          <a:bodyPr/>
          <a:lstStyle/>
          <a:p>
            <a:pPr>
              <a:defRPr/>
            </a:pPr>
            <a:r>
              <a:rPr lang="en-US" sz="3200" dirty="0">
                <a:solidFill>
                  <a:schemeClr val="tx1"/>
                </a:solidFill>
              </a:rPr>
              <a:t>The Great Recession (2007-2009)</a:t>
            </a:r>
          </a:p>
        </p:txBody>
      </p:sp>
      <p:pic>
        <p:nvPicPr>
          <p:cNvPr id="49154" name="Content Placeholder 4">
            <a:extLst>
              <a:ext uri="{FF2B5EF4-FFF2-40B4-BE49-F238E27FC236}">
                <a16:creationId xmlns:a16="http://schemas.microsoft.com/office/drawing/2014/main" id="{8ACFA165-BF6D-E955-E648-724F84FA8E7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38200" y="1066800"/>
            <a:ext cx="7658100" cy="4987925"/>
          </a:xfrm>
          <a:solidFill>
            <a:schemeClr val="tx1"/>
          </a:solidFill>
        </p:spPr>
      </p:pic>
      <p:sp>
        <p:nvSpPr>
          <p:cNvPr id="49155" name="TextBox 5">
            <a:extLst>
              <a:ext uri="{FF2B5EF4-FFF2-40B4-BE49-F238E27FC236}">
                <a16:creationId xmlns:a16="http://schemas.microsoft.com/office/drawing/2014/main" id="{6F98D062-9919-8FD5-3A48-CD16CE37E5E6}"/>
              </a:ext>
            </a:extLst>
          </p:cNvPr>
          <p:cNvSpPr txBox="1">
            <a:spLocks noChangeArrowheads="1"/>
          </p:cNvSpPr>
          <p:nvPr/>
        </p:nvSpPr>
        <p:spPr bwMode="auto">
          <a:xfrm>
            <a:off x="914400" y="6256338"/>
            <a:ext cx="75057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200"/>
              <a:t>SOURCE:  https://voxeu.org/article/explaining-global-great-recession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EA1FE-65C0-3EB7-8B06-C0EEAF708FB0}"/>
              </a:ext>
            </a:extLst>
          </p:cNvPr>
          <p:cNvSpPr>
            <a:spLocks noGrp="1"/>
          </p:cNvSpPr>
          <p:nvPr>
            <p:ph type="title"/>
          </p:nvPr>
        </p:nvSpPr>
        <p:spPr/>
        <p:txBody>
          <a:bodyPr/>
          <a:lstStyle/>
          <a:p>
            <a:pPr eaLnBrk="1" hangingPunct="1">
              <a:defRPr/>
            </a:pPr>
            <a:r>
              <a:rPr lang="en-US" altLang="x-none" sz="4000" dirty="0">
                <a:solidFill>
                  <a:srgbClr val="FFFF00"/>
                </a:solidFill>
                <a:ea typeface="ＭＳ Ｐゴシック" charset="-128"/>
              </a:rPr>
              <a:t>Deepening</a:t>
            </a:r>
          </a:p>
        </p:txBody>
      </p:sp>
      <p:sp>
        <p:nvSpPr>
          <p:cNvPr id="3" name="Content Placeholder 2">
            <a:extLst>
              <a:ext uri="{FF2B5EF4-FFF2-40B4-BE49-F238E27FC236}">
                <a16:creationId xmlns:a16="http://schemas.microsoft.com/office/drawing/2014/main" id="{9F877426-C3E9-7378-911D-C7ABFA2F0947}"/>
              </a:ext>
            </a:extLst>
          </p:cNvPr>
          <p:cNvSpPr>
            <a:spLocks noGrp="1"/>
          </p:cNvSpPr>
          <p:nvPr>
            <p:ph idx="1"/>
          </p:nvPr>
        </p:nvSpPr>
        <p:spPr/>
        <p:txBody>
          <a:bodyPr/>
          <a:lstStyle/>
          <a:p>
            <a:pPr eaLnBrk="1" hangingPunct="1">
              <a:buFont typeface="Wingdings" charset="2"/>
              <a:buNone/>
              <a:defRPr/>
            </a:pPr>
            <a:endParaRPr lang="en-US" altLang="x-none" dirty="0">
              <a:ea typeface="ＭＳ Ｐゴシック" charset="-128"/>
            </a:endParaRPr>
          </a:p>
          <a:p>
            <a:pPr eaLnBrk="1" hangingPunct="1">
              <a:buFont typeface="Wingdings" charset="2"/>
              <a:buNone/>
              <a:defRPr/>
            </a:pPr>
            <a:r>
              <a:rPr lang="en-US" altLang="x-none" dirty="0">
                <a:ea typeface="ＭＳ Ｐゴシック" charset="-128"/>
              </a:rPr>
              <a:t>	</a:t>
            </a:r>
            <a:r>
              <a:rPr lang="en-US" altLang="x-none" u="sng" dirty="0">
                <a:ea typeface="ＭＳ Ｐゴシック" charset="-128"/>
              </a:rPr>
              <a:t>Deepening</a:t>
            </a:r>
            <a:r>
              <a:rPr lang="en-US" altLang="x-none" dirty="0">
                <a:ea typeface="ＭＳ Ｐゴシック" charset="-128"/>
              </a:rPr>
              <a:t> refers to how stretching, thickening, and accelerating all COMBINE to produce an </a:t>
            </a:r>
            <a:r>
              <a:rPr lang="en-US" altLang="x-none" i="1" dirty="0">
                <a:ea typeface="ＭＳ Ｐゴシック" charset="-128"/>
              </a:rPr>
              <a:t>enmeshing</a:t>
            </a:r>
            <a:r>
              <a:rPr lang="en-US" altLang="x-none" dirty="0">
                <a:ea typeface="ＭＳ Ｐゴシック" charset="-128"/>
              </a:rPr>
              <a:t> of local and global </a:t>
            </a:r>
            <a:r>
              <a:rPr lang="en-US" altLang="x-none" u="sng" dirty="0">
                <a:ea typeface="ＭＳ Ｐゴシック" charset="-128"/>
              </a:rPr>
              <a:t>experience</a:t>
            </a:r>
            <a:r>
              <a:rPr lang="en-US" altLang="x-none" dirty="0">
                <a:ea typeface="ＭＳ Ｐゴシック" charset="-128"/>
              </a:rPr>
              <a:t> (both good and bad).  The boundaries disappear.</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6B1A7-C467-1F55-741A-02E1D18E208D}"/>
              </a:ext>
            </a:extLst>
          </p:cNvPr>
          <p:cNvSpPr>
            <a:spLocks noGrp="1"/>
          </p:cNvSpPr>
          <p:nvPr>
            <p:ph type="title"/>
          </p:nvPr>
        </p:nvSpPr>
        <p:spPr/>
        <p:txBody>
          <a:bodyPr/>
          <a:lstStyle/>
          <a:p>
            <a:pPr>
              <a:defRPr/>
            </a:pPr>
            <a:endParaRPr lang="en-US" altLang="en-US" dirty="0">
              <a:ea typeface="ＭＳ Ｐゴシック" panose="020B0600070205080204" pitchFamily="34" charset="-128"/>
            </a:endParaRPr>
          </a:p>
        </p:txBody>
      </p:sp>
      <p:pic>
        <p:nvPicPr>
          <p:cNvPr id="51202" name="Content Placeholder 3" descr="fastfood worldwide.jpg">
            <a:extLst>
              <a:ext uri="{FF2B5EF4-FFF2-40B4-BE49-F238E27FC236}">
                <a16:creationId xmlns:a16="http://schemas.microsoft.com/office/drawing/2014/main" id="{64E7DE5E-D9CF-462C-A86C-6D1578F4FAD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8311" r="-8311"/>
          <a:stretch>
            <a:fillRect/>
          </a:stretch>
        </p:blipFill>
        <p:spPr>
          <a:xfrm>
            <a:off x="-457200" y="609600"/>
            <a:ext cx="10058400" cy="5537200"/>
          </a:xfr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C6565-B565-EFD2-0646-E2FA457C0B24}"/>
              </a:ext>
            </a:extLst>
          </p:cNvPr>
          <p:cNvSpPr>
            <a:spLocks noGrp="1"/>
          </p:cNvSpPr>
          <p:nvPr>
            <p:ph type="title"/>
          </p:nvPr>
        </p:nvSpPr>
        <p:spPr>
          <a:xfrm>
            <a:off x="457200" y="152400"/>
            <a:ext cx="8229600" cy="762000"/>
          </a:xfrm>
        </p:spPr>
        <p:txBody>
          <a:bodyPr/>
          <a:lstStyle/>
          <a:p>
            <a:pPr>
              <a:defRPr/>
            </a:pPr>
            <a:r>
              <a:rPr lang="en-US" sz="3200" dirty="0">
                <a:solidFill>
                  <a:schemeClr val="tx1"/>
                </a:solidFill>
              </a:rPr>
              <a:t>The global reach of Starbucks</a:t>
            </a:r>
          </a:p>
        </p:txBody>
      </p:sp>
      <p:pic>
        <p:nvPicPr>
          <p:cNvPr id="52226" name="Content Placeholder 4">
            <a:extLst>
              <a:ext uri="{FF2B5EF4-FFF2-40B4-BE49-F238E27FC236}">
                <a16:creationId xmlns:a16="http://schemas.microsoft.com/office/drawing/2014/main" id="{07773971-6AB4-9689-C06A-0F5567B6EE7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30200" y="1295400"/>
            <a:ext cx="8483600" cy="4559300"/>
          </a:xfr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1F7D6-743A-708D-C3E6-E82CBD43FBD7}"/>
              </a:ext>
            </a:extLst>
          </p:cNvPr>
          <p:cNvSpPr>
            <a:spLocks noGrp="1"/>
          </p:cNvSpPr>
          <p:nvPr>
            <p:ph type="title"/>
          </p:nvPr>
        </p:nvSpPr>
        <p:spPr>
          <a:xfrm>
            <a:off x="498475" y="22225"/>
            <a:ext cx="8229600" cy="1139825"/>
          </a:xfrm>
        </p:spPr>
        <p:txBody>
          <a:bodyPr/>
          <a:lstStyle/>
          <a:p>
            <a:pPr>
              <a:defRPr/>
            </a:pPr>
            <a:r>
              <a:rPr lang="en-US" sz="3200" dirty="0">
                <a:solidFill>
                  <a:schemeClr val="tx1"/>
                </a:solidFill>
              </a:rPr>
              <a:t>The expansion of McDonald’s</a:t>
            </a:r>
          </a:p>
        </p:txBody>
      </p:sp>
      <p:pic>
        <p:nvPicPr>
          <p:cNvPr id="53250" name="Content Placeholder 4">
            <a:extLst>
              <a:ext uri="{FF2B5EF4-FFF2-40B4-BE49-F238E27FC236}">
                <a16:creationId xmlns:a16="http://schemas.microsoft.com/office/drawing/2014/main" id="{22BF03D7-1CD3-C178-D77D-D751EED3EE7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524000"/>
            <a:ext cx="8310563" cy="4183063"/>
          </a:xfrm>
          <a:solidFill>
            <a:schemeClr val="tx1"/>
          </a:solid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B5F3A-F425-9AD1-5DE3-CCE54F885008}"/>
              </a:ext>
            </a:extLst>
          </p:cNvPr>
          <p:cNvSpPr>
            <a:spLocks noGrp="1"/>
          </p:cNvSpPr>
          <p:nvPr>
            <p:ph type="title"/>
          </p:nvPr>
        </p:nvSpPr>
        <p:spPr>
          <a:xfrm>
            <a:off x="498475" y="22225"/>
            <a:ext cx="8229600" cy="1139825"/>
          </a:xfrm>
        </p:spPr>
        <p:txBody>
          <a:bodyPr/>
          <a:lstStyle/>
          <a:p>
            <a:pPr>
              <a:defRPr/>
            </a:pPr>
            <a:r>
              <a:rPr lang="en-US" sz="2400" dirty="0">
                <a:solidFill>
                  <a:schemeClr val="tx1"/>
                </a:solidFill>
              </a:rPr>
              <a:t>Is he “woke”?</a:t>
            </a:r>
          </a:p>
        </p:txBody>
      </p:sp>
      <p:pic>
        <p:nvPicPr>
          <p:cNvPr id="54274" name="Content Placeholder 4">
            <a:extLst>
              <a:ext uri="{FF2B5EF4-FFF2-40B4-BE49-F238E27FC236}">
                <a16:creationId xmlns:a16="http://schemas.microsoft.com/office/drawing/2014/main" id="{DF708BB7-63A2-5909-895F-EE9E4CD8040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70175" y="1162050"/>
            <a:ext cx="3803650" cy="6119813"/>
          </a:xfrm>
          <a:solidFill>
            <a:schemeClr val="tx1"/>
          </a:solidFill>
        </p:spPr>
      </p:pic>
      <p:pic>
        <p:nvPicPr>
          <p:cNvPr id="3" name="Content Placeholder 4">
            <a:extLst>
              <a:ext uri="{FF2B5EF4-FFF2-40B4-BE49-F238E27FC236}">
                <a16:creationId xmlns:a16="http://schemas.microsoft.com/office/drawing/2014/main" id="{D8A75219-55AD-9A1F-2473-FDDBAEEDE0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0175" y="1141606"/>
            <a:ext cx="3803650" cy="6119813"/>
          </a:xfrm>
          <a:prstGeom prst="rect">
            <a:avLst/>
          </a:prstGeom>
          <a:solidFill>
            <a:schemeClr val="tx1"/>
          </a:solid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5BAAB-8FAB-E8D5-3240-5A1130AE8EC9}"/>
              </a:ext>
            </a:extLst>
          </p:cNvPr>
          <p:cNvSpPr>
            <a:spLocks noGrp="1"/>
          </p:cNvSpPr>
          <p:nvPr>
            <p:ph type="title"/>
          </p:nvPr>
        </p:nvSpPr>
        <p:spPr/>
        <p:txBody>
          <a:bodyPr/>
          <a:lstStyle/>
          <a:p>
            <a:pPr>
              <a:defRPr/>
            </a:pPr>
            <a:endParaRPr lang="en-US" dirty="0"/>
          </a:p>
        </p:txBody>
      </p:sp>
      <p:pic>
        <p:nvPicPr>
          <p:cNvPr id="92162" name="Content Placeholder 4">
            <a:extLst>
              <a:ext uri="{FF2B5EF4-FFF2-40B4-BE49-F238E27FC236}">
                <a16:creationId xmlns:a16="http://schemas.microsoft.com/office/drawing/2014/main" id="{6ABB1273-9BAC-0985-E375-E603D837E4FE}"/>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34938" y="381000"/>
            <a:ext cx="8874125" cy="5629275"/>
          </a:xfr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A36D9-C1E7-1F9C-739D-9AFDD9D95637}"/>
              </a:ext>
            </a:extLst>
          </p:cNvPr>
          <p:cNvSpPr>
            <a:spLocks noGrp="1"/>
          </p:cNvSpPr>
          <p:nvPr>
            <p:ph type="title"/>
          </p:nvPr>
        </p:nvSpPr>
        <p:spPr/>
        <p:txBody>
          <a:bodyPr/>
          <a:lstStyle/>
          <a:p>
            <a:pPr>
              <a:defRPr/>
            </a:pPr>
            <a:endParaRPr lang="en-US" dirty="0"/>
          </a:p>
        </p:txBody>
      </p:sp>
      <p:pic>
        <p:nvPicPr>
          <p:cNvPr id="93186" name="Content Placeholder 4">
            <a:extLst>
              <a:ext uri="{FF2B5EF4-FFF2-40B4-BE49-F238E27FC236}">
                <a16:creationId xmlns:a16="http://schemas.microsoft.com/office/drawing/2014/main" id="{25855326-7A7D-093D-9D36-468830B83A92}"/>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90513" y="825500"/>
            <a:ext cx="8562975" cy="4089400"/>
          </a:xfrm>
        </p:spPr>
      </p:pic>
      <p:sp>
        <p:nvSpPr>
          <p:cNvPr id="93187" name="TextBox 2">
            <a:extLst>
              <a:ext uri="{FF2B5EF4-FFF2-40B4-BE49-F238E27FC236}">
                <a16:creationId xmlns:a16="http://schemas.microsoft.com/office/drawing/2014/main" id="{242803E1-7B19-F663-74DC-6425E4AF09F6}"/>
              </a:ext>
            </a:extLst>
          </p:cNvPr>
          <p:cNvSpPr txBox="1">
            <a:spLocks noChangeArrowheads="1"/>
          </p:cNvSpPr>
          <p:nvPr/>
        </p:nvSpPr>
        <p:spPr bwMode="auto">
          <a:xfrm>
            <a:off x="717550" y="5756275"/>
            <a:ext cx="77089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200"/>
              <a:t>SOURCE:  https://www.researchgate.net/figure/Winners-and-losers-of-globalization_fig2_321866876</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84CD1-7E23-93DD-C73C-04B53026D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878493-033B-00F7-88C6-7E9906D24D2F}"/>
              </a:ext>
            </a:extLst>
          </p:cNvPr>
          <p:cNvSpPr>
            <a:spLocks noGrp="1"/>
          </p:cNvSpPr>
          <p:nvPr>
            <p:ph type="title"/>
          </p:nvPr>
        </p:nvSpPr>
        <p:spPr>
          <a:xfrm>
            <a:off x="457200" y="277813"/>
            <a:ext cx="8229600" cy="788987"/>
          </a:xfrm>
        </p:spPr>
        <p:txBody>
          <a:bodyPr/>
          <a:lstStyle/>
          <a:p>
            <a:r>
              <a:rPr lang="en-US" sz="3200" dirty="0">
                <a:solidFill>
                  <a:srgbClr val="FFFF00"/>
                </a:solidFill>
              </a:rPr>
              <a:t>Globalization as a </a:t>
            </a:r>
            <a:r>
              <a:rPr lang="en-US" sz="3200" u="sng" dirty="0">
                <a:solidFill>
                  <a:srgbClr val="FFFF00"/>
                </a:solidFill>
              </a:rPr>
              <a:t>Response</a:t>
            </a:r>
            <a:r>
              <a:rPr lang="en-US" sz="3200" dirty="0">
                <a:solidFill>
                  <a:srgbClr val="FFFF00"/>
                </a:solidFill>
              </a:rPr>
              <a:t> to </a:t>
            </a:r>
            <a:br>
              <a:rPr lang="en-US" sz="3200" dirty="0">
                <a:solidFill>
                  <a:srgbClr val="FFFF00"/>
                </a:solidFill>
              </a:rPr>
            </a:br>
            <a:r>
              <a:rPr lang="en-US" sz="3200" dirty="0">
                <a:solidFill>
                  <a:srgbClr val="FFFF00"/>
                </a:solidFill>
              </a:rPr>
              <a:t>Hegemonic Stagnation and Decline</a:t>
            </a:r>
          </a:p>
        </p:txBody>
      </p:sp>
      <p:sp>
        <p:nvSpPr>
          <p:cNvPr id="3" name="Content Placeholder 2">
            <a:extLst>
              <a:ext uri="{FF2B5EF4-FFF2-40B4-BE49-F238E27FC236}">
                <a16:creationId xmlns:a16="http://schemas.microsoft.com/office/drawing/2014/main" id="{BD6151E1-B5DD-132F-0BD4-A654876DC223}"/>
              </a:ext>
            </a:extLst>
          </p:cNvPr>
          <p:cNvSpPr>
            <a:spLocks noGrp="1"/>
          </p:cNvSpPr>
          <p:nvPr>
            <p:ph idx="1"/>
          </p:nvPr>
        </p:nvSpPr>
        <p:spPr/>
        <p:txBody>
          <a:bodyPr/>
          <a:lstStyle/>
          <a:p>
            <a:pPr marL="0" indent="0">
              <a:buNone/>
            </a:pPr>
            <a:r>
              <a:rPr lang="en-US" sz="1800" dirty="0"/>
              <a:t>The 1980-2026 era of globalization is distinct from earlier periods of trade expansion insofar as it is characterized by two main features that </a:t>
            </a:r>
            <a:r>
              <a:rPr lang="en-US" sz="1800" dirty="0">
                <a:solidFill>
                  <a:srgbClr val="FFFF00"/>
                </a:solidFill>
              </a:rPr>
              <a:t>reinforce the core-periphery structure:</a:t>
            </a:r>
          </a:p>
          <a:p>
            <a:pPr marL="0" indent="0">
              <a:buNone/>
            </a:pPr>
            <a:endParaRPr lang="en-US" sz="1800" dirty="0"/>
          </a:p>
        </p:txBody>
      </p:sp>
    </p:spTree>
    <p:extLst>
      <p:ext uri="{BB962C8B-B14F-4D97-AF65-F5344CB8AC3E}">
        <p14:creationId xmlns:p14="http://schemas.microsoft.com/office/powerpoint/2010/main" val="16276341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F037B-F19B-8FBD-B919-09B85C463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5DAD3-975F-EEB7-C829-2547AF98C55E}"/>
              </a:ext>
            </a:extLst>
          </p:cNvPr>
          <p:cNvSpPr>
            <a:spLocks noGrp="1"/>
          </p:cNvSpPr>
          <p:nvPr>
            <p:ph type="title"/>
          </p:nvPr>
        </p:nvSpPr>
        <p:spPr>
          <a:xfrm>
            <a:off x="457200" y="277813"/>
            <a:ext cx="8229600" cy="788987"/>
          </a:xfrm>
        </p:spPr>
        <p:txBody>
          <a:bodyPr/>
          <a:lstStyle/>
          <a:p>
            <a:r>
              <a:rPr lang="en-US" sz="3200" dirty="0">
                <a:solidFill>
                  <a:srgbClr val="FFFF00"/>
                </a:solidFill>
              </a:rPr>
              <a:t>Globalization as a </a:t>
            </a:r>
            <a:r>
              <a:rPr lang="en-US" sz="3200" u="sng" dirty="0">
                <a:solidFill>
                  <a:srgbClr val="FFFF00"/>
                </a:solidFill>
              </a:rPr>
              <a:t>Response</a:t>
            </a:r>
            <a:r>
              <a:rPr lang="en-US" sz="3200" dirty="0">
                <a:solidFill>
                  <a:srgbClr val="FFFF00"/>
                </a:solidFill>
              </a:rPr>
              <a:t> to </a:t>
            </a:r>
            <a:br>
              <a:rPr lang="en-US" sz="3200" dirty="0">
                <a:solidFill>
                  <a:srgbClr val="FFFF00"/>
                </a:solidFill>
              </a:rPr>
            </a:br>
            <a:r>
              <a:rPr lang="en-US" sz="3200" dirty="0">
                <a:solidFill>
                  <a:srgbClr val="FFFF00"/>
                </a:solidFill>
              </a:rPr>
              <a:t>Hegemonic Stagnation and Decline</a:t>
            </a:r>
          </a:p>
        </p:txBody>
      </p:sp>
      <p:sp>
        <p:nvSpPr>
          <p:cNvPr id="3" name="Content Placeholder 2">
            <a:extLst>
              <a:ext uri="{FF2B5EF4-FFF2-40B4-BE49-F238E27FC236}">
                <a16:creationId xmlns:a16="http://schemas.microsoft.com/office/drawing/2014/main" id="{582641C1-9021-4EBF-D016-9CC45B345B0A}"/>
              </a:ext>
            </a:extLst>
          </p:cNvPr>
          <p:cNvSpPr>
            <a:spLocks noGrp="1"/>
          </p:cNvSpPr>
          <p:nvPr>
            <p:ph idx="1"/>
          </p:nvPr>
        </p:nvSpPr>
        <p:spPr/>
        <p:txBody>
          <a:bodyPr/>
          <a:lstStyle/>
          <a:p>
            <a:pPr marL="0" indent="0">
              <a:buNone/>
            </a:pPr>
            <a:r>
              <a:rPr lang="en-US" sz="1800" dirty="0"/>
              <a:t>The 1980-2026 era of globalization is distinct from earlier periods of trade expansion insofar as it is characterized by two main features that </a:t>
            </a:r>
            <a:r>
              <a:rPr lang="en-US" sz="1800" dirty="0">
                <a:solidFill>
                  <a:srgbClr val="FFFF00"/>
                </a:solidFill>
              </a:rPr>
              <a:t>reinforce the core-periphery structure:</a:t>
            </a:r>
          </a:p>
          <a:p>
            <a:pPr marL="0" indent="0">
              <a:buNone/>
            </a:pPr>
            <a:endParaRPr lang="en-US" sz="1800" dirty="0"/>
          </a:p>
          <a:p>
            <a:pPr marL="0" indent="0">
              <a:buNone/>
            </a:pPr>
            <a:r>
              <a:rPr lang="en-US" sz="1800" u="sng" dirty="0">
                <a:highlight>
                  <a:srgbClr val="000080"/>
                </a:highlight>
              </a:rPr>
              <a:t>The Globalization of Production</a:t>
            </a:r>
            <a:r>
              <a:rPr lang="en-US" sz="1800" dirty="0"/>
              <a:t>:  The defining feature of this era is the ability of multinational corporations to create a “global assembly line.”  From a structuralist perspective, this is the primary mechanism of modern exploitation.  </a:t>
            </a:r>
            <a:r>
              <a:rPr lang="en-US" sz="1800" dirty="0">
                <a:highlight>
                  <a:srgbClr val="800000"/>
                </a:highlight>
              </a:rPr>
              <a:t>It allows core-based firms to extract surplus value not just by trading finished goods for raw materials, but by directly exploiting cheaper labor in the periphery and semi-periphery for different stages of the production process</a:t>
            </a:r>
            <a:r>
              <a:rPr lang="en-US" sz="1800" dirty="0"/>
              <a:t>.</a:t>
            </a:r>
          </a:p>
          <a:p>
            <a:pPr marL="0" indent="0">
              <a:buNone/>
            </a:pPr>
            <a:endParaRPr lang="en-US" sz="1800" dirty="0"/>
          </a:p>
        </p:txBody>
      </p:sp>
    </p:spTree>
    <p:extLst>
      <p:ext uri="{BB962C8B-B14F-4D97-AF65-F5344CB8AC3E}">
        <p14:creationId xmlns:p14="http://schemas.microsoft.com/office/powerpoint/2010/main" val="34414455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ABCA0-3C3F-C1C4-CEE7-63956C951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65F53-919C-80F5-1B7B-968817D9AA41}"/>
              </a:ext>
            </a:extLst>
          </p:cNvPr>
          <p:cNvSpPr>
            <a:spLocks noGrp="1"/>
          </p:cNvSpPr>
          <p:nvPr>
            <p:ph type="title"/>
          </p:nvPr>
        </p:nvSpPr>
        <p:spPr>
          <a:xfrm>
            <a:off x="457200" y="277813"/>
            <a:ext cx="8229600" cy="788987"/>
          </a:xfrm>
        </p:spPr>
        <p:txBody>
          <a:bodyPr/>
          <a:lstStyle/>
          <a:p>
            <a:r>
              <a:rPr lang="en-US" sz="3200" dirty="0">
                <a:solidFill>
                  <a:srgbClr val="FFFF00"/>
                </a:solidFill>
              </a:rPr>
              <a:t>Globalization as a </a:t>
            </a:r>
            <a:r>
              <a:rPr lang="en-US" sz="3200" u="sng" dirty="0">
                <a:solidFill>
                  <a:srgbClr val="FFFF00"/>
                </a:solidFill>
              </a:rPr>
              <a:t>Response</a:t>
            </a:r>
            <a:r>
              <a:rPr lang="en-US" sz="3200" dirty="0">
                <a:solidFill>
                  <a:srgbClr val="FFFF00"/>
                </a:solidFill>
              </a:rPr>
              <a:t> to </a:t>
            </a:r>
            <a:br>
              <a:rPr lang="en-US" sz="3200" dirty="0">
                <a:solidFill>
                  <a:srgbClr val="FFFF00"/>
                </a:solidFill>
              </a:rPr>
            </a:br>
            <a:r>
              <a:rPr lang="en-US" sz="3200" dirty="0">
                <a:solidFill>
                  <a:srgbClr val="FFFF00"/>
                </a:solidFill>
              </a:rPr>
              <a:t>Hegemonic Stagnation and Decline</a:t>
            </a:r>
          </a:p>
        </p:txBody>
      </p:sp>
      <p:sp>
        <p:nvSpPr>
          <p:cNvPr id="3" name="Content Placeholder 2">
            <a:extLst>
              <a:ext uri="{FF2B5EF4-FFF2-40B4-BE49-F238E27FC236}">
                <a16:creationId xmlns:a16="http://schemas.microsoft.com/office/drawing/2014/main" id="{56B1A4E6-7143-99B5-2D06-8294387ADB4E}"/>
              </a:ext>
            </a:extLst>
          </p:cNvPr>
          <p:cNvSpPr>
            <a:spLocks noGrp="1"/>
          </p:cNvSpPr>
          <p:nvPr>
            <p:ph idx="1"/>
          </p:nvPr>
        </p:nvSpPr>
        <p:spPr/>
        <p:txBody>
          <a:bodyPr/>
          <a:lstStyle/>
          <a:p>
            <a:pPr marL="0" indent="0">
              <a:buNone/>
            </a:pPr>
            <a:r>
              <a:rPr lang="en-US" sz="1800" dirty="0"/>
              <a:t>The 1980-2026 era of globalization is distinct from earlier periods of trade expansion insofar as it is characterized by two main features that </a:t>
            </a:r>
            <a:r>
              <a:rPr lang="en-US" sz="1800" dirty="0">
                <a:solidFill>
                  <a:srgbClr val="FFFF00"/>
                </a:solidFill>
              </a:rPr>
              <a:t>reinforce the core-periphery structure:</a:t>
            </a:r>
          </a:p>
          <a:p>
            <a:pPr marL="0" indent="0">
              <a:buNone/>
            </a:pPr>
            <a:endParaRPr lang="en-US" sz="1800" dirty="0"/>
          </a:p>
          <a:p>
            <a:pPr marL="0" indent="0">
              <a:buNone/>
            </a:pPr>
            <a:r>
              <a:rPr lang="en-US" sz="1800" u="sng" dirty="0">
                <a:highlight>
                  <a:srgbClr val="000080"/>
                </a:highlight>
              </a:rPr>
              <a:t>The Globalization of Production</a:t>
            </a:r>
            <a:r>
              <a:rPr lang="en-US" sz="1800" dirty="0"/>
              <a:t>:  The defining feature of this era is the ability of multinational corporations to create a “global assembly line.”  From a structuralist perspective, this is the primary mechanism of modern exploitation.  </a:t>
            </a:r>
            <a:r>
              <a:rPr lang="en-US" sz="1800" dirty="0">
                <a:highlight>
                  <a:srgbClr val="800000"/>
                </a:highlight>
              </a:rPr>
              <a:t>It allows core-based firms to extract surplus value not just by trading finished goods for raw materials, but by directly exploiting cheaper labor in the periphery and semi-periphery for different stages of the production process</a:t>
            </a:r>
            <a:r>
              <a:rPr lang="en-US" sz="1800" dirty="0"/>
              <a:t>.</a:t>
            </a:r>
          </a:p>
          <a:p>
            <a:pPr marL="0" indent="0">
              <a:buNone/>
            </a:pPr>
            <a:endParaRPr lang="en-US" sz="1800" dirty="0"/>
          </a:p>
          <a:p>
            <a:pPr marL="0" indent="0">
              <a:buNone/>
            </a:pPr>
            <a:r>
              <a:rPr lang="en-US" sz="1800" u="sng" dirty="0">
                <a:highlight>
                  <a:srgbClr val="000080"/>
                </a:highlight>
              </a:rPr>
              <a:t>Financialization and Institutional Enforcement</a:t>
            </a:r>
            <a:r>
              <a:rPr lang="en-US" sz="1800" dirty="0"/>
              <a:t>:  The deregulation of financial markets allows capital to flow across borders with unprecedented speed.  This isn't just about efficiency; it's a tool of power.  </a:t>
            </a:r>
            <a:r>
              <a:rPr lang="en-US" sz="1800" dirty="0">
                <a:highlight>
                  <a:srgbClr val="008000"/>
                </a:highlight>
              </a:rPr>
              <a:t>The IMF and the World Bank are not neutral arbiters (as liberals might argue) but as enforcers of the core's interests, imposing neoliberal policies (structural adjustment, austerity) on peripheral states and ensuring they remain open to penetration by core capital</a:t>
            </a:r>
            <a:r>
              <a:rPr lang="en-US" sz="1800" dirty="0"/>
              <a:t>.</a:t>
            </a:r>
          </a:p>
        </p:txBody>
      </p:sp>
    </p:spTree>
    <p:extLst>
      <p:ext uri="{BB962C8B-B14F-4D97-AF65-F5344CB8AC3E}">
        <p14:creationId xmlns:p14="http://schemas.microsoft.com/office/powerpoint/2010/main" val="3058149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3ECDE-0534-FB1F-E20D-ECE2E0983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2F13E5-B428-D884-E01E-5BCE2EDFEEF6}"/>
              </a:ext>
            </a:extLst>
          </p:cNvPr>
          <p:cNvSpPr>
            <a:spLocks noGrp="1"/>
          </p:cNvSpPr>
          <p:nvPr>
            <p:ph type="title"/>
          </p:nvPr>
        </p:nvSpPr>
        <p:spPr>
          <a:xfrm>
            <a:off x="457200" y="277813"/>
            <a:ext cx="8229600" cy="788987"/>
          </a:xfrm>
        </p:spPr>
        <p:txBody>
          <a:bodyPr/>
          <a:lstStyle/>
          <a:p>
            <a:r>
              <a:rPr lang="en-US" sz="3200" dirty="0">
                <a:solidFill>
                  <a:srgbClr val="FFFF00"/>
                </a:solidFill>
              </a:rPr>
              <a:t>Globalization as a </a:t>
            </a:r>
            <a:r>
              <a:rPr lang="en-US" sz="3200" u="sng" dirty="0">
                <a:solidFill>
                  <a:srgbClr val="FFFF00"/>
                </a:solidFill>
              </a:rPr>
              <a:t>Response</a:t>
            </a:r>
            <a:r>
              <a:rPr lang="en-US" sz="3200" dirty="0">
                <a:solidFill>
                  <a:srgbClr val="FFFF00"/>
                </a:solidFill>
              </a:rPr>
              <a:t> to </a:t>
            </a:r>
            <a:br>
              <a:rPr lang="en-US" sz="3200" dirty="0">
                <a:solidFill>
                  <a:srgbClr val="FFFF00"/>
                </a:solidFill>
              </a:rPr>
            </a:br>
            <a:r>
              <a:rPr lang="en-US" sz="3200" dirty="0">
                <a:solidFill>
                  <a:srgbClr val="FFFF00"/>
                </a:solidFill>
              </a:rPr>
              <a:t>Hegemonic Stagnation and Decline</a:t>
            </a:r>
          </a:p>
        </p:txBody>
      </p:sp>
      <p:sp>
        <p:nvSpPr>
          <p:cNvPr id="3" name="Content Placeholder 2">
            <a:extLst>
              <a:ext uri="{FF2B5EF4-FFF2-40B4-BE49-F238E27FC236}">
                <a16:creationId xmlns:a16="http://schemas.microsoft.com/office/drawing/2014/main" id="{8BEACC8A-4B10-0FBA-A861-D9D14766B062}"/>
              </a:ext>
            </a:extLst>
          </p:cNvPr>
          <p:cNvSpPr>
            <a:spLocks noGrp="1"/>
          </p:cNvSpPr>
          <p:nvPr>
            <p:ph idx="1"/>
          </p:nvPr>
        </p:nvSpPr>
        <p:spPr/>
        <p:txBody>
          <a:bodyPr/>
          <a:lstStyle/>
          <a:p>
            <a:pPr marL="0" indent="0">
              <a:buNone/>
            </a:pPr>
            <a:r>
              <a:rPr lang="en-US" sz="1800" dirty="0"/>
              <a:t>This intensified globalization, while temporarily solving the profitability crisis for core capital, ultimately </a:t>
            </a:r>
            <a:r>
              <a:rPr lang="en-US" sz="1800" dirty="0">
                <a:solidFill>
                  <a:srgbClr val="FFFF00"/>
                </a:solidFill>
              </a:rPr>
              <a:t>accelerates the contradictions that lead to hegemonic decline through delegitimization and then conflict</a:t>
            </a:r>
            <a:r>
              <a:rPr lang="en-US" sz="1800" dirty="0"/>
              <a:t>:</a:t>
            </a:r>
          </a:p>
          <a:p>
            <a:pPr marL="0" indent="0">
              <a:buNone/>
            </a:pPr>
            <a:endParaRPr lang="en-US" sz="1800" dirty="0"/>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20212647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28C0-F31E-D54C-4DCA-D40780DE2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F67AD-8CE5-1718-BE44-9D70225F0D9F}"/>
              </a:ext>
            </a:extLst>
          </p:cNvPr>
          <p:cNvSpPr>
            <a:spLocks noGrp="1"/>
          </p:cNvSpPr>
          <p:nvPr>
            <p:ph type="title"/>
          </p:nvPr>
        </p:nvSpPr>
        <p:spPr>
          <a:xfrm>
            <a:off x="457200" y="277813"/>
            <a:ext cx="8229600" cy="788987"/>
          </a:xfrm>
        </p:spPr>
        <p:txBody>
          <a:bodyPr/>
          <a:lstStyle/>
          <a:p>
            <a:r>
              <a:rPr lang="en-US" sz="3200" dirty="0">
                <a:solidFill>
                  <a:srgbClr val="FFFF00"/>
                </a:solidFill>
              </a:rPr>
              <a:t>Globalization as a </a:t>
            </a:r>
            <a:r>
              <a:rPr lang="en-US" sz="3200" u="sng" dirty="0">
                <a:solidFill>
                  <a:srgbClr val="FFFF00"/>
                </a:solidFill>
              </a:rPr>
              <a:t>Response</a:t>
            </a:r>
            <a:r>
              <a:rPr lang="en-US" sz="3200" dirty="0">
                <a:solidFill>
                  <a:srgbClr val="FFFF00"/>
                </a:solidFill>
              </a:rPr>
              <a:t> to </a:t>
            </a:r>
            <a:br>
              <a:rPr lang="en-US" sz="3200" dirty="0">
                <a:solidFill>
                  <a:srgbClr val="FFFF00"/>
                </a:solidFill>
              </a:rPr>
            </a:br>
            <a:r>
              <a:rPr lang="en-US" sz="3200" dirty="0">
                <a:solidFill>
                  <a:srgbClr val="FFFF00"/>
                </a:solidFill>
              </a:rPr>
              <a:t>Hegemonic Stagnation and Decline</a:t>
            </a:r>
          </a:p>
        </p:txBody>
      </p:sp>
      <p:sp>
        <p:nvSpPr>
          <p:cNvPr id="3" name="Content Placeholder 2">
            <a:extLst>
              <a:ext uri="{FF2B5EF4-FFF2-40B4-BE49-F238E27FC236}">
                <a16:creationId xmlns:a16="http://schemas.microsoft.com/office/drawing/2014/main" id="{5C0CA7B4-DC19-3861-AC87-4A0E1F52C305}"/>
              </a:ext>
            </a:extLst>
          </p:cNvPr>
          <p:cNvSpPr>
            <a:spLocks noGrp="1"/>
          </p:cNvSpPr>
          <p:nvPr>
            <p:ph idx="1"/>
          </p:nvPr>
        </p:nvSpPr>
        <p:spPr/>
        <p:txBody>
          <a:bodyPr/>
          <a:lstStyle/>
          <a:p>
            <a:pPr marL="0" indent="0">
              <a:buNone/>
            </a:pPr>
            <a:r>
              <a:rPr lang="en-US" sz="1800" dirty="0"/>
              <a:t>This intensified globalization, while temporarily solving the profitability crisis for core capital, ultimately </a:t>
            </a:r>
            <a:r>
              <a:rPr lang="en-US" sz="1800" dirty="0">
                <a:solidFill>
                  <a:srgbClr val="FFFF00"/>
                </a:solidFill>
              </a:rPr>
              <a:t>accelerates the contradictions that lead to hegemonic decline through delegitimization and then conflict</a:t>
            </a:r>
            <a:r>
              <a:rPr lang="en-US" sz="1800" dirty="0"/>
              <a:t>:</a:t>
            </a:r>
          </a:p>
          <a:p>
            <a:pPr marL="0" indent="0">
              <a:buNone/>
            </a:pPr>
            <a:endParaRPr lang="en-US" sz="1800" dirty="0"/>
          </a:p>
          <a:p>
            <a:pPr marL="0" indent="0">
              <a:buNone/>
            </a:pPr>
            <a:r>
              <a:rPr lang="en-US" sz="1800" dirty="0">
                <a:highlight>
                  <a:srgbClr val="800080"/>
                </a:highlight>
              </a:rPr>
              <a:t>It speeds up uneven development</a:t>
            </a:r>
            <a:r>
              <a:rPr lang="en-US" sz="1800" dirty="0"/>
              <a:t>, dramatically empowering certain semi-peripheral states (most notably China) that can leverage the system to become peer competitors.  This creates the very rivals that will challenge the hegemon's position.</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13214815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01C6C-381C-809E-AFAA-519D033E36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2E6481-78F2-8EAB-1894-7C76AEB5E385}"/>
              </a:ext>
            </a:extLst>
          </p:cNvPr>
          <p:cNvSpPr>
            <a:spLocks noGrp="1"/>
          </p:cNvSpPr>
          <p:nvPr>
            <p:ph type="title"/>
          </p:nvPr>
        </p:nvSpPr>
        <p:spPr>
          <a:xfrm>
            <a:off x="457200" y="277813"/>
            <a:ext cx="8229600" cy="788987"/>
          </a:xfrm>
        </p:spPr>
        <p:txBody>
          <a:bodyPr/>
          <a:lstStyle/>
          <a:p>
            <a:r>
              <a:rPr lang="en-US" sz="3200" dirty="0">
                <a:solidFill>
                  <a:srgbClr val="FFFF00"/>
                </a:solidFill>
              </a:rPr>
              <a:t>Globalization as a </a:t>
            </a:r>
            <a:r>
              <a:rPr lang="en-US" sz="3200" u="sng" dirty="0">
                <a:solidFill>
                  <a:srgbClr val="FFFF00"/>
                </a:solidFill>
              </a:rPr>
              <a:t>Response</a:t>
            </a:r>
            <a:r>
              <a:rPr lang="en-US" sz="3200" dirty="0">
                <a:solidFill>
                  <a:srgbClr val="FFFF00"/>
                </a:solidFill>
              </a:rPr>
              <a:t> to </a:t>
            </a:r>
            <a:br>
              <a:rPr lang="en-US" sz="3200" dirty="0">
                <a:solidFill>
                  <a:srgbClr val="FFFF00"/>
                </a:solidFill>
              </a:rPr>
            </a:br>
            <a:r>
              <a:rPr lang="en-US" sz="3200" dirty="0">
                <a:solidFill>
                  <a:srgbClr val="FFFF00"/>
                </a:solidFill>
              </a:rPr>
              <a:t>Hegemonic Stagnation and Decline</a:t>
            </a:r>
          </a:p>
        </p:txBody>
      </p:sp>
      <p:sp>
        <p:nvSpPr>
          <p:cNvPr id="3" name="Content Placeholder 2">
            <a:extLst>
              <a:ext uri="{FF2B5EF4-FFF2-40B4-BE49-F238E27FC236}">
                <a16:creationId xmlns:a16="http://schemas.microsoft.com/office/drawing/2014/main" id="{89375C0F-71D7-9845-5193-EF85E0A942C3}"/>
              </a:ext>
            </a:extLst>
          </p:cNvPr>
          <p:cNvSpPr>
            <a:spLocks noGrp="1"/>
          </p:cNvSpPr>
          <p:nvPr>
            <p:ph idx="1"/>
          </p:nvPr>
        </p:nvSpPr>
        <p:spPr/>
        <p:txBody>
          <a:bodyPr/>
          <a:lstStyle/>
          <a:p>
            <a:pPr marL="0" indent="0">
              <a:buNone/>
            </a:pPr>
            <a:r>
              <a:rPr lang="en-US" sz="1800" dirty="0"/>
              <a:t>This intensified globalization, while temporarily solving the profitability crisis for core capital, ultimately </a:t>
            </a:r>
            <a:r>
              <a:rPr lang="en-US" sz="1800" dirty="0">
                <a:solidFill>
                  <a:srgbClr val="FFFF00"/>
                </a:solidFill>
              </a:rPr>
              <a:t>accelerates the contradictions that lead to hegemonic decline through delegitimization and then conflict</a:t>
            </a:r>
            <a:r>
              <a:rPr lang="en-US" sz="1800" dirty="0"/>
              <a:t>:</a:t>
            </a:r>
          </a:p>
          <a:p>
            <a:pPr marL="0" indent="0">
              <a:buNone/>
            </a:pPr>
            <a:endParaRPr lang="en-US" sz="1800" dirty="0"/>
          </a:p>
          <a:p>
            <a:pPr marL="0" indent="0">
              <a:buNone/>
            </a:pPr>
            <a:r>
              <a:rPr lang="en-US" sz="1800" dirty="0">
                <a:highlight>
                  <a:srgbClr val="800080"/>
                </a:highlight>
              </a:rPr>
              <a:t>It speeds up uneven development</a:t>
            </a:r>
            <a:r>
              <a:rPr lang="en-US" sz="1800" dirty="0"/>
              <a:t>, dramatically empowering certain semi-peripheral states (most notably China) that can leverage the system to become peer competitors.  This creates the very rivals that will challenge the hegemon's position.</a:t>
            </a:r>
          </a:p>
          <a:p>
            <a:pPr marL="0" indent="0">
              <a:buNone/>
            </a:pPr>
            <a:endParaRPr lang="en-US" sz="1800" dirty="0"/>
          </a:p>
          <a:p>
            <a:pPr marL="0" indent="0">
              <a:buNone/>
            </a:pPr>
            <a:r>
              <a:rPr lang="en-US" sz="1800" dirty="0">
                <a:highlight>
                  <a:srgbClr val="800000"/>
                </a:highlight>
              </a:rPr>
              <a:t>It deepens global inequality</a:t>
            </a:r>
            <a:r>
              <a:rPr lang="en-US" sz="1800" dirty="0"/>
              <a:t>, creating widespread social and political instability both within and between countries.  This fuels resistance, from grassroots social movements to terrorist networks, further undermining global order.</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9753825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D48D7-ED43-C57D-39BD-6F0EC674F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C2EB17-E333-99CD-29D2-888529D53D53}"/>
              </a:ext>
            </a:extLst>
          </p:cNvPr>
          <p:cNvSpPr>
            <a:spLocks noGrp="1"/>
          </p:cNvSpPr>
          <p:nvPr>
            <p:ph type="title"/>
          </p:nvPr>
        </p:nvSpPr>
        <p:spPr>
          <a:xfrm>
            <a:off x="457200" y="277813"/>
            <a:ext cx="8229600" cy="788987"/>
          </a:xfrm>
        </p:spPr>
        <p:txBody>
          <a:bodyPr/>
          <a:lstStyle/>
          <a:p>
            <a:r>
              <a:rPr lang="en-US" sz="3200" dirty="0">
                <a:solidFill>
                  <a:srgbClr val="FFFF00"/>
                </a:solidFill>
              </a:rPr>
              <a:t>Globalization as a </a:t>
            </a:r>
            <a:r>
              <a:rPr lang="en-US" sz="3200" u="sng" dirty="0">
                <a:solidFill>
                  <a:srgbClr val="FFFF00"/>
                </a:solidFill>
              </a:rPr>
              <a:t>Response</a:t>
            </a:r>
            <a:r>
              <a:rPr lang="en-US" sz="3200" dirty="0">
                <a:solidFill>
                  <a:srgbClr val="FFFF00"/>
                </a:solidFill>
              </a:rPr>
              <a:t> to </a:t>
            </a:r>
            <a:br>
              <a:rPr lang="en-US" sz="3200" dirty="0">
                <a:solidFill>
                  <a:srgbClr val="FFFF00"/>
                </a:solidFill>
              </a:rPr>
            </a:br>
            <a:r>
              <a:rPr lang="en-US" sz="3200" dirty="0">
                <a:solidFill>
                  <a:srgbClr val="FFFF00"/>
                </a:solidFill>
              </a:rPr>
              <a:t>Hegemonic Stagnation and Decline</a:t>
            </a:r>
          </a:p>
        </p:txBody>
      </p:sp>
      <p:sp>
        <p:nvSpPr>
          <p:cNvPr id="3" name="Content Placeholder 2">
            <a:extLst>
              <a:ext uri="{FF2B5EF4-FFF2-40B4-BE49-F238E27FC236}">
                <a16:creationId xmlns:a16="http://schemas.microsoft.com/office/drawing/2014/main" id="{F23927BA-11FB-33CA-93D3-B7A611979EA8}"/>
              </a:ext>
            </a:extLst>
          </p:cNvPr>
          <p:cNvSpPr>
            <a:spLocks noGrp="1"/>
          </p:cNvSpPr>
          <p:nvPr>
            <p:ph idx="1"/>
          </p:nvPr>
        </p:nvSpPr>
        <p:spPr/>
        <p:txBody>
          <a:bodyPr/>
          <a:lstStyle/>
          <a:p>
            <a:pPr marL="0" indent="0">
              <a:buNone/>
            </a:pPr>
            <a:r>
              <a:rPr lang="en-US" sz="1800" dirty="0"/>
              <a:t>This intensified globalization, while temporarily solving the profitability crisis for core capital, ultimately </a:t>
            </a:r>
            <a:r>
              <a:rPr lang="en-US" sz="1800" dirty="0">
                <a:solidFill>
                  <a:srgbClr val="FFFF00"/>
                </a:solidFill>
              </a:rPr>
              <a:t>accelerates the contradictions that lead to hegemonic decline through delegitimization and then conflict</a:t>
            </a:r>
            <a:r>
              <a:rPr lang="en-US" sz="1800" dirty="0"/>
              <a:t>:</a:t>
            </a:r>
          </a:p>
          <a:p>
            <a:pPr marL="0" indent="0">
              <a:buNone/>
            </a:pPr>
            <a:endParaRPr lang="en-US" sz="1800" dirty="0"/>
          </a:p>
          <a:p>
            <a:pPr marL="0" indent="0">
              <a:buNone/>
            </a:pPr>
            <a:r>
              <a:rPr lang="en-US" sz="1800" dirty="0">
                <a:highlight>
                  <a:srgbClr val="800080"/>
                </a:highlight>
              </a:rPr>
              <a:t>It speeds up uneven development</a:t>
            </a:r>
            <a:r>
              <a:rPr lang="en-US" sz="1800" dirty="0"/>
              <a:t>, dramatically empowering certain semi-peripheral states (most notably China) that can leverage the system to become peer competitors.  This creates the very rivals that will challenge the hegemon's position.</a:t>
            </a:r>
          </a:p>
          <a:p>
            <a:pPr marL="0" indent="0">
              <a:buNone/>
            </a:pPr>
            <a:endParaRPr lang="en-US" sz="1800" dirty="0"/>
          </a:p>
          <a:p>
            <a:pPr marL="0" indent="0">
              <a:buNone/>
            </a:pPr>
            <a:r>
              <a:rPr lang="en-US" sz="1800" dirty="0">
                <a:highlight>
                  <a:srgbClr val="800000"/>
                </a:highlight>
              </a:rPr>
              <a:t>It deepens global inequality</a:t>
            </a:r>
            <a:r>
              <a:rPr lang="en-US" sz="1800" dirty="0"/>
              <a:t>, creating widespread social and political instability both within and between countries.  This fuels resistance, from grassroots social movements to terrorist networks, further undermining global order.</a:t>
            </a:r>
          </a:p>
          <a:p>
            <a:pPr marL="0" indent="0">
              <a:buNone/>
            </a:pPr>
            <a:endParaRPr lang="en-US" sz="1800" dirty="0"/>
          </a:p>
          <a:p>
            <a:pPr marL="0" indent="0">
              <a:buNone/>
            </a:pPr>
            <a:r>
              <a:rPr lang="en-US" sz="1800" dirty="0">
                <a:highlight>
                  <a:srgbClr val="008080"/>
                </a:highlight>
              </a:rPr>
              <a:t>It exposes the hegemon's hypocrisy</a:t>
            </a:r>
            <a:r>
              <a:rPr lang="en-US" sz="1800" dirty="0"/>
              <a:t>.  As the hegemon uses its power more overtly to protect its own declining economic position, its claim to be acting for the global good loses credibility.  </a:t>
            </a:r>
            <a:r>
              <a:rPr lang="en-US" sz="1800" dirty="0">
                <a:solidFill>
                  <a:srgbClr val="92D050"/>
                </a:solidFill>
              </a:rPr>
              <a:t>This is the essence of delegitimization, which erodes the consent that underpins the hegemonic order and invites challenges</a:t>
            </a:r>
            <a:r>
              <a:rPr lang="en-US" sz="1800" dirty="0"/>
              <a:t>.</a:t>
            </a:r>
          </a:p>
          <a:p>
            <a:pPr marL="0" indent="0">
              <a:buNone/>
            </a:pPr>
            <a:endParaRPr lang="en-US" sz="1800" dirty="0"/>
          </a:p>
        </p:txBody>
      </p:sp>
    </p:spTree>
    <p:extLst>
      <p:ext uri="{BB962C8B-B14F-4D97-AF65-F5344CB8AC3E}">
        <p14:creationId xmlns:p14="http://schemas.microsoft.com/office/powerpoint/2010/main" val="10878769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CB8B3-28F5-55C3-7A93-00C170C87187}"/>
              </a:ext>
            </a:extLst>
          </p:cNvPr>
          <p:cNvSpPr>
            <a:spLocks noGrp="1"/>
          </p:cNvSpPr>
          <p:nvPr>
            <p:ph type="title"/>
          </p:nvPr>
        </p:nvSpPr>
        <p:spPr>
          <a:xfrm>
            <a:off x="457200" y="304800"/>
            <a:ext cx="8229600" cy="1295400"/>
          </a:xfrm>
        </p:spPr>
        <p:txBody>
          <a:bodyPr/>
          <a:lstStyle/>
          <a:p>
            <a:pPr eaLnBrk="1" hangingPunct="1">
              <a:defRPr/>
            </a:pPr>
            <a:r>
              <a:rPr lang="en-US" altLang="x-none" sz="4000" dirty="0">
                <a:solidFill>
                  <a:srgbClr val="FFFFFF"/>
                </a:solidFill>
                <a:effectLst>
                  <a:outerShdw blurRad="38100" dist="38100" dir="2700000" algn="tl">
                    <a:srgbClr val="010199"/>
                  </a:outerShdw>
                </a:effectLst>
                <a:highlight>
                  <a:srgbClr val="FF0000"/>
                </a:highlight>
                <a:ea typeface="ＭＳ Ｐゴシック" charset="-128"/>
              </a:rPr>
              <a:t>POWER</a:t>
            </a:r>
          </a:p>
        </p:txBody>
      </p:sp>
      <p:sp>
        <p:nvSpPr>
          <p:cNvPr id="3" name="Content Placeholder 2">
            <a:extLst>
              <a:ext uri="{FF2B5EF4-FFF2-40B4-BE49-F238E27FC236}">
                <a16:creationId xmlns:a16="http://schemas.microsoft.com/office/drawing/2014/main" id="{E07514D3-AA19-4A88-B52C-73AD3A4EA1F7}"/>
              </a:ext>
            </a:extLst>
          </p:cNvPr>
          <p:cNvSpPr>
            <a:spLocks noGrp="1"/>
          </p:cNvSpPr>
          <p:nvPr>
            <p:ph idx="1"/>
          </p:nvPr>
        </p:nvSpPr>
        <p:spPr/>
        <p:txBody>
          <a:bodyPr/>
          <a:lstStyle/>
          <a:p>
            <a:pPr eaLnBrk="1" hangingPunct="1">
              <a:buFont typeface="Wingdings" charset="2"/>
              <a:buNone/>
              <a:defRPr/>
            </a:pPr>
            <a:r>
              <a:rPr lang="en-US" altLang="x-none" dirty="0">
                <a:ea typeface="ＭＳ Ｐゴシック" charset="-128"/>
              </a:rPr>
              <a:t>	</a:t>
            </a:r>
          </a:p>
          <a:p>
            <a:pPr eaLnBrk="1" hangingPunct="1">
              <a:buFont typeface="Wingdings" charset="2"/>
              <a:buNone/>
              <a:defRPr/>
            </a:pPr>
            <a:r>
              <a:rPr lang="en-US" altLang="x-none" dirty="0">
                <a:ea typeface="ＭＳ Ｐゴシック" charset="-128"/>
              </a:rPr>
              <a:t>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82CAF-CFBF-B733-A00B-EC123437D561}"/>
              </a:ext>
            </a:extLst>
          </p:cNvPr>
          <p:cNvSpPr>
            <a:spLocks noGrp="1"/>
          </p:cNvSpPr>
          <p:nvPr>
            <p:ph type="title"/>
          </p:nvPr>
        </p:nvSpPr>
        <p:spPr>
          <a:xfrm>
            <a:off x="457200" y="304800"/>
            <a:ext cx="8229600" cy="1295400"/>
          </a:xfrm>
        </p:spPr>
        <p:txBody>
          <a:bodyPr/>
          <a:lstStyle/>
          <a:p>
            <a:pPr eaLnBrk="1" hangingPunct="1">
              <a:defRPr/>
            </a:pPr>
            <a:r>
              <a:rPr lang="en-US" altLang="x-none" sz="4000" dirty="0">
                <a:solidFill>
                  <a:srgbClr val="FFFFFF"/>
                </a:solidFill>
                <a:effectLst>
                  <a:outerShdw blurRad="38100" dist="38100" dir="2700000" algn="tl">
                    <a:srgbClr val="010199"/>
                  </a:outerShdw>
                </a:effectLst>
                <a:highlight>
                  <a:srgbClr val="FF0000"/>
                </a:highlight>
                <a:ea typeface="ＭＳ Ｐゴシック" charset="-128"/>
              </a:rPr>
              <a:t>POWER</a:t>
            </a:r>
          </a:p>
        </p:txBody>
      </p:sp>
      <p:sp>
        <p:nvSpPr>
          <p:cNvPr id="3" name="Content Placeholder 2">
            <a:extLst>
              <a:ext uri="{FF2B5EF4-FFF2-40B4-BE49-F238E27FC236}">
                <a16:creationId xmlns:a16="http://schemas.microsoft.com/office/drawing/2014/main" id="{6915ECFC-C8C9-0974-27FB-9E048FEB7DC0}"/>
              </a:ext>
            </a:extLst>
          </p:cNvPr>
          <p:cNvSpPr>
            <a:spLocks noGrp="1"/>
          </p:cNvSpPr>
          <p:nvPr>
            <p:ph idx="1"/>
          </p:nvPr>
        </p:nvSpPr>
        <p:spPr/>
        <p:txBody>
          <a:bodyPr/>
          <a:lstStyle/>
          <a:p>
            <a:pPr eaLnBrk="1" hangingPunct="1">
              <a:buFont typeface="Wingdings" charset="2"/>
              <a:buNone/>
              <a:defRPr/>
            </a:pPr>
            <a:r>
              <a:rPr lang="en-US" altLang="x-none" dirty="0">
                <a:ea typeface="ＭＳ Ｐゴシック" charset="-128"/>
              </a:rPr>
              <a:t>	</a:t>
            </a:r>
          </a:p>
          <a:p>
            <a:pPr eaLnBrk="1" hangingPunct="1">
              <a:buFont typeface="Wingdings" charset="2"/>
              <a:buNone/>
              <a:defRPr/>
            </a:pPr>
            <a:r>
              <a:rPr lang="en-US" altLang="x-none" dirty="0">
                <a:ea typeface="ＭＳ Ｐゴシック" charset="-128"/>
              </a:rPr>
              <a:t>	McGrew:  </a:t>
            </a:r>
            <a:r>
              <a:rPr lang="ja-JP" altLang="en-US">
                <a:ea typeface="ＭＳ Ｐゴシック" charset="-128"/>
              </a:rPr>
              <a:t>“</a:t>
            </a:r>
            <a:r>
              <a:rPr lang="en-US" altLang="ja-JP" dirty="0">
                <a:ea typeface="ＭＳ Ｐゴシック" charset="-128"/>
              </a:rPr>
              <a:t>A </a:t>
            </a:r>
            <a:r>
              <a:rPr lang="ja-JP" altLang="en-US">
                <a:ea typeface="ＭＳ Ｐゴシック" charset="-128"/>
              </a:rPr>
              <a:t>‘</a:t>
            </a:r>
            <a:r>
              <a:rPr lang="en-US" altLang="ja-JP" dirty="0">
                <a:ea typeface="ＭＳ Ｐゴシック" charset="-128"/>
              </a:rPr>
              <a:t>shrinking world</a:t>
            </a:r>
            <a:r>
              <a:rPr lang="ja-JP" altLang="en-US">
                <a:ea typeface="ＭＳ Ｐゴシック" charset="-128"/>
              </a:rPr>
              <a:t>’</a:t>
            </a:r>
            <a:r>
              <a:rPr lang="en-US" altLang="ja-JP" dirty="0">
                <a:ea typeface="ＭＳ Ｐゴシック" charset="-128"/>
              </a:rPr>
              <a:t> implies that </a:t>
            </a:r>
            <a:r>
              <a:rPr lang="en-US" altLang="ja-JP" u="sng" dirty="0">
                <a:ea typeface="ＭＳ Ｐゴシック" charset="-128"/>
              </a:rPr>
              <a:t>sites</a:t>
            </a:r>
            <a:r>
              <a:rPr lang="en-US" altLang="ja-JP" dirty="0">
                <a:ea typeface="ＭＳ Ｐゴシック" charset="-128"/>
              </a:rPr>
              <a:t> of power and the </a:t>
            </a:r>
            <a:r>
              <a:rPr lang="en-US" altLang="ja-JP" u="sng" dirty="0">
                <a:ea typeface="ＭＳ Ｐゴシック" charset="-128"/>
              </a:rPr>
              <a:t>subjects</a:t>
            </a:r>
            <a:r>
              <a:rPr lang="en-US" altLang="ja-JP" dirty="0">
                <a:ea typeface="ＭＳ Ｐゴシック" charset="-128"/>
              </a:rPr>
              <a:t> of power quite literally may be continents apart.</a:t>
            </a:r>
          </a:p>
          <a:p>
            <a:pPr eaLnBrk="1" hangingPunct="1">
              <a:buFont typeface="Wingdings" charset="2"/>
              <a:buNone/>
              <a:defRPr/>
            </a:pPr>
            <a:endParaRPr lang="en-US" altLang="x-none" dirty="0">
              <a:ea typeface="ＭＳ Ｐゴシック" charset="-128"/>
            </a:endParaRPr>
          </a:p>
          <a:p>
            <a:pPr eaLnBrk="1" hangingPunct="1">
              <a:buFont typeface="Wingdings" charset="2"/>
              <a:buNone/>
              <a:defRPr/>
            </a:pPr>
            <a:r>
              <a:rPr lang="en-US" altLang="x-none" dirty="0">
                <a:ea typeface="ＭＳ Ｐゴシック" charset="-128"/>
              </a:rPr>
              <a:t>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0F471-9B7C-FC48-7885-48E03624DC85}"/>
              </a:ext>
            </a:extLst>
          </p:cNvPr>
          <p:cNvSpPr>
            <a:spLocks noGrp="1"/>
          </p:cNvSpPr>
          <p:nvPr>
            <p:ph type="title"/>
          </p:nvPr>
        </p:nvSpPr>
        <p:spPr>
          <a:xfrm>
            <a:off x="457200" y="304800"/>
            <a:ext cx="8229600" cy="1295400"/>
          </a:xfrm>
        </p:spPr>
        <p:txBody>
          <a:bodyPr/>
          <a:lstStyle/>
          <a:p>
            <a:pPr eaLnBrk="1" hangingPunct="1">
              <a:defRPr/>
            </a:pPr>
            <a:r>
              <a:rPr lang="en-US" altLang="x-none" sz="4000" dirty="0">
                <a:solidFill>
                  <a:srgbClr val="FFFFFF"/>
                </a:solidFill>
                <a:effectLst>
                  <a:outerShdw blurRad="38100" dist="38100" dir="2700000" algn="tl">
                    <a:srgbClr val="010199"/>
                  </a:outerShdw>
                </a:effectLst>
                <a:highlight>
                  <a:srgbClr val="FF0000"/>
                </a:highlight>
                <a:ea typeface="ＭＳ Ｐゴシック" charset="-128"/>
              </a:rPr>
              <a:t>POWER</a:t>
            </a:r>
          </a:p>
        </p:txBody>
      </p:sp>
      <p:sp>
        <p:nvSpPr>
          <p:cNvPr id="3" name="Content Placeholder 2">
            <a:extLst>
              <a:ext uri="{FF2B5EF4-FFF2-40B4-BE49-F238E27FC236}">
                <a16:creationId xmlns:a16="http://schemas.microsoft.com/office/drawing/2014/main" id="{87AFC869-44EE-5C0F-A6EE-33C71F4849ED}"/>
              </a:ext>
            </a:extLst>
          </p:cNvPr>
          <p:cNvSpPr>
            <a:spLocks noGrp="1"/>
          </p:cNvSpPr>
          <p:nvPr>
            <p:ph idx="1"/>
          </p:nvPr>
        </p:nvSpPr>
        <p:spPr/>
        <p:txBody>
          <a:bodyPr/>
          <a:lstStyle/>
          <a:p>
            <a:pPr eaLnBrk="1" hangingPunct="1">
              <a:buFont typeface="Wingdings" charset="2"/>
              <a:buNone/>
              <a:defRPr/>
            </a:pPr>
            <a:r>
              <a:rPr lang="en-US" altLang="x-none" dirty="0">
                <a:ea typeface="ＭＳ Ｐゴシック" charset="-128"/>
              </a:rPr>
              <a:t>	</a:t>
            </a:r>
          </a:p>
          <a:p>
            <a:pPr eaLnBrk="1" hangingPunct="1">
              <a:buFont typeface="Wingdings" charset="2"/>
              <a:buNone/>
              <a:defRPr/>
            </a:pPr>
            <a:r>
              <a:rPr lang="en-US" altLang="x-none" dirty="0">
                <a:ea typeface="ＭＳ Ｐゴシック" charset="-128"/>
              </a:rPr>
              <a:t>	McGrew:  </a:t>
            </a:r>
            <a:r>
              <a:rPr lang="ja-JP" altLang="en-US">
                <a:ea typeface="ＭＳ Ｐゴシック" charset="-128"/>
              </a:rPr>
              <a:t>“</a:t>
            </a:r>
            <a:r>
              <a:rPr lang="en-US" altLang="ja-JP" dirty="0">
                <a:ea typeface="ＭＳ Ｐゴシック" charset="-128"/>
              </a:rPr>
              <a:t>A </a:t>
            </a:r>
            <a:r>
              <a:rPr lang="ja-JP" altLang="en-US">
                <a:ea typeface="ＭＳ Ｐゴシック" charset="-128"/>
              </a:rPr>
              <a:t>‘</a:t>
            </a:r>
            <a:r>
              <a:rPr lang="en-US" altLang="ja-JP" dirty="0">
                <a:ea typeface="ＭＳ Ｐゴシック" charset="-128"/>
              </a:rPr>
              <a:t>shrinking world</a:t>
            </a:r>
            <a:r>
              <a:rPr lang="ja-JP" altLang="en-US">
                <a:ea typeface="ＭＳ Ｐゴシック" charset="-128"/>
              </a:rPr>
              <a:t>’</a:t>
            </a:r>
            <a:r>
              <a:rPr lang="en-US" altLang="ja-JP" dirty="0">
                <a:ea typeface="ＭＳ Ｐゴシック" charset="-128"/>
              </a:rPr>
              <a:t> implies that </a:t>
            </a:r>
            <a:r>
              <a:rPr lang="en-US" altLang="ja-JP" u="sng" dirty="0">
                <a:ea typeface="ＭＳ Ｐゴシック" charset="-128"/>
              </a:rPr>
              <a:t>sites</a:t>
            </a:r>
            <a:r>
              <a:rPr lang="en-US" altLang="ja-JP" dirty="0">
                <a:ea typeface="ＭＳ Ｐゴシック" charset="-128"/>
              </a:rPr>
              <a:t> of power and the </a:t>
            </a:r>
            <a:r>
              <a:rPr lang="en-US" altLang="ja-JP" u="sng" dirty="0">
                <a:ea typeface="ＭＳ Ｐゴシック" charset="-128"/>
              </a:rPr>
              <a:t>subjects</a:t>
            </a:r>
            <a:r>
              <a:rPr lang="en-US" altLang="ja-JP" dirty="0">
                <a:ea typeface="ＭＳ Ｐゴシック" charset="-128"/>
              </a:rPr>
              <a:t> of power quite literally may be continents apart.</a:t>
            </a:r>
          </a:p>
          <a:p>
            <a:pPr eaLnBrk="1" hangingPunct="1">
              <a:buFont typeface="Wingdings" charset="2"/>
              <a:buNone/>
              <a:defRPr/>
            </a:pPr>
            <a:endParaRPr lang="en-US" altLang="x-none" dirty="0">
              <a:ea typeface="ＭＳ Ｐゴシック" charset="-128"/>
            </a:endParaRPr>
          </a:p>
          <a:p>
            <a:pPr eaLnBrk="1" hangingPunct="1">
              <a:buFont typeface="Wingdings" charset="2"/>
              <a:buNone/>
              <a:defRPr/>
            </a:pPr>
            <a:r>
              <a:rPr lang="en-US" altLang="x-none" dirty="0">
                <a:ea typeface="ＭＳ Ｐゴシック" charset="-128"/>
              </a:rPr>
              <a:t>	</a:t>
            </a:r>
            <a:r>
              <a:rPr lang="en-US" altLang="x-none" i="1" dirty="0">
                <a:ea typeface="ＭＳ Ｐゴシック" charset="-128"/>
              </a:rPr>
              <a:t>Power</a:t>
            </a:r>
            <a:r>
              <a:rPr lang="en-US" altLang="x-none" dirty="0">
                <a:ea typeface="ＭＳ Ｐゴシック" charset="-128"/>
              </a:rPr>
              <a:t>, whether economic, political, cultural, or military, is increasingly </a:t>
            </a:r>
            <a:r>
              <a:rPr lang="en-US" altLang="x-none" u="sng" dirty="0">
                <a:ea typeface="ＭＳ Ｐゴシック" charset="-128"/>
              </a:rPr>
              <a:t>organized</a:t>
            </a:r>
            <a:r>
              <a:rPr lang="en-US" altLang="x-none" dirty="0">
                <a:ea typeface="ＭＳ Ｐゴシック" charset="-128"/>
              </a:rPr>
              <a:t> and </a:t>
            </a:r>
            <a:r>
              <a:rPr lang="en-US" altLang="x-none" u="sng" dirty="0">
                <a:ea typeface="ＭＳ Ｐゴシック" charset="-128"/>
              </a:rPr>
              <a:t>exercised</a:t>
            </a:r>
            <a:r>
              <a:rPr lang="en-US" altLang="x-none" dirty="0">
                <a:ea typeface="ＭＳ Ｐゴシック" charset="-128"/>
              </a:rPr>
              <a:t> at a distance.</a:t>
            </a:r>
            <a:r>
              <a:rPr lang="ja-JP" altLang="en-US">
                <a:ea typeface="ＭＳ Ｐゴシック" charset="-128"/>
              </a:rPr>
              <a:t>”</a:t>
            </a:r>
            <a:endParaRPr lang="en-US" altLang="x-none" dirty="0">
              <a:ea typeface="ＭＳ Ｐゴシック" charset="-128"/>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C0FA-20CA-88FA-E663-947489603E67}"/>
              </a:ext>
            </a:extLst>
          </p:cNvPr>
          <p:cNvSpPr>
            <a:spLocks noGrp="1"/>
          </p:cNvSpPr>
          <p:nvPr>
            <p:ph type="title"/>
          </p:nvPr>
        </p:nvSpPr>
        <p:spPr>
          <a:xfrm>
            <a:off x="457200" y="277813"/>
            <a:ext cx="8229600" cy="712787"/>
          </a:xfrm>
        </p:spPr>
        <p:txBody>
          <a:bodyPr/>
          <a:lstStyle/>
          <a:p>
            <a:pPr>
              <a:defRPr/>
            </a:pPr>
            <a:r>
              <a:rPr lang="en-US" altLang="x-none" sz="2800" dirty="0">
                <a:solidFill>
                  <a:srgbClr val="FFFFFF"/>
                </a:solidFill>
                <a:effectLst>
                  <a:outerShdw blurRad="38100" dist="38100" dir="2700000" algn="tl">
                    <a:srgbClr val="010199"/>
                  </a:outerShdw>
                </a:effectLst>
                <a:highlight>
                  <a:srgbClr val="800000"/>
                </a:highlight>
                <a:ea typeface="ＭＳ Ｐゴシック" charset="-128"/>
              </a:rPr>
              <a:t>US application of military force abroad since 1991</a:t>
            </a:r>
          </a:p>
        </p:txBody>
      </p:sp>
      <p:pic>
        <p:nvPicPr>
          <p:cNvPr id="100354" name="Content Placeholder 3" descr="US use of military force abroad.jpg">
            <a:extLst>
              <a:ext uri="{FF2B5EF4-FFF2-40B4-BE49-F238E27FC236}">
                <a16:creationId xmlns:a16="http://schemas.microsoft.com/office/drawing/2014/main" id="{EF848A2E-27AD-0192-ED0E-93779864BA3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3633" b="-3633"/>
          <a:stretch>
            <a:fillRect/>
          </a:stretch>
        </p:blipFill>
        <p:spPr>
          <a:xfrm>
            <a:off x="0" y="1143000"/>
            <a:ext cx="9144000" cy="5033963"/>
          </a:xfrm>
        </p:spPr>
      </p:pic>
    </p:spTree>
  </p:cSld>
  <p:clrMapOvr>
    <a:masterClrMapping/>
  </p:clrMapOvr>
</p:sld>
</file>

<file path=ppt/theme/theme1.xml><?xml version="1.0" encoding="utf-8"?>
<a:theme xmlns:a="http://schemas.openxmlformats.org/drawingml/2006/main" name="Orbit">
  <a:themeElements>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fontScheme name="Orbit">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Orbit</Template>
  <TotalTime>8289</TotalTime>
  <Words>5185</Words>
  <Application>Microsoft Macintosh PowerPoint</Application>
  <PresentationFormat>On-screen Show (4:3)</PresentationFormat>
  <Paragraphs>295</Paragraphs>
  <Slides>78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78</vt:i4>
      </vt:variant>
    </vt:vector>
  </HeadingPairs>
  <TitlesOfParts>
    <vt:vector size="82" baseType="lpstr">
      <vt:lpstr>ＭＳ Ｐゴシック</vt:lpstr>
      <vt:lpstr>Arial</vt:lpstr>
      <vt:lpstr>Wingdings</vt:lpstr>
      <vt:lpstr>Orbit</vt:lpstr>
      <vt:lpstr>PIA 3121  29 September 2026</vt:lpstr>
      <vt:lpstr>PIA 3121 Schedule</vt:lpstr>
      <vt:lpstr>PowerPoint Presentation</vt:lpstr>
      <vt:lpstr>The Neo-Neo Debate</vt:lpstr>
      <vt:lpstr>The Neo-Neo Debate</vt:lpstr>
      <vt:lpstr>The Neo-Neo Debate</vt:lpstr>
      <vt:lpstr>The Neo-Neo Debate</vt:lpstr>
      <vt:lpstr>The Neo-Neo Debate</vt:lpstr>
      <vt:lpstr>The Neo-Neo Debate</vt:lpstr>
      <vt:lpstr>The Neo-Neo Debate</vt:lpstr>
      <vt:lpstr>Economic Structuralists See Power Politics as Embedded in Economic Structures</vt:lpstr>
      <vt:lpstr>PowerPoint Presentation</vt:lpstr>
      <vt:lpstr>PowerPoint Presentation</vt:lpstr>
      <vt:lpstr>World Income Distribution</vt:lpstr>
      <vt:lpstr>PowerPoint Presentation</vt:lpstr>
      <vt:lpstr>Economic Structuralists See Power Politics as Embedded in Economic Structures</vt:lpstr>
      <vt:lpstr>Economic Structuralists See Power Politics as Embedded in Economic Structures</vt:lpstr>
      <vt:lpstr>Economic Structuralists See Power Politics as Embedded in Economic Structures</vt:lpstr>
      <vt:lpstr>The Distinctive Model of Antonio Gramsci (1891-1937): World Hegemony</vt:lpstr>
      <vt:lpstr>The Distinctive Model of Antonio Gramsci (1891-1937): World Hegemony</vt:lpstr>
      <vt:lpstr>The Distinctive Model of Antonio Gramsci (1891-1937): World Hegemony</vt:lpstr>
      <vt:lpstr>The Distinctive Model of Antonio Gramsci (1891-1937): World Hegemony</vt:lpstr>
      <vt:lpstr>The Distinctive Model of Antonio Gramsci (1891-1937): World Hegemony</vt:lpstr>
      <vt:lpstr>The Distinctive Model of Antonio Gramsci (1891-1937): World Hegemony</vt:lpstr>
      <vt:lpstr>Gramsci’s Explanation for the Outbreak of World War I (1914-1918)</vt:lpstr>
      <vt:lpstr>Gramsci’s Explanation for the Outbreak of World War I (1914-1918)</vt:lpstr>
      <vt:lpstr>Gramsci’s Explanation for the Outbreak of World War I (1914-1918)</vt:lpstr>
      <vt:lpstr>Gramsci’s Explanation for the Outbreak of World War I (1914-1918)</vt:lpstr>
      <vt:lpstr>Gramsci’s Explanation for the Outbreak of World War I (1914-1918)</vt:lpstr>
      <vt:lpstr>The Gramscian Theory of Other Small- and Medium Sized (Non-“Systemic”) Wars</vt:lpstr>
      <vt:lpstr>The Gramscian Theory of Other Small- and Medium Sized (Non-“Systemic”) Wars</vt:lpstr>
      <vt:lpstr>The Gramscian Theory of Other Small- and Medium Sized (Non-“Systemic”) Wars</vt:lpstr>
      <vt:lpstr>The Gramscian Theory of Other Small- and Medium Sized (Non-“Systemic”) Wars</vt:lpstr>
      <vt:lpstr>The Gramscian Theory of Other Small- and Medium Sized (Non-“Systemic”) Wars</vt:lpstr>
      <vt:lpstr>How Economic Structuralists Account for SYSTEMIC Wars, like these:</vt:lpstr>
      <vt:lpstr>How Economic Structuralists Account for SYSTEMIC Wars, like these:</vt:lpstr>
      <vt:lpstr>How Economic Structuralists Account for SYSTEMIC Wars</vt:lpstr>
      <vt:lpstr>How Economic Structuralists Account for SYSTEMIC Wars</vt:lpstr>
      <vt:lpstr>How Economic Structuralists Account for SYSTEMIC Wars</vt:lpstr>
      <vt:lpstr>Modelski’s Important Variation: Long Cycle Theory</vt:lpstr>
      <vt:lpstr>Modelski’s Important Variation: Long Cycle Theory</vt:lpstr>
      <vt:lpstr>Modelski’s Important Variation: Long Cycle Theory</vt:lpstr>
      <vt:lpstr>Modelski’s Important Variation: Long Cycle Theory</vt:lpstr>
      <vt:lpstr>Modelski’s Important Variation: Long Cycle Theory</vt:lpstr>
      <vt:lpstr>But what about GLOBALIZATION?</vt:lpstr>
      <vt:lpstr>PowerPoint Presentation</vt:lpstr>
      <vt:lpstr>PowerPoint Presentation</vt:lpstr>
      <vt:lpstr>What IS globalization?</vt:lpstr>
      <vt:lpstr>Stretching</vt:lpstr>
      <vt:lpstr>Thickening</vt:lpstr>
      <vt:lpstr>Global transportation networks (green: roads / blue: shipping / red: air)</vt:lpstr>
      <vt:lpstr>PowerPoint Presentation</vt:lpstr>
      <vt:lpstr>Internet penetration rate, 2023</vt:lpstr>
      <vt:lpstr>Nighttime on the Korean Peninsula</vt:lpstr>
      <vt:lpstr>Accelerating</vt:lpstr>
      <vt:lpstr>PowerPoint Presentation</vt:lpstr>
      <vt:lpstr>PowerPoint Presentation</vt:lpstr>
      <vt:lpstr>PowerPoint Presentation</vt:lpstr>
      <vt:lpstr>Financial crises these days quickly become global</vt:lpstr>
      <vt:lpstr>The Great Recession (2007-2009)</vt:lpstr>
      <vt:lpstr>Deepening</vt:lpstr>
      <vt:lpstr>PowerPoint Presentation</vt:lpstr>
      <vt:lpstr>The global reach of Starbucks</vt:lpstr>
      <vt:lpstr>The expansion of McDonald’s</vt:lpstr>
      <vt:lpstr>Is he “woke”?</vt:lpstr>
      <vt:lpstr>PowerPoint Presentation</vt:lpstr>
      <vt:lpstr>PowerPoint Presentation</vt:lpstr>
      <vt:lpstr>Globalization as a Response to  Hegemonic Stagnation and Decline</vt:lpstr>
      <vt:lpstr>Globalization as a Response to  Hegemonic Stagnation and Decline</vt:lpstr>
      <vt:lpstr>Globalization as a Response to  Hegemonic Stagnation and Decline</vt:lpstr>
      <vt:lpstr>Globalization as a Response to  Hegemonic Stagnation and Decline</vt:lpstr>
      <vt:lpstr>Globalization as a Response to  Hegemonic Stagnation and Decline</vt:lpstr>
      <vt:lpstr>Globalization as a Response to  Hegemonic Stagnation and Decline</vt:lpstr>
      <vt:lpstr>Globalization as a Response to  Hegemonic Stagnation and Decline</vt:lpstr>
      <vt:lpstr>POWER</vt:lpstr>
      <vt:lpstr>POWER</vt:lpstr>
      <vt:lpstr>POWER</vt:lpstr>
      <vt:lpstr>US application of military force abroad since 1991</vt:lpstr>
    </vt:vector>
  </TitlesOfParts>
  <Company>SIR@USC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 210  12 September 2006</dc:title>
  <dc:creator>Daniel C. Lynch</dc:creator>
  <cp:lastModifiedBy>Daniel Lynch</cp:lastModifiedBy>
  <cp:revision>159</cp:revision>
  <cp:lastPrinted>1601-01-01T00:00:00Z</cp:lastPrinted>
  <dcterms:created xsi:type="dcterms:W3CDTF">2010-10-06T01:46:36Z</dcterms:created>
  <dcterms:modified xsi:type="dcterms:W3CDTF">2026-09-29T06:02:56Z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7</vt:i4>
  </property>
</Properties>
</file>