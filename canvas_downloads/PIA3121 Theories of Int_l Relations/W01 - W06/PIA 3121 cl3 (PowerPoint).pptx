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86"/>
  </p:notesMasterIdLst>
  <p:handoutMasterIdLst>
    <p:handoutMasterId r:id="rId87"/>
  </p:handoutMasterIdLst>
  <p:sldIdLst>
    <p:sldId id="256" r:id="rId2"/>
    <p:sldId id="688" r:id="rId3"/>
    <p:sldId id="586" r:id="rId4"/>
    <p:sldId id="587" r:id="rId5"/>
    <p:sldId id="588" r:id="rId6"/>
    <p:sldId id="589" r:id="rId7"/>
    <p:sldId id="590" r:id="rId8"/>
    <p:sldId id="607" r:id="rId9"/>
    <p:sldId id="604" r:id="rId10"/>
    <p:sldId id="605" r:id="rId11"/>
    <p:sldId id="606" r:id="rId12"/>
    <p:sldId id="640" r:id="rId13"/>
    <p:sldId id="649" r:id="rId14"/>
    <p:sldId id="650" r:id="rId15"/>
    <p:sldId id="651" r:id="rId16"/>
    <p:sldId id="652" r:id="rId17"/>
    <p:sldId id="653" r:id="rId18"/>
    <p:sldId id="641" r:id="rId19"/>
    <p:sldId id="654" r:id="rId20"/>
    <p:sldId id="655" r:id="rId21"/>
    <p:sldId id="656" r:id="rId22"/>
    <p:sldId id="657" r:id="rId23"/>
    <p:sldId id="658" r:id="rId24"/>
    <p:sldId id="642" r:id="rId25"/>
    <p:sldId id="659" r:id="rId26"/>
    <p:sldId id="660" r:id="rId27"/>
    <p:sldId id="661" r:id="rId28"/>
    <p:sldId id="662" r:id="rId29"/>
    <p:sldId id="663" r:id="rId30"/>
    <p:sldId id="643" r:id="rId31"/>
    <p:sldId id="664" r:id="rId32"/>
    <p:sldId id="665" r:id="rId33"/>
    <p:sldId id="666" r:id="rId34"/>
    <p:sldId id="667" r:id="rId35"/>
    <p:sldId id="668" r:id="rId36"/>
    <p:sldId id="644" r:id="rId37"/>
    <p:sldId id="683" r:id="rId38"/>
    <p:sldId id="684" r:id="rId39"/>
    <p:sldId id="685" r:id="rId40"/>
    <p:sldId id="686" r:id="rId41"/>
    <p:sldId id="687" r:id="rId42"/>
    <p:sldId id="645" r:id="rId43"/>
    <p:sldId id="646" r:id="rId44"/>
    <p:sldId id="674" r:id="rId45"/>
    <p:sldId id="675" r:id="rId46"/>
    <p:sldId id="676" r:id="rId47"/>
    <p:sldId id="677" r:id="rId48"/>
    <p:sldId id="678" r:id="rId49"/>
    <p:sldId id="647" r:id="rId50"/>
    <p:sldId id="679" r:id="rId51"/>
    <p:sldId id="680" r:id="rId52"/>
    <p:sldId id="681" r:id="rId53"/>
    <p:sldId id="682" r:id="rId54"/>
    <p:sldId id="544" r:id="rId55"/>
    <p:sldId id="545" r:id="rId56"/>
    <p:sldId id="585" r:id="rId57"/>
    <p:sldId id="608" r:id="rId58"/>
    <p:sldId id="547" r:id="rId59"/>
    <p:sldId id="548" r:id="rId60"/>
    <p:sldId id="549" r:id="rId61"/>
    <p:sldId id="550" r:id="rId62"/>
    <p:sldId id="551" r:id="rId63"/>
    <p:sldId id="553" r:id="rId64"/>
    <p:sldId id="554" r:id="rId65"/>
    <p:sldId id="555" r:id="rId66"/>
    <p:sldId id="556" r:id="rId67"/>
    <p:sldId id="557" r:id="rId68"/>
    <p:sldId id="638" r:id="rId69"/>
    <p:sldId id="628" r:id="rId70"/>
    <p:sldId id="629" r:id="rId71"/>
    <p:sldId id="630" r:id="rId72"/>
    <p:sldId id="560" r:id="rId73"/>
    <p:sldId id="561" r:id="rId74"/>
    <p:sldId id="631" r:id="rId75"/>
    <p:sldId id="632" r:id="rId76"/>
    <p:sldId id="563" r:id="rId77"/>
    <p:sldId id="609" r:id="rId78"/>
    <p:sldId id="564" r:id="rId79"/>
    <p:sldId id="565" r:id="rId80"/>
    <p:sldId id="566" r:id="rId81"/>
    <p:sldId id="568" r:id="rId82"/>
    <p:sldId id="567" r:id="rId83"/>
    <p:sldId id="633" r:id="rId84"/>
    <p:sldId id="528" r:id="rId8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22" autoAdjust="0"/>
    <p:restoredTop sz="94312"/>
  </p:normalViewPr>
  <p:slideViewPr>
    <p:cSldViewPr>
      <p:cViewPr varScale="1">
        <p:scale>
          <a:sx n="116" d="100"/>
          <a:sy n="116" d="100"/>
        </p:scale>
        <p:origin x="2056"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3B9026-560D-B2AD-0EC3-B0A2B71D067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charset="0"/>
                <a:ea typeface="ＭＳ Ｐゴシック" charset="-128"/>
              </a:defRPr>
            </a:lvl1pPr>
          </a:lstStyle>
          <a:p>
            <a:pPr>
              <a:defRPr/>
            </a:pPr>
            <a:endParaRPr lang="en-US"/>
          </a:p>
        </p:txBody>
      </p:sp>
      <p:sp>
        <p:nvSpPr>
          <p:cNvPr id="3" name="Date Placeholder 2">
            <a:extLst>
              <a:ext uri="{FF2B5EF4-FFF2-40B4-BE49-F238E27FC236}">
                <a16:creationId xmlns:a16="http://schemas.microsoft.com/office/drawing/2014/main" id="{D34AFCD3-4BA8-B6FB-3C55-B44D2C3854C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a:latin typeface="Arial" charset="0"/>
                <a:ea typeface="ＭＳ Ｐゴシック" charset="-128"/>
              </a:defRPr>
            </a:lvl1pPr>
          </a:lstStyle>
          <a:p>
            <a:pPr>
              <a:defRPr/>
            </a:pPr>
            <a:fld id="{D8FA6527-BF89-8241-861A-4CBBC5C00F72}" type="datetimeFigureOut">
              <a:rPr lang="en-US"/>
              <a:pPr>
                <a:defRPr/>
              </a:pPr>
              <a:t>9/14/26</a:t>
            </a:fld>
            <a:endParaRPr lang="en-US" dirty="0"/>
          </a:p>
        </p:txBody>
      </p:sp>
      <p:sp>
        <p:nvSpPr>
          <p:cNvPr id="4" name="Footer Placeholder 3">
            <a:extLst>
              <a:ext uri="{FF2B5EF4-FFF2-40B4-BE49-F238E27FC236}">
                <a16:creationId xmlns:a16="http://schemas.microsoft.com/office/drawing/2014/main" id="{7764CDE7-F6F6-94FF-D255-601BFE5D5A7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charset="0"/>
                <a:ea typeface="ＭＳ Ｐゴシック" charset="-128"/>
              </a:defRPr>
            </a:lvl1pPr>
          </a:lstStyle>
          <a:p>
            <a:pPr>
              <a:defRPr/>
            </a:pPr>
            <a:endParaRPr lang="en-US"/>
          </a:p>
        </p:txBody>
      </p:sp>
      <p:sp>
        <p:nvSpPr>
          <p:cNvPr id="5" name="Slide Number Placeholder 4">
            <a:extLst>
              <a:ext uri="{FF2B5EF4-FFF2-40B4-BE49-F238E27FC236}">
                <a16:creationId xmlns:a16="http://schemas.microsoft.com/office/drawing/2014/main" id="{AF4400D5-B161-53DC-7324-86E617D81AE4}"/>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D450999-F1B1-6841-B450-8ACF59449B96}"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3522" name="Rectangle 2">
            <a:extLst>
              <a:ext uri="{FF2B5EF4-FFF2-40B4-BE49-F238E27FC236}">
                <a16:creationId xmlns:a16="http://schemas.microsoft.com/office/drawing/2014/main" id="{C7E9C519-5758-ECBB-020D-A77009668AC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Arial" panose="020B0604020202020204" pitchFamily="34" charset="0"/>
              </a:defRPr>
            </a:lvl1pPr>
          </a:lstStyle>
          <a:p>
            <a:pPr>
              <a:defRPr/>
            </a:pPr>
            <a:endParaRPr lang="en-US" altLang="en-US"/>
          </a:p>
        </p:txBody>
      </p:sp>
      <p:sp>
        <p:nvSpPr>
          <p:cNvPr id="363523" name="Rectangle 3">
            <a:extLst>
              <a:ext uri="{FF2B5EF4-FFF2-40B4-BE49-F238E27FC236}">
                <a16:creationId xmlns:a16="http://schemas.microsoft.com/office/drawing/2014/main" id="{D58F1D7C-6D0D-6B57-0B0F-E1D3E2A7EA9E}"/>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cs typeface="Arial" panose="020B0604020202020204" pitchFamily="34" charset="0"/>
              </a:defRPr>
            </a:lvl1pPr>
          </a:lstStyle>
          <a:p>
            <a:pPr>
              <a:defRPr/>
            </a:pPr>
            <a:endParaRPr lang="en-US" altLang="en-US"/>
          </a:p>
        </p:txBody>
      </p:sp>
      <p:sp>
        <p:nvSpPr>
          <p:cNvPr id="13316" name="Rectangle 4">
            <a:extLst>
              <a:ext uri="{FF2B5EF4-FFF2-40B4-BE49-F238E27FC236}">
                <a16:creationId xmlns:a16="http://schemas.microsoft.com/office/drawing/2014/main" id="{2BBBACCE-1A80-6434-C5FF-CB7E5609439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3525" name="Rectangle 5">
            <a:extLst>
              <a:ext uri="{FF2B5EF4-FFF2-40B4-BE49-F238E27FC236}">
                <a16:creationId xmlns:a16="http://schemas.microsoft.com/office/drawing/2014/main" id="{12FA176E-F45F-3381-163B-25FF11DAFC5B}"/>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3526" name="Rectangle 6">
            <a:extLst>
              <a:ext uri="{FF2B5EF4-FFF2-40B4-BE49-F238E27FC236}">
                <a16:creationId xmlns:a16="http://schemas.microsoft.com/office/drawing/2014/main" id="{258AA55E-6B9F-9756-01CB-22ADEE07659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cs typeface="Arial" panose="020B0604020202020204" pitchFamily="34" charset="0"/>
              </a:defRPr>
            </a:lvl1pPr>
          </a:lstStyle>
          <a:p>
            <a:pPr>
              <a:defRPr/>
            </a:pPr>
            <a:endParaRPr lang="en-US" altLang="en-US"/>
          </a:p>
        </p:txBody>
      </p:sp>
      <p:sp>
        <p:nvSpPr>
          <p:cNvPr id="363527" name="Rectangle 7">
            <a:extLst>
              <a:ext uri="{FF2B5EF4-FFF2-40B4-BE49-F238E27FC236}">
                <a16:creationId xmlns:a16="http://schemas.microsoft.com/office/drawing/2014/main" id="{B5618EBF-C6F1-CED2-A590-CEF9872F1444}"/>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AD0E7346-98CF-4F43-A551-DB6CB17E0E7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B97E2E03-3633-9024-1A2E-963384F55D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2571A8E5-BCBE-7646-A71C-C6175C436E22}" type="slidenum">
              <a:rPr lang="en-US" altLang="en-US" smtClean="0"/>
              <a:pPr>
                <a:spcBef>
                  <a:spcPct val="0"/>
                </a:spcBef>
              </a:pPr>
              <a:t>1</a:t>
            </a:fld>
            <a:endParaRPr lang="en-US" altLang="en-US"/>
          </a:p>
        </p:txBody>
      </p:sp>
      <p:sp>
        <p:nvSpPr>
          <p:cNvPr id="16386" name="Rectangle 2">
            <a:extLst>
              <a:ext uri="{FF2B5EF4-FFF2-40B4-BE49-F238E27FC236}">
                <a16:creationId xmlns:a16="http://schemas.microsoft.com/office/drawing/2014/main" id="{44326C38-FC61-C8C4-5441-D29B3FB3F5E9}"/>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5B867A0B-8F84-4604-D8A0-B4D53B57B6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1D025017-C9BD-7D9A-6BB4-057D798FAA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453473BD-4DFB-2D43-8E78-4A5028FEA450}" type="slidenum">
              <a:rPr lang="en-US" altLang="en-US" smtClean="0"/>
              <a:pPr>
                <a:spcBef>
                  <a:spcPct val="0"/>
                </a:spcBef>
              </a:pPr>
              <a:t>3</a:t>
            </a:fld>
            <a:endParaRPr lang="en-US" altLang="en-US"/>
          </a:p>
        </p:txBody>
      </p:sp>
      <p:sp>
        <p:nvSpPr>
          <p:cNvPr id="19458" name="Rectangle 2">
            <a:extLst>
              <a:ext uri="{FF2B5EF4-FFF2-40B4-BE49-F238E27FC236}">
                <a16:creationId xmlns:a16="http://schemas.microsoft.com/office/drawing/2014/main" id="{D0E72ABC-B102-1956-7E33-02794C9EC118}"/>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7208A015-624B-25A4-3BA2-CA02E4C730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F99E5949-5D99-A952-4E02-77C1D9359C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6B48583-A755-3446-B18E-C391C2927EB6}" type="slidenum">
              <a:rPr lang="en-US" altLang="en-US" smtClean="0"/>
              <a:pPr>
                <a:spcBef>
                  <a:spcPct val="0"/>
                </a:spcBef>
              </a:pPr>
              <a:t>4</a:t>
            </a:fld>
            <a:endParaRPr lang="en-US" altLang="en-US"/>
          </a:p>
        </p:txBody>
      </p:sp>
      <p:sp>
        <p:nvSpPr>
          <p:cNvPr id="21506" name="Rectangle 2">
            <a:extLst>
              <a:ext uri="{FF2B5EF4-FFF2-40B4-BE49-F238E27FC236}">
                <a16:creationId xmlns:a16="http://schemas.microsoft.com/office/drawing/2014/main" id="{A542D2FE-436A-6480-8A01-4615739CB901}"/>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9AC46824-37D0-B6B0-E3DF-CCFF767722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18BFD2A1-2AE1-F725-6893-5BA4AFC251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583E2751-2A6F-8044-A567-DF1225A693FD}" type="slidenum">
              <a:rPr lang="en-US" altLang="en-US" smtClean="0"/>
              <a:pPr>
                <a:spcBef>
                  <a:spcPct val="0"/>
                </a:spcBef>
              </a:pPr>
              <a:t>5</a:t>
            </a:fld>
            <a:endParaRPr lang="en-US" altLang="en-US"/>
          </a:p>
        </p:txBody>
      </p:sp>
      <p:sp>
        <p:nvSpPr>
          <p:cNvPr id="23554" name="Rectangle 2">
            <a:extLst>
              <a:ext uri="{FF2B5EF4-FFF2-40B4-BE49-F238E27FC236}">
                <a16:creationId xmlns:a16="http://schemas.microsoft.com/office/drawing/2014/main" id="{282A3C72-A912-74D0-B6B7-512DD5BBF8A0}"/>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BF0549A4-923E-0B3C-E483-94089078A7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355CCA14-DECA-F783-FBB3-3CE3C15F5F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12EF8F0A-9A5F-974B-807A-20470A825E38}" type="slidenum">
              <a:rPr lang="en-US" altLang="en-US" smtClean="0"/>
              <a:pPr>
                <a:spcBef>
                  <a:spcPct val="0"/>
                </a:spcBef>
              </a:pPr>
              <a:t>6</a:t>
            </a:fld>
            <a:endParaRPr lang="en-US" altLang="en-US"/>
          </a:p>
        </p:txBody>
      </p:sp>
      <p:sp>
        <p:nvSpPr>
          <p:cNvPr id="25602" name="Rectangle 2">
            <a:extLst>
              <a:ext uri="{FF2B5EF4-FFF2-40B4-BE49-F238E27FC236}">
                <a16:creationId xmlns:a16="http://schemas.microsoft.com/office/drawing/2014/main" id="{B0EF7B28-5EFD-C8B5-AA1A-B268D872A0A7}"/>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4AF0FB7B-7906-8B88-0D2D-C41FCD6EA0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C69F4D6A-7042-3E08-42D3-112414318D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18236053-50A8-534D-84B5-BC03BA621225}" type="slidenum">
              <a:rPr lang="en-US" altLang="en-US" smtClean="0"/>
              <a:pPr>
                <a:spcBef>
                  <a:spcPct val="0"/>
                </a:spcBef>
              </a:pPr>
              <a:t>7</a:t>
            </a:fld>
            <a:endParaRPr lang="en-US" altLang="en-US"/>
          </a:p>
        </p:txBody>
      </p:sp>
      <p:sp>
        <p:nvSpPr>
          <p:cNvPr id="27650" name="Rectangle 2">
            <a:extLst>
              <a:ext uri="{FF2B5EF4-FFF2-40B4-BE49-F238E27FC236}">
                <a16:creationId xmlns:a16="http://schemas.microsoft.com/office/drawing/2014/main" id="{5E31F026-436A-DEED-3291-3D9197C375E1}"/>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975574E3-1031-B988-FED0-DB37E24D09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BFFB6C04-A40A-0DAD-3AF5-8C46BB0D51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B6773C45-0646-8A42-AE51-891A3F6B868B}" type="slidenum">
              <a:rPr lang="en-US" altLang="en-US" smtClean="0"/>
              <a:pPr>
                <a:spcBef>
                  <a:spcPct val="0"/>
                </a:spcBef>
              </a:pPr>
              <a:t>8</a:t>
            </a:fld>
            <a:endParaRPr lang="en-US" altLang="en-US"/>
          </a:p>
        </p:txBody>
      </p:sp>
      <p:sp>
        <p:nvSpPr>
          <p:cNvPr id="29698" name="Rectangle 2">
            <a:extLst>
              <a:ext uri="{FF2B5EF4-FFF2-40B4-BE49-F238E27FC236}">
                <a16:creationId xmlns:a16="http://schemas.microsoft.com/office/drawing/2014/main" id="{D369253F-B9CA-AC52-5C5B-4D38FF74B3B5}"/>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AFFEFDB9-8FDF-D8CF-EC7F-DECD113D79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C43754F9-EB85-7939-7632-05261DDE3C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7FAB1F5B-A363-0D4D-B4A9-77CE122B6315}" type="slidenum">
              <a:rPr lang="en-US" altLang="en-US" smtClean="0"/>
              <a:pPr>
                <a:spcBef>
                  <a:spcPct val="0"/>
                </a:spcBef>
              </a:pPr>
              <a:t>9</a:t>
            </a:fld>
            <a:endParaRPr lang="en-US" altLang="en-US"/>
          </a:p>
        </p:txBody>
      </p:sp>
      <p:sp>
        <p:nvSpPr>
          <p:cNvPr id="31746" name="Rectangle 2">
            <a:extLst>
              <a:ext uri="{FF2B5EF4-FFF2-40B4-BE49-F238E27FC236}">
                <a16:creationId xmlns:a16="http://schemas.microsoft.com/office/drawing/2014/main" id="{23C23F9C-A65E-E638-1D17-04D74659DCD3}"/>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1544E01B-0141-2ECA-6A8F-F4BF467BDF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6B8990D8-481A-9B15-58F9-F72D49BA2A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55500177-4FA4-934D-8272-0B9652E922FE}" type="slidenum">
              <a:rPr lang="en-US" altLang="en-US" smtClean="0"/>
              <a:pPr>
                <a:spcBef>
                  <a:spcPct val="0"/>
                </a:spcBef>
              </a:pPr>
              <a:t>10</a:t>
            </a:fld>
            <a:endParaRPr lang="en-US" altLang="en-US"/>
          </a:p>
        </p:txBody>
      </p:sp>
      <p:sp>
        <p:nvSpPr>
          <p:cNvPr id="35842" name="Rectangle 2">
            <a:extLst>
              <a:ext uri="{FF2B5EF4-FFF2-40B4-BE49-F238E27FC236}">
                <a16:creationId xmlns:a16="http://schemas.microsoft.com/office/drawing/2014/main" id="{D46911A4-FA84-ACDB-F704-21185308BA73}"/>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2DEE04D3-31F5-E3DD-A536-128DAE762C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B4F6CB9F-248E-040A-6A48-37B5AD2085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2FC5399-587A-4F42-B131-D2980FA37F1B}" type="slidenum">
              <a:rPr lang="en-US" altLang="en-US" smtClean="0"/>
              <a:pPr>
                <a:spcBef>
                  <a:spcPct val="0"/>
                </a:spcBef>
              </a:pPr>
              <a:t>11</a:t>
            </a:fld>
            <a:endParaRPr lang="en-US" altLang="en-US"/>
          </a:p>
        </p:txBody>
      </p:sp>
      <p:sp>
        <p:nvSpPr>
          <p:cNvPr id="37890" name="Rectangle 2">
            <a:extLst>
              <a:ext uri="{FF2B5EF4-FFF2-40B4-BE49-F238E27FC236}">
                <a16:creationId xmlns:a16="http://schemas.microsoft.com/office/drawing/2014/main" id="{394B82A4-480D-5F1E-5CB6-074E87AA143E}"/>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383AFDA0-EF25-3B09-F69D-6FCFBC75C4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C4D990B8-76CC-6946-8879-0CECA97C39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44E31CA1-35CD-374E-B356-C3CDA5ABF4E2}" type="slidenum">
              <a:rPr lang="en-US" altLang="en-US" smtClean="0"/>
              <a:pPr>
                <a:spcBef>
                  <a:spcPct val="0"/>
                </a:spcBef>
              </a:pPr>
              <a:t>55</a:t>
            </a:fld>
            <a:endParaRPr lang="en-US" altLang="en-US"/>
          </a:p>
        </p:txBody>
      </p:sp>
      <p:sp>
        <p:nvSpPr>
          <p:cNvPr id="40962" name="Rectangle 2">
            <a:extLst>
              <a:ext uri="{FF2B5EF4-FFF2-40B4-BE49-F238E27FC236}">
                <a16:creationId xmlns:a16="http://schemas.microsoft.com/office/drawing/2014/main" id="{C5339441-74F7-8864-43B3-E0C1FC3C025A}"/>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8302A8A9-7DB5-E07E-D0B2-B8332035E4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94F685B9-6D63-6AC1-E7FB-D72652AD20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4EA411AB-A3A7-654C-A05A-1B8E4A9B14A0}" type="slidenum">
              <a:rPr lang="en-US" altLang="en-US" smtClean="0"/>
              <a:pPr>
                <a:spcBef>
                  <a:spcPct val="0"/>
                </a:spcBef>
              </a:pPr>
              <a:t>57</a:t>
            </a:fld>
            <a:endParaRPr lang="en-US" altLang="en-US"/>
          </a:p>
        </p:txBody>
      </p:sp>
      <p:sp>
        <p:nvSpPr>
          <p:cNvPr id="44034" name="Rectangle 2">
            <a:extLst>
              <a:ext uri="{FF2B5EF4-FFF2-40B4-BE49-F238E27FC236}">
                <a16:creationId xmlns:a16="http://schemas.microsoft.com/office/drawing/2014/main" id="{EE27015F-1CE5-56A9-D7E5-5BB4EE69CAD7}"/>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40399912-35BF-5A89-6FB8-FAD0F1F5AC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8121B222-ABA1-9C95-5E16-33466915ED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0C624B96-F696-6342-B503-04842AF4C256}" type="slidenum">
              <a:rPr lang="en-US" altLang="en-US" smtClean="0"/>
              <a:pPr>
                <a:spcBef>
                  <a:spcPct val="0"/>
                </a:spcBef>
              </a:pPr>
              <a:t>58</a:t>
            </a:fld>
            <a:endParaRPr lang="en-US" altLang="en-US"/>
          </a:p>
        </p:txBody>
      </p:sp>
      <p:sp>
        <p:nvSpPr>
          <p:cNvPr id="46082" name="Rectangle 2">
            <a:extLst>
              <a:ext uri="{FF2B5EF4-FFF2-40B4-BE49-F238E27FC236}">
                <a16:creationId xmlns:a16="http://schemas.microsoft.com/office/drawing/2014/main" id="{DCBEA55F-7C27-F8C3-70AD-4562BCBF605B}"/>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F99F07E2-DAA6-1C79-BFC7-02853817C2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F3A1C6D-8563-C409-DF9A-9398441A67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469F7427-D8E3-A94A-978E-31433F0216BB}" type="slidenum">
              <a:rPr lang="en-US" altLang="en-US" smtClean="0"/>
              <a:pPr>
                <a:spcBef>
                  <a:spcPct val="0"/>
                </a:spcBef>
              </a:pPr>
              <a:t>59</a:t>
            </a:fld>
            <a:endParaRPr lang="en-US" altLang="en-US"/>
          </a:p>
        </p:txBody>
      </p:sp>
      <p:sp>
        <p:nvSpPr>
          <p:cNvPr id="48130" name="Rectangle 2">
            <a:extLst>
              <a:ext uri="{FF2B5EF4-FFF2-40B4-BE49-F238E27FC236}">
                <a16:creationId xmlns:a16="http://schemas.microsoft.com/office/drawing/2014/main" id="{E25D020F-BFB5-BF55-7062-C3BEEC7431BC}"/>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2C31E390-B591-2489-D04C-0127AAF777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58B2B463-3356-B8B5-D101-C82CED9BBB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DAB2A5A4-7761-1143-A2C9-CB2D06A2B8FE}" type="slidenum">
              <a:rPr lang="en-US" altLang="en-US" smtClean="0"/>
              <a:pPr>
                <a:spcBef>
                  <a:spcPct val="0"/>
                </a:spcBef>
              </a:pPr>
              <a:t>60</a:t>
            </a:fld>
            <a:endParaRPr lang="en-US" altLang="en-US"/>
          </a:p>
        </p:txBody>
      </p:sp>
      <p:sp>
        <p:nvSpPr>
          <p:cNvPr id="50178" name="Rectangle 2">
            <a:extLst>
              <a:ext uri="{FF2B5EF4-FFF2-40B4-BE49-F238E27FC236}">
                <a16:creationId xmlns:a16="http://schemas.microsoft.com/office/drawing/2014/main" id="{6E1CDEE3-06E9-A2FF-FF59-4F67CD21D735}"/>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6A6F9EDA-D234-C4A7-6080-6CD8416A79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DAB7B337-155A-D0F1-E947-99B834B785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66EE22E9-D6C9-C545-A8FD-F565D7C69366}" type="slidenum">
              <a:rPr lang="en-US" altLang="en-US" smtClean="0"/>
              <a:pPr>
                <a:spcBef>
                  <a:spcPct val="0"/>
                </a:spcBef>
              </a:pPr>
              <a:t>61</a:t>
            </a:fld>
            <a:endParaRPr lang="en-US" altLang="en-US"/>
          </a:p>
        </p:txBody>
      </p:sp>
      <p:sp>
        <p:nvSpPr>
          <p:cNvPr id="52226" name="Rectangle 2">
            <a:extLst>
              <a:ext uri="{FF2B5EF4-FFF2-40B4-BE49-F238E27FC236}">
                <a16:creationId xmlns:a16="http://schemas.microsoft.com/office/drawing/2014/main" id="{5673A8A1-05C1-2574-BC24-8DA9CD34CA15}"/>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E3BB03E9-27EE-3802-E102-C6A35CB705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36CA8766-FC5A-C705-9805-3076ADD6DC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53F69103-15C8-134B-A3C8-A64A298BF35C}" type="slidenum">
              <a:rPr lang="en-US" altLang="en-US" smtClean="0"/>
              <a:pPr>
                <a:spcBef>
                  <a:spcPct val="0"/>
                </a:spcBef>
              </a:pPr>
              <a:t>62</a:t>
            </a:fld>
            <a:endParaRPr lang="en-US" altLang="en-US"/>
          </a:p>
        </p:txBody>
      </p:sp>
      <p:sp>
        <p:nvSpPr>
          <p:cNvPr id="54274" name="Rectangle 2">
            <a:extLst>
              <a:ext uri="{FF2B5EF4-FFF2-40B4-BE49-F238E27FC236}">
                <a16:creationId xmlns:a16="http://schemas.microsoft.com/office/drawing/2014/main" id="{2CC4B29A-2608-E0A6-FD35-B9DED9CE6BCB}"/>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D849E95A-FAC6-7155-254B-748E5E0E84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9110A01A-6DF6-99C6-1D3A-A5DBB668EB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1AD739F7-33FE-CB46-9727-C5F17AB2A1E0}" type="slidenum">
              <a:rPr lang="en-US" altLang="en-US" smtClean="0"/>
              <a:pPr>
                <a:spcBef>
                  <a:spcPct val="0"/>
                </a:spcBef>
              </a:pPr>
              <a:t>66</a:t>
            </a:fld>
            <a:endParaRPr lang="en-US" altLang="en-US"/>
          </a:p>
        </p:txBody>
      </p:sp>
      <p:sp>
        <p:nvSpPr>
          <p:cNvPr id="59394" name="Rectangle 2">
            <a:extLst>
              <a:ext uri="{FF2B5EF4-FFF2-40B4-BE49-F238E27FC236}">
                <a16:creationId xmlns:a16="http://schemas.microsoft.com/office/drawing/2014/main" id="{C1352510-5BFB-5D42-1273-30B2838B821C}"/>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EE5D8837-7ED2-0934-95E5-9D703A9C35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B5B32871-DAA6-C939-4FF0-CA6D7C680A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41EBCC79-2A40-D642-AF93-48727DA68B3A}" type="slidenum">
              <a:rPr lang="en-US" altLang="en-US" smtClean="0"/>
              <a:pPr>
                <a:spcBef>
                  <a:spcPct val="0"/>
                </a:spcBef>
              </a:pPr>
              <a:t>67</a:t>
            </a:fld>
            <a:endParaRPr lang="en-US" altLang="en-US"/>
          </a:p>
        </p:txBody>
      </p:sp>
      <p:sp>
        <p:nvSpPr>
          <p:cNvPr id="61442" name="Rectangle 2">
            <a:extLst>
              <a:ext uri="{FF2B5EF4-FFF2-40B4-BE49-F238E27FC236}">
                <a16:creationId xmlns:a16="http://schemas.microsoft.com/office/drawing/2014/main" id="{C8CAEECB-F01E-C05D-5C79-3ADF0D81FC82}"/>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0DF768DC-40BD-5251-061F-EB11021659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002E533B-1680-1BD8-17FD-46F924CD43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1F7D325F-0FEB-9D4A-9B66-8EBC7AA28679}" type="slidenum">
              <a:rPr lang="en-US" altLang="en-US" smtClean="0"/>
              <a:pPr>
                <a:spcBef>
                  <a:spcPct val="0"/>
                </a:spcBef>
              </a:pPr>
              <a:t>72</a:t>
            </a:fld>
            <a:endParaRPr lang="en-US" altLang="en-US"/>
          </a:p>
        </p:txBody>
      </p:sp>
      <p:sp>
        <p:nvSpPr>
          <p:cNvPr id="67586" name="Rectangle 2">
            <a:extLst>
              <a:ext uri="{FF2B5EF4-FFF2-40B4-BE49-F238E27FC236}">
                <a16:creationId xmlns:a16="http://schemas.microsoft.com/office/drawing/2014/main" id="{C36C19DF-939F-9575-57FC-1109F5DDB04D}"/>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BC6DD599-9C71-9F04-8E08-37223D08FD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86C169AC-0980-A969-0122-06937FA09A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0AA69FC1-5318-2745-932A-EBB51D4DCAB9}" type="slidenum">
              <a:rPr lang="en-US" altLang="en-US" smtClean="0"/>
              <a:pPr>
                <a:spcBef>
                  <a:spcPct val="0"/>
                </a:spcBef>
              </a:pPr>
              <a:t>73</a:t>
            </a:fld>
            <a:endParaRPr lang="en-US" altLang="en-US"/>
          </a:p>
        </p:txBody>
      </p:sp>
      <p:sp>
        <p:nvSpPr>
          <p:cNvPr id="69634" name="Rectangle 2">
            <a:extLst>
              <a:ext uri="{FF2B5EF4-FFF2-40B4-BE49-F238E27FC236}">
                <a16:creationId xmlns:a16="http://schemas.microsoft.com/office/drawing/2014/main" id="{3F297520-0F3B-86F4-345F-145B0FD8DDE0}"/>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CFE93D33-AFD1-5703-4E80-38E38D55C7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437E144D-E599-1BF1-D47E-48D2556FED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02DE146C-939A-3F4A-AD04-4D56B2F54B40}" type="slidenum">
              <a:rPr lang="en-US" altLang="en-US" smtClean="0"/>
              <a:pPr>
                <a:spcBef>
                  <a:spcPct val="0"/>
                </a:spcBef>
              </a:pPr>
              <a:t>78</a:t>
            </a:fld>
            <a:endParaRPr lang="en-US" altLang="en-US"/>
          </a:p>
        </p:txBody>
      </p:sp>
      <p:sp>
        <p:nvSpPr>
          <p:cNvPr id="75778" name="Rectangle 2">
            <a:extLst>
              <a:ext uri="{FF2B5EF4-FFF2-40B4-BE49-F238E27FC236}">
                <a16:creationId xmlns:a16="http://schemas.microsoft.com/office/drawing/2014/main" id="{E43CCBA7-13AE-D29C-BC13-A30566C4C10B}"/>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8080AEEB-3B47-F716-7683-A6B774447D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a:extLst>
              <a:ext uri="{FF2B5EF4-FFF2-40B4-BE49-F238E27FC236}">
                <a16:creationId xmlns:a16="http://schemas.microsoft.com/office/drawing/2014/main" id="{2B14172F-5EF5-406D-CACB-93F103ECB7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3C57D74-265F-5E4D-BF0A-AD2573B2588D}" type="slidenum">
              <a:rPr lang="en-US" altLang="en-US" smtClean="0"/>
              <a:pPr>
                <a:spcBef>
                  <a:spcPct val="0"/>
                </a:spcBef>
              </a:pPr>
              <a:t>80</a:t>
            </a:fld>
            <a:endParaRPr lang="en-US" altLang="en-US"/>
          </a:p>
        </p:txBody>
      </p:sp>
      <p:sp>
        <p:nvSpPr>
          <p:cNvPr id="78850" name="Rectangle 2">
            <a:extLst>
              <a:ext uri="{FF2B5EF4-FFF2-40B4-BE49-F238E27FC236}">
                <a16:creationId xmlns:a16="http://schemas.microsoft.com/office/drawing/2014/main" id="{B3EDD9F8-7A34-323C-BCED-91A4700EA85C}"/>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1133218C-7BC2-5FD7-7952-A6392A1A4A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75DDF6D-C5F5-AC18-5FE9-5D9E88A70E17}"/>
              </a:ext>
            </a:extLst>
          </p:cNvPr>
          <p:cNvGrpSpPr>
            <a:grpSpLocks/>
          </p:cNvGrpSpPr>
          <p:nvPr/>
        </p:nvGrpSpPr>
        <p:grpSpPr bwMode="auto">
          <a:xfrm>
            <a:off x="0" y="3902075"/>
            <a:ext cx="3400425" cy="2949575"/>
            <a:chOff x="0" y="2458"/>
            <a:chExt cx="2142" cy="1858"/>
          </a:xfrm>
        </p:grpSpPr>
        <p:sp>
          <p:nvSpPr>
            <p:cNvPr id="3" name="Freeform 3">
              <a:extLst>
                <a:ext uri="{FF2B5EF4-FFF2-40B4-BE49-F238E27FC236}">
                  <a16:creationId xmlns:a16="http://schemas.microsoft.com/office/drawing/2014/main" id="{22AEA55F-1AEF-56EC-CCB0-7FC834234910}"/>
                </a:ext>
              </a:extLst>
            </p:cNvPr>
            <p:cNvSpPr>
              <a:spLocks/>
            </p:cNvSpPr>
            <p:nvPr/>
          </p:nvSpPr>
          <p:spPr bwMode="ltGray">
            <a:xfrm>
              <a:off x="0" y="2508"/>
              <a:ext cx="2142" cy="1804"/>
            </a:xfrm>
            <a:custGeom>
              <a:avLst/>
              <a:gdLst/>
              <a:ahLst/>
              <a:cxnLst>
                <a:cxn ang="0">
                  <a:pos x="329" y="66"/>
                </a:cxn>
                <a:cxn ang="0">
                  <a:pos x="161" y="30"/>
                </a:cxn>
                <a:cxn ang="0">
                  <a:pos x="0" y="0"/>
                </a:cxn>
                <a:cxn ang="0">
                  <a:pos x="0" y="12"/>
                </a:cxn>
                <a:cxn ang="0">
                  <a:pos x="161" y="42"/>
                </a:cxn>
                <a:cxn ang="0">
                  <a:pos x="323" y="78"/>
                </a:cxn>
                <a:cxn ang="0">
                  <a:pos x="556" y="150"/>
                </a:cxn>
                <a:cxn ang="0">
                  <a:pos x="777" y="245"/>
                </a:cxn>
                <a:cxn ang="0">
                  <a:pos x="993" y="365"/>
                </a:cxn>
                <a:cxn ang="0">
                  <a:pos x="1196" y="503"/>
                </a:cxn>
                <a:cxn ang="0">
                  <a:pos x="1381" y="653"/>
                </a:cxn>
                <a:cxn ang="0">
                  <a:pos x="1555" y="827"/>
                </a:cxn>
                <a:cxn ang="0">
                  <a:pos x="1710" y="1019"/>
                </a:cxn>
                <a:cxn ang="0">
                  <a:pos x="1854" y="1229"/>
                </a:cxn>
                <a:cxn ang="0">
                  <a:pos x="1937" y="1366"/>
                </a:cxn>
                <a:cxn ang="0">
                  <a:pos x="2009" y="1510"/>
                </a:cxn>
                <a:cxn ang="0">
                  <a:pos x="2069" y="1654"/>
                </a:cxn>
                <a:cxn ang="0">
                  <a:pos x="2123" y="1804"/>
                </a:cxn>
                <a:cxn ang="0">
                  <a:pos x="2135" y="1804"/>
                </a:cxn>
                <a:cxn ang="0">
                  <a:pos x="2081" y="1654"/>
                </a:cxn>
                <a:cxn ang="0">
                  <a:pos x="2021" y="1510"/>
                </a:cxn>
                <a:cxn ang="0">
                  <a:pos x="1949" y="1366"/>
                </a:cxn>
                <a:cxn ang="0">
                  <a:pos x="1866" y="1223"/>
                </a:cxn>
                <a:cxn ang="0">
                  <a:pos x="1722" y="1013"/>
                </a:cxn>
                <a:cxn ang="0">
                  <a:pos x="1561" y="821"/>
                </a:cxn>
                <a:cxn ang="0">
                  <a:pos x="1387" y="647"/>
                </a:cxn>
                <a:cxn ang="0">
                  <a:pos x="1202" y="491"/>
                </a:cxn>
                <a:cxn ang="0">
                  <a:pos x="999" y="353"/>
                </a:cxn>
                <a:cxn ang="0">
                  <a:pos x="783" y="239"/>
                </a:cxn>
                <a:cxn ang="0">
                  <a:pos x="562" y="138"/>
                </a:cxn>
                <a:cxn ang="0">
                  <a:pos x="329" y="66"/>
                </a:cxn>
                <a:cxn ang="0">
                  <a:pos x="329" y="66"/>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4" name="Freeform 4">
              <a:extLst>
                <a:ext uri="{FF2B5EF4-FFF2-40B4-BE49-F238E27FC236}">
                  <a16:creationId xmlns:a16="http://schemas.microsoft.com/office/drawing/2014/main" id="{077E8A17-65CC-A4D8-E04B-C6CB99793522}"/>
                </a:ext>
              </a:extLst>
            </p:cNvPr>
            <p:cNvSpPr>
              <a:spLocks/>
            </p:cNvSpPr>
            <p:nvPr/>
          </p:nvSpPr>
          <p:spPr bwMode="hidden">
            <a:xfrm>
              <a:off x="0" y="2458"/>
              <a:ext cx="1854" cy="1858"/>
            </a:xfrm>
            <a:custGeom>
              <a:avLst/>
              <a:gdLst/>
              <a:ahLst/>
              <a:cxnLst>
                <a:cxn ang="0">
                  <a:pos x="1854" y="1858"/>
                </a:cxn>
                <a:cxn ang="0">
                  <a:pos x="0" y="1858"/>
                </a:cxn>
                <a:cxn ang="0">
                  <a:pos x="0" y="0"/>
                </a:cxn>
                <a:cxn ang="0">
                  <a:pos x="1854" y="1858"/>
                </a:cxn>
                <a:cxn ang="0">
                  <a:pos x="1854" y="1858"/>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5" name="Freeform 5">
              <a:extLst>
                <a:ext uri="{FF2B5EF4-FFF2-40B4-BE49-F238E27FC236}">
                  <a16:creationId xmlns:a16="http://schemas.microsoft.com/office/drawing/2014/main" id="{AE82E43D-59A3-61A8-9708-5547B3D9F8C6}"/>
                </a:ext>
              </a:extLst>
            </p:cNvPr>
            <p:cNvSpPr>
              <a:spLocks/>
            </p:cNvSpPr>
            <p:nvPr/>
          </p:nvSpPr>
          <p:spPr bwMode="ltGray">
            <a:xfrm>
              <a:off x="0" y="2735"/>
              <a:ext cx="1745" cy="1577"/>
            </a:xfrm>
            <a:custGeom>
              <a:avLst/>
              <a:gdLst/>
              <a:ahLst/>
              <a:cxnLst>
                <a:cxn ang="0">
                  <a:pos x="1640" y="1377"/>
                </a:cxn>
                <a:cxn ang="0">
                  <a:pos x="1692" y="1479"/>
                </a:cxn>
                <a:cxn ang="0">
                  <a:pos x="1732" y="1577"/>
                </a:cxn>
                <a:cxn ang="0">
                  <a:pos x="1745" y="1577"/>
                </a:cxn>
                <a:cxn ang="0">
                  <a:pos x="1703" y="1469"/>
                </a:cxn>
                <a:cxn ang="0">
                  <a:pos x="1649" y="1367"/>
                </a:cxn>
                <a:cxn ang="0">
                  <a:pos x="1535" y="1157"/>
                </a:cxn>
                <a:cxn ang="0">
                  <a:pos x="1395" y="951"/>
                </a:cxn>
                <a:cxn ang="0">
                  <a:pos x="1236" y="756"/>
                </a:cxn>
                <a:cxn ang="0">
                  <a:pos x="1061" y="582"/>
                </a:cxn>
                <a:cxn ang="0">
                  <a:pos x="876" y="426"/>
                </a:cxn>
                <a:cxn ang="0">
                  <a:pos x="672" y="294"/>
                </a:cxn>
                <a:cxn ang="0">
                  <a:pos x="455" y="174"/>
                </a:cxn>
                <a:cxn ang="0">
                  <a:pos x="234" y="78"/>
                </a:cxn>
                <a:cxn ang="0">
                  <a:pos x="0" y="0"/>
                </a:cxn>
                <a:cxn ang="0">
                  <a:pos x="0" y="12"/>
                </a:cxn>
                <a:cxn ang="0">
                  <a:pos x="222" y="89"/>
                </a:cxn>
                <a:cxn ang="0">
                  <a:pos x="446" y="185"/>
                </a:cxn>
                <a:cxn ang="0">
                  <a:pos x="662" y="305"/>
                </a:cxn>
                <a:cxn ang="0">
                  <a:pos x="866" y="437"/>
                </a:cxn>
                <a:cxn ang="0">
                  <a:pos x="1052" y="593"/>
                </a:cxn>
                <a:cxn ang="0">
                  <a:pos x="1226" y="767"/>
                </a:cxn>
                <a:cxn ang="0">
                  <a:pos x="1385" y="960"/>
                </a:cxn>
                <a:cxn ang="0">
                  <a:pos x="1526" y="1167"/>
                </a:cxn>
                <a:cxn ang="0">
                  <a:pos x="1640" y="1377"/>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6" name="Freeform 6">
              <a:extLst>
                <a:ext uri="{FF2B5EF4-FFF2-40B4-BE49-F238E27FC236}">
                  <a16:creationId xmlns:a16="http://schemas.microsoft.com/office/drawing/2014/main" id="{221E6662-406E-8AA8-B9C5-9479C920CF6D}"/>
                </a:ext>
              </a:extLst>
            </p:cNvPr>
            <p:cNvSpPr>
              <a:spLocks/>
            </p:cNvSpPr>
            <p:nvPr/>
          </p:nvSpPr>
          <p:spPr bwMode="ltGray">
            <a:xfrm>
              <a:off x="0" y="2544"/>
              <a:ext cx="1745" cy="1768"/>
            </a:xfrm>
            <a:custGeom>
              <a:avLst/>
              <a:gdLst/>
              <a:ahLst/>
              <a:cxnLst>
                <a:cxn ang="0">
                  <a:pos x="0" y="0"/>
                </a:cxn>
                <a:cxn ang="0">
                  <a:pos x="0" y="12"/>
                </a:cxn>
                <a:cxn ang="0">
                  <a:pos x="210" y="88"/>
                </a:cxn>
                <a:cxn ang="0">
                  <a:pos x="426" y="190"/>
                </a:cxn>
                <a:cxn ang="0">
                  <a:pos x="630" y="304"/>
                </a:cxn>
                <a:cxn ang="0">
                  <a:pos x="818" y="442"/>
                </a:cxn>
                <a:cxn ang="0">
                  <a:pos x="998" y="592"/>
                </a:cxn>
                <a:cxn ang="0">
                  <a:pos x="1164" y="766"/>
                </a:cxn>
                <a:cxn ang="0">
                  <a:pos x="1310" y="942"/>
                </a:cxn>
                <a:cxn ang="0">
                  <a:pos x="1454" y="1146"/>
                </a:cxn>
                <a:cxn ang="0">
                  <a:pos x="1536" y="1298"/>
                </a:cxn>
                <a:cxn ang="0">
                  <a:pos x="1614" y="1456"/>
                </a:cxn>
                <a:cxn ang="0">
                  <a:pos x="1682" y="1616"/>
                </a:cxn>
                <a:cxn ang="0">
                  <a:pos x="1733" y="1768"/>
                </a:cxn>
                <a:cxn ang="0">
                  <a:pos x="1745" y="1768"/>
                </a:cxn>
                <a:cxn ang="0">
                  <a:pos x="1691" y="1606"/>
                </a:cxn>
                <a:cxn ang="0">
                  <a:pos x="1623" y="1445"/>
                </a:cxn>
                <a:cxn ang="0">
                  <a:pos x="1547" y="1288"/>
                </a:cxn>
                <a:cxn ang="0">
                  <a:pos x="1463" y="1136"/>
                </a:cxn>
                <a:cxn ang="0">
                  <a:pos x="1320" y="932"/>
                </a:cxn>
                <a:cxn ang="0">
                  <a:pos x="1173" y="755"/>
                </a:cxn>
                <a:cxn ang="0">
                  <a:pos x="1008" y="581"/>
                </a:cxn>
                <a:cxn ang="0">
                  <a:pos x="827" y="431"/>
                </a:cxn>
                <a:cxn ang="0">
                  <a:pos x="642" y="293"/>
                </a:cxn>
                <a:cxn ang="0">
                  <a:pos x="437" y="179"/>
                </a:cxn>
                <a:cxn ang="0">
                  <a:pos x="222" y="78"/>
                </a:cxn>
                <a:cxn ang="0">
                  <a:pos x="0" y="0"/>
                </a:cxn>
                <a:cxn ang="0">
                  <a:pos x="0" y="0"/>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7" name="Oval 7">
              <a:extLst>
                <a:ext uri="{FF2B5EF4-FFF2-40B4-BE49-F238E27FC236}">
                  <a16:creationId xmlns:a16="http://schemas.microsoft.com/office/drawing/2014/main" id="{B8803A51-A3B5-E2F5-F251-5D505F15E031}"/>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8" name="Oval 8">
              <a:extLst>
                <a:ext uri="{FF2B5EF4-FFF2-40B4-BE49-F238E27FC236}">
                  <a16:creationId xmlns:a16="http://schemas.microsoft.com/office/drawing/2014/main" id="{B6AE471D-61CF-ED3B-8BEB-A3B65873B629}"/>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9" name="Oval 9">
              <a:extLst>
                <a:ext uri="{FF2B5EF4-FFF2-40B4-BE49-F238E27FC236}">
                  <a16:creationId xmlns:a16="http://schemas.microsoft.com/office/drawing/2014/main" id="{79331158-A2B7-6994-FA93-329FD6F4C402}"/>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grpSp>
      <p:sp>
        <p:nvSpPr>
          <p:cNvPr id="338954" name="Rectangle 10"/>
          <p:cNvSpPr>
            <a:spLocks noGrp="1" noChangeArrowheads="1"/>
          </p:cNvSpPr>
          <p:nvPr>
            <p:ph type="ctrTitle" sz="quarter"/>
          </p:nvPr>
        </p:nvSpPr>
        <p:spPr>
          <a:xfrm>
            <a:off x="685800" y="1873250"/>
            <a:ext cx="7772400" cy="1555750"/>
          </a:xfrm>
        </p:spPr>
        <p:txBody>
          <a:bodyPr/>
          <a:lstStyle>
            <a:lvl1pPr>
              <a:defRPr sz="4800"/>
            </a:lvl1pPr>
          </a:lstStyle>
          <a:p>
            <a:r>
              <a:rPr lang="en-US"/>
              <a:t>Click to edit Master title style</a:t>
            </a:r>
          </a:p>
        </p:txBody>
      </p:sp>
      <p:sp>
        <p:nvSpPr>
          <p:cNvPr id="338955"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0" name="Rectangle 12">
            <a:extLst>
              <a:ext uri="{FF2B5EF4-FFF2-40B4-BE49-F238E27FC236}">
                <a16:creationId xmlns:a16="http://schemas.microsoft.com/office/drawing/2014/main" id="{85820FC3-9417-8C3C-C53E-B2586B99D7C1}"/>
              </a:ext>
            </a:extLst>
          </p:cNvPr>
          <p:cNvSpPr>
            <a:spLocks noGrp="1" noChangeArrowheads="1"/>
          </p:cNvSpPr>
          <p:nvPr>
            <p:ph type="dt" sz="quarter" idx="10"/>
          </p:nvPr>
        </p:nvSpPr>
        <p:spPr/>
        <p:txBody>
          <a:bodyPr/>
          <a:lstStyle>
            <a:lvl1pPr>
              <a:defRPr/>
            </a:lvl1pPr>
          </a:lstStyle>
          <a:p>
            <a:pPr>
              <a:defRPr/>
            </a:pPr>
            <a:endParaRPr lang="en-US" altLang="en-US"/>
          </a:p>
        </p:txBody>
      </p:sp>
      <p:sp>
        <p:nvSpPr>
          <p:cNvPr id="11" name="Rectangle 13">
            <a:extLst>
              <a:ext uri="{FF2B5EF4-FFF2-40B4-BE49-F238E27FC236}">
                <a16:creationId xmlns:a16="http://schemas.microsoft.com/office/drawing/2014/main" id="{B2F35AAA-BF32-D4D3-37AE-C447295A76E9}"/>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12" name="Rectangle 14">
            <a:extLst>
              <a:ext uri="{FF2B5EF4-FFF2-40B4-BE49-F238E27FC236}">
                <a16:creationId xmlns:a16="http://schemas.microsoft.com/office/drawing/2014/main" id="{60CF8EDD-9303-DB4F-2234-FA5C030839F3}"/>
              </a:ext>
            </a:extLst>
          </p:cNvPr>
          <p:cNvSpPr>
            <a:spLocks noGrp="1" noChangeArrowheads="1"/>
          </p:cNvSpPr>
          <p:nvPr>
            <p:ph type="sldNum" sz="quarter" idx="12"/>
          </p:nvPr>
        </p:nvSpPr>
        <p:spPr/>
        <p:txBody>
          <a:bodyPr/>
          <a:lstStyle>
            <a:lvl1pPr>
              <a:defRPr/>
            </a:lvl1pPr>
          </a:lstStyle>
          <a:p>
            <a:pPr>
              <a:defRPr/>
            </a:pPr>
            <a:fld id="{7AB96AD3-1110-0D41-8937-09030FD4C72C}" type="slidenum">
              <a:rPr lang="en-US" altLang="en-US"/>
              <a:pPr>
                <a:defRPr/>
              </a:pPr>
              <a:t>‹#›</a:t>
            </a:fld>
            <a:endParaRPr lang="en-US" altLang="en-US"/>
          </a:p>
        </p:txBody>
      </p:sp>
    </p:spTree>
    <p:extLst>
      <p:ext uri="{BB962C8B-B14F-4D97-AF65-F5344CB8AC3E}">
        <p14:creationId xmlns:p14="http://schemas.microsoft.com/office/powerpoint/2010/main" val="2409486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FB57E4AC-4891-94FC-3954-174FF16A8ECC}"/>
              </a:ext>
            </a:extLst>
          </p:cNvPr>
          <p:cNvSpPr>
            <a:spLocks noGrp="1" noChangeArrowheads="1"/>
          </p:cNvSpPr>
          <p:nvPr>
            <p:ph type="dt" sz="half" idx="10"/>
          </p:nvPr>
        </p:nvSpPr>
        <p:spPr/>
        <p:txBody>
          <a:bodyPr/>
          <a:lstStyle>
            <a:lvl1pPr>
              <a:defRPr/>
            </a:lvl1pPr>
          </a:lstStyle>
          <a:p>
            <a:pPr>
              <a:defRPr/>
            </a:pPr>
            <a:endParaRPr lang="en-US" altLang="en-US"/>
          </a:p>
        </p:txBody>
      </p:sp>
      <p:sp>
        <p:nvSpPr>
          <p:cNvPr id="5" name="Rectangle 13">
            <a:extLst>
              <a:ext uri="{FF2B5EF4-FFF2-40B4-BE49-F238E27FC236}">
                <a16:creationId xmlns:a16="http://schemas.microsoft.com/office/drawing/2014/main" id="{2009CF87-3F7A-5809-D25F-A6F340E64948}"/>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6" name="Rectangle 14">
            <a:extLst>
              <a:ext uri="{FF2B5EF4-FFF2-40B4-BE49-F238E27FC236}">
                <a16:creationId xmlns:a16="http://schemas.microsoft.com/office/drawing/2014/main" id="{E4DC699A-E2EA-E8A6-AFAE-E24BB871987E}"/>
              </a:ext>
            </a:extLst>
          </p:cNvPr>
          <p:cNvSpPr>
            <a:spLocks noGrp="1" noChangeArrowheads="1"/>
          </p:cNvSpPr>
          <p:nvPr>
            <p:ph type="sldNum" sz="quarter" idx="12"/>
          </p:nvPr>
        </p:nvSpPr>
        <p:spPr/>
        <p:txBody>
          <a:bodyPr/>
          <a:lstStyle>
            <a:lvl1pPr>
              <a:defRPr/>
            </a:lvl1pPr>
          </a:lstStyle>
          <a:p>
            <a:pPr>
              <a:defRPr/>
            </a:pPr>
            <a:fld id="{194A3189-C69C-FB41-9F8A-365D259F9FB5}" type="slidenum">
              <a:rPr lang="en-US" altLang="en-US"/>
              <a:pPr>
                <a:defRPr/>
              </a:pPr>
              <a:t>‹#›</a:t>
            </a:fld>
            <a:endParaRPr lang="en-US" altLang="en-US"/>
          </a:p>
        </p:txBody>
      </p:sp>
    </p:spTree>
    <p:extLst>
      <p:ext uri="{BB962C8B-B14F-4D97-AF65-F5344CB8AC3E}">
        <p14:creationId xmlns:p14="http://schemas.microsoft.com/office/powerpoint/2010/main" val="3299257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a:extLst>
              <a:ext uri="{FF2B5EF4-FFF2-40B4-BE49-F238E27FC236}">
                <a16:creationId xmlns:a16="http://schemas.microsoft.com/office/drawing/2014/main" id="{C81A5FA8-14DA-0972-BB0A-27AAD427421B}"/>
              </a:ext>
            </a:extLst>
          </p:cNvPr>
          <p:cNvSpPr>
            <a:spLocks noGrp="1" noChangeArrowheads="1"/>
          </p:cNvSpPr>
          <p:nvPr>
            <p:ph type="dt" sz="half" idx="10"/>
          </p:nvPr>
        </p:nvSpPr>
        <p:spPr/>
        <p:txBody>
          <a:bodyPr/>
          <a:lstStyle>
            <a:lvl1pPr>
              <a:defRPr/>
            </a:lvl1pPr>
          </a:lstStyle>
          <a:p>
            <a:pPr>
              <a:defRPr/>
            </a:pPr>
            <a:endParaRPr lang="en-US" altLang="en-US"/>
          </a:p>
        </p:txBody>
      </p:sp>
      <p:sp>
        <p:nvSpPr>
          <p:cNvPr id="5" name="Rectangle 13">
            <a:extLst>
              <a:ext uri="{FF2B5EF4-FFF2-40B4-BE49-F238E27FC236}">
                <a16:creationId xmlns:a16="http://schemas.microsoft.com/office/drawing/2014/main" id="{26CFDE4B-B4E4-A7BB-CFA4-0981D4DA4501}"/>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6" name="Rectangle 14">
            <a:extLst>
              <a:ext uri="{FF2B5EF4-FFF2-40B4-BE49-F238E27FC236}">
                <a16:creationId xmlns:a16="http://schemas.microsoft.com/office/drawing/2014/main" id="{B4F3B3F1-6D7E-E866-9B1A-CEC816B655B9}"/>
              </a:ext>
            </a:extLst>
          </p:cNvPr>
          <p:cNvSpPr>
            <a:spLocks noGrp="1" noChangeArrowheads="1"/>
          </p:cNvSpPr>
          <p:nvPr>
            <p:ph type="sldNum" sz="quarter" idx="12"/>
          </p:nvPr>
        </p:nvSpPr>
        <p:spPr/>
        <p:txBody>
          <a:bodyPr/>
          <a:lstStyle>
            <a:lvl1pPr>
              <a:defRPr/>
            </a:lvl1pPr>
          </a:lstStyle>
          <a:p>
            <a:pPr>
              <a:defRPr/>
            </a:pPr>
            <a:fld id="{CD908280-DFAA-B24C-986A-2BB5976612B7}" type="slidenum">
              <a:rPr lang="en-US" altLang="en-US"/>
              <a:pPr>
                <a:defRPr/>
              </a:pPr>
              <a:t>‹#›</a:t>
            </a:fld>
            <a:endParaRPr lang="en-US" altLang="en-US"/>
          </a:p>
        </p:txBody>
      </p:sp>
    </p:spTree>
    <p:extLst>
      <p:ext uri="{BB962C8B-B14F-4D97-AF65-F5344CB8AC3E}">
        <p14:creationId xmlns:p14="http://schemas.microsoft.com/office/powerpoint/2010/main" val="576097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a:extLst>
              <a:ext uri="{FF2B5EF4-FFF2-40B4-BE49-F238E27FC236}">
                <a16:creationId xmlns:a16="http://schemas.microsoft.com/office/drawing/2014/main" id="{AE59955B-934F-0E35-066D-3955D4F84725}"/>
              </a:ext>
            </a:extLst>
          </p:cNvPr>
          <p:cNvSpPr>
            <a:spLocks noGrp="1" noChangeArrowheads="1"/>
          </p:cNvSpPr>
          <p:nvPr>
            <p:ph type="dt" sz="half" idx="10"/>
          </p:nvPr>
        </p:nvSpPr>
        <p:spPr/>
        <p:txBody>
          <a:bodyPr/>
          <a:lstStyle>
            <a:lvl1pPr>
              <a:defRPr/>
            </a:lvl1pPr>
          </a:lstStyle>
          <a:p>
            <a:pPr>
              <a:defRPr/>
            </a:pPr>
            <a:endParaRPr lang="en-US" altLang="en-US"/>
          </a:p>
        </p:txBody>
      </p:sp>
      <p:sp>
        <p:nvSpPr>
          <p:cNvPr id="6" name="Rectangle 13">
            <a:extLst>
              <a:ext uri="{FF2B5EF4-FFF2-40B4-BE49-F238E27FC236}">
                <a16:creationId xmlns:a16="http://schemas.microsoft.com/office/drawing/2014/main" id="{B7586C49-81B6-D4C9-F5A4-ED6E8DAB57D0}"/>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7" name="Rectangle 14">
            <a:extLst>
              <a:ext uri="{FF2B5EF4-FFF2-40B4-BE49-F238E27FC236}">
                <a16:creationId xmlns:a16="http://schemas.microsoft.com/office/drawing/2014/main" id="{DF85676E-299D-B65A-E458-1916CF3C7EDF}"/>
              </a:ext>
            </a:extLst>
          </p:cNvPr>
          <p:cNvSpPr>
            <a:spLocks noGrp="1" noChangeArrowheads="1"/>
          </p:cNvSpPr>
          <p:nvPr>
            <p:ph type="sldNum" sz="quarter" idx="12"/>
          </p:nvPr>
        </p:nvSpPr>
        <p:spPr/>
        <p:txBody>
          <a:bodyPr/>
          <a:lstStyle>
            <a:lvl1pPr>
              <a:defRPr/>
            </a:lvl1pPr>
          </a:lstStyle>
          <a:p>
            <a:pPr>
              <a:defRPr/>
            </a:pPr>
            <a:fld id="{A0CF7A8C-2A1D-3C4A-A497-5E1312D3F7A6}" type="slidenum">
              <a:rPr lang="en-US" altLang="en-US"/>
              <a:pPr>
                <a:defRPr/>
              </a:pPr>
              <a:t>‹#›</a:t>
            </a:fld>
            <a:endParaRPr lang="en-US" altLang="en-US"/>
          </a:p>
        </p:txBody>
      </p:sp>
    </p:spTree>
    <p:extLst>
      <p:ext uri="{BB962C8B-B14F-4D97-AF65-F5344CB8AC3E}">
        <p14:creationId xmlns:p14="http://schemas.microsoft.com/office/powerpoint/2010/main" val="1317777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a:extLst>
              <a:ext uri="{FF2B5EF4-FFF2-40B4-BE49-F238E27FC236}">
                <a16:creationId xmlns:a16="http://schemas.microsoft.com/office/drawing/2014/main" id="{B6085890-4CB9-FB43-E495-EABC14F6974B}"/>
              </a:ext>
            </a:extLst>
          </p:cNvPr>
          <p:cNvSpPr>
            <a:spLocks noGrp="1" noChangeArrowheads="1"/>
          </p:cNvSpPr>
          <p:nvPr>
            <p:ph type="dt" sz="half" idx="10"/>
          </p:nvPr>
        </p:nvSpPr>
        <p:spPr/>
        <p:txBody>
          <a:bodyPr/>
          <a:lstStyle>
            <a:lvl1pPr>
              <a:defRPr/>
            </a:lvl1pPr>
          </a:lstStyle>
          <a:p>
            <a:pPr>
              <a:defRPr/>
            </a:pPr>
            <a:endParaRPr lang="en-US" altLang="en-US"/>
          </a:p>
        </p:txBody>
      </p:sp>
      <p:sp>
        <p:nvSpPr>
          <p:cNvPr id="8" name="Rectangle 13">
            <a:extLst>
              <a:ext uri="{FF2B5EF4-FFF2-40B4-BE49-F238E27FC236}">
                <a16:creationId xmlns:a16="http://schemas.microsoft.com/office/drawing/2014/main" id="{974A4FEF-C4C8-2150-12F1-FF81E0C84857}"/>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9" name="Rectangle 14">
            <a:extLst>
              <a:ext uri="{FF2B5EF4-FFF2-40B4-BE49-F238E27FC236}">
                <a16:creationId xmlns:a16="http://schemas.microsoft.com/office/drawing/2014/main" id="{4180E8EE-AB22-87D2-5BD8-DEEAF1023A3A}"/>
              </a:ext>
            </a:extLst>
          </p:cNvPr>
          <p:cNvSpPr>
            <a:spLocks noGrp="1" noChangeArrowheads="1"/>
          </p:cNvSpPr>
          <p:nvPr>
            <p:ph type="sldNum" sz="quarter" idx="12"/>
          </p:nvPr>
        </p:nvSpPr>
        <p:spPr/>
        <p:txBody>
          <a:bodyPr/>
          <a:lstStyle>
            <a:lvl1pPr>
              <a:defRPr/>
            </a:lvl1pPr>
          </a:lstStyle>
          <a:p>
            <a:pPr>
              <a:defRPr/>
            </a:pPr>
            <a:fld id="{EA15A30C-AE77-7449-88DC-5D10EB428FA3}" type="slidenum">
              <a:rPr lang="en-US" altLang="en-US"/>
              <a:pPr>
                <a:defRPr/>
              </a:pPr>
              <a:t>‹#›</a:t>
            </a:fld>
            <a:endParaRPr lang="en-US" altLang="en-US"/>
          </a:p>
        </p:txBody>
      </p:sp>
    </p:spTree>
    <p:extLst>
      <p:ext uri="{BB962C8B-B14F-4D97-AF65-F5344CB8AC3E}">
        <p14:creationId xmlns:p14="http://schemas.microsoft.com/office/powerpoint/2010/main" val="1484264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a:extLst>
              <a:ext uri="{FF2B5EF4-FFF2-40B4-BE49-F238E27FC236}">
                <a16:creationId xmlns:a16="http://schemas.microsoft.com/office/drawing/2014/main" id="{58F86A81-7260-09AB-020A-4E3EC8ACB8FA}"/>
              </a:ext>
            </a:extLst>
          </p:cNvPr>
          <p:cNvSpPr>
            <a:spLocks noGrp="1" noChangeArrowheads="1"/>
          </p:cNvSpPr>
          <p:nvPr>
            <p:ph type="dt" sz="half" idx="10"/>
          </p:nvPr>
        </p:nvSpPr>
        <p:spPr/>
        <p:txBody>
          <a:bodyPr/>
          <a:lstStyle>
            <a:lvl1pPr>
              <a:defRPr/>
            </a:lvl1pPr>
          </a:lstStyle>
          <a:p>
            <a:pPr>
              <a:defRPr/>
            </a:pPr>
            <a:endParaRPr lang="en-US" altLang="en-US"/>
          </a:p>
        </p:txBody>
      </p:sp>
      <p:sp>
        <p:nvSpPr>
          <p:cNvPr id="4" name="Rectangle 13">
            <a:extLst>
              <a:ext uri="{FF2B5EF4-FFF2-40B4-BE49-F238E27FC236}">
                <a16:creationId xmlns:a16="http://schemas.microsoft.com/office/drawing/2014/main" id="{D38D9D05-9018-0250-9F4F-994B787CBB14}"/>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5" name="Rectangle 14">
            <a:extLst>
              <a:ext uri="{FF2B5EF4-FFF2-40B4-BE49-F238E27FC236}">
                <a16:creationId xmlns:a16="http://schemas.microsoft.com/office/drawing/2014/main" id="{0370C346-330E-F46B-06FB-68F32DDB1782}"/>
              </a:ext>
            </a:extLst>
          </p:cNvPr>
          <p:cNvSpPr>
            <a:spLocks noGrp="1" noChangeArrowheads="1"/>
          </p:cNvSpPr>
          <p:nvPr>
            <p:ph type="sldNum" sz="quarter" idx="12"/>
          </p:nvPr>
        </p:nvSpPr>
        <p:spPr/>
        <p:txBody>
          <a:bodyPr/>
          <a:lstStyle>
            <a:lvl1pPr>
              <a:defRPr/>
            </a:lvl1pPr>
          </a:lstStyle>
          <a:p>
            <a:pPr>
              <a:defRPr/>
            </a:pPr>
            <a:fld id="{18393E38-6E07-944D-8C85-4212C8A5D113}" type="slidenum">
              <a:rPr lang="en-US" altLang="en-US"/>
              <a:pPr>
                <a:defRPr/>
              </a:pPr>
              <a:t>‹#›</a:t>
            </a:fld>
            <a:endParaRPr lang="en-US" altLang="en-US"/>
          </a:p>
        </p:txBody>
      </p:sp>
    </p:spTree>
    <p:extLst>
      <p:ext uri="{BB962C8B-B14F-4D97-AF65-F5344CB8AC3E}">
        <p14:creationId xmlns:p14="http://schemas.microsoft.com/office/powerpoint/2010/main" val="3963803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7683EF4E-F93F-A96B-BBEC-7677301302C0}"/>
              </a:ext>
            </a:extLst>
          </p:cNvPr>
          <p:cNvSpPr>
            <a:spLocks noGrp="1" noChangeArrowheads="1"/>
          </p:cNvSpPr>
          <p:nvPr>
            <p:ph type="dt" sz="half" idx="10"/>
          </p:nvPr>
        </p:nvSpPr>
        <p:spPr/>
        <p:txBody>
          <a:bodyPr/>
          <a:lstStyle>
            <a:lvl1pPr>
              <a:defRPr/>
            </a:lvl1pPr>
          </a:lstStyle>
          <a:p>
            <a:pPr>
              <a:defRPr/>
            </a:pPr>
            <a:endParaRPr lang="en-US" altLang="en-US"/>
          </a:p>
        </p:txBody>
      </p:sp>
      <p:sp>
        <p:nvSpPr>
          <p:cNvPr id="3" name="Rectangle 13">
            <a:extLst>
              <a:ext uri="{FF2B5EF4-FFF2-40B4-BE49-F238E27FC236}">
                <a16:creationId xmlns:a16="http://schemas.microsoft.com/office/drawing/2014/main" id="{45AD29C3-94A9-C27F-D545-CD5E3C23EF97}"/>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4" name="Rectangle 14">
            <a:extLst>
              <a:ext uri="{FF2B5EF4-FFF2-40B4-BE49-F238E27FC236}">
                <a16:creationId xmlns:a16="http://schemas.microsoft.com/office/drawing/2014/main" id="{8765EA3B-B99E-D53A-3D6A-05BA871D3B54}"/>
              </a:ext>
            </a:extLst>
          </p:cNvPr>
          <p:cNvSpPr>
            <a:spLocks noGrp="1" noChangeArrowheads="1"/>
          </p:cNvSpPr>
          <p:nvPr>
            <p:ph type="sldNum" sz="quarter" idx="12"/>
          </p:nvPr>
        </p:nvSpPr>
        <p:spPr/>
        <p:txBody>
          <a:bodyPr/>
          <a:lstStyle>
            <a:lvl1pPr>
              <a:defRPr/>
            </a:lvl1pPr>
          </a:lstStyle>
          <a:p>
            <a:pPr>
              <a:defRPr/>
            </a:pPr>
            <a:fld id="{1C20F432-584B-7C40-9934-04853A34D92C}" type="slidenum">
              <a:rPr lang="en-US" altLang="en-US"/>
              <a:pPr>
                <a:defRPr/>
              </a:pPr>
              <a:t>‹#›</a:t>
            </a:fld>
            <a:endParaRPr lang="en-US" altLang="en-US"/>
          </a:p>
        </p:txBody>
      </p:sp>
    </p:spTree>
    <p:extLst>
      <p:ext uri="{BB962C8B-B14F-4D97-AF65-F5344CB8AC3E}">
        <p14:creationId xmlns:p14="http://schemas.microsoft.com/office/powerpoint/2010/main" val="1271334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a:extLst>
              <a:ext uri="{FF2B5EF4-FFF2-40B4-BE49-F238E27FC236}">
                <a16:creationId xmlns:a16="http://schemas.microsoft.com/office/drawing/2014/main" id="{3C71FE9B-6EFD-8EBF-611C-A0FD78260AE0}"/>
              </a:ext>
            </a:extLst>
          </p:cNvPr>
          <p:cNvSpPr>
            <a:spLocks noGrp="1" noChangeArrowheads="1"/>
          </p:cNvSpPr>
          <p:nvPr>
            <p:ph type="dt" sz="half" idx="10"/>
          </p:nvPr>
        </p:nvSpPr>
        <p:spPr/>
        <p:txBody>
          <a:bodyPr/>
          <a:lstStyle>
            <a:lvl1pPr>
              <a:defRPr/>
            </a:lvl1pPr>
          </a:lstStyle>
          <a:p>
            <a:pPr>
              <a:defRPr/>
            </a:pPr>
            <a:endParaRPr lang="en-US" altLang="en-US"/>
          </a:p>
        </p:txBody>
      </p:sp>
      <p:sp>
        <p:nvSpPr>
          <p:cNvPr id="6" name="Rectangle 13">
            <a:extLst>
              <a:ext uri="{FF2B5EF4-FFF2-40B4-BE49-F238E27FC236}">
                <a16:creationId xmlns:a16="http://schemas.microsoft.com/office/drawing/2014/main" id="{1857FE7E-C7D5-DFA2-D8E1-CD4FF31C3DA8}"/>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7" name="Rectangle 14">
            <a:extLst>
              <a:ext uri="{FF2B5EF4-FFF2-40B4-BE49-F238E27FC236}">
                <a16:creationId xmlns:a16="http://schemas.microsoft.com/office/drawing/2014/main" id="{AF6A13D0-39A1-D5A0-8311-57F01FBCEBB9}"/>
              </a:ext>
            </a:extLst>
          </p:cNvPr>
          <p:cNvSpPr>
            <a:spLocks noGrp="1" noChangeArrowheads="1"/>
          </p:cNvSpPr>
          <p:nvPr>
            <p:ph type="sldNum" sz="quarter" idx="12"/>
          </p:nvPr>
        </p:nvSpPr>
        <p:spPr/>
        <p:txBody>
          <a:bodyPr/>
          <a:lstStyle>
            <a:lvl1pPr>
              <a:defRPr/>
            </a:lvl1pPr>
          </a:lstStyle>
          <a:p>
            <a:pPr>
              <a:defRPr/>
            </a:pPr>
            <a:fld id="{CB96E7AD-5F48-D844-9A45-00018EBEF125}" type="slidenum">
              <a:rPr lang="en-US" altLang="en-US"/>
              <a:pPr>
                <a:defRPr/>
              </a:pPr>
              <a:t>‹#›</a:t>
            </a:fld>
            <a:endParaRPr lang="en-US" altLang="en-US"/>
          </a:p>
        </p:txBody>
      </p:sp>
    </p:spTree>
    <p:extLst>
      <p:ext uri="{BB962C8B-B14F-4D97-AF65-F5344CB8AC3E}">
        <p14:creationId xmlns:p14="http://schemas.microsoft.com/office/powerpoint/2010/main" val="3145669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a:extLst>
              <a:ext uri="{FF2B5EF4-FFF2-40B4-BE49-F238E27FC236}">
                <a16:creationId xmlns:a16="http://schemas.microsoft.com/office/drawing/2014/main" id="{0CB8DBC2-6AA1-E5CD-8C28-85E31FE71F8E}"/>
              </a:ext>
            </a:extLst>
          </p:cNvPr>
          <p:cNvSpPr>
            <a:spLocks noGrp="1" noChangeArrowheads="1"/>
          </p:cNvSpPr>
          <p:nvPr>
            <p:ph type="dt" sz="half" idx="10"/>
          </p:nvPr>
        </p:nvSpPr>
        <p:spPr/>
        <p:txBody>
          <a:bodyPr/>
          <a:lstStyle>
            <a:lvl1pPr>
              <a:defRPr/>
            </a:lvl1pPr>
          </a:lstStyle>
          <a:p>
            <a:pPr>
              <a:defRPr/>
            </a:pPr>
            <a:endParaRPr lang="en-US" altLang="en-US"/>
          </a:p>
        </p:txBody>
      </p:sp>
      <p:sp>
        <p:nvSpPr>
          <p:cNvPr id="6" name="Rectangle 13">
            <a:extLst>
              <a:ext uri="{FF2B5EF4-FFF2-40B4-BE49-F238E27FC236}">
                <a16:creationId xmlns:a16="http://schemas.microsoft.com/office/drawing/2014/main" id="{A7FC42C8-FF8D-9D50-E429-A5447CEB01B5}"/>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7" name="Rectangle 14">
            <a:extLst>
              <a:ext uri="{FF2B5EF4-FFF2-40B4-BE49-F238E27FC236}">
                <a16:creationId xmlns:a16="http://schemas.microsoft.com/office/drawing/2014/main" id="{AF19F322-E58E-6DCE-BDC0-8122DCDC9B53}"/>
              </a:ext>
            </a:extLst>
          </p:cNvPr>
          <p:cNvSpPr>
            <a:spLocks noGrp="1" noChangeArrowheads="1"/>
          </p:cNvSpPr>
          <p:nvPr>
            <p:ph type="sldNum" sz="quarter" idx="12"/>
          </p:nvPr>
        </p:nvSpPr>
        <p:spPr/>
        <p:txBody>
          <a:bodyPr/>
          <a:lstStyle>
            <a:lvl1pPr>
              <a:defRPr/>
            </a:lvl1pPr>
          </a:lstStyle>
          <a:p>
            <a:pPr>
              <a:defRPr/>
            </a:pPr>
            <a:fld id="{E15CE989-A180-D341-B66F-B7FB09F7F6C4}" type="slidenum">
              <a:rPr lang="en-US" altLang="en-US"/>
              <a:pPr>
                <a:defRPr/>
              </a:pPr>
              <a:t>‹#›</a:t>
            </a:fld>
            <a:endParaRPr lang="en-US" altLang="en-US"/>
          </a:p>
        </p:txBody>
      </p:sp>
    </p:spTree>
    <p:extLst>
      <p:ext uri="{BB962C8B-B14F-4D97-AF65-F5344CB8AC3E}">
        <p14:creationId xmlns:p14="http://schemas.microsoft.com/office/powerpoint/2010/main" val="119733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2FF34199-E83F-198C-FF6E-66E4F4EF8EFA}"/>
              </a:ext>
            </a:extLst>
          </p:cNvPr>
          <p:cNvSpPr>
            <a:spLocks noGrp="1" noChangeArrowheads="1"/>
          </p:cNvSpPr>
          <p:nvPr>
            <p:ph type="dt" sz="half" idx="10"/>
          </p:nvPr>
        </p:nvSpPr>
        <p:spPr/>
        <p:txBody>
          <a:bodyPr/>
          <a:lstStyle>
            <a:lvl1pPr>
              <a:defRPr/>
            </a:lvl1pPr>
          </a:lstStyle>
          <a:p>
            <a:pPr>
              <a:defRPr/>
            </a:pPr>
            <a:endParaRPr lang="en-US" altLang="en-US"/>
          </a:p>
        </p:txBody>
      </p:sp>
      <p:sp>
        <p:nvSpPr>
          <p:cNvPr id="5" name="Rectangle 13">
            <a:extLst>
              <a:ext uri="{FF2B5EF4-FFF2-40B4-BE49-F238E27FC236}">
                <a16:creationId xmlns:a16="http://schemas.microsoft.com/office/drawing/2014/main" id="{DFA50878-8EB7-F027-DC61-9181F3C6DC9D}"/>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6" name="Rectangle 14">
            <a:extLst>
              <a:ext uri="{FF2B5EF4-FFF2-40B4-BE49-F238E27FC236}">
                <a16:creationId xmlns:a16="http://schemas.microsoft.com/office/drawing/2014/main" id="{1D253080-4309-8E6E-CA76-DB774AED4924}"/>
              </a:ext>
            </a:extLst>
          </p:cNvPr>
          <p:cNvSpPr>
            <a:spLocks noGrp="1" noChangeArrowheads="1"/>
          </p:cNvSpPr>
          <p:nvPr>
            <p:ph type="sldNum" sz="quarter" idx="12"/>
          </p:nvPr>
        </p:nvSpPr>
        <p:spPr/>
        <p:txBody>
          <a:bodyPr/>
          <a:lstStyle>
            <a:lvl1pPr>
              <a:defRPr/>
            </a:lvl1pPr>
          </a:lstStyle>
          <a:p>
            <a:pPr>
              <a:defRPr/>
            </a:pPr>
            <a:fld id="{8AE24B53-17B5-804E-BEFB-741BB723B507}" type="slidenum">
              <a:rPr lang="en-US" altLang="en-US"/>
              <a:pPr>
                <a:defRPr/>
              </a:pPr>
              <a:t>‹#›</a:t>
            </a:fld>
            <a:endParaRPr lang="en-US" altLang="en-US"/>
          </a:p>
        </p:txBody>
      </p:sp>
    </p:spTree>
    <p:extLst>
      <p:ext uri="{BB962C8B-B14F-4D97-AF65-F5344CB8AC3E}">
        <p14:creationId xmlns:p14="http://schemas.microsoft.com/office/powerpoint/2010/main" val="2545928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2394D108-71B5-144A-2B27-95578D42E626}"/>
              </a:ext>
            </a:extLst>
          </p:cNvPr>
          <p:cNvSpPr>
            <a:spLocks noGrp="1" noChangeArrowheads="1"/>
          </p:cNvSpPr>
          <p:nvPr>
            <p:ph type="dt" sz="half" idx="10"/>
          </p:nvPr>
        </p:nvSpPr>
        <p:spPr/>
        <p:txBody>
          <a:bodyPr/>
          <a:lstStyle>
            <a:lvl1pPr>
              <a:defRPr/>
            </a:lvl1pPr>
          </a:lstStyle>
          <a:p>
            <a:pPr>
              <a:defRPr/>
            </a:pPr>
            <a:endParaRPr lang="en-US" altLang="en-US"/>
          </a:p>
        </p:txBody>
      </p:sp>
      <p:sp>
        <p:nvSpPr>
          <p:cNvPr id="5" name="Rectangle 13">
            <a:extLst>
              <a:ext uri="{FF2B5EF4-FFF2-40B4-BE49-F238E27FC236}">
                <a16:creationId xmlns:a16="http://schemas.microsoft.com/office/drawing/2014/main" id="{753ABD9B-17A6-4ECC-1A9A-D1C62100E41D}"/>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6" name="Rectangle 14">
            <a:extLst>
              <a:ext uri="{FF2B5EF4-FFF2-40B4-BE49-F238E27FC236}">
                <a16:creationId xmlns:a16="http://schemas.microsoft.com/office/drawing/2014/main" id="{CB276327-B1E1-4271-9D03-8CAE158ADDCD}"/>
              </a:ext>
            </a:extLst>
          </p:cNvPr>
          <p:cNvSpPr>
            <a:spLocks noGrp="1" noChangeArrowheads="1"/>
          </p:cNvSpPr>
          <p:nvPr>
            <p:ph type="sldNum" sz="quarter" idx="12"/>
          </p:nvPr>
        </p:nvSpPr>
        <p:spPr/>
        <p:txBody>
          <a:bodyPr/>
          <a:lstStyle>
            <a:lvl1pPr>
              <a:defRPr/>
            </a:lvl1pPr>
          </a:lstStyle>
          <a:p>
            <a:pPr>
              <a:defRPr/>
            </a:pPr>
            <a:fld id="{7D384159-EC48-4240-9FE9-DE07219460F2}" type="slidenum">
              <a:rPr lang="en-US" altLang="en-US"/>
              <a:pPr>
                <a:defRPr/>
              </a:pPr>
              <a:t>‹#›</a:t>
            </a:fld>
            <a:endParaRPr lang="en-US" altLang="en-US"/>
          </a:p>
        </p:txBody>
      </p:sp>
    </p:spTree>
    <p:extLst>
      <p:ext uri="{BB962C8B-B14F-4D97-AF65-F5344CB8AC3E}">
        <p14:creationId xmlns:p14="http://schemas.microsoft.com/office/powerpoint/2010/main" val="1337950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30390499-68DF-324E-CFDE-A9131ED85EC6}"/>
              </a:ext>
            </a:extLst>
          </p:cNvPr>
          <p:cNvGrpSpPr>
            <a:grpSpLocks/>
          </p:cNvGrpSpPr>
          <p:nvPr/>
        </p:nvGrpSpPr>
        <p:grpSpPr bwMode="auto">
          <a:xfrm>
            <a:off x="0" y="3902075"/>
            <a:ext cx="3400425" cy="2949575"/>
            <a:chOff x="0" y="2458"/>
            <a:chExt cx="2142" cy="1858"/>
          </a:xfrm>
        </p:grpSpPr>
        <p:sp>
          <p:nvSpPr>
            <p:cNvPr id="337923" name="Freeform 3">
              <a:extLst>
                <a:ext uri="{FF2B5EF4-FFF2-40B4-BE49-F238E27FC236}">
                  <a16:creationId xmlns:a16="http://schemas.microsoft.com/office/drawing/2014/main" id="{D9984FEA-E678-A41F-5181-B1A7C58AA3F2}"/>
                </a:ext>
              </a:extLst>
            </p:cNvPr>
            <p:cNvSpPr>
              <a:spLocks/>
            </p:cNvSpPr>
            <p:nvPr/>
          </p:nvSpPr>
          <p:spPr bwMode="ltGray">
            <a:xfrm>
              <a:off x="0" y="2508"/>
              <a:ext cx="2142" cy="1804"/>
            </a:xfrm>
            <a:custGeom>
              <a:avLst/>
              <a:gdLst/>
              <a:ahLst/>
              <a:cxnLst>
                <a:cxn ang="0">
                  <a:pos x="329" y="66"/>
                </a:cxn>
                <a:cxn ang="0">
                  <a:pos x="161" y="30"/>
                </a:cxn>
                <a:cxn ang="0">
                  <a:pos x="0" y="0"/>
                </a:cxn>
                <a:cxn ang="0">
                  <a:pos x="0" y="12"/>
                </a:cxn>
                <a:cxn ang="0">
                  <a:pos x="161" y="42"/>
                </a:cxn>
                <a:cxn ang="0">
                  <a:pos x="323" y="78"/>
                </a:cxn>
                <a:cxn ang="0">
                  <a:pos x="556" y="150"/>
                </a:cxn>
                <a:cxn ang="0">
                  <a:pos x="777" y="245"/>
                </a:cxn>
                <a:cxn ang="0">
                  <a:pos x="993" y="365"/>
                </a:cxn>
                <a:cxn ang="0">
                  <a:pos x="1196" y="503"/>
                </a:cxn>
                <a:cxn ang="0">
                  <a:pos x="1381" y="653"/>
                </a:cxn>
                <a:cxn ang="0">
                  <a:pos x="1555" y="827"/>
                </a:cxn>
                <a:cxn ang="0">
                  <a:pos x="1710" y="1019"/>
                </a:cxn>
                <a:cxn ang="0">
                  <a:pos x="1854" y="1229"/>
                </a:cxn>
                <a:cxn ang="0">
                  <a:pos x="1937" y="1366"/>
                </a:cxn>
                <a:cxn ang="0">
                  <a:pos x="2009" y="1510"/>
                </a:cxn>
                <a:cxn ang="0">
                  <a:pos x="2069" y="1654"/>
                </a:cxn>
                <a:cxn ang="0">
                  <a:pos x="2123" y="1804"/>
                </a:cxn>
                <a:cxn ang="0">
                  <a:pos x="2135" y="1804"/>
                </a:cxn>
                <a:cxn ang="0">
                  <a:pos x="2081" y="1654"/>
                </a:cxn>
                <a:cxn ang="0">
                  <a:pos x="2021" y="1510"/>
                </a:cxn>
                <a:cxn ang="0">
                  <a:pos x="1949" y="1366"/>
                </a:cxn>
                <a:cxn ang="0">
                  <a:pos x="1866" y="1223"/>
                </a:cxn>
                <a:cxn ang="0">
                  <a:pos x="1722" y="1013"/>
                </a:cxn>
                <a:cxn ang="0">
                  <a:pos x="1561" y="821"/>
                </a:cxn>
                <a:cxn ang="0">
                  <a:pos x="1387" y="647"/>
                </a:cxn>
                <a:cxn ang="0">
                  <a:pos x="1202" y="491"/>
                </a:cxn>
                <a:cxn ang="0">
                  <a:pos x="999" y="353"/>
                </a:cxn>
                <a:cxn ang="0">
                  <a:pos x="783" y="239"/>
                </a:cxn>
                <a:cxn ang="0">
                  <a:pos x="562" y="138"/>
                </a:cxn>
                <a:cxn ang="0">
                  <a:pos x="329" y="66"/>
                </a:cxn>
                <a:cxn ang="0">
                  <a:pos x="329" y="66"/>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4" name="Freeform 4">
              <a:extLst>
                <a:ext uri="{FF2B5EF4-FFF2-40B4-BE49-F238E27FC236}">
                  <a16:creationId xmlns:a16="http://schemas.microsoft.com/office/drawing/2014/main" id="{7AD5759A-AAD2-BFD9-4846-CC16D28B1E9A}"/>
                </a:ext>
              </a:extLst>
            </p:cNvPr>
            <p:cNvSpPr>
              <a:spLocks/>
            </p:cNvSpPr>
            <p:nvPr/>
          </p:nvSpPr>
          <p:spPr bwMode="hidden">
            <a:xfrm>
              <a:off x="0" y="2458"/>
              <a:ext cx="1854" cy="1858"/>
            </a:xfrm>
            <a:custGeom>
              <a:avLst/>
              <a:gdLst/>
              <a:ahLst/>
              <a:cxnLst>
                <a:cxn ang="0">
                  <a:pos x="1854" y="1858"/>
                </a:cxn>
                <a:cxn ang="0">
                  <a:pos x="0" y="1858"/>
                </a:cxn>
                <a:cxn ang="0">
                  <a:pos x="0" y="0"/>
                </a:cxn>
                <a:cxn ang="0">
                  <a:pos x="1854" y="1858"/>
                </a:cxn>
                <a:cxn ang="0">
                  <a:pos x="1854" y="1858"/>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5" name="Freeform 5">
              <a:extLst>
                <a:ext uri="{FF2B5EF4-FFF2-40B4-BE49-F238E27FC236}">
                  <a16:creationId xmlns:a16="http://schemas.microsoft.com/office/drawing/2014/main" id="{E219E3D1-5448-F0FB-7E6C-C3D11F9E886D}"/>
                </a:ext>
              </a:extLst>
            </p:cNvPr>
            <p:cNvSpPr>
              <a:spLocks/>
            </p:cNvSpPr>
            <p:nvPr/>
          </p:nvSpPr>
          <p:spPr bwMode="ltGray">
            <a:xfrm>
              <a:off x="0" y="2735"/>
              <a:ext cx="1745" cy="1577"/>
            </a:xfrm>
            <a:custGeom>
              <a:avLst/>
              <a:gdLst/>
              <a:ahLst/>
              <a:cxnLst>
                <a:cxn ang="0">
                  <a:pos x="1640" y="1377"/>
                </a:cxn>
                <a:cxn ang="0">
                  <a:pos x="1692" y="1479"/>
                </a:cxn>
                <a:cxn ang="0">
                  <a:pos x="1732" y="1577"/>
                </a:cxn>
                <a:cxn ang="0">
                  <a:pos x="1745" y="1577"/>
                </a:cxn>
                <a:cxn ang="0">
                  <a:pos x="1703" y="1469"/>
                </a:cxn>
                <a:cxn ang="0">
                  <a:pos x="1649" y="1367"/>
                </a:cxn>
                <a:cxn ang="0">
                  <a:pos x="1535" y="1157"/>
                </a:cxn>
                <a:cxn ang="0">
                  <a:pos x="1395" y="951"/>
                </a:cxn>
                <a:cxn ang="0">
                  <a:pos x="1236" y="756"/>
                </a:cxn>
                <a:cxn ang="0">
                  <a:pos x="1061" y="582"/>
                </a:cxn>
                <a:cxn ang="0">
                  <a:pos x="876" y="426"/>
                </a:cxn>
                <a:cxn ang="0">
                  <a:pos x="672" y="294"/>
                </a:cxn>
                <a:cxn ang="0">
                  <a:pos x="455" y="174"/>
                </a:cxn>
                <a:cxn ang="0">
                  <a:pos x="234" y="78"/>
                </a:cxn>
                <a:cxn ang="0">
                  <a:pos x="0" y="0"/>
                </a:cxn>
                <a:cxn ang="0">
                  <a:pos x="0" y="12"/>
                </a:cxn>
                <a:cxn ang="0">
                  <a:pos x="222" y="89"/>
                </a:cxn>
                <a:cxn ang="0">
                  <a:pos x="446" y="185"/>
                </a:cxn>
                <a:cxn ang="0">
                  <a:pos x="662" y="305"/>
                </a:cxn>
                <a:cxn ang="0">
                  <a:pos x="866" y="437"/>
                </a:cxn>
                <a:cxn ang="0">
                  <a:pos x="1052" y="593"/>
                </a:cxn>
                <a:cxn ang="0">
                  <a:pos x="1226" y="767"/>
                </a:cxn>
                <a:cxn ang="0">
                  <a:pos x="1385" y="960"/>
                </a:cxn>
                <a:cxn ang="0">
                  <a:pos x="1526" y="1167"/>
                </a:cxn>
                <a:cxn ang="0">
                  <a:pos x="1640" y="1377"/>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6" name="Freeform 6">
              <a:extLst>
                <a:ext uri="{FF2B5EF4-FFF2-40B4-BE49-F238E27FC236}">
                  <a16:creationId xmlns:a16="http://schemas.microsoft.com/office/drawing/2014/main" id="{396EFC59-F6CB-81B5-35E9-E35C89249232}"/>
                </a:ext>
              </a:extLst>
            </p:cNvPr>
            <p:cNvSpPr>
              <a:spLocks/>
            </p:cNvSpPr>
            <p:nvPr/>
          </p:nvSpPr>
          <p:spPr bwMode="ltGray">
            <a:xfrm>
              <a:off x="0" y="2544"/>
              <a:ext cx="1745" cy="1768"/>
            </a:xfrm>
            <a:custGeom>
              <a:avLst/>
              <a:gdLst/>
              <a:ahLst/>
              <a:cxnLst>
                <a:cxn ang="0">
                  <a:pos x="0" y="0"/>
                </a:cxn>
                <a:cxn ang="0">
                  <a:pos x="0" y="12"/>
                </a:cxn>
                <a:cxn ang="0">
                  <a:pos x="210" y="88"/>
                </a:cxn>
                <a:cxn ang="0">
                  <a:pos x="426" y="190"/>
                </a:cxn>
                <a:cxn ang="0">
                  <a:pos x="630" y="304"/>
                </a:cxn>
                <a:cxn ang="0">
                  <a:pos x="818" y="442"/>
                </a:cxn>
                <a:cxn ang="0">
                  <a:pos x="998" y="592"/>
                </a:cxn>
                <a:cxn ang="0">
                  <a:pos x="1164" y="766"/>
                </a:cxn>
                <a:cxn ang="0">
                  <a:pos x="1310" y="942"/>
                </a:cxn>
                <a:cxn ang="0">
                  <a:pos x="1454" y="1146"/>
                </a:cxn>
                <a:cxn ang="0">
                  <a:pos x="1536" y="1298"/>
                </a:cxn>
                <a:cxn ang="0">
                  <a:pos x="1614" y="1456"/>
                </a:cxn>
                <a:cxn ang="0">
                  <a:pos x="1682" y="1616"/>
                </a:cxn>
                <a:cxn ang="0">
                  <a:pos x="1733" y="1768"/>
                </a:cxn>
                <a:cxn ang="0">
                  <a:pos x="1745" y="1768"/>
                </a:cxn>
                <a:cxn ang="0">
                  <a:pos x="1691" y="1606"/>
                </a:cxn>
                <a:cxn ang="0">
                  <a:pos x="1623" y="1445"/>
                </a:cxn>
                <a:cxn ang="0">
                  <a:pos x="1547" y="1288"/>
                </a:cxn>
                <a:cxn ang="0">
                  <a:pos x="1463" y="1136"/>
                </a:cxn>
                <a:cxn ang="0">
                  <a:pos x="1320" y="932"/>
                </a:cxn>
                <a:cxn ang="0">
                  <a:pos x="1173" y="755"/>
                </a:cxn>
                <a:cxn ang="0">
                  <a:pos x="1008" y="581"/>
                </a:cxn>
                <a:cxn ang="0">
                  <a:pos x="827" y="431"/>
                </a:cxn>
                <a:cxn ang="0">
                  <a:pos x="642" y="293"/>
                </a:cxn>
                <a:cxn ang="0">
                  <a:pos x="437" y="179"/>
                </a:cxn>
                <a:cxn ang="0">
                  <a:pos x="222" y="78"/>
                </a:cxn>
                <a:cxn ang="0">
                  <a:pos x="0" y="0"/>
                </a:cxn>
                <a:cxn ang="0">
                  <a:pos x="0" y="0"/>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1036" name="Oval 7">
              <a:extLst>
                <a:ext uri="{FF2B5EF4-FFF2-40B4-BE49-F238E27FC236}">
                  <a16:creationId xmlns:a16="http://schemas.microsoft.com/office/drawing/2014/main" id="{561CF593-5402-A585-5D93-534442BB99DA}"/>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1037" name="Oval 8">
              <a:extLst>
                <a:ext uri="{FF2B5EF4-FFF2-40B4-BE49-F238E27FC236}">
                  <a16:creationId xmlns:a16="http://schemas.microsoft.com/office/drawing/2014/main" id="{E6A09C32-AF9F-9F2B-7232-EC57C9957E2D}"/>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1038" name="Oval 9">
              <a:extLst>
                <a:ext uri="{FF2B5EF4-FFF2-40B4-BE49-F238E27FC236}">
                  <a16:creationId xmlns:a16="http://schemas.microsoft.com/office/drawing/2014/main" id="{143E6D62-CFFF-1551-71CE-01C75BC11CFC}"/>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grpSp>
      <p:sp>
        <p:nvSpPr>
          <p:cNvPr id="337930" name="Rectangle 10">
            <a:extLst>
              <a:ext uri="{FF2B5EF4-FFF2-40B4-BE49-F238E27FC236}">
                <a16:creationId xmlns:a16="http://schemas.microsoft.com/office/drawing/2014/main" id="{C2512359-FC15-7E46-6A67-933E62DCA817}"/>
              </a:ext>
            </a:extLst>
          </p:cNvPr>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337931" name="Rectangle 11">
            <a:extLst>
              <a:ext uri="{FF2B5EF4-FFF2-40B4-BE49-F238E27FC236}">
                <a16:creationId xmlns:a16="http://schemas.microsoft.com/office/drawing/2014/main" id="{FF60099B-E3FF-4741-A9F6-BA7E8D5439F6}"/>
              </a:ext>
            </a:extLst>
          </p:cNvPr>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7932" name="Rectangle 12">
            <a:extLst>
              <a:ext uri="{FF2B5EF4-FFF2-40B4-BE49-F238E27FC236}">
                <a16:creationId xmlns:a16="http://schemas.microsoft.com/office/drawing/2014/main" id="{B0911BFC-015D-B2C2-BC35-353B9CA1A979}"/>
              </a:ext>
            </a:extLst>
          </p:cNvPr>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10199"/>
                  </a:outerShdw>
                </a:effectLst>
              </a:defRPr>
            </a:lvl1pPr>
          </a:lstStyle>
          <a:p>
            <a:pPr>
              <a:defRPr/>
            </a:pPr>
            <a:endParaRPr lang="en-US" altLang="en-US"/>
          </a:p>
        </p:txBody>
      </p:sp>
      <p:sp>
        <p:nvSpPr>
          <p:cNvPr id="337933" name="Rectangle 13">
            <a:extLst>
              <a:ext uri="{FF2B5EF4-FFF2-40B4-BE49-F238E27FC236}">
                <a16:creationId xmlns:a16="http://schemas.microsoft.com/office/drawing/2014/main" id="{941B9414-1245-B0E0-359D-45BBC57601BA}"/>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10199"/>
                  </a:outerShdw>
                </a:effectLst>
              </a:defRPr>
            </a:lvl1pPr>
          </a:lstStyle>
          <a:p>
            <a:pPr>
              <a:defRPr/>
            </a:pPr>
            <a:endParaRPr lang="en-US" altLang="en-US"/>
          </a:p>
        </p:txBody>
      </p:sp>
      <p:sp>
        <p:nvSpPr>
          <p:cNvPr id="337934" name="Rectangle 14">
            <a:extLst>
              <a:ext uri="{FF2B5EF4-FFF2-40B4-BE49-F238E27FC236}">
                <a16:creationId xmlns:a16="http://schemas.microsoft.com/office/drawing/2014/main" id="{F587F4B8-CB57-E549-73EA-65E63E73E52E}"/>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10199"/>
                  </a:outerShdw>
                </a:effectLst>
              </a:defRPr>
            </a:lvl1pPr>
          </a:lstStyle>
          <a:p>
            <a:pPr>
              <a:defRPr/>
            </a:pPr>
            <a:fld id="{DF9E4981-2B85-6C4B-A015-B52D0E1F3A7C}" type="slidenum">
              <a:rPr lang="en-US" altLang="en-US"/>
              <a:pPr>
                <a:defRPr/>
              </a:pPr>
              <a:t>‹#›</a:t>
            </a:fld>
            <a:endParaRPr lang="en-US" altLang="en-US"/>
          </a:p>
        </p:txBody>
      </p:sp>
    </p:spTree>
  </p:cSld>
  <p:clrMap bg1="dk2" tx1="lt1" bg2="dk1" tx2="lt2" accent1="accent1" accent2="accent2" accent3="accent3" accent4="accent4" accent5="accent5" accent6="accent6" hlink="hlink" folHlink="folHlink"/>
  <p:sldLayoutIdLst>
    <p:sldLayoutId id="2147484182" r:id="rId1"/>
    <p:sldLayoutId id="2147484183" r:id="rId2"/>
    <p:sldLayoutId id="2147484184" r:id="rId3"/>
    <p:sldLayoutId id="2147484185" r:id="rId4"/>
    <p:sldLayoutId id="2147484186" r:id="rId5"/>
    <p:sldLayoutId id="2147484187" r:id="rId6"/>
    <p:sldLayoutId id="2147484188" r:id="rId7"/>
    <p:sldLayoutId id="2147484189" r:id="rId8"/>
    <p:sldLayoutId id="2147484190" r:id="rId9"/>
    <p:sldLayoutId id="2147484191" r:id="rId10"/>
    <p:sldLayoutId id="2147484192"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mj-lt"/>
          <a:ea typeface="ＭＳ Ｐゴシック" charset="0"/>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l"/>
        <a:defRPr sz="3200">
          <a:solidFill>
            <a:schemeClr val="tx1"/>
          </a:solidFill>
          <a:effectLst>
            <a:outerShdw blurRad="38100" dist="38100" dir="2700000" algn="tl">
              <a:srgbClr val="010199"/>
            </a:outerShdw>
          </a:effectLst>
          <a:latin typeface="+mn-lt"/>
          <a:ea typeface="ＭＳ Ｐゴシック" charset="0"/>
          <a:cs typeface="+mn-cs"/>
        </a:defRPr>
      </a:lvl1pPr>
      <a:lvl2pPr marL="742950" indent="-285750" algn="l" rtl="0" eaLnBrk="0" fontAlgn="base" hangingPunct="0">
        <a:spcBef>
          <a:spcPct val="20000"/>
        </a:spcBef>
        <a:spcAft>
          <a:spcPct val="0"/>
        </a:spcAft>
        <a:buClr>
          <a:schemeClr val="tx2"/>
        </a:buClr>
        <a:buSzPct val="75000"/>
        <a:buFont typeface="Wingdings" pitchFamily="2" charset="2"/>
        <a:buChar char="l"/>
        <a:defRPr sz="2800">
          <a:solidFill>
            <a:schemeClr val="tx1"/>
          </a:solidFill>
          <a:effectLst>
            <a:outerShdw blurRad="38100" dist="38100" dir="2700000" algn="tl">
              <a:srgbClr val="010199"/>
            </a:outerShdw>
          </a:effectLst>
          <a:latin typeface="+mn-lt"/>
          <a:ea typeface="Arial" pitchFamily="-65" charset="0"/>
          <a:cs typeface="+mn-cs"/>
        </a:defRPr>
      </a:lvl2pPr>
      <a:lvl3pPr marL="1143000" indent="-228600" algn="l" rtl="0" eaLnBrk="0" fontAlgn="base" hangingPunct="0">
        <a:spcBef>
          <a:spcPct val="20000"/>
        </a:spcBef>
        <a:spcAft>
          <a:spcPct val="0"/>
        </a:spcAft>
        <a:buClr>
          <a:schemeClr val="accent2"/>
        </a:buClr>
        <a:buSzPct val="75000"/>
        <a:buFont typeface="Wingdings" pitchFamily="2" charset="2"/>
        <a:buChar char="l"/>
        <a:defRPr sz="2400">
          <a:solidFill>
            <a:schemeClr val="tx1"/>
          </a:solidFill>
          <a:effectLst>
            <a:outerShdw blurRad="38100" dist="38100" dir="2700000" algn="tl">
              <a:srgbClr val="010199"/>
            </a:outerShdw>
          </a:effectLst>
          <a:latin typeface="+mn-lt"/>
          <a:ea typeface="Arial" pitchFamily="-65" charset="0"/>
          <a:cs typeface="+mn-cs"/>
        </a:defRPr>
      </a:lvl3pPr>
      <a:lvl4pPr marL="1600200" indent="-228600" algn="l" rtl="0" eaLnBrk="0" fontAlgn="base" hangingPunct="0">
        <a:spcBef>
          <a:spcPct val="20000"/>
        </a:spcBef>
        <a:spcAft>
          <a:spcPct val="0"/>
        </a:spcAft>
        <a:buClr>
          <a:schemeClr val="folHlink"/>
        </a:buClr>
        <a:buSzPct val="75000"/>
        <a:buFont typeface="Wingdings" pitchFamily="2" charset="2"/>
        <a:buChar char="l"/>
        <a:defRPr sz="2000">
          <a:solidFill>
            <a:schemeClr val="tx1"/>
          </a:solidFill>
          <a:effectLst>
            <a:outerShdw blurRad="38100" dist="38100" dir="2700000" algn="tl">
              <a:srgbClr val="010199"/>
            </a:outerShdw>
          </a:effectLst>
          <a:latin typeface="+mn-lt"/>
          <a:ea typeface="Arial" pitchFamily="-65" charset="0"/>
          <a:cs typeface="+mn-cs"/>
        </a:defRPr>
      </a:lvl4pPr>
      <a:lvl5pPr marL="2057400" indent="-228600" algn="l" rtl="0" eaLnBrk="0" fontAlgn="base" hangingPunct="0">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ea typeface="Arial" pitchFamily="-65" charset="0"/>
          <a:cs typeface="+mn-cs"/>
        </a:defRPr>
      </a:lvl5pPr>
      <a:lvl6pPr marL="25146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6pPr>
      <a:lvl7pPr marL="29718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7pPr>
      <a:lvl8pPr marL="34290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8pPr>
      <a:lvl9pPr marL="38862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A9B3CA45-38C3-1BAB-0F41-2BCC7DE08BF5}"/>
              </a:ext>
            </a:extLst>
          </p:cNvPr>
          <p:cNvSpPr>
            <a:spLocks noGrp="1" noChangeArrowheads="1"/>
          </p:cNvSpPr>
          <p:nvPr>
            <p:ph type="ctrTitle"/>
          </p:nvPr>
        </p:nvSpPr>
        <p:spPr>
          <a:xfrm>
            <a:off x="685800" y="990600"/>
            <a:ext cx="7772400" cy="1905000"/>
          </a:xfrm>
        </p:spPr>
        <p:txBody>
          <a:bodyPr/>
          <a:lstStyle/>
          <a:p>
            <a:pPr eaLnBrk="1" hangingPunct="1">
              <a:defRPr/>
            </a:pPr>
            <a:r>
              <a:rPr lang="en-US" altLang="x-none" dirty="0">
                <a:solidFill>
                  <a:srgbClr val="FFFF00"/>
                </a:solidFill>
                <a:ea typeface="ＭＳ Ｐゴシック" charset="-128"/>
              </a:rPr>
              <a:t>PIA 3121</a:t>
            </a:r>
            <a:br>
              <a:rPr lang="en-US" altLang="x-none" dirty="0">
                <a:ea typeface="ＭＳ Ｐゴシック" charset="-128"/>
              </a:rPr>
            </a:br>
            <a:br>
              <a:rPr lang="en-US" altLang="x-none" sz="2800" dirty="0">
                <a:ea typeface="ＭＳ Ｐゴシック" charset="-128"/>
              </a:rPr>
            </a:br>
            <a:r>
              <a:rPr lang="en-US" altLang="x-none" sz="2400" dirty="0">
                <a:ea typeface="ＭＳ Ｐゴシック" charset="-128"/>
              </a:rPr>
              <a:t>15 September 2026</a:t>
            </a:r>
          </a:p>
        </p:txBody>
      </p:sp>
      <p:sp>
        <p:nvSpPr>
          <p:cNvPr id="362499" name="Rectangle 3">
            <a:extLst>
              <a:ext uri="{FF2B5EF4-FFF2-40B4-BE49-F238E27FC236}">
                <a16:creationId xmlns:a16="http://schemas.microsoft.com/office/drawing/2014/main" id="{C0ECF77F-CE9D-53AD-9507-F13397FE673D}"/>
              </a:ext>
            </a:extLst>
          </p:cNvPr>
          <p:cNvSpPr>
            <a:spLocks noGrp="1" noChangeArrowheads="1"/>
          </p:cNvSpPr>
          <p:nvPr>
            <p:ph type="subTitle" idx="1"/>
          </p:nvPr>
        </p:nvSpPr>
        <p:spPr>
          <a:xfrm>
            <a:off x="228600" y="3276600"/>
            <a:ext cx="8686800" cy="1752600"/>
          </a:xfrm>
        </p:spPr>
        <p:txBody>
          <a:bodyPr/>
          <a:lstStyle/>
          <a:p>
            <a:pPr eaLnBrk="1" hangingPunct="1">
              <a:buFont typeface="Wingdings" charset="2"/>
              <a:buNone/>
              <a:defRPr/>
            </a:pPr>
            <a:r>
              <a:rPr lang="en-US" altLang="x-none" sz="4000" dirty="0">
                <a:ea typeface="ＭＳ Ｐゴシック" charset="-128"/>
              </a:rPr>
              <a:t>Liberalism and Neo-Liberalism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lstStyle/>
          <a:p>
            <a:r>
              <a:rPr lang="en-US" sz="3600" u="sng" dirty="0">
                <a:solidFill>
                  <a:schemeClr val="tx1"/>
                </a:solidFill>
              </a:rPr>
              <a:t>PIA 3121 Schedule</a:t>
            </a:r>
          </a:p>
        </p:txBody>
      </p:sp>
      <p:sp>
        <p:nvSpPr>
          <p:cNvPr id="3" name="Content Placeholder 2"/>
          <p:cNvSpPr>
            <a:spLocks noGrp="1"/>
          </p:cNvSpPr>
          <p:nvPr>
            <p:ph idx="1"/>
          </p:nvPr>
        </p:nvSpPr>
        <p:spPr>
          <a:xfrm>
            <a:off x="445265" y="1447800"/>
            <a:ext cx="8229600" cy="4713287"/>
          </a:xfrm>
        </p:spPr>
        <p:txBody>
          <a:bodyPr/>
          <a:lstStyle/>
          <a:p>
            <a:pPr marL="0" indent="0" eaLnBrk="1" fontAlgn="auto" hangingPunct="1">
              <a:spcBef>
                <a:spcPts val="0"/>
              </a:spcBef>
              <a:spcAft>
                <a:spcPts val="0"/>
              </a:spcAft>
              <a:buClrTx/>
              <a:buSzTx/>
              <a:buNone/>
              <a:defRPr/>
            </a:pPr>
            <a:r>
              <a:rPr lang="en-US" sz="1800" dirty="0">
                <a:solidFill>
                  <a:srgbClr val="FFFF00"/>
                </a:solidFill>
              </a:rPr>
              <a:t>1 Sept:		</a:t>
            </a:r>
            <a:r>
              <a:rPr lang="en-US" sz="1800" dirty="0"/>
              <a:t>Tools of Analysis / Foundational Concepts</a:t>
            </a:r>
            <a:endParaRPr lang="en-US" sz="1800" dirty="0">
              <a:solidFill>
                <a:srgbClr val="FFFF00"/>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8 Sept</a:t>
            </a:r>
            <a:r>
              <a:rPr lang="en-US" sz="1800" dirty="0"/>
              <a:t>:		Realism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15 Sept</a:t>
            </a:r>
            <a:r>
              <a:rPr lang="en-US" sz="1800" dirty="0"/>
              <a:t>:		Liberalism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22 Sept</a:t>
            </a:r>
            <a:r>
              <a:rPr lang="en-US" sz="1800" dirty="0"/>
              <a:t>:		Neorealism and Neoliberalism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29 Sept:</a:t>
            </a:r>
            <a:r>
              <a:rPr lang="en-US" sz="1800" dirty="0"/>
              <a:t>		Economic Structuralism and Globalization</a:t>
            </a: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6 Oct</a:t>
            </a:r>
            <a:r>
              <a:rPr lang="en-US" sz="1800" dirty="0"/>
              <a:t>:		Constructivism</a:t>
            </a: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endParaRPr lang="en-US" sz="1400" dirty="0"/>
          </a:p>
          <a:p>
            <a:pPr marL="0" indent="0" eaLnBrk="1" fontAlgn="auto" hangingPunct="1">
              <a:spcBef>
                <a:spcPts val="0"/>
              </a:spcBef>
              <a:spcAft>
                <a:spcPts val="0"/>
              </a:spcAft>
              <a:buClrTx/>
              <a:buSzTx/>
              <a:buNone/>
              <a:defRPr/>
            </a:pPr>
            <a:r>
              <a:rPr lang="en-US" sz="1800" dirty="0">
                <a:solidFill>
                  <a:srgbClr val="FFFF00"/>
                </a:solidFill>
              </a:rPr>
              <a:t>13 Oct</a:t>
            </a:r>
            <a:r>
              <a:rPr lang="en-US" sz="1800" dirty="0"/>
              <a:t>:		MIDTERM QUIZ</a:t>
            </a:r>
          </a:p>
          <a:p>
            <a:pPr marL="0" indent="0" eaLnBrk="1" fontAlgn="auto" hangingPunct="1">
              <a:spcBef>
                <a:spcPts val="0"/>
              </a:spcBef>
              <a:spcAft>
                <a:spcPts val="0"/>
              </a:spcAft>
              <a:buClrTx/>
              <a:buSzTx/>
              <a:buNone/>
              <a:defRPr/>
            </a:pPr>
            <a:endParaRPr lang="en-US" sz="1800" dirty="0"/>
          </a:p>
          <a:p>
            <a:pPr marL="0" indent="0" eaLnBrk="1" fontAlgn="auto" hangingPunct="1">
              <a:spcBef>
                <a:spcPts val="0"/>
              </a:spcBef>
              <a:spcAft>
                <a:spcPts val="0"/>
              </a:spcAft>
              <a:buClrTx/>
              <a:buSzTx/>
              <a:buNone/>
              <a:defRPr/>
            </a:pPr>
            <a:r>
              <a:rPr lang="en-US" sz="1800" dirty="0">
                <a:solidFill>
                  <a:srgbClr val="FFFF00"/>
                </a:solidFill>
              </a:rPr>
              <a:t>20 Oct</a:t>
            </a:r>
            <a:r>
              <a:rPr lang="en-US" sz="1800" dirty="0"/>
              <a:t>:		Ontological Security Theory</a:t>
            </a:r>
          </a:p>
          <a:p>
            <a:pPr marL="0" indent="0" eaLnBrk="1" fontAlgn="auto" hangingPunct="1">
              <a:spcBef>
                <a:spcPts val="0"/>
              </a:spcBef>
              <a:spcAft>
                <a:spcPts val="0"/>
              </a:spcAft>
              <a:buClrTx/>
              <a:buSzTx/>
              <a:buNone/>
              <a:defRPr/>
            </a:pPr>
            <a:r>
              <a:rPr lang="en-US" sz="1800" dirty="0">
                <a:solidFill>
                  <a:srgbClr val="FFFF00"/>
                </a:solidFill>
              </a:rPr>
              <a:t>27 Oct</a:t>
            </a:r>
            <a:r>
              <a:rPr lang="en-US" sz="1800" dirty="0"/>
              <a:t>:		The English School</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3 Nov</a:t>
            </a:r>
            <a:r>
              <a:rPr lang="en-US" sz="1800" dirty="0"/>
              <a:t>:		Democratization / Global Culture / Revolution</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10 Nov</a:t>
            </a:r>
            <a:r>
              <a:rPr lang="en-US" sz="1800" dirty="0"/>
              <a:t>:		Critical Theory / Gender in IR / Global Civil Society</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17 Nov</a:t>
            </a:r>
            <a:r>
              <a:rPr lang="en-US" sz="1800" dirty="0"/>
              <a:t>:		Chaos and Complexity in IR / Existential Risks</a:t>
            </a: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24 Nov</a:t>
            </a:r>
            <a:r>
              <a:rPr lang="en-US" sz="1800" dirty="0"/>
              <a:t>:		FINAL QUIZ DUE / Discussion of Group Projects</a:t>
            </a:r>
            <a:endParaRPr lang="en-US" sz="1400" dirty="0"/>
          </a:p>
          <a:p>
            <a:pPr marL="0" indent="0" eaLnBrk="1" fontAlgn="auto" hangingPunct="1">
              <a:spcBef>
                <a:spcPts val="0"/>
              </a:spcBef>
              <a:spcAft>
                <a:spcPts val="0"/>
              </a:spcAft>
              <a:buClrTx/>
              <a:buSzTx/>
              <a:buNone/>
              <a:defRPr/>
            </a:pPr>
            <a:endParaRPr lang="en-US" sz="1400" dirty="0"/>
          </a:p>
          <a:p>
            <a:pPr marL="0" indent="0" eaLnBrk="1" fontAlgn="auto" hangingPunct="1">
              <a:spcBef>
                <a:spcPts val="0"/>
              </a:spcBef>
              <a:spcAft>
                <a:spcPts val="0"/>
              </a:spcAft>
              <a:buClrTx/>
              <a:buSzTx/>
              <a:buNone/>
              <a:defRPr/>
            </a:pPr>
            <a:r>
              <a:rPr lang="en-US" sz="1800" dirty="0">
                <a:solidFill>
                  <a:srgbClr val="FFFF00"/>
                </a:solidFill>
              </a:rPr>
              <a:t>8 Dec</a:t>
            </a:r>
            <a:r>
              <a:rPr lang="en-US" sz="1800" dirty="0"/>
              <a:t>:		GROUP PAPER PROJECT DUE</a:t>
            </a:r>
            <a:endParaRPr lang="en-US" sz="1800" dirty="0">
              <a:solidFill>
                <a:srgbClr val="FFFF00"/>
              </a:solidFill>
            </a:endParaRPr>
          </a:p>
        </p:txBody>
      </p:sp>
    </p:spTree>
    <p:extLst>
      <p:ext uri="{BB962C8B-B14F-4D97-AF65-F5344CB8AC3E}">
        <p14:creationId xmlns:p14="http://schemas.microsoft.com/office/powerpoint/2010/main" val="1935469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AB132D03-505E-2B84-E2CC-A10F6D9E1BE0}"/>
              </a:ext>
            </a:extLst>
          </p:cNvPr>
          <p:cNvSpPr>
            <a:spLocks noGrp="1" noChangeArrowheads="1"/>
          </p:cNvSpPr>
          <p:nvPr>
            <p:ph type="title"/>
          </p:nvPr>
        </p:nvSpPr>
        <p:spPr>
          <a:xfrm>
            <a:off x="152400" y="0"/>
            <a:ext cx="8839200" cy="685800"/>
          </a:xfrm>
        </p:spPr>
        <p:txBody>
          <a:bodyPr/>
          <a:lstStyle/>
          <a:p>
            <a:pPr>
              <a:defRPr/>
            </a:pPr>
            <a:r>
              <a:rPr lang="en-US" altLang="x-none" sz="3200" dirty="0">
                <a:solidFill>
                  <a:schemeClr val="tx1"/>
                </a:solidFill>
                <a:ea typeface="ＭＳ Ｐゴシック" charset="-128"/>
              </a:rPr>
              <a:t>Thomas Hobbes, </a:t>
            </a:r>
            <a:r>
              <a:rPr lang="en-US" altLang="x-none" sz="3200" i="1" dirty="0">
                <a:solidFill>
                  <a:schemeClr val="tx1"/>
                </a:solidFill>
                <a:ea typeface="ＭＳ Ｐゴシック" charset="-128"/>
              </a:rPr>
              <a:t>Leviathan</a:t>
            </a:r>
            <a:r>
              <a:rPr lang="en-US" altLang="x-none" sz="3200" dirty="0">
                <a:solidFill>
                  <a:schemeClr val="tx1"/>
                </a:solidFill>
                <a:ea typeface="ＭＳ Ｐゴシック" charset="-128"/>
              </a:rPr>
              <a:t> (1651)</a:t>
            </a:r>
          </a:p>
        </p:txBody>
      </p:sp>
      <p:sp>
        <p:nvSpPr>
          <p:cNvPr id="65539" name="Rectangle 3">
            <a:extLst>
              <a:ext uri="{FF2B5EF4-FFF2-40B4-BE49-F238E27FC236}">
                <a16:creationId xmlns:a16="http://schemas.microsoft.com/office/drawing/2014/main" id="{C44505CC-A72A-DB7A-08DA-1086E2F6ABE2}"/>
              </a:ext>
            </a:extLst>
          </p:cNvPr>
          <p:cNvSpPr>
            <a:spLocks noGrp="1" noChangeArrowheads="1"/>
          </p:cNvSpPr>
          <p:nvPr>
            <p:ph type="body" idx="1"/>
          </p:nvPr>
        </p:nvSpPr>
        <p:spPr/>
        <p:txBody>
          <a:bodyPr/>
          <a:lstStyle/>
          <a:p>
            <a:pPr>
              <a:defRPr/>
            </a:pPr>
            <a:endParaRPr lang="en-US" altLang="en-US" dirty="0">
              <a:ea typeface="ＭＳ Ｐゴシック" panose="020B0600070205080204" pitchFamily="34" charset="-128"/>
            </a:endParaRPr>
          </a:p>
        </p:txBody>
      </p:sp>
      <p:pic>
        <p:nvPicPr>
          <p:cNvPr id="18435" name="Picture 4" descr="Hobbes (a bit blurry)">
            <a:extLst>
              <a:ext uri="{FF2B5EF4-FFF2-40B4-BE49-F238E27FC236}">
                <a16:creationId xmlns:a16="http://schemas.microsoft.com/office/drawing/2014/main" id="{A1D33969-F776-E1A8-10B7-33B11C0C5B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990600"/>
            <a:ext cx="454025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Picture 4" descr="Leviathan (cover)">
            <a:extLst>
              <a:ext uri="{FF2B5EF4-FFF2-40B4-BE49-F238E27FC236}">
                <a16:creationId xmlns:a16="http://schemas.microsoft.com/office/drawing/2014/main" id="{D89FB700-D60C-C05A-1398-8A287CC4BD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990600"/>
            <a:ext cx="3505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881C4D6-9A4D-AFE1-0E00-48C3627E0210}"/>
              </a:ext>
            </a:extLst>
          </p:cNvPr>
          <p:cNvSpPr>
            <a:spLocks noGrp="1" noChangeArrowheads="1"/>
          </p:cNvSpPr>
          <p:nvPr>
            <p:ph type="title"/>
          </p:nvPr>
        </p:nvSpPr>
        <p:spPr/>
        <p:txBody>
          <a:bodyPr/>
          <a:lstStyle/>
          <a:p>
            <a:pPr>
              <a:defRPr/>
            </a:pPr>
            <a:r>
              <a:rPr lang="en-US" altLang="x-none" sz="2800" dirty="0">
                <a:solidFill>
                  <a:srgbClr val="FFFF00"/>
                </a:solidFill>
                <a:ea typeface="ＭＳ Ｐゴシック" charset="-128"/>
              </a:rPr>
              <a:t>Hobbes</a:t>
            </a:r>
            <a:r>
              <a:rPr lang="ja-JP" altLang="en-US" sz="2800">
                <a:solidFill>
                  <a:srgbClr val="FFFF00"/>
                </a:solidFill>
                <a:ea typeface="ＭＳ Ｐゴシック" charset="-128"/>
              </a:rPr>
              <a:t>’</a:t>
            </a:r>
            <a:r>
              <a:rPr lang="en-US" altLang="ja-JP" sz="2800" dirty="0">
                <a:solidFill>
                  <a:srgbClr val="FFFF00"/>
                </a:solidFill>
                <a:ea typeface="ＭＳ Ｐゴシック" charset="-128"/>
              </a:rPr>
              <a:t>s </a:t>
            </a:r>
            <a:r>
              <a:rPr lang="en-US" altLang="ja-JP" sz="2800" i="1" dirty="0">
                <a:solidFill>
                  <a:srgbClr val="FFFF00"/>
                </a:solidFill>
                <a:ea typeface="ＭＳ Ｐゴシック" charset="-128"/>
              </a:rPr>
              <a:t>Leviathan</a:t>
            </a:r>
            <a:r>
              <a:rPr lang="en-US" altLang="ja-JP" sz="2800" dirty="0">
                <a:solidFill>
                  <a:srgbClr val="FFFF00"/>
                </a:solidFill>
                <a:ea typeface="ＭＳ Ｐゴシック" charset="-128"/>
              </a:rPr>
              <a:t> (1651)</a:t>
            </a:r>
            <a:endParaRPr lang="en-US" altLang="x-none" sz="2800" dirty="0">
              <a:solidFill>
                <a:srgbClr val="FFFF00"/>
              </a:solidFill>
              <a:ea typeface="ＭＳ Ｐゴシック" charset="-128"/>
            </a:endParaRPr>
          </a:p>
        </p:txBody>
      </p:sp>
      <p:sp>
        <p:nvSpPr>
          <p:cNvPr id="47107" name="Rectangle 3">
            <a:extLst>
              <a:ext uri="{FF2B5EF4-FFF2-40B4-BE49-F238E27FC236}">
                <a16:creationId xmlns:a16="http://schemas.microsoft.com/office/drawing/2014/main" id="{B9934992-6658-A7BA-C432-EC6B01212D5B}"/>
              </a:ext>
            </a:extLst>
          </p:cNvPr>
          <p:cNvSpPr>
            <a:spLocks noGrp="1" noChangeArrowheads="1"/>
          </p:cNvSpPr>
          <p:nvPr>
            <p:ph type="body" idx="1"/>
          </p:nvPr>
        </p:nvSpPr>
        <p:spPr/>
        <p:txBody>
          <a:bodyPr/>
          <a:lstStyle/>
          <a:p>
            <a:pPr>
              <a:buFont typeface="Wingdings" charset="2"/>
              <a:buNone/>
              <a:defRPr/>
            </a:pPr>
            <a:endParaRPr lang="en-US" altLang="x-none" sz="1000" dirty="0">
              <a:ea typeface="ＭＳ Ｐゴシック" charset="-128"/>
            </a:endParaRPr>
          </a:p>
          <a:p>
            <a:pPr>
              <a:buFont typeface="Wingdings" charset="2"/>
              <a:buChar char="l"/>
              <a:defRPr/>
            </a:pPr>
            <a:r>
              <a:rPr lang="en-US" altLang="x-none" sz="2400" dirty="0">
                <a:ea typeface="ＭＳ Ｐゴシック" charset="-128"/>
              </a:rPr>
              <a:t>Life in the </a:t>
            </a:r>
            <a:r>
              <a:rPr lang="en-US" altLang="x-none" sz="2400" i="1" dirty="0">
                <a:ea typeface="ＭＳ Ｐゴシック" charset="-128"/>
              </a:rPr>
              <a:t>state of nature</a:t>
            </a:r>
            <a:r>
              <a:rPr lang="en-US" altLang="x-none" sz="2400" dirty="0">
                <a:ea typeface="ＭＳ Ｐゴシック" charset="-128"/>
              </a:rPr>
              <a:t> is </a:t>
            </a:r>
            <a:r>
              <a:rPr lang="ja-JP" altLang="en-US" sz="2400">
                <a:ea typeface="ＭＳ Ｐゴシック" charset="-128"/>
              </a:rPr>
              <a:t>“</a:t>
            </a:r>
            <a:r>
              <a:rPr lang="en-US" altLang="ja-JP" sz="2400" dirty="0">
                <a:ea typeface="ＭＳ Ｐゴシック" charset="-128"/>
              </a:rPr>
              <a:t>solitary, poor, nasty, brutish, and short</a:t>
            </a:r>
            <a:r>
              <a:rPr lang="ja-JP" altLang="en-US" sz="2400">
                <a:ea typeface="ＭＳ Ｐゴシック" charset="-128"/>
              </a:rPr>
              <a:t>”</a:t>
            </a:r>
            <a:endParaRPr lang="en-US" altLang="x-none" sz="2400" dirty="0">
              <a:ea typeface="ＭＳ Ｐゴシック"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24B1155-4747-FA59-128A-0C5960EFD73D}"/>
              </a:ext>
            </a:extLst>
          </p:cNvPr>
          <p:cNvSpPr>
            <a:spLocks noGrp="1" noChangeArrowheads="1"/>
          </p:cNvSpPr>
          <p:nvPr>
            <p:ph type="title"/>
          </p:nvPr>
        </p:nvSpPr>
        <p:spPr/>
        <p:txBody>
          <a:bodyPr/>
          <a:lstStyle/>
          <a:p>
            <a:pPr>
              <a:defRPr/>
            </a:pPr>
            <a:r>
              <a:rPr lang="en-US" altLang="x-none" sz="2800" dirty="0">
                <a:solidFill>
                  <a:srgbClr val="FFFF00"/>
                </a:solidFill>
                <a:ea typeface="ＭＳ Ｐゴシック" charset="-128"/>
              </a:rPr>
              <a:t>Hobbes</a:t>
            </a:r>
            <a:r>
              <a:rPr lang="ja-JP" altLang="en-US" sz="2800">
                <a:solidFill>
                  <a:srgbClr val="FFFF00"/>
                </a:solidFill>
                <a:ea typeface="ＭＳ Ｐゴシック" charset="-128"/>
              </a:rPr>
              <a:t>’</a:t>
            </a:r>
            <a:r>
              <a:rPr lang="en-US" altLang="ja-JP" sz="2800" dirty="0">
                <a:solidFill>
                  <a:srgbClr val="FFFF00"/>
                </a:solidFill>
                <a:ea typeface="ＭＳ Ｐゴシック" charset="-128"/>
              </a:rPr>
              <a:t>s </a:t>
            </a:r>
            <a:r>
              <a:rPr lang="en-US" altLang="ja-JP" sz="2800" i="1" dirty="0">
                <a:solidFill>
                  <a:srgbClr val="FFFF00"/>
                </a:solidFill>
                <a:ea typeface="ＭＳ Ｐゴシック" charset="-128"/>
              </a:rPr>
              <a:t>Leviathan</a:t>
            </a:r>
            <a:r>
              <a:rPr lang="en-US" altLang="ja-JP" sz="2800" dirty="0">
                <a:solidFill>
                  <a:srgbClr val="FFFF00"/>
                </a:solidFill>
                <a:ea typeface="ＭＳ Ｐゴシック" charset="-128"/>
              </a:rPr>
              <a:t> (1651)</a:t>
            </a:r>
            <a:endParaRPr lang="en-US" altLang="x-none" sz="2800" dirty="0">
              <a:solidFill>
                <a:srgbClr val="FFFF00"/>
              </a:solidFill>
              <a:ea typeface="ＭＳ Ｐゴシック" charset="-128"/>
            </a:endParaRPr>
          </a:p>
        </p:txBody>
      </p:sp>
      <p:sp>
        <p:nvSpPr>
          <p:cNvPr id="47107" name="Rectangle 3">
            <a:extLst>
              <a:ext uri="{FF2B5EF4-FFF2-40B4-BE49-F238E27FC236}">
                <a16:creationId xmlns:a16="http://schemas.microsoft.com/office/drawing/2014/main" id="{A3315A87-DF86-B1D2-F121-7A22B08C79E3}"/>
              </a:ext>
            </a:extLst>
          </p:cNvPr>
          <p:cNvSpPr>
            <a:spLocks noGrp="1" noChangeArrowheads="1"/>
          </p:cNvSpPr>
          <p:nvPr>
            <p:ph type="body" idx="1"/>
          </p:nvPr>
        </p:nvSpPr>
        <p:spPr/>
        <p:txBody>
          <a:bodyPr/>
          <a:lstStyle/>
          <a:p>
            <a:pPr>
              <a:buFont typeface="Wingdings" charset="2"/>
              <a:buNone/>
              <a:defRPr/>
            </a:pPr>
            <a:endParaRPr lang="en-US" altLang="x-none" sz="1000" dirty="0">
              <a:ea typeface="ＭＳ Ｐゴシック" charset="-128"/>
            </a:endParaRPr>
          </a:p>
          <a:p>
            <a:pPr>
              <a:buFont typeface="Wingdings" charset="2"/>
              <a:buChar char="l"/>
              <a:defRPr/>
            </a:pPr>
            <a:r>
              <a:rPr lang="en-US" altLang="x-none" sz="2400" dirty="0">
                <a:ea typeface="ＭＳ Ｐゴシック" charset="-128"/>
              </a:rPr>
              <a:t>Life in the </a:t>
            </a:r>
            <a:r>
              <a:rPr lang="en-US" altLang="x-none" sz="2400" i="1" dirty="0">
                <a:ea typeface="ＭＳ Ｐゴシック" charset="-128"/>
              </a:rPr>
              <a:t>state of nature</a:t>
            </a:r>
            <a:r>
              <a:rPr lang="en-US" altLang="x-none" sz="2400" dirty="0">
                <a:ea typeface="ＭＳ Ｐゴシック" charset="-128"/>
              </a:rPr>
              <a:t> is </a:t>
            </a:r>
            <a:r>
              <a:rPr lang="ja-JP" altLang="en-US" sz="2400">
                <a:ea typeface="ＭＳ Ｐゴシック" charset="-128"/>
              </a:rPr>
              <a:t>“</a:t>
            </a:r>
            <a:r>
              <a:rPr lang="en-US" altLang="ja-JP" sz="2400" dirty="0">
                <a:ea typeface="ＭＳ Ｐゴシック" charset="-128"/>
              </a:rPr>
              <a:t>solitary, poor, nasty, brutish, and short</a:t>
            </a:r>
            <a:r>
              <a:rPr lang="ja-JP" altLang="en-US" sz="2400">
                <a:ea typeface="ＭＳ Ｐゴシック" charset="-128"/>
              </a:rPr>
              <a:t>”</a:t>
            </a:r>
            <a:endParaRPr lang="en-US" altLang="ja-JP" sz="2400" dirty="0">
              <a:ea typeface="ＭＳ Ｐゴシック" charset="-128"/>
            </a:endParaRPr>
          </a:p>
          <a:p>
            <a:pPr>
              <a:buFont typeface="Wingdings" charset="2"/>
              <a:buChar char="l"/>
              <a:defRPr/>
            </a:pPr>
            <a:r>
              <a:rPr lang="en-US" altLang="x-none" sz="2400" dirty="0">
                <a:ea typeface="ＭＳ Ｐゴシック" charset="-128"/>
              </a:rPr>
              <a:t>The state (Leviathan) provides order, leading to prosperity and security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80E2623-768E-76B1-C66B-AA705E7DB274}"/>
              </a:ext>
            </a:extLst>
          </p:cNvPr>
          <p:cNvSpPr>
            <a:spLocks noGrp="1" noChangeArrowheads="1"/>
          </p:cNvSpPr>
          <p:nvPr>
            <p:ph type="title"/>
          </p:nvPr>
        </p:nvSpPr>
        <p:spPr/>
        <p:txBody>
          <a:bodyPr/>
          <a:lstStyle/>
          <a:p>
            <a:pPr>
              <a:defRPr/>
            </a:pPr>
            <a:r>
              <a:rPr lang="en-US" altLang="x-none" sz="2800" dirty="0">
                <a:solidFill>
                  <a:srgbClr val="FFFF00"/>
                </a:solidFill>
                <a:ea typeface="ＭＳ Ｐゴシック" charset="-128"/>
              </a:rPr>
              <a:t>Hobbes</a:t>
            </a:r>
            <a:r>
              <a:rPr lang="ja-JP" altLang="en-US" sz="2800">
                <a:solidFill>
                  <a:srgbClr val="FFFF00"/>
                </a:solidFill>
                <a:ea typeface="ＭＳ Ｐゴシック" charset="-128"/>
              </a:rPr>
              <a:t>’</a:t>
            </a:r>
            <a:r>
              <a:rPr lang="en-US" altLang="ja-JP" sz="2800" dirty="0">
                <a:solidFill>
                  <a:srgbClr val="FFFF00"/>
                </a:solidFill>
                <a:ea typeface="ＭＳ Ｐゴシック" charset="-128"/>
              </a:rPr>
              <a:t>s </a:t>
            </a:r>
            <a:r>
              <a:rPr lang="en-US" altLang="ja-JP" sz="2800" i="1" dirty="0">
                <a:solidFill>
                  <a:srgbClr val="FFFF00"/>
                </a:solidFill>
                <a:ea typeface="ＭＳ Ｐゴシック" charset="-128"/>
              </a:rPr>
              <a:t>Leviathan</a:t>
            </a:r>
            <a:r>
              <a:rPr lang="en-US" altLang="ja-JP" sz="2800" dirty="0">
                <a:solidFill>
                  <a:srgbClr val="FFFF00"/>
                </a:solidFill>
                <a:ea typeface="ＭＳ Ｐゴシック" charset="-128"/>
              </a:rPr>
              <a:t> (1651)</a:t>
            </a:r>
            <a:endParaRPr lang="en-US" altLang="x-none" sz="2800" dirty="0">
              <a:solidFill>
                <a:srgbClr val="FFFF00"/>
              </a:solidFill>
              <a:ea typeface="ＭＳ Ｐゴシック" charset="-128"/>
            </a:endParaRPr>
          </a:p>
        </p:txBody>
      </p:sp>
      <p:sp>
        <p:nvSpPr>
          <p:cNvPr id="47107" name="Rectangle 3">
            <a:extLst>
              <a:ext uri="{FF2B5EF4-FFF2-40B4-BE49-F238E27FC236}">
                <a16:creationId xmlns:a16="http://schemas.microsoft.com/office/drawing/2014/main" id="{5E8A241B-CF2F-AE63-AB00-674039F99861}"/>
              </a:ext>
            </a:extLst>
          </p:cNvPr>
          <p:cNvSpPr>
            <a:spLocks noGrp="1" noChangeArrowheads="1"/>
          </p:cNvSpPr>
          <p:nvPr>
            <p:ph type="body" idx="1"/>
          </p:nvPr>
        </p:nvSpPr>
        <p:spPr/>
        <p:txBody>
          <a:bodyPr/>
          <a:lstStyle/>
          <a:p>
            <a:pPr>
              <a:buFont typeface="Wingdings" charset="2"/>
              <a:buNone/>
              <a:defRPr/>
            </a:pPr>
            <a:endParaRPr lang="en-US" altLang="x-none" sz="1000" dirty="0">
              <a:ea typeface="ＭＳ Ｐゴシック" charset="-128"/>
            </a:endParaRPr>
          </a:p>
          <a:p>
            <a:pPr>
              <a:buFont typeface="Wingdings" charset="2"/>
              <a:buChar char="l"/>
              <a:defRPr/>
            </a:pPr>
            <a:r>
              <a:rPr lang="en-US" altLang="x-none" sz="2400" dirty="0">
                <a:ea typeface="ＭＳ Ｐゴシック" charset="-128"/>
              </a:rPr>
              <a:t>Life in the </a:t>
            </a:r>
            <a:r>
              <a:rPr lang="en-US" altLang="x-none" sz="2400" i="1" dirty="0">
                <a:ea typeface="ＭＳ Ｐゴシック" charset="-128"/>
              </a:rPr>
              <a:t>state of nature</a:t>
            </a:r>
            <a:r>
              <a:rPr lang="en-US" altLang="x-none" sz="2400" dirty="0">
                <a:ea typeface="ＭＳ Ｐゴシック" charset="-128"/>
              </a:rPr>
              <a:t> is </a:t>
            </a:r>
            <a:r>
              <a:rPr lang="ja-JP" altLang="en-US" sz="2400">
                <a:ea typeface="ＭＳ Ｐゴシック" charset="-128"/>
              </a:rPr>
              <a:t>“</a:t>
            </a:r>
            <a:r>
              <a:rPr lang="en-US" altLang="ja-JP" sz="2400" dirty="0">
                <a:ea typeface="ＭＳ Ｐゴシック" charset="-128"/>
              </a:rPr>
              <a:t>solitary, poor, nasty, brutish, and short</a:t>
            </a:r>
            <a:r>
              <a:rPr lang="ja-JP" altLang="en-US" sz="2400">
                <a:ea typeface="ＭＳ Ｐゴシック" charset="-128"/>
              </a:rPr>
              <a:t>”</a:t>
            </a:r>
            <a:endParaRPr lang="en-US" altLang="ja-JP" sz="2400" dirty="0">
              <a:ea typeface="ＭＳ Ｐゴシック" charset="-128"/>
            </a:endParaRPr>
          </a:p>
          <a:p>
            <a:pPr>
              <a:buFont typeface="Wingdings" charset="2"/>
              <a:buChar char="l"/>
              <a:defRPr/>
            </a:pPr>
            <a:r>
              <a:rPr lang="en-US" altLang="x-none" sz="2400" dirty="0">
                <a:ea typeface="ＭＳ Ｐゴシック" charset="-128"/>
              </a:rPr>
              <a:t>The state (Leviathan) provides order, leading to prosperity and security</a:t>
            </a:r>
          </a:p>
          <a:p>
            <a:pPr>
              <a:buFont typeface="Wingdings" charset="2"/>
              <a:buChar char="l"/>
              <a:defRPr/>
            </a:pPr>
            <a:r>
              <a:rPr lang="en-US" altLang="x-none" sz="2400" dirty="0">
                <a:solidFill>
                  <a:srgbClr val="FFFF00"/>
                </a:solidFill>
                <a:effectLst>
                  <a:outerShdw blurRad="38100" dist="38100" dir="2700000" algn="tl">
                    <a:srgbClr val="FFFFFF"/>
                  </a:outerShdw>
                </a:effectLst>
                <a:ea typeface="ＭＳ Ｐゴシック" charset="-128"/>
              </a:rPr>
              <a:t>But in the international realm, there is no overarching state, only anarchy and SDs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B62AC9A0-87A8-3EF1-D9FC-81D95CAABCEC}"/>
              </a:ext>
            </a:extLst>
          </p:cNvPr>
          <p:cNvSpPr>
            <a:spLocks noGrp="1" noChangeArrowheads="1"/>
          </p:cNvSpPr>
          <p:nvPr>
            <p:ph type="title"/>
          </p:nvPr>
        </p:nvSpPr>
        <p:spPr/>
        <p:txBody>
          <a:bodyPr/>
          <a:lstStyle/>
          <a:p>
            <a:pPr>
              <a:defRPr/>
            </a:pPr>
            <a:r>
              <a:rPr lang="en-US" altLang="x-none" sz="2800" dirty="0">
                <a:solidFill>
                  <a:srgbClr val="FFFF00"/>
                </a:solidFill>
                <a:ea typeface="ＭＳ Ｐゴシック" charset="-128"/>
              </a:rPr>
              <a:t>Hobbes</a:t>
            </a:r>
            <a:r>
              <a:rPr lang="ja-JP" altLang="en-US" sz="2800">
                <a:solidFill>
                  <a:srgbClr val="FFFF00"/>
                </a:solidFill>
                <a:ea typeface="ＭＳ Ｐゴシック" charset="-128"/>
              </a:rPr>
              <a:t>’</a:t>
            </a:r>
            <a:r>
              <a:rPr lang="en-US" altLang="ja-JP" sz="2800" dirty="0">
                <a:solidFill>
                  <a:srgbClr val="FFFF00"/>
                </a:solidFill>
                <a:ea typeface="ＭＳ Ｐゴシック" charset="-128"/>
              </a:rPr>
              <a:t>s </a:t>
            </a:r>
            <a:r>
              <a:rPr lang="en-US" altLang="ja-JP" sz="2800" i="1" dirty="0">
                <a:solidFill>
                  <a:srgbClr val="FFFF00"/>
                </a:solidFill>
                <a:ea typeface="ＭＳ Ｐゴシック" charset="-128"/>
              </a:rPr>
              <a:t>Leviathan</a:t>
            </a:r>
            <a:r>
              <a:rPr lang="en-US" altLang="ja-JP" sz="2800" dirty="0">
                <a:solidFill>
                  <a:srgbClr val="FFFF00"/>
                </a:solidFill>
                <a:ea typeface="ＭＳ Ｐゴシック" charset="-128"/>
              </a:rPr>
              <a:t> (1651)</a:t>
            </a:r>
            <a:endParaRPr lang="en-US" altLang="x-none" sz="2800" dirty="0">
              <a:solidFill>
                <a:srgbClr val="FFFF00"/>
              </a:solidFill>
              <a:ea typeface="ＭＳ Ｐゴシック" charset="-128"/>
            </a:endParaRPr>
          </a:p>
        </p:txBody>
      </p:sp>
      <p:sp>
        <p:nvSpPr>
          <p:cNvPr id="47107" name="Rectangle 3">
            <a:extLst>
              <a:ext uri="{FF2B5EF4-FFF2-40B4-BE49-F238E27FC236}">
                <a16:creationId xmlns:a16="http://schemas.microsoft.com/office/drawing/2014/main" id="{8B9DEE35-4063-08EC-A2D0-A8B30D60F9B6}"/>
              </a:ext>
            </a:extLst>
          </p:cNvPr>
          <p:cNvSpPr>
            <a:spLocks noGrp="1" noChangeArrowheads="1"/>
          </p:cNvSpPr>
          <p:nvPr>
            <p:ph type="body" idx="1"/>
          </p:nvPr>
        </p:nvSpPr>
        <p:spPr/>
        <p:txBody>
          <a:bodyPr/>
          <a:lstStyle/>
          <a:p>
            <a:pPr>
              <a:buFont typeface="Wingdings" charset="2"/>
              <a:buNone/>
              <a:defRPr/>
            </a:pPr>
            <a:endParaRPr lang="en-US" altLang="x-none" sz="1000" dirty="0">
              <a:ea typeface="ＭＳ Ｐゴシック" charset="-128"/>
            </a:endParaRPr>
          </a:p>
          <a:p>
            <a:pPr>
              <a:buFont typeface="Wingdings" charset="2"/>
              <a:buChar char="l"/>
              <a:defRPr/>
            </a:pPr>
            <a:r>
              <a:rPr lang="en-US" altLang="x-none" sz="2400" dirty="0">
                <a:ea typeface="ＭＳ Ｐゴシック" charset="-128"/>
              </a:rPr>
              <a:t>Life in the </a:t>
            </a:r>
            <a:r>
              <a:rPr lang="en-US" altLang="x-none" sz="2400" i="1" dirty="0">
                <a:ea typeface="ＭＳ Ｐゴシック" charset="-128"/>
              </a:rPr>
              <a:t>state of nature</a:t>
            </a:r>
            <a:r>
              <a:rPr lang="en-US" altLang="x-none" sz="2400" dirty="0">
                <a:ea typeface="ＭＳ Ｐゴシック" charset="-128"/>
              </a:rPr>
              <a:t> is </a:t>
            </a:r>
            <a:r>
              <a:rPr lang="ja-JP" altLang="en-US" sz="2400">
                <a:ea typeface="ＭＳ Ｐゴシック" charset="-128"/>
              </a:rPr>
              <a:t>“</a:t>
            </a:r>
            <a:r>
              <a:rPr lang="en-US" altLang="ja-JP" sz="2400" dirty="0">
                <a:ea typeface="ＭＳ Ｐゴシック" charset="-128"/>
              </a:rPr>
              <a:t>solitary, poor, nasty, brutish, and short</a:t>
            </a:r>
            <a:r>
              <a:rPr lang="ja-JP" altLang="en-US" sz="2400">
                <a:ea typeface="ＭＳ Ｐゴシック" charset="-128"/>
              </a:rPr>
              <a:t>”</a:t>
            </a:r>
            <a:endParaRPr lang="en-US" altLang="ja-JP" sz="2400" dirty="0">
              <a:ea typeface="ＭＳ Ｐゴシック" charset="-128"/>
            </a:endParaRPr>
          </a:p>
          <a:p>
            <a:pPr>
              <a:buFont typeface="Wingdings" charset="2"/>
              <a:buChar char="l"/>
              <a:defRPr/>
            </a:pPr>
            <a:r>
              <a:rPr lang="en-US" altLang="x-none" sz="2400" dirty="0">
                <a:ea typeface="ＭＳ Ｐゴシック" charset="-128"/>
              </a:rPr>
              <a:t>The state (Leviathan) provides order, leading to prosperity and security</a:t>
            </a:r>
          </a:p>
          <a:p>
            <a:pPr>
              <a:buFont typeface="Wingdings" charset="2"/>
              <a:buChar char="l"/>
              <a:defRPr/>
            </a:pPr>
            <a:r>
              <a:rPr lang="en-US" altLang="x-none" sz="2400" dirty="0">
                <a:solidFill>
                  <a:srgbClr val="FFFF00"/>
                </a:solidFill>
                <a:effectLst>
                  <a:outerShdw blurRad="38100" dist="38100" dir="2700000" algn="tl">
                    <a:srgbClr val="FFFFFF"/>
                  </a:outerShdw>
                </a:effectLst>
                <a:ea typeface="ＭＳ Ｐゴシック" charset="-128"/>
              </a:rPr>
              <a:t>But in the international realm, there is no overarching state, only anarchy and SDs</a:t>
            </a:r>
          </a:p>
          <a:p>
            <a:pPr>
              <a:buFont typeface="Wingdings" charset="2"/>
              <a:buChar char="l"/>
              <a:defRPr/>
            </a:pPr>
            <a:r>
              <a:rPr lang="en-US" altLang="x-none" sz="2400" dirty="0">
                <a:ea typeface="ＭＳ Ｐゴシック" charset="-128"/>
              </a:rPr>
              <a:t>Hobbes, therefore, is challenging the early international lawyers, suggesting their optimism is naïve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0CF0F3C9-EFDD-566A-ED94-C89D6006E185}"/>
              </a:ext>
            </a:extLst>
          </p:cNvPr>
          <p:cNvSpPr>
            <a:spLocks noGrp="1" noChangeArrowheads="1"/>
          </p:cNvSpPr>
          <p:nvPr>
            <p:ph type="title"/>
          </p:nvPr>
        </p:nvSpPr>
        <p:spPr>
          <a:xfrm>
            <a:off x="457200" y="0"/>
            <a:ext cx="8229600" cy="1143000"/>
          </a:xfrm>
        </p:spPr>
        <p:txBody>
          <a:bodyPr/>
          <a:lstStyle/>
          <a:p>
            <a:pPr>
              <a:defRPr/>
            </a:pPr>
            <a:r>
              <a:rPr lang="en-US" altLang="x-none" sz="3200" dirty="0">
                <a:solidFill>
                  <a:schemeClr val="tx1"/>
                </a:solidFill>
                <a:ea typeface="ＭＳ Ｐゴシック" charset="-128"/>
              </a:rPr>
              <a:t>John Locke, early Liberal optimist</a:t>
            </a:r>
            <a:br>
              <a:rPr lang="en-US" altLang="x-none" sz="3200" dirty="0">
                <a:solidFill>
                  <a:schemeClr val="tx1"/>
                </a:solidFill>
                <a:ea typeface="ＭＳ Ｐゴシック" charset="-128"/>
              </a:rPr>
            </a:br>
            <a:r>
              <a:rPr lang="en-US" altLang="x-none" sz="2800" i="1" dirty="0">
                <a:solidFill>
                  <a:schemeClr val="tx1"/>
                </a:solidFill>
                <a:ea typeface="ＭＳ Ｐゴシック" charset="-128"/>
              </a:rPr>
              <a:t>Two Treatises of Government</a:t>
            </a:r>
            <a:r>
              <a:rPr lang="en-US" altLang="x-none" sz="2800" dirty="0">
                <a:solidFill>
                  <a:schemeClr val="tx1"/>
                </a:solidFill>
                <a:ea typeface="ＭＳ Ｐゴシック" charset="-128"/>
              </a:rPr>
              <a:t> (1689)</a:t>
            </a:r>
          </a:p>
        </p:txBody>
      </p:sp>
      <p:sp>
        <p:nvSpPr>
          <p:cNvPr id="71683" name="Rectangle 3">
            <a:extLst>
              <a:ext uri="{FF2B5EF4-FFF2-40B4-BE49-F238E27FC236}">
                <a16:creationId xmlns:a16="http://schemas.microsoft.com/office/drawing/2014/main" id="{1FAEC606-2496-4485-4B8F-BEDB56D2300E}"/>
              </a:ext>
            </a:extLst>
          </p:cNvPr>
          <p:cNvSpPr>
            <a:spLocks noGrp="1" noChangeArrowheads="1"/>
          </p:cNvSpPr>
          <p:nvPr>
            <p:ph type="body" idx="1"/>
          </p:nvPr>
        </p:nvSpPr>
        <p:spPr/>
        <p:txBody>
          <a:bodyPr/>
          <a:lstStyle/>
          <a:p>
            <a:pPr>
              <a:defRPr/>
            </a:pPr>
            <a:endParaRPr lang="en-US" altLang="en-US" dirty="0">
              <a:ea typeface="ＭＳ Ｐゴシック" panose="020B0600070205080204" pitchFamily="34" charset="-128"/>
            </a:endParaRPr>
          </a:p>
        </p:txBody>
      </p:sp>
      <p:pic>
        <p:nvPicPr>
          <p:cNvPr id="28675" name="Picture 4" descr="Locke">
            <a:extLst>
              <a:ext uri="{FF2B5EF4-FFF2-40B4-BE49-F238E27FC236}">
                <a16:creationId xmlns:a16="http://schemas.microsoft.com/office/drawing/2014/main" id="{910BDFAA-82F1-729F-EB4D-7503B01BB4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219200"/>
            <a:ext cx="4679950"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4BF51DCA-CA0B-89E3-C130-FD35AC77E492}"/>
              </a:ext>
            </a:extLst>
          </p:cNvPr>
          <p:cNvSpPr>
            <a:spLocks noGrp="1" noChangeArrowheads="1"/>
          </p:cNvSpPr>
          <p:nvPr>
            <p:ph type="title"/>
          </p:nvPr>
        </p:nvSpPr>
        <p:spPr/>
        <p:txBody>
          <a:bodyPr/>
          <a:lstStyle/>
          <a:p>
            <a:pPr>
              <a:defRPr/>
            </a:pPr>
            <a:r>
              <a:rPr lang="en-US" altLang="x-none" sz="2800" dirty="0">
                <a:solidFill>
                  <a:srgbClr val="FFFF00"/>
                </a:solidFill>
                <a:ea typeface="ＭＳ Ｐゴシック" charset="-128"/>
              </a:rPr>
              <a:t>Locke</a:t>
            </a:r>
            <a:r>
              <a:rPr lang="ja-JP" altLang="en-US" sz="2800">
                <a:solidFill>
                  <a:srgbClr val="FFFF00"/>
                </a:solidFill>
                <a:ea typeface="ＭＳ Ｐゴシック" charset="-128"/>
              </a:rPr>
              <a:t>’</a:t>
            </a:r>
            <a:r>
              <a:rPr lang="en-US" altLang="ja-JP" sz="2800" dirty="0">
                <a:solidFill>
                  <a:srgbClr val="FFFF00"/>
                </a:solidFill>
                <a:ea typeface="ＭＳ Ｐゴシック" charset="-128"/>
              </a:rPr>
              <a:t>s </a:t>
            </a:r>
            <a:r>
              <a:rPr lang="en-US" altLang="ja-JP" sz="2800" i="1" dirty="0">
                <a:solidFill>
                  <a:srgbClr val="FFFF00"/>
                </a:solidFill>
                <a:ea typeface="ＭＳ Ｐゴシック" charset="-128"/>
              </a:rPr>
              <a:t>Two Treatises of Government</a:t>
            </a:r>
            <a:r>
              <a:rPr lang="en-US" altLang="ja-JP" sz="2800" dirty="0">
                <a:solidFill>
                  <a:srgbClr val="FFFF00"/>
                </a:solidFill>
                <a:ea typeface="ＭＳ Ｐゴシック" charset="-128"/>
              </a:rPr>
              <a:t> (1689)</a:t>
            </a:r>
            <a:endParaRPr lang="en-US" altLang="x-none" sz="2800" dirty="0">
              <a:solidFill>
                <a:srgbClr val="FFFF00"/>
              </a:solidFill>
              <a:ea typeface="ＭＳ Ｐゴシック" charset="-128"/>
            </a:endParaRPr>
          </a:p>
        </p:txBody>
      </p:sp>
      <p:sp>
        <p:nvSpPr>
          <p:cNvPr id="49155" name="Rectangle 3">
            <a:extLst>
              <a:ext uri="{FF2B5EF4-FFF2-40B4-BE49-F238E27FC236}">
                <a16:creationId xmlns:a16="http://schemas.microsoft.com/office/drawing/2014/main" id="{7A8D411D-B880-48D2-555C-E58BA6911ADE}"/>
              </a:ext>
            </a:extLst>
          </p:cNvPr>
          <p:cNvSpPr>
            <a:spLocks noGrp="1" noChangeArrowheads="1"/>
          </p:cNvSpPr>
          <p:nvPr>
            <p:ph type="body" idx="1"/>
          </p:nvPr>
        </p:nvSpPr>
        <p:spPr/>
        <p:txBody>
          <a:bodyPr/>
          <a:lstStyle/>
          <a:p>
            <a:pPr>
              <a:buFont typeface="Arial" panose="020B0604020202020204" pitchFamily="34" charset="0"/>
              <a:buChar char="•"/>
              <a:defRPr/>
            </a:pPr>
            <a:r>
              <a:rPr lang="en-US" altLang="x-none" sz="2400" dirty="0">
                <a:ea typeface="ＭＳ Ｐゴシック" charset="-128"/>
              </a:rPr>
              <a:t>The state of nature for humans is NOT that bad because humans are inherently </a:t>
            </a:r>
            <a:r>
              <a:rPr lang="en-US" altLang="x-none" sz="2400" i="1" dirty="0">
                <a:ea typeface="ＭＳ Ｐゴシック" charset="-128"/>
              </a:rPr>
              <a:t>social</a:t>
            </a:r>
            <a:r>
              <a:rPr lang="en-US" altLang="x-none" sz="2400" dirty="0">
                <a:ea typeface="ＭＳ Ｐゴシック" charset="-128"/>
              </a:rPr>
              <a:t>.  The state of nature is NOT a security dilemma!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51E13F9-97E0-AF17-8236-EEB8A7A2A32D}"/>
              </a:ext>
            </a:extLst>
          </p:cNvPr>
          <p:cNvSpPr>
            <a:spLocks noGrp="1" noChangeArrowheads="1"/>
          </p:cNvSpPr>
          <p:nvPr>
            <p:ph type="title"/>
          </p:nvPr>
        </p:nvSpPr>
        <p:spPr/>
        <p:txBody>
          <a:bodyPr/>
          <a:lstStyle/>
          <a:p>
            <a:pPr>
              <a:defRPr/>
            </a:pPr>
            <a:r>
              <a:rPr lang="en-US" altLang="x-none" sz="2800" dirty="0">
                <a:solidFill>
                  <a:srgbClr val="FFFF00"/>
                </a:solidFill>
                <a:ea typeface="ＭＳ Ｐゴシック" charset="-128"/>
              </a:rPr>
              <a:t>Locke</a:t>
            </a:r>
            <a:r>
              <a:rPr lang="ja-JP" altLang="en-US" sz="2800">
                <a:solidFill>
                  <a:srgbClr val="FFFF00"/>
                </a:solidFill>
                <a:ea typeface="ＭＳ Ｐゴシック" charset="-128"/>
              </a:rPr>
              <a:t>’</a:t>
            </a:r>
            <a:r>
              <a:rPr lang="en-US" altLang="ja-JP" sz="2800" dirty="0">
                <a:solidFill>
                  <a:srgbClr val="FFFF00"/>
                </a:solidFill>
                <a:ea typeface="ＭＳ Ｐゴシック" charset="-128"/>
              </a:rPr>
              <a:t>s </a:t>
            </a:r>
            <a:r>
              <a:rPr lang="en-US" altLang="ja-JP" sz="2800" i="1" dirty="0">
                <a:solidFill>
                  <a:srgbClr val="FFFF00"/>
                </a:solidFill>
                <a:ea typeface="ＭＳ Ｐゴシック" charset="-128"/>
              </a:rPr>
              <a:t>Two Treatises of Government</a:t>
            </a:r>
            <a:r>
              <a:rPr lang="en-US" altLang="ja-JP" sz="2800" dirty="0">
                <a:solidFill>
                  <a:srgbClr val="FFFF00"/>
                </a:solidFill>
                <a:ea typeface="ＭＳ Ｐゴシック" charset="-128"/>
              </a:rPr>
              <a:t> (1689)</a:t>
            </a:r>
            <a:endParaRPr lang="en-US" altLang="x-none" sz="2800" dirty="0">
              <a:solidFill>
                <a:srgbClr val="FFFF00"/>
              </a:solidFill>
              <a:ea typeface="ＭＳ Ｐゴシック" charset="-128"/>
            </a:endParaRPr>
          </a:p>
        </p:txBody>
      </p:sp>
      <p:sp>
        <p:nvSpPr>
          <p:cNvPr id="49155" name="Rectangle 3">
            <a:extLst>
              <a:ext uri="{FF2B5EF4-FFF2-40B4-BE49-F238E27FC236}">
                <a16:creationId xmlns:a16="http://schemas.microsoft.com/office/drawing/2014/main" id="{3F92A317-56C9-D4E0-8004-447FC8D6BE28}"/>
              </a:ext>
            </a:extLst>
          </p:cNvPr>
          <p:cNvSpPr>
            <a:spLocks noGrp="1" noChangeArrowheads="1"/>
          </p:cNvSpPr>
          <p:nvPr>
            <p:ph type="body" idx="1"/>
          </p:nvPr>
        </p:nvSpPr>
        <p:spPr/>
        <p:txBody>
          <a:bodyPr/>
          <a:lstStyle/>
          <a:p>
            <a:pPr>
              <a:buFont typeface="Arial" panose="020B0604020202020204" pitchFamily="34" charset="0"/>
              <a:buChar char="•"/>
              <a:defRPr/>
            </a:pPr>
            <a:r>
              <a:rPr lang="en-US" altLang="x-none" sz="2400" dirty="0">
                <a:ea typeface="ＭＳ Ｐゴシック" charset="-128"/>
              </a:rPr>
              <a:t>The state of nature for humans is NOT that bad because humans are inherently </a:t>
            </a:r>
            <a:r>
              <a:rPr lang="en-US" altLang="x-none" sz="2400" i="1" dirty="0">
                <a:ea typeface="ＭＳ Ｐゴシック" charset="-128"/>
              </a:rPr>
              <a:t>social</a:t>
            </a:r>
            <a:r>
              <a:rPr lang="en-US" altLang="x-none" sz="2400" dirty="0">
                <a:ea typeface="ＭＳ Ｐゴシック" charset="-128"/>
              </a:rPr>
              <a:t>.  The state of nature is NOT a security dilemma!</a:t>
            </a:r>
          </a:p>
          <a:p>
            <a:pPr marL="0" indent="0">
              <a:buNone/>
              <a:defRPr/>
            </a:pPr>
            <a:endParaRPr lang="en-US" altLang="x-none" sz="2400" dirty="0">
              <a:ea typeface="ＭＳ Ｐゴシック" charset="-128"/>
            </a:endParaRPr>
          </a:p>
          <a:p>
            <a:pPr>
              <a:buFont typeface="Arial" panose="020B0604020202020204" pitchFamily="34" charset="0"/>
              <a:buChar char="•"/>
              <a:defRPr/>
            </a:pPr>
            <a:r>
              <a:rPr lang="en-US" altLang="x-none" sz="2400" dirty="0">
                <a:ea typeface="ＭＳ Ｐゴシック" charset="-128"/>
              </a:rPr>
              <a:t>Still, individuals will contract with each other </a:t>
            </a:r>
            <a:r>
              <a:rPr lang="en-US" altLang="x-none" sz="2400" i="1" dirty="0">
                <a:ea typeface="ＭＳ Ｐゴシック" charset="-128"/>
              </a:rPr>
              <a:t>and </a:t>
            </a:r>
            <a:r>
              <a:rPr lang="en-US" altLang="x-none" sz="2400" dirty="0">
                <a:ea typeface="ＭＳ Ｐゴシック" charset="-128"/>
              </a:rPr>
              <a:t>a state to make things even better.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1F07433A-8AED-6081-189F-1DE6DC4E7D53}"/>
              </a:ext>
            </a:extLst>
          </p:cNvPr>
          <p:cNvSpPr>
            <a:spLocks noGrp="1" noChangeArrowheads="1"/>
          </p:cNvSpPr>
          <p:nvPr>
            <p:ph type="title"/>
          </p:nvPr>
        </p:nvSpPr>
        <p:spPr/>
        <p:txBody>
          <a:bodyPr/>
          <a:lstStyle/>
          <a:p>
            <a:pPr>
              <a:defRPr/>
            </a:pPr>
            <a:r>
              <a:rPr lang="en-US" altLang="x-none" sz="2800" dirty="0">
                <a:solidFill>
                  <a:srgbClr val="FFFF00"/>
                </a:solidFill>
                <a:ea typeface="ＭＳ Ｐゴシック" charset="-128"/>
              </a:rPr>
              <a:t>Locke</a:t>
            </a:r>
            <a:r>
              <a:rPr lang="ja-JP" altLang="en-US" sz="2800">
                <a:solidFill>
                  <a:srgbClr val="FFFF00"/>
                </a:solidFill>
                <a:ea typeface="ＭＳ Ｐゴシック" charset="-128"/>
              </a:rPr>
              <a:t>’</a:t>
            </a:r>
            <a:r>
              <a:rPr lang="en-US" altLang="ja-JP" sz="2800" dirty="0">
                <a:solidFill>
                  <a:srgbClr val="FFFF00"/>
                </a:solidFill>
                <a:ea typeface="ＭＳ Ｐゴシック" charset="-128"/>
              </a:rPr>
              <a:t>s </a:t>
            </a:r>
            <a:r>
              <a:rPr lang="en-US" altLang="ja-JP" sz="2800" i="1" dirty="0">
                <a:solidFill>
                  <a:srgbClr val="FFFF00"/>
                </a:solidFill>
                <a:ea typeface="ＭＳ Ｐゴシック" charset="-128"/>
              </a:rPr>
              <a:t>Two Treatises of Government</a:t>
            </a:r>
            <a:r>
              <a:rPr lang="en-US" altLang="ja-JP" sz="2800" dirty="0">
                <a:solidFill>
                  <a:srgbClr val="FFFF00"/>
                </a:solidFill>
                <a:ea typeface="ＭＳ Ｐゴシック" charset="-128"/>
              </a:rPr>
              <a:t> (1689)</a:t>
            </a:r>
            <a:endParaRPr lang="en-US" altLang="x-none" sz="2800" dirty="0">
              <a:solidFill>
                <a:srgbClr val="FFFF00"/>
              </a:solidFill>
              <a:ea typeface="ＭＳ Ｐゴシック" charset="-128"/>
            </a:endParaRPr>
          </a:p>
        </p:txBody>
      </p:sp>
      <p:sp>
        <p:nvSpPr>
          <p:cNvPr id="49155" name="Rectangle 3">
            <a:extLst>
              <a:ext uri="{FF2B5EF4-FFF2-40B4-BE49-F238E27FC236}">
                <a16:creationId xmlns:a16="http://schemas.microsoft.com/office/drawing/2014/main" id="{44F28377-8510-82A2-C4BF-AC5ED1901989}"/>
              </a:ext>
            </a:extLst>
          </p:cNvPr>
          <p:cNvSpPr>
            <a:spLocks noGrp="1" noChangeArrowheads="1"/>
          </p:cNvSpPr>
          <p:nvPr>
            <p:ph type="body" idx="1"/>
          </p:nvPr>
        </p:nvSpPr>
        <p:spPr/>
        <p:txBody>
          <a:bodyPr/>
          <a:lstStyle/>
          <a:p>
            <a:pPr>
              <a:buFont typeface="Arial" panose="020B0604020202020204" pitchFamily="34" charset="0"/>
              <a:buChar char="•"/>
              <a:defRPr/>
            </a:pPr>
            <a:r>
              <a:rPr lang="en-US" altLang="x-none" sz="2400" dirty="0">
                <a:ea typeface="ＭＳ Ｐゴシック" charset="-128"/>
              </a:rPr>
              <a:t>The state of nature for humans is NOT that bad because humans are inherently </a:t>
            </a:r>
            <a:r>
              <a:rPr lang="en-US" altLang="x-none" sz="2400" i="1" dirty="0">
                <a:ea typeface="ＭＳ Ｐゴシック" charset="-128"/>
              </a:rPr>
              <a:t>social</a:t>
            </a:r>
            <a:r>
              <a:rPr lang="en-US" altLang="x-none" sz="2400" dirty="0">
                <a:ea typeface="ＭＳ Ｐゴシック" charset="-128"/>
              </a:rPr>
              <a:t>.  The state of nature is NOT a security dilemma!</a:t>
            </a:r>
          </a:p>
          <a:p>
            <a:pPr marL="0" indent="0">
              <a:buNone/>
              <a:defRPr/>
            </a:pPr>
            <a:endParaRPr lang="en-US" altLang="x-none" sz="2400" dirty="0">
              <a:ea typeface="ＭＳ Ｐゴシック" charset="-128"/>
            </a:endParaRPr>
          </a:p>
          <a:p>
            <a:pPr>
              <a:buFont typeface="Arial" panose="020B0604020202020204" pitchFamily="34" charset="0"/>
              <a:buChar char="•"/>
              <a:defRPr/>
            </a:pPr>
            <a:r>
              <a:rPr lang="en-US" altLang="x-none" sz="2400" dirty="0">
                <a:ea typeface="ＭＳ Ｐゴシック" charset="-128"/>
              </a:rPr>
              <a:t>Still, individuals will contract with each other </a:t>
            </a:r>
            <a:r>
              <a:rPr lang="en-US" altLang="x-none" sz="2400" i="1" dirty="0">
                <a:ea typeface="ＭＳ Ｐゴシック" charset="-128"/>
              </a:rPr>
              <a:t>and </a:t>
            </a:r>
            <a:r>
              <a:rPr lang="en-US" altLang="x-none" sz="2400" dirty="0">
                <a:ea typeface="ＭＳ Ｐゴシック" charset="-128"/>
              </a:rPr>
              <a:t>a state to make things even better.</a:t>
            </a:r>
          </a:p>
          <a:p>
            <a:pPr marL="0" indent="0">
              <a:buNone/>
              <a:defRPr/>
            </a:pPr>
            <a:endParaRPr lang="en-US" altLang="x-none" sz="2400" dirty="0">
              <a:ea typeface="ＭＳ Ｐゴシック" charset="-128"/>
            </a:endParaRPr>
          </a:p>
          <a:p>
            <a:pPr>
              <a:buFont typeface="Arial" panose="020B0604020202020204" pitchFamily="34" charset="0"/>
              <a:buChar char="•"/>
              <a:defRPr/>
            </a:pPr>
            <a:r>
              <a:rPr lang="en-US" altLang="x-none" sz="2400" dirty="0">
                <a:ea typeface="ＭＳ Ｐゴシック" charset="-128"/>
              </a:rPr>
              <a:t>But the state must be limited in its powers because its purpose is to preserve the life, liberty, and property of </a:t>
            </a:r>
            <a:r>
              <a:rPr lang="en-US" altLang="x-none" sz="2400" i="1" dirty="0">
                <a:ea typeface="ＭＳ Ｐゴシック" charset="-128"/>
              </a:rPr>
              <a:t>individuals</a:t>
            </a:r>
            <a:r>
              <a:rPr lang="en-US" altLang="x-none" sz="2400" dirty="0">
                <a:ea typeface="ＭＳ Ｐゴシック" charset="-128"/>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B964D-83C6-63BE-B9E4-63B1485B3850}"/>
              </a:ext>
            </a:extLst>
          </p:cNvPr>
          <p:cNvSpPr>
            <a:spLocks noGrp="1"/>
          </p:cNvSpPr>
          <p:nvPr>
            <p:ph type="title"/>
          </p:nvPr>
        </p:nvSpPr>
        <p:spPr>
          <a:xfrm>
            <a:off x="457200" y="277813"/>
            <a:ext cx="8229600" cy="712787"/>
          </a:xfrm>
        </p:spPr>
        <p:txBody>
          <a:bodyPr/>
          <a:lstStyle/>
          <a:p>
            <a:r>
              <a:rPr lang="en-US" sz="2800" dirty="0">
                <a:solidFill>
                  <a:srgbClr val="FFFF00"/>
                </a:solidFill>
              </a:rPr>
              <a:t>Locke’s Key Contributions to the Study of IR</a:t>
            </a:r>
          </a:p>
        </p:txBody>
      </p:sp>
      <p:sp>
        <p:nvSpPr>
          <p:cNvPr id="3" name="Content Placeholder 2">
            <a:extLst>
              <a:ext uri="{FF2B5EF4-FFF2-40B4-BE49-F238E27FC236}">
                <a16:creationId xmlns:a16="http://schemas.microsoft.com/office/drawing/2014/main" id="{1B52A433-2D4A-1086-1E0E-7B680A293D03}"/>
              </a:ext>
            </a:extLst>
          </p:cNvPr>
          <p:cNvSpPr>
            <a:spLocks noGrp="1"/>
          </p:cNvSpPr>
          <p:nvPr>
            <p:ph idx="1"/>
          </p:nvPr>
        </p:nvSpPr>
        <p:spPr>
          <a:xfrm>
            <a:off x="457200" y="1295400"/>
            <a:ext cx="8229600" cy="4530725"/>
          </a:xfrm>
        </p:spPr>
        <p:txBody>
          <a:bodyPr/>
          <a:lstStyle/>
          <a:p>
            <a:pPr marL="0" indent="0">
              <a:buNone/>
            </a:pPr>
            <a:endParaRPr lang="en-US" sz="1600" dirty="0"/>
          </a:p>
        </p:txBody>
      </p:sp>
    </p:spTree>
    <p:extLst>
      <p:ext uri="{BB962C8B-B14F-4D97-AF65-F5344CB8AC3E}">
        <p14:creationId xmlns:p14="http://schemas.microsoft.com/office/powerpoint/2010/main" val="199003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FFA98-E006-5E12-1BAA-00D7AA38D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8CCBA5-BDB3-4185-B254-CEE4E18F0A6D}"/>
              </a:ext>
            </a:extLst>
          </p:cNvPr>
          <p:cNvSpPr>
            <a:spLocks noGrp="1"/>
          </p:cNvSpPr>
          <p:nvPr>
            <p:ph type="title"/>
          </p:nvPr>
        </p:nvSpPr>
        <p:spPr>
          <a:xfrm>
            <a:off x="457200" y="277813"/>
            <a:ext cx="8229600" cy="712787"/>
          </a:xfrm>
        </p:spPr>
        <p:txBody>
          <a:bodyPr/>
          <a:lstStyle/>
          <a:p>
            <a:r>
              <a:rPr lang="en-US" sz="2800" dirty="0">
                <a:solidFill>
                  <a:srgbClr val="FFFF00"/>
                </a:solidFill>
              </a:rPr>
              <a:t>Locke’s Key Contributions to the Study of IR</a:t>
            </a:r>
          </a:p>
        </p:txBody>
      </p:sp>
      <p:sp>
        <p:nvSpPr>
          <p:cNvPr id="3" name="Content Placeholder 2">
            <a:extLst>
              <a:ext uri="{FF2B5EF4-FFF2-40B4-BE49-F238E27FC236}">
                <a16:creationId xmlns:a16="http://schemas.microsoft.com/office/drawing/2014/main" id="{6D74114B-A103-ED9E-F2A8-94ABF3CE7FA9}"/>
              </a:ext>
            </a:extLst>
          </p:cNvPr>
          <p:cNvSpPr>
            <a:spLocks noGrp="1"/>
          </p:cNvSpPr>
          <p:nvPr>
            <p:ph idx="1"/>
          </p:nvPr>
        </p:nvSpPr>
        <p:spPr>
          <a:xfrm>
            <a:off x="457200" y="1295400"/>
            <a:ext cx="8229600" cy="4530725"/>
          </a:xfrm>
        </p:spPr>
        <p:txBody>
          <a:bodyPr/>
          <a:lstStyle/>
          <a:p>
            <a:r>
              <a:rPr lang="en-US" sz="1600" u="sng" dirty="0"/>
              <a:t>State of Nature is a Society, Not War</a:t>
            </a:r>
            <a:r>
              <a:rPr lang="en-US" sz="1600" dirty="0"/>
              <a:t>: Unlike Hobbes's "war of all against all," Locke saw the state of nature between nations as a society governed by a moral "Law of Nature."</a:t>
            </a:r>
          </a:p>
          <a:p>
            <a:endParaRPr lang="en-US" sz="1600" dirty="0"/>
          </a:p>
          <a:p>
            <a:pPr marL="0" indent="0">
              <a:buNone/>
            </a:pPr>
            <a:endParaRPr lang="en-US" sz="1600" dirty="0"/>
          </a:p>
        </p:txBody>
      </p:sp>
    </p:spTree>
    <p:extLst>
      <p:ext uri="{BB962C8B-B14F-4D97-AF65-F5344CB8AC3E}">
        <p14:creationId xmlns:p14="http://schemas.microsoft.com/office/powerpoint/2010/main" val="481661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C1DAA-0FE9-EC38-40C0-E0BB99F86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AEEFF-7CFF-FA12-9609-639005291BDB}"/>
              </a:ext>
            </a:extLst>
          </p:cNvPr>
          <p:cNvSpPr>
            <a:spLocks noGrp="1"/>
          </p:cNvSpPr>
          <p:nvPr>
            <p:ph type="title"/>
          </p:nvPr>
        </p:nvSpPr>
        <p:spPr>
          <a:xfrm>
            <a:off x="457200" y="277813"/>
            <a:ext cx="8229600" cy="712787"/>
          </a:xfrm>
        </p:spPr>
        <p:txBody>
          <a:bodyPr/>
          <a:lstStyle/>
          <a:p>
            <a:r>
              <a:rPr lang="en-US" sz="2800" dirty="0">
                <a:solidFill>
                  <a:srgbClr val="FFFF00"/>
                </a:solidFill>
              </a:rPr>
              <a:t>Locke’s Key Contributions to the Study of IR</a:t>
            </a:r>
          </a:p>
        </p:txBody>
      </p:sp>
      <p:sp>
        <p:nvSpPr>
          <p:cNvPr id="3" name="Content Placeholder 2">
            <a:extLst>
              <a:ext uri="{FF2B5EF4-FFF2-40B4-BE49-F238E27FC236}">
                <a16:creationId xmlns:a16="http://schemas.microsoft.com/office/drawing/2014/main" id="{AD6C7887-0EA1-3D3E-1209-E0CF19BACD06}"/>
              </a:ext>
            </a:extLst>
          </p:cNvPr>
          <p:cNvSpPr>
            <a:spLocks noGrp="1"/>
          </p:cNvSpPr>
          <p:nvPr>
            <p:ph idx="1"/>
          </p:nvPr>
        </p:nvSpPr>
        <p:spPr>
          <a:xfrm>
            <a:off x="457200" y="1295400"/>
            <a:ext cx="8229600" cy="4530725"/>
          </a:xfrm>
        </p:spPr>
        <p:txBody>
          <a:bodyPr/>
          <a:lstStyle/>
          <a:p>
            <a:r>
              <a:rPr lang="en-US" sz="1600" u="sng" dirty="0"/>
              <a:t>State of Nature is a Society, Not War</a:t>
            </a:r>
            <a:r>
              <a:rPr lang="en-US" sz="1600" dirty="0"/>
              <a:t>: Unlike Hobbes's "war of all against all," Locke saw the state of nature between nations as a society governed by a moral "Law of Nature."</a:t>
            </a:r>
          </a:p>
          <a:p>
            <a:endParaRPr lang="en-US" sz="1600" dirty="0"/>
          </a:p>
          <a:p>
            <a:r>
              <a:rPr lang="en-US" sz="1600" u="sng" dirty="0"/>
              <a:t>Anarchy is "Inconvenient," Not Hellish</a:t>
            </a:r>
            <a:r>
              <a:rPr lang="en-US" sz="1600" dirty="0"/>
              <a:t>: For Locke, the problem with international anarchy isn't constant, brutal warfare, but the "inconvenience" of lacking an impartial judge to settle disputes.</a:t>
            </a:r>
          </a:p>
          <a:p>
            <a:endParaRPr lang="en-US" sz="1600" dirty="0"/>
          </a:p>
          <a:p>
            <a:pPr marL="0" indent="0">
              <a:buNone/>
            </a:pPr>
            <a:endParaRPr lang="en-US" sz="1600" dirty="0"/>
          </a:p>
        </p:txBody>
      </p:sp>
    </p:spTree>
    <p:extLst>
      <p:ext uri="{BB962C8B-B14F-4D97-AF65-F5344CB8AC3E}">
        <p14:creationId xmlns:p14="http://schemas.microsoft.com/office/powerpoint/2010/main" val="3055070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F0A53-D186-B47F-6467-A1C7CBF6D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B88A3-AEC0-8674-714C-79654B99BFE8}"/>
              </a:ext>
            </a:extLst>
          </p:cNvPr>
          <p:cNvSpPr>
            <a:spLocks noGrp="1"/>
          </p:cNvSpPr>
          <p:nvPr>
            <p:ph type="title"/>
          </p:nvPr>
        </p:nvSpPr>
        <p:spPr>
          <a:xfrm>
            <a:off x="457200" y="277813"/>
            <a:ext cx="8229600" cy="712787"/>
          </a:xfrm>
        </p:spPr>
        <p:txBody>
          <a:bodyPr/>
          <a:lstStyle/>
          <a:p>
            <a:r>
              <a:rPr lang="en-US" sz="2800" dirty="0">
                <a:solidFill>
                  <a:srgbClr val="FFFF00"/>
                </a:solidFill>
              </a:rPr>
              <a:t>Locke’s Key Contributions to the Study of IR</a:t>
            </a:r>
          </a:p>
        </p:txBody>
      </p:sp>
      <p:sp>
        <p:nvSpPr>
          <p:cNvPr id="3" name="Content Placeholder 2">
            <a:extLst>
              <a:ext uri="{FF2B5EF4-FFF2-40B4-BE49-F238E27FC236}">
                <a16:creationId xmlns:a16="http://schemas.microsoft.com/office/drawing/2014/main" id="{052B5BE0-C83B-0423-2DC7-A35033079139}"/>
              </a:ext>
            </a:extLst>
          </p:cNvPr>
          <p:cNvSpPr>
            <a:spLocks noGrp="1"/>
          </p:cNvSpPr>
          <p:nvPr>
            <p:ph idx="1"/>
          </p:nvPr>
        </p:nvSpPr>
        <p:spPr>
          <a:xfrm>
            <a:off x="457200" y="1295400"/>
            <a:ext cx="8229600" cy="4530725"/>
          </a:xfrm>
        </p:spPr>
        <p:txBody>
          <a:bodyPr/>
          <a:lstStyle/>
          <a:p>
            <a:r>
              <a:rPr lang="en-US" sz="1600" u="sng" dirty="0"/>
              <a:t>State of Nature is a Society, Not War</a:t>
            </a:r>
            <a:r>
              <a:rPr lang="en-US" sz="1600" dirty="0"/>
              <a:t>: Unlike Hobbes's "war of all against all," Locke saw the state of nature between nations as a society governed by a moral "Law of Nature."</a:t>
            </a:r>
          </a:p>
          <a:p>
            <a:endParaRPr lang="en-US" sz="1600" dirty="0"/>
          </a:p>
          <a:p>
            <a:r>
              <a:rPr lang="en-US" sz="1600" u="sng" dirty="0"/>
              <a:t>Anarchy is "Inconvenient," Not Hellish</a:t>
            </a:r>
            <a:r>
              <a:rPr lang="en-US" sz="1600" dirty="0"/>
              <a:t>: For Locke, the problem with international anarchy isn't constant, brutal warfare, but the "inconvenience" of lacking an impartial judge to settle disputes.</a:t>
            </a:r>
          </a:p>
          <a:p>
            <a:endParaRPr lang="en-US" sz="1600" dirty="0"/>
          </a:p>
          <a:p>
            <a:r>
              <a:rPr lang="en-US" sz="1600" u="sng" dirty="0"/>
              <a:t>Natural Law Binds States</a:t>
            </a:r>
            <a:r>
              <a:rPr lang="en-US" sz="1600" dirty="0"/>
              <a:t>: Locke argued that states, like individuals, are bound by a universal moral law discoverable by reason, creating a basis for treaties and international law.</a:t>
            </a:r>
          </a:p>
          <a:p>
            <a:endParaRPr lang="en-US" sz="1600" dirty="0"/>
          </a:p>
          <a:p>
            <a:pPr marL="0" indent="0">
              <a:buNone/>
            </a:pPr>
            <a:endParaRPr lang="en-US" sz="1600" dirty="0"/>
          </a:p>
        </p:txBody>
      </p:sp>
    </p:spTree>
    <p:extLst>
      <p:ext uri="{BB962C8B-B14F-4D97-AF65-F5344CB8AC3E}">
        <p14:creationId xmlns:p14="http://schemas.microsoft.com/office/powerpoint/2010/main" val="2387746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0FEB7-AF29-7889-360B-9ABBD2BA3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C2F937-1392-850E-5FE8-D2BECCD78338}"/>
              </a:ext>
            </a:extLst>
          </p:cNvPr>
          <p:cNvSpPr>
            <a:spLocks noGrp="1"/>
          </p:cNvSpPr>
          <p:nvPr>
            <p:ph type="title"/>
          </p:nvPr>
        </p:nvSpPr>
        <p:spPr>
          <a:xfrm>
            <a:off x="457200" y="277813"/>
            <a:ext cx="8229600" cy="712787"/>
          </a:xfrm>
        </p:spPr>
        <p:txBody>
          <a:bodyPr/>
          <a:lstStyle/>
          <a:p>
            <a:r>
              <a:rPr lang="en-US" sz="2800" dirty="0">
                <a:solidFill>
                  <a:srgbClr val="FFFF00"/>
                </a:solidFill>
              </a:rPr>
              <a:t>Locke’s Key Contributions to the Study of IR</a:t>
            </a:r>
          </a:p>
        </p:txBody>
      </p:sp>
      <p:sp>
        <p:nvSpPr>
          <p:cNvPr id="3" name="Content Placeholder 2">
            <a:extLst>
              <a:ext uri="{FF2B5EF4-FFF2-40B4-BE49-F238E27FC236}">
                <a16:creationId xmlns:a16="http://schemas.microsoft.com/office/drawing/2014/main" id="{B5F7BB4B-B30E-32B4-B512-2EE6939CF6C7}"/>
              </a:ext>
            </a:extLst>
          </p:cNvPr>
          <p:cNvSpPr>
            <a:spLocks noGrp="1"/>
          </p:cNvSpPr>
          <p:nvPr>
            <p:ph idx="1"/>
          </p:nvPr>
        </p:nvSpPr>
        <p:spPr>
          <a:xfrm>
            <a:off x="457200" y="1295400"/>
            <a:ext cx="8229600" cy="4530725"/>
          </a:xfrm>
        </p:spPr>
        <p:txBody>
          <a:bodyPr/>
          <a:lstStyle/>
          <a:p>
            <a:r>
              <a:rPr lang="en-US" sz="1600" u="sng" dirty="0"/>
              <a:t>State of Nature is a Society, Not War</a:t>
            </a:r>
            <a:r>
              <a:rPr lang="en-US" sz="1600" dirty="0"/>
              <a:t>: Unlike Hobbes's "war of all against all," Locke saw the state of nature between nations as a society governed by a moral "Law of Nature."</a:t>
            </a:r>
          </a:p>
          <a:p>
            <a:endParaRPr lang="en-US" sz="1600" dirty="0"/>
          </a:p>
          <a:p>
            <a:r>
              <a:rPr lang="en-US" sz="1600" u="sng" dirty="0"/>
              <a:t>Anarchy is "Inconvenient," Not Hellish</a:t>
            </a:r>
            <a:r>
              <a:rPr lang="en-US" sz="1600" dirty="0"/>
              <a:t>: For Locke, the problem with international anarchy isn't constant, brutal warfare, but the "inconvenience" of lacking an impartial judge to settle disputes.</a:t>
            </a:r>
          </a:p>
          <a:p>
            <a:endParaRPr lang="en-US" sz="1600" dirty="0"/>
          </a:p>
          <a:p>
            <a:r>
              <a:rPr lang="en-US" sz="1600" u="sng" dirty="0"/>
              <a:t>Natural Law Binds States</a:t>
            </a:r>
            <a:r>
              <a:rPr lang="en-US" sz="1600" dirty="0"/>
              <a:t>: Locke argued that states, like individuals, are bound by a universal moral law discoverable by reason, creating a basis for treaties and international law.</a:t>
            </a:r>
          </a:p>
          <a:p>
            <a:endParaRPr lang="en-US" sz="1600" dirty="0"/>
          </a:p>
          <a:p>
            <a:r>
              <a:rPr lang="en-US" sz="1600" u="sng" dirty="0"/>
              <a:t>War is a Specific Act, Not a Constant State</a:t>
            </a:r>
            <a:r>
              <a:rPr lang="en-US" sz="1600" dirty="0"/>
              <a:t>: Hobbes saw war as the default condition. Locke defined war as a specific, unjust act of aggression—a deviation from the natural state of peace.</a:t>
            </a:r>
          </a:p>
          <a:p>
            <a:endParaRPr lang="en-US" sz="1600" dirty="0"/>
          </a:p>
          <a:p>
            <a:pPr marL="0" indent="0">
              <a:buNone/>
            </a:pPr>
            <a:endParaRPr lang="en-US" sz="1600" dirty="0"/>
          </a:p>
        </p:txBody>
      </p:sp>
    </p:spTree>
    <p:extLst>
      <p:ext uri="{BB962C8B-B14F-4D97-AF65-F5344CB8AC3E}">
        <p14:creationId xmlns:p14="http://schemas.microsoft.com/office/powerpoint/2010/main" val="1976354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C38FB-66C0-3920-D6FA-D739F6CB03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84F6E-9076-7B7E-40EB-EBE9D9ACBCBA}"/>
              </a:ext>
            </a:extLst>
          </p:cNvPr>
          <p:cNvSpPr>
            <a:spLocks noGrp="1"/>
          </p:cNvSpPr>
          <p:nvPr>
            <p:ph type="title"/>
          </p:nvPr>
        </p:nvSpPr>
        <p:spPr>
          <a:xfrm>
            <a:off x="457200" y="277813"/>
            <a:ext cx="8229600" cy="712787"/>
          </a:xfrm>
        </p:spPr>
        <p:txBody>
          <a:bodyPr/>
          <a:lstStyle/>
          <a:p>
            <a:r>
              <a:rPr lang="en-US" sz="2800" dirty="0">
                <a:solidFill>
                  <a:srgbClr val="FFFF00"/>
                </a:solidFill>
              </a:rPr>
              <a:t>Locke’s Key Contributions to the Study of IR</a:t>
            </a:r>
          </a:p>
        </p:txBody>
      </p:sp>
      <p:sp>
        <p:nvSpPr>
          <p:cNvPr id="3" name="Content Placeholder 2">
            <a:extLst>
              <a:ext uri="{FF2B5EF4-FFF2-40B4-BE49-F238E27FC236}">
                <a16:creationId xmlns:a16="http://schemas.microsoft.com/office/drawing/2014/main" id="{6085BF94-62F1-F373-106B-BACBD04C337A}"/>
              </a:ext>
            </a:extLst>
          </p:cNvPr>
          <p:cNvSpPr>
            <a:spLocks noGrp="1"/>
          </p:cNvSpPr>
          <p:nvPr>
            <p:ph idx="1"/>
          </p:nvPr>
        </p:nvSpPr>
        <p:spPr>
          <a:xfrm>
            <a:off x="457200" y="1295400"/>
            <a:ext cx="8229600" cy="4530725"/>
          </a:xfrm>
        </p:spPr>
        <p:txBody>
          <a:bodyPr/>
          <a:lstStyle/>
          <a:p>
            <a:r>
              <a:rPr lang="en-US" sz="1600" u="sng" dirty="0"/>
              <a:t>State of Nature is a Society, Not War</a:t>
            </a:r>
            <a:r>
              <a:rPr lang="en-US" sz="1600" dirty="0"/>
              <a:t>: Unlike Hobbes's "war of all against all," Locke saw the state of nature between nations as a society governed by a moral "Law of Nature."</a:t>
            </a:r>
          </a:p>
          <a:p>
            <a:endParaRPr lang="en-US" sz="1600" dirty="0"/>
          </a:p>
          <a:p>
            <a:r>
              <a:rPr lang="en-US" sz="1600" u="sng" dirty="0"/>
              <a:t>Anarchy is "Inconvenient," Not Hellish</a:t>
            </a:r>
            <a:r>
              <a:rPr lang="en-US" sz="1600" dirty="0"/>
              <a:t>: For Locke, the problem with international anarchy isn't constant, brutal warfare, but the "inconvenience" of lacking an impartial judge to settle disputes.</a:t>
            </a:r>
          </a:p>
          <a:p>
            <a:endParaRPr lang="en-US" sz="1600" dirty="0"/>
          </a:p>
          <a:p>
            <a:r>
              <a:rPr lang="en-US" sz="1600" u="sng" dirty="0"/>
              <a:t>Natural Law Binds States</a:t>
            </a:r>
            <a:r>
              <a:rPr lang="en-US" sz="1600" dirty="0"/>
              <a:t>: Locke argued that states, like individuals, are bound by a universal moral law discoverable by reason, creating a basis for treaties and international law.</a:t>
            </a:r>
          </a:p>
          <a:p>
            <a:endParaRPr lang="en-US" sz="1600" dirty="0"/>
          </a:p>
          <a:p>
            <a:r>
              <a:rPr lang="en-US" sz="1600" u="sng" dirty="0"/>
              <a:t>War is a Specific Act, Not a Constant State</a:t>
            </a:r>
            <a:r>
              <a:rPr lang="en-US" sz="1600" dirty="0"/>
              <a:t>: Hobbes saw war as the default condition. Locke defined war as a specific, unjust act of aggression—a deviation from the natural state of peace.</a:t>
            </a:r>
          </a:p>
          <a:p>
            <a:endParaRPr lang="en-US" sz="1600" dirty="0"/>
          </a:p>
          <a:p>
            <a:r>
              <a:rPr lang="en-US" sz="1600" u="sng" dirty="0"/>
              <a:t>Basis for "Realistic Liberalism"</a:t>
            </a:r>
            <a:r>
              <a:rPr lang="en-US" sz="1600" dirty="0"/>
              <a:t>: His ideas create a middle ground where cooperation is possible and morally grounded, but the reality of anarchy requires states to be prudent and prioritize self-preservation.</a:t>
            </a:r>
          </a:p>
          <a:p>
            <a:endParaRPr lang="en-US" sz="1600" dirty="0"/>
          </a:p>
        </p:txBody>
      </p:sp>
    </p:spTree>
    <p:extLst>
      <p:ext uri="{BB962C8B-B14F-4D97-AF65-F5344CB8AC3E}">
        <p14:creationId xmlns:p14="http://schemas.microsoft.com/office/powerpoint/2010/main" val="2387583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9B9B6-4988-D8B1-869B-6F2823D992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620F14-AFDA-A93F-B68F-91B7CF6784DC}"/>
              </a:ext>
            </a:extLst>
          </p:cNvPr>
          <p:cNvSpPr>
            <a:spLocks noGrp="1"/>
          </p:cNvSpPr>
          <p:nvPr>
            <p:ph type="title"/>
          </p:nvPr>
        </p:nvSpPr>
        <p:spPr>
          <a:xfrm>
            <a:off x="457200" y="277813"/>
            <a:ext cx="8229600" cy="712787"/>
          </a:xfrm>
        </p:spPr>
        <p:txBody>
          <a:bodyPr/>
          <a:lstStyle/>
          <a:p>
            <a:r>
              <a:rPr lang="en-US" sz="2800" dirty="0">
                <a:solidFill>
                  <a:srgbClr val="FFFF00"/>
                </a:solidFill>
              </a:rPr>
              <a:t>Locke and the International Jurists</a:t>
            </a:r>
            <a:br>
              <a:rPr lang="en-US" sz="2800" dirty="0">
                <a:solidFill>
                  <a:srgbClr val="FFFF00"/>
                </a:solidFill>
              </a:rPr>
            </a:br>
            <a:r>
              <a:rPr lang="en-US" sz="2800" dirty="0">
                <a:solidFill>
                  <a:srgbClr val="FFFF00"/>
                </a:solidFill>
              </a:rPr>
              <a:t>(Grotius, Pufendorf)</a:t>
            </a:r>
          </a:p>
        </p:txBody>
      </p:sp>
      <p:sp>
        <p:nvSpPr>
          <p:cNvPr id="3" name="Content Placeholder 2">
            <a:extLst>
              <a:ext uri="{FF2B5EF4-FFF2-40B4-BE49-F238E27FC236}">
                <a16:creationId xmlns:a16="http://schemas.microsoft.com/office/drawing/2014/main" id="{441E16D3-28DB-A416-D75A-513C4FCAFB87}"/>
              </a:ext>
            </a:extLst>
          </p:cNvPr>
          <p:cNvSpPr>
            <a:spLocks noGrp="1"/>
          </p:cNvSpPr>
          <p:nvPr>
            <p:ph idx="1"/>
          </p:nvPr>
        </p:nvSpPr>
        <p:spPr>
          <a:xfrm>
            <a:off x="457200" y="1295400"/>
            <a:ext cx="8229600" cy="4530725"/>
          </a:xfrm>
        </p:spPr>
        <p:txBody>
          <a:bodyPr/>
          <a:lstStyle/>
          <a:p>
            <a:pPr marL="0" indent="0">
              <a:buNone/>
            </a:pPr>
            <a:endParaRPr lang="en-US" sz="1600" dirty="0"/>
          </a:p>
        </p:txBody>
      </p:sp>
    </p:spTree>
    <p:extLst>
      <p:ext uri="{BB962C8B-B14F-4D97-AF65-F5344CB8AC3E}">
        <p14:creationId xmlns:p14="http://schemas.microsoft.com/office/powerpoint/2010/main" val="4255578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FB59F-C634-F0DC-A1B2-E30198EE3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B35BF7-6D34-7D16-E738-4F565A99F9E4}"/>
              </a:ext>
            </a:extLst>
          </p:cNvPr>
          <p:cNvSpPr>
            <a:spLocks noGrp="1"/>
          </p:cNvSpPr>
          <p:nvPr>
            <p:ph type="title"/>
          </p:nvPr>
        </p:nvSpPr>
        <p:spPr>
          <a:xfrm>
            <a:off x="457200" y="277813"/>
            <a:ext cx="8229600" cy="712787"/>
          </a:xfrm>
        </p:spPr>
        <p:txBody>
          <a:bodyPr/>
          <a:lstStyle/>
          <a:p>
            <a:r>
              <a:rPr lang="en-US" sz="2800" dirty="0">
                <a:solidFill>
                  <a:srgbClr val="FFFF00"/>
                </a:solidFill>
              </a:rPr>
              <a:t>Locke and the International Jurists</a:t>
            </a:r>
            <a:br>
              <a:rPr lang="en-US" sz="2800" dirty="0">
                <a:solidFill>
                  <a:srgbClr val="FFFF00"/>
                </a:solidFill>
              </a:rPr>
            </a:br>
            <a:r>
              <a:rPr lang="en-US" sz="2800" dirty="0">
                <a:solidFill>
                  <a:srgbClr val="FFFF00"/>
                </a:solidFill>
              </a:rPr>
              <a:t>(Grotius, Pufendorf)</a:t>
            </a:r>
          </a:p>
        </p:txBody>
      </p:sp>
      <p:sp>
        <p:nvSpPr>
          <p:cNvPr id="3" name="Content Placeholder 2">
            <a:extLst>
              <a:ext uri="{FF2B5EF4-FFF2-40B4-BE49-F238E27FC236}">
                <a16:creationId xmlns:a16="http://schemas.microsoft.com/office/drawing/2014/main" id="{8001B05A-76BF-E6B8-90BA-EF5F5E3FEDB5}"/>
              </a:ext>
            </a:extLst>
          </p:cNvPr>
          <p:cNvSpPr>
            <a:spLocks noGrp="1"/>
          </p:cNvSpPr>
          <p:nvPr>
            <p:ph idx="1"/>
          </p:nvPr>
        </p:nvSpPr>
        <p:spPr>
          <a:xfrm>
            <a:off x="457200" y="1295400"/>
            <a:ext cx="8229600" cy="4530725"/>
          </a:xfrm>
        </p:spPr>
        <p:txBody>
          <a:bodyPr/>
          <a:lstStyle/>
          <a:p>
            <a:r>
              <a:rPr lang="en-US" sz="1600" u="sng" dirty="0"/>
              <a:t>Agreement: States are in a State of Nature</a:t>
            </a:r>
            <a:r>
              <a:rPr lang="en-US" sz="1600" dirty="0"/>
              <a:t>: Locke adopted the core framework of jurists like Grotius, agreeing that sovereign nations exist in an anarchic state of nature relative to one another.</a:t>
            </a:r>
          </a:p>
          <a:p>
            <a:pPr marL="0" indent="0">
              <a:buNone/>
            </a:pPr>
            <a:endParaRPr lang="en-US" sz="1600" dirty="0"/>
          </a:p>
        </p:txBody>
      </p:sp>
    </p:spTree>
    <p:extLst>
      <p:ext uri="{BB962C8B-B14F-4D97-AF65-F5344CB8AC3E}">
        <p14:creationId xmlns:p14="http://schemas.microsoft.com/office/powerpoint/2010/main" val="3757093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78899-F233-3948-AC56-97AB0FC23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E6D0C-958C-78EE-5622-0239ABC327D8}"/>
              </a:ext>
            </a:extLst>
          </p:cNvPr>
          <p:cNvSpPr>
            <a:spLocks noGrp="1"/>
          </p:cNvSpPr>
          <p:nvPr>
            <p:ph type="title"/>
          </p:nvPr>
        </p:nvSpPr>
        <p:spPr>
          <a:xfrm>
            <a:off x="457200" y="277813"/>
            <a:ext cx="8229600" cy="712787"/>
          </a:xfrm>
        </p:spPr>
        <p:txBody>
          <a:bodyPr/>
          <a:lstStyle/>
          <a:p>
            <a:r>
              <a:rPr lang="en-US" sz="2800" dirty="0">
                <a:solidFill>
                  <a:srgbClr val="FFFF00"/>
                </a:solidFill>
              </a:rPr>
              <a:t>Locke and the International Jurists</a:t>
            </a:r>
            <a:br>
              <a:rPr lang="en-US" sz="2800" dirty="0">
                <a:solidFill>
                  <a:srgbClr val="FFFF00"/>
                </a:solidFill>
              </a:rPr>
            </a:br>
            <a:r>
              <a:rPr lang="en-US" sz="2800" dirty="0">
                <a:solidFill>
                  <a:srgbClr val="FFFF00"/>
                </a:solidFill>
              </a:rPr>
              <a:t>(Grotius, Pufendorf)</a:t>
            </a:r>
          </a:p>
        </p:txBody>
      </p:sp>
      <p:sp>
        <p:nvSpPr>
          <p:cNvPr id="3" name="Content Placeholder 2">
            <a:extLst>
              <a:ext uri="{FF2B5EF4-FFF2-40B4-BE49-F238E27FC236}">
                <a16:creationId xmlns:a16="http://schemas.microsoft.com/office/drawing/2014/main" id="{9B652564-385B-FBE7-4E56-910BE7B519A6}"/>
              </a:ext>
            </a:extLst>
          </p:cNvPr>
          <p:cNvSpPr>
            <a:spLocks noGrp="1"/>
          </p:cNvSpPr>
          <p:nvPr>
            <p:ph idx="1"/>
          </p:nvPr>
        </p:nvSpPr>
        <p:spPr>
          <a:xfrm>
            <a:off x="457200" y="1295400"/>
            <a:ext cx="8229600" cy="4530725"/>
          </a:xfrm>
        </p:spPr>
        <p:txBody>
          <a:bodyPr/>
          <a:lstStyle/>
          <a:p>
            <a:r>
              <a:rPr lang="en-US" sz="1600" u="sng" dirty="0"/>
              <a:t>Agreement: States are in a State of Nature</a:t>
            </a:r>
            <a:r>
              <a:rPr lang="en-US" sz="1600" dirty="0"/>
              <a:t>: Locke adopted the core framework of jurists like Grotius, agreeing that sovereign nations exist in an anarchic state of nature relative to one another.</a:t>
            </a:r>
          </a:p>
          <a:p>
            <a:endParaRPr lang="en-US" sz="1600" dirty="0"/>
          </a:p>
          <a:p>
            <a:r>
              <a:rPr lang="en-US" sz="1600" u="sng" dirty="0"/>
              <a:t>Agreement: Natural Law Governs All</a:t>
            </a:r>
            <a:r>
              <a:rPr lang="en-US" sz="1600" dirty="0"/>
              <a:t>: He strongly concurred that this state of nature was not a lawless void, but was governed by a universal Law of Nature that applied to states as well as individuals.</a:t>
            </a:r>
          </a:p>
          <a:p>
            <a:pPr marL="0" indent="0">
              <a:buNone/>
            </a:pPr>
            <a:endParaRPr lang="en-US" sz="1600" dirty="0"/>
          </a:p>
        </p:txBody>
      </p:sp>
    </p:spTree>
    <p:extLst>
      <p:ext uri="{BB962C8B-B14F-4D97-AF65-F5344CB8AC3E}">
        <p14:creationId xmlns:p14="http://schemas.microsoft.com/office/powerpoint/2010/main" val="3600219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A1CEA-F402-1415-8415-02A015DEDA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D12121-67D1-3170-127A-1BEAD3668F65}"/>
              </a:ext>
            </a:extLst>
          </p:cNvPr>
          <p:cNvSpPr>
            <a:spLocks noGrp="1"/>
          </p:cNvSpPr>
          <p:nvPr>
            <p:ph type="title"/>
          </p:nvPr>
        </p:nvSpPr>
        <p:spPr>
          <a:xfrm>
            <a:off x="457200" y="277813"/>
            <a:ext cx="8229600" cy="712787"/>
          </a:xfrm>
        </p:spPr>
        <p:txBody>
          <a:bodyPr/>
          <a:lstStyle/>
          <a:p>
            <a:r>
              <a:rPr lang="en-US" sz="2800" dirty="0">
                <a:solidFill>
                  <a:srgbClr val="FFFF00"/>
                </a:solidFill>
              </a:rPr>
              <a:t>Locke and the International Jurists</a:t>
            </a:r>
            <a:br>
              <a:rPr lang="en-US" sz="2800" dirty="0">
                <a:solidFill>
                  <a:srgbClr val="FFFF00"/>
                </a:solidFill>
              </a:rPr>
            </a:br>
            <a:r>
              <a:rPr lang="en-US" sz="2800" dirty="0">
                <a:solidFill>
                  <a:srgbClr val="FFFF00"/>
                </a:solidFill>
              </a:rPr>
              <a:t>(Grotius, Pufendorf)</a:t>
            </a:r>
          </a:p>
        </p:txBody>
      </p:sp>
      <p:sp>
        <p:nvSpPr>
          <p:cNvPr id="3" name="Content Placeholder 2">
            <a:extLst>
              <a:ext uri="{FF2B5EF4-FFF2-40B4-BE49-F238E27FC236}">
                <a16:creationId xmlns:a16="http://schemas.microsoft.com/office/drawing/2014/main" id="{F0745081-7BDC-678F-0D7B-646913D5215E}"/>
              </a:ext>
            </a:extLst>
          </p:cNvPr>
          <p:cNvSpPr>
            <a:spLocks noGrp="1"/>
          </p:cNvSpPr>
          <p:nvPr>
            <p:ph idx="1"/>
          </p:nvPr>
        </p:nvSpPr>
        <p:spPr>
          <a:xfrm>
            <a:off x="457200" y="1295400"/>
            <a:ext cx="8229600" cy="4530725"/>
          </a:xfrm>
        </p:spPr>
        <p:txBody>
          <a:bodyPr/>
          <a:lstStyle/>
          <a:p>
            <a:r>
              <a:rPr lang="en-US" sz="1600" u="sng" dirty="0"/>
              <a:t>Agreement: States are in a State of Nature</a:t>
            </a:r>
            <a:r>
              <a:rPr lang="en-US" sz="1600" dirty="0"/>
              <a:t>: Locke adopted the core framework of jurists like Grotius, agreeing that sovereign nations exist in an anarchic state of nature relative to one another.</a:t>
            </a:r>
          </a:p>
          <a:p>
            <a:endParaRPr lang="en-US" sz="1600" dirty="0"/>
          </a:p>
          <a:p>
            <a:r>
              <a:rPr lang="en-US" sz="1600" u="sng" dirty="0"/>
              <a:t>Agreement: Natural Law Governs All</a:t>
            </a:r>
            <a:r>
              <a:rPr lang="en-US" sz="1600" dirty="0"/>
              <a:t>: He strongly concurred that this state of nature was not a lawless void, but was governed by a universal Law of Nature that applied to states as well as individuals.</a:t>
            </a:r>
          </a:p>
          <a:p>
            <a:endParaRPr lang="en-US" sz="1600" dirty="0"/>
          </a:p>
          <a:p>
            <a:r>
              <a:rPr lang="en-US" sz="1600" u="sng" dirty="0"/>
              <a:t>Refinement: From States to Individuals</a:t>
            </a:r>
            <a:r>
              <a:rPr lang="en-US" sz="1600" dirty="0"/>
              <a:t>: Locke's key innovation was applying the "state of nature" concept, which jurists used for states, rigorously to individuals to build his theory of government from the ground up.</a:t>
            </a:r>
          </a:p>
          <a:p>
            <a:pPr marL="0" indent="0">
              <a:buNone/>
            </a:pPr>
            <a:endParaRPr lang="en-US" sz="1600" dirty="0"/>
          </a:p>
        </p:txBody>
      </p:sp>
    </p:spTree>
    <p:extLst>
      <p:ext uri="{BB962C8B-B14F-4D97-AF65-F5344CB8AC3E}">
        <p14:creationId xmlns:p14="http://schemas.microsoft.com/office/powerpoint/2010/main" val="1165357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48198-FE22-7AA2-A3ED-2DA576BD1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B55205-0646-7CBC-0E35-5563EBC4737F}"/>
              </a:ext>
            </a:extLst>
          </p:cNvPr>
          <p:cNvSpPr>
            <a:spLocks noGrp="1"/>
          </p:cNvSpPr>
          <p:nvPr>
            <p:ph type="title"/>
          </p:nvPr>
        </p:nvSpPr>
        <p:spPr>
          <a:xfrm>
            <a:off x="457200" y="277813"/>
            <a:ext cx="8229600" cy="712787"/>
          </a:xfrm>
        </p:spPr>
        <p:txBody>
          <a:bodyPr/>
          <a:lstStyle/>
          <a:p>
            <a:r>
              <a:rPr lang="en-US" sz="2800" dirty="0">
                <a:solidFill>
                  <a:srgbClr val="FFFF00"/>
                </a:solidFill>
              </a:rPr>
              <a:t>Locke and the International Jurists</a:t>
            </a:r>
            <a:br>
              <a:rPr lang="en-US" sz="2800" dirty="0">
                <a:solidFill>
                  <a:srgbClr val="FFFF00"/>
                </a:solidFill>
              </a:rPr>
            </a:br>
            <a:r>
              <a:rPr lang="en-US" sz="2800" dirty="0">
                <a:solidFill>
                  <a:srgbClr val="FFFF00"/>
                </a:solidFill>
              </a:rPr>
              <a:t>(Grotius, Pufendorf)</a:t>
            </a:r>
          </a:p>
        </p:txBody>
      </p:sp>
      <p:sp>
        <p:nvSpPr>
          <p:cNvPr id="3" name="Content Placeholder 2">
            <a:extLst>
              <a:ext uri="{FF2B5EF4-FFF2-40B4-BE49-F238E27FC236}">
                <a16:creationId xmlns:a16="http://schemas.microsoft.com/office/drawing/2014/main" id="{33AC0159-7954-01CA-ECA6-08E46B0168D5}"/>
              </a:ext>
            </a:extLst>
          </p:cNvPr>
          <p:cNvSpPr>
            <a:spLocks noGrp="1"/>
          </p:cNvSpPr>
          <p:nvPr>
            <p:ph idx="1"/>
          </p:nvPr>
        </p:nvSpPr>
        <p:spPr>
          <a:xfrm>
            <a:off x="457200" y="1295400"/>
            <a:ext cx="8229600" cy="4530725"/>
          </a:xfrm>
        </p:spPr>
        <p:txBody>
          <a:bodyPr/>
          <a:lstStyle/>
          <a:p>
            <a:r>
              <a:rPr lang="en-US" sz="1600" u="sng" dirty="0"/>
              <a:t>Agreement: States are in a State of Nature</a:t>
            </a:r>
            <a:r>
              <a:rPr lang="en-US" sz="1600" dirty="0"/>
              <a:t>: Locke adopted the core framework of jurists like Grotius, agreeing that sovereign nations exist in an anarchic state of nature relative to one another.</a:t>
            </a:r>
          </a:p>
          <a:p>
            <a:endParaRPr lang="en-US" sz="1600" dirty="0"/>
          </a:p>
          <a:p>
            <a:r>
              <a:rPr lang="en-US" sz="1600" u="sng" dirty="0"/>
              <a:t>Agreement: Natural Law Governs All</a:t>
            </a:r>
            <a:r>
              <a:rPr lang="en-US" sz="1600" dirty="0"/>
              <a:t>: He strongly concurred that this state of nature was not a lawless void, but was governed by a universal Law of Nature that applied to states as well as individuals.</a:t>
            </a:r>
          </a:p>
          <a:p>
            <a:endParaRPr lang="en-US" sz="1600" dirty="0"/>
          </a:p>
          <a:p>
            <a:r>
              <a:rPr lang="en-US" sz="1600" u="sng" dirty="0"/>
              <a:t>Refinement: From States to Individuals</a:t>
            </a:r>
            <a:r>
              <a:rPr lang="en-US" sz="1600" dirty="0"/>
              <a:t>: Locke's key innovation was applying the "state of nature" concept, which jurists used for states, rigorously to individuals to build his theory of government from the ground up.</a:t>
            </a:r>
          </a:p>
          <a:p>
            <a:endParaRPr lang="en-US" sz="1600" dirty="0"/>
          </a:p>
          <a:p>
            <a:r>
              <a:rPr lang="en-US" sz="1600" u="sng" dirty="0"/>
              <a:t>Implicit Disagreement: The Purpose of the Law</a:t>
            </a:r>
            <a:r>
              <a:rPr lang="en-US" sz="1600" dirty="0"/>
              <a:t>: The jurists focused on creating a legal code to manage and regulate conflict. Locke's focus was on explaining why the state of nature itself is flawed and must be transcended (at least for individuals) through a social contract.</a:t>
            </a:r>
          </a:p>
          <a:p>
            <a:pPr marL="0" indent="0">
              <a:buNone/>
            </a:pPr>
            <a:endParaRPr lang="en-US" sz="1600" dirty="0"/>
          </a:p>
        </p:txBody>
      </p:sp>
    </p:spTree>
    <p:extLst>
      <p:ext uri="{BB962C8B-B14F-4D97-AF65-F5344CB8AC3E}">
        <p14:creationId xmlns:p14="http://schemas.microsoft.com/office/powerpoint/2010/main" val="42031893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7A9B0-A4A8-EAC5-2FE0-4D357DE69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5EA8A-973D-B9FC-2A47-AE4D49951D08}"/>
              </a:ext>
            </a:extLst>
          </p:cNvPr>
          <p:cNvSpPr>
            <a:spLocks noGrp="1"/>
          </p:cNvSpPr>
          <p:nvPr>
            <p:ph type="title"/>
          </p:nvPr>
        </p:nvSpPr>
        <p:spPr>
          <a:xfrm>
            <a:off x="457200" y="277813"/>
            <a:ext cx="8229600" cy="712787"/>
          </a:xfrm>
        </p:spPr>
        <p:txBody>
          <a:bodyPr/>
          <a:lstStyle/>
          <a:p>
            <a:r>
              <a:rPr lang="en-US" sz="2800" dirty="0">
                <a:solidFill>
                  <a:srgbClr val="FFFF00"/>
                </a:solidFill>
              </a:rPr>
              <a:t>Locke and the International Jurists</a:t>
            </a:r>
            <a:br>
              <a:rPr lang="en-US" sz="2800" dirty="0">
                <a:solidFill>
                  <a:srgbClr val="FFFF00"/>
                </a:solidFill>
              </a:rPr>
            </a:br>
            <a:r>
              <a:rPr lang="en-US" sz="2800" dirty="0">
                <a:solidFill>
                  <a:srgbClr val="FFFF00"/>
                </a:solidFill>
              </a:rPr>
              <a:t>(Grotius, Pufendorf)</a:t>
            </a:r>
          </a:p>
        </p:txBody>
      </p:sp>
      <p:sp>
        <p:nvSpPr>
          <p:cNvPr id="3" name="Content Placeholder 2">
            <a:extLst>
              <a:ext uri="{FF2B5EF4-FFF2-40B4-BE49-F238E27FC236}">
                <a16:creationId xmlns:a16="http://schemas.microsoft.com/office/drawing/2014/main" id="{FC214D18-7565-D443-20BE-79FF9C2CD7F3}"/>
              </a:ext>
            </a:extLst>
          </p:cNvPr>
          <p:cNvSpPr>
            <a:spLocks noGrp="1"/>
          </p:cNvSpPr>
          <p:nvPr>
            <p:ph idx="1"/>
          </p:nvPr>
        </p:nvSpPr>
        <p:spPr>
          <a:xfrm>
            <a:off x="457200" y="1295400"/>
            <a:ext cx="8229600" cy="4530725"/>
          </a:xfrm>
        </p:spPr>
        <p:txBody>
          <a:bodyPr/>
          <a:lstStyle/>
          <a:p>
            <a:r>
              <a:rPr lang="en-US" sz="1600" u="sng" dirty="0"/>
              <a:t>Agreement: States are in a State of Nature</a:t>
            </a:r>
            <a:r>
              <a:rPr lang="en-US" sz="1600" dirty="0"/>
              <a:t>: Locke adopted the core framework of jurists like Grotius, agreeing that sovereign nations exist in an anarchic state of nature relative to one another.</a:t>
            </a:r>
          </a:p>
          <a:p>
            <a:endParaRPr lang="en-US" sz="1600" dirty="0"/>
          </a:p>
          <a:p>
            <a:r>
              <a:rPr lang="en-US" sz="1600" u="sng" dirty="0"/>
              <a:t>Agreement: Natural Law Governs All</a:t>
            </a:r>
            <a:r>
              <a:rPr lang="en-US" sz="1600" dirty="0"/>
              <a:t>: He strongly concurred that this state of nature was not a lawless void, but was governed by a universal Law of Nature that applied to states as well as individuals.</a:t>
            </a:r>
          </a:p>
          <a:p>
            <a:endParaRPr lang="en-US" sz="1600" dirty="0"/>
          </a:p>
          <a:p>
            <a:r>
              <a:rPr lang="en-US" sz="1600" u="sng" dirty="0"/>
              <a:t>Refinement: From States to Individuals</a:t>
            </a:r>
            <a:r>
              <a:rPr lang="en-US" sz="1600" dirty="0"/>
              <a:t>: Locke's key innovation was applying the "state of nature" concept, which jurists used for states, rigorously to individuals to build his theory of government from the ground up.</a:t>
            </a:r>
          </a:p>
          <a:p>
            <a:endParaRPr lang="en-US" sz="1600" dirty="0"/>
          </a:p>
          <a:p>
            <a:r>
              <a:rPr lang="en-US" sz="1600" u="sng" dirty="0"/>
              <a:t>Implicit Disagreement: The Purpose of the Law</a:t>
            </a:r>
            <a:r>
              <a:rPr lang="en-US" sz="1600" dirty="0"/>
              <a:t>: The jurists focused on creating a legal code to manage and regulate conflict. Locke's focus was on explaining why the state of nature itself is flawed and must be transcended (at least for individuals) through a social contract.</a:t>
            </a:r>
          </a:p>
          <a:p>
            <a:endParaRPr lang="en-US" sz="1600" dirty="0"/>
          </a:p>
          <a:p>
            <a:r>
              <a:rPr lang="en-US" sz="1600" u="sng" dirty="0"/>
              <a:t>Influence on the Next Generation</a:t>
            </a:r>
            <a:r>
              <a:rPr lang="en-US" sz="1600" dirty="0"/>
              <a:t>: While not disagreeing directly, Locke's rights-based philosophy profoundly shaped later jurists like Vattel, shifting the focus towards state sovereignty and equality.</a:t>
            </a:r>
          </a:p>
          <a:p>
            <a:pPr marL="0" indent="0">
              <a:buNone/>
            </a:pPr>
            <a:endParaRPr lang="en-US" sz="1600" dirty="0"/>
          </a:p>
        </p:txBody>
      </p:sp>
    </p:spTree>
    <p:extLst>
      <p:ext uri="{BB962C8B-B14F-4D97-AF65-F5344CB8AC3E}">
        <p14:creationId xmlns:p14="http://schemas.microsoft.com/office/powerpoint/2010/main" val="23517036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5AFCD-A24F-9221-1549-0CD393AAD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47FE18-DC46-29D5-AA85-421020B74A8D}"/>
              </a:ext>
            </a:extLst>
          </p:cNvPr>
          <p:cNvSpPr>
            <a:spLocks noGrp="1"/>
          </p:cNvSpPr>
          <p:nvPr>
            <p:ph type="title"/>
          </p:nvPr>
        </p:nvSpPr>
        <p:spPr>
          <a:xfrm>
            <a:off x="457200" y="277813"/>
            <a:ext cx="8229600" cy="712787"/>
          </a:xfrm>
        </p:spPr>
        <p:txBody>
          <a:bodyPr/>
          <a:lstStyle/>
          <a:p>
            <a:r>
              <a:rPr lang="en-US" sz="2800" dirty="0">
                <a:solidFill>
                  <a:srgbClr val="FFFF00"/>
                </a:solidFill>
              </a:rPr>
              <a:t>Kant’s Key Contributions to the Study of IR</a:t>
            </a:r>
          </a:p>
        </p:txBody>
      </p:sp>
      <p:sp>
        <p:nvSpPr>
          <p:cNvPr id="3" name="Content Placeholder 2">
            <a:extLst>
              <a:ext uri="{FF2B5EF4-FFF2-40B4-BE49-F238E27FC236}">
                <a16:creationId xmlns:a16="http://schemas.microsoft.com/office/drawing/2014/main" id="{9F008DE3-8FDA-F294-C4EB-36CC9169ADF8}"/>
              </a:ext>
            </a:extLst>
          </p:cNvPr>
          <p:cNvSpPr>
            <a:spLocks noGrp="1"/>
          </p:cNvSpPr>
          <p:nvPr>
            <p:ph idx="1"/>
          </p:nvPr>
        </p:nvSpPr>
        <p:spPr>
          <a:xfrm>
            <a:off x="457200" y="1295400"/>
            <a:ext cx="8229600" cy="4530725"/>
          </a:xfrm>
        </p:spPr>
        <p:txBody>
          <a:bodyPr/>
          <a:lstStyle/>
          <a:p>
            <a:pPr marL="0" indent="0">
              <a:buNone/>
            </a:pPr>
            <a:endParaRPr lang="en-US" sz="1600" dirty="0"/>
          </a:p>
        </p:txBody>
      </p:sp>
    </p:spTree>
    <p:extLst>
      <p:ext uri="{BB962C8B-B14F-4D97-AF65-F5344CB8AC3E}">
        <p14:creationId xmlns:p14="http://schemas.microsoft.com/office/powerpoint/2010/main" val="1265183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4F53F-3CD3-FEF0-CA1B-F20531D55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D008B7-B359-3E04-4C33-D6272D484554}"/>
              </a:ext>
            </a:extLst>
          </p:cNvPr>
          <p:cNvSpPr>
            <a:spLocks noGrp="1"/>
          </p:cNvSpPr>
          <p:nvPr>
            <p:ph type="title"/>
          </p:nvPr>
        </p:nvSpPr>
        <p:spPr>
          <a:xfrm>
            <a:off x="457200" y="277813"/>
            <a:ext cx="8229600" cy="712787"/>
          </a:xfrm>
        </p:spPr>
        <p:txBody>
          <a:bodyPr/>
          <a:lstStyle/>
          <a:p>
            <a:r>
              <a:rPr lang="en-US" sz="2800" dirty="0">
                <a:solidFill>
                  <a:srgbClr val="FFFF00"/>
                </a:solidFill>
              </a:rPr>
              <a:t>Kant’s Key Contributions to the Study of IR</a:t>
            </a:r>
          </a:p>
        </p:txBody>
      </p:sp>
      <p:sp>
        <p:nvSpPr>
          <p:cNvPr id="3" name="Content Placeholder 2">
            <a:extLst>
              <a:ext uri="{FF2B5EF4-FFF2-40B4-BE49-F238E27FC236}">
                <a16:creationId xmlns:a16="http://schemas.microsoft.com/office/drawing/2014/main" id="{00D99BEB-3B21-5368-3822-E7779E90D0B5}"/>
              </a:ext>
            </a:extLst>
          </p:cNvPr>
          <p:cNvSpPr>
            <a:spLocks noGrp="1"/>
          </p:cNvSpPr>
          <p:nvPr>
            <p:ph idx="1"/>
          </p:nvPr>
        </p:nvSpPr>
        <p:spPr>
          <a:xfrm>
            <a:off x="457200" y="1295400"/>
            <a:ext cx="8229600" cy="4530725"/>
          </a:xfrm>
        </p:spPr>
        <p:txBody>
          <a:bodyPr/>
          <a:lstStyle/>
          <a:p>
            <a:r>
              <a:rPr lang="en-US" sz="1600" u="sng" dirty="0"/>
              <a:t>Perpetual Peace as a Moral Duty</a:t>
            </a:r>
            <a:r>
              <a:rPr lang="en-US" sz="1600" dirty="0"/>
              <a:t>: Kant moved beyond merely managing conflict; he argued that humanity has a moral obligation to work towards the complete abolition of war and establish a "perpetual peace."</a:t>
            </a:r>
          </a:p>
          <a:p>
            <a:pPr marL="0" indent="0">
              <a:buNone/>
            </a:pPr>
            <a:endParaRPr lang="en-US" sz="1600" dirty="0"/>
          </a:p>
        </p:txBody>
      </p:sp>
    </p:spTree>
    <p:extLst>
      <p:ext uri="{BB962C8B-B14F-4D97-AF65-F5344CB8AC3E}">
        <p14:creationId xmlns:p14="http://schemas.microsoft.com/office/powerpoint/2010/main" val="2311232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FD4C5-C99E-C5C4-A375-580095D6C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9571BB-1A1B-D0B9-AEBA-0AC5DDCAE0E9}"/>
              </a:ext>
            </a:extLst>
          </p:cNvPr>
          <p:cNvSpPr>
            <a:spLocks noGrp="1"/>
          </p:cNvSpPr>
          <p:nvPr>
            <p:ph type="title"/>
          </p:nvPr>
        </p:nvSpPr>
        <p:spPr>
          <a:xfrm>
            <a:off x="457200" y="277813"/>
            <a:ext cx="8229600" cy="712787"/>
          </a:xfrm>
        </p:spPr>
        <p:txBody>
          <a:bodyPr/>
          <a:lstStyle/>
          <a:p>
            <a:r>
              <a:rPr lang="en-US" sz="2800" dirty="0">
                <a:solidFill>
                  <a:srgbClr val="FFFF00"/>
                </a:solidFill>
              </a:rPr>
              <a:t>Kant’s Key Contributions to the Study of IR</a:t>
            </a:r>
          </a:p>
        </p:txBody>
      </p:sp>
      <p:sp>
        <p:nvSpPr>
          <p:cNvPr id="3" name="Content Placeholder 2">
            <a:extLst>
              <a:ext uri="{FF2B5EF4-FFF2-40B4-BE49-F238E27FC236}">
                <a16:creationId xmlns:a16="http://schemas.microsoft.com/office/drawing/2014/main" id="{CB318528-C5AA-3F3C-741D-4AF6830A7334}"/>
              </a:ext>
            </a:extLst>
          </p:cNvPr>
          <p:cNvSpPr>
            <a:spLocks noGrp="1"/>
          </p:cNvSpPr>
          <p:nvPr>
            <p:ph idx="1"/>
          </p:nvPr>
        </p:nvSpPr>
        <p:spPr>
          <a:xfrm>
            <a:off x="457200" y="1295400"/>
            <a:ext cx="8229600" cy="4530725"/>
          </a:xfrm>
        </p:spPr>
        <p:txBody>
          <a:bodyPr/>
          <a:lstStyle/>
          <a:p>
            <a:r>
              <a:rPr lang="en-US" sz="1600" u="sng" dirty="0"/>
              <a:t>Perpetual Peace as a Moral Duty</a:t>
            </a:r>
            <a:r>
              <a:rPr lang="en-US" sz="1600" dirty="0"/>
              <a:t>: Kant moved beyond merely managing conflict; he argued that humanity has a moral obligation to work towards the complete abolition of war and establish a "perpetual peace."</a:t>
            </a:r>
          </a:p>
          <a:p>
            <a:endParaRPr lang="en-US" sz="1600" dirty="0"/>
          </a:p>
          <a:p>
            <a:r>
              <a:rPr lang="en-US" sz="1600" u="sng" dirty="0"/>
              <a:t>The "Pacific Federation" of Republics</a:t>
            </a:r>
            <a:r>
              <a:rPr lang="en-US" sz="1600" dirty="0"/>
              <a:t>: He proposed a voluntary league of free, republican states that would agree to resolve disputes peacefully, rejecting the idea of a coercive world government.</a:t>
            </a:r>
          </a:p>
          <a:p>
            <a:pPr marL="0" indent="0">
              <a:buNone/>
            </a:pPr>
            <a:endParaRPr lang="en-US" sz="1600" dirty="0"/>
          </a:p>
        </p:txBody>
      </p:sp>
    </p:spTree>
    <p:extLst>
      <p:ext uri="{BB962C8B-B14F-4D97-AF65-F5344CB8AC3E}">
        <p14:creationId xmlns:p14="http://schemas.microsoft.com/office/powerpoint/2010/main" val="2324953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38D4A-506D-ADBC-1D01-84B217F90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972F01-9B0A-132B-AECD-49E9E18E3660}"/>
              </a:ext>
            </a:extLst>
          </p:cNvPr>
          <p:cNvSpPr>
            <a:spLocks noGrp="1"/>
          </p:cNvSpPr>
          <p:nvPr>
            <p:ph type="title"/>
          </p:nvPr>
        </p:nvSpPr>
        <p:spPr>
          <a:xfrm>
            <a:off x="457200" y="277813"/>
            <a:ext cx="8229600" cy="712787"/>
          </a:xfrm>
        </p:spPr>
        <p:txBody>
          <a:bodyPr/>
          <a:lstStyle/>
          <a:p>
            <a:r>
              <a:rPr lang="en-US" sz="2800" dirty="0">
                <a:solidFill>
                  <a:srgbClr val="FFFF00"/>
                </a:solidFill>
              </a:rPr>
              <a:t>Kant’s Key Contributions to the Study of IR</a:t>
            </a:r>
          </a:p>
        </p:txBody>
      </p:sp>
      <p:sp>
        <p:nvSpPr>
          <p:cNvPr id="3" name="Content Placeholder 2">
            <a:extLst>
              <a:ext uri="{FF2B5EF4-FFF2-40B4-BE49-F238E27FC236}">
                <a16:creationId xmlns:a16="http://schemas.microsoft.com/office/drawing/2014/main" id="{2E260566-F64F-DD23-A95E-810E122C889B}"/>
              </a:ext>
            </a:extLst>
          </p:cNvPr>
          <p:cNvSpPr>
            <a:spLocks noGrp="1"/>
          </p:cNvSpPr>
          <p:nvPr>
            <p:ph idx="1"/>
          </p:nvPr>
        </p:nvSpPr>
        <p:spPr>
          <a:xfrm>
            <a:off x="457200" y="1295400"/>
            <a:ext cx="8229600" cy="4530725"/>
          </a:xfrm>
        </p:spPr>
        <p:txBody>
          <a:bodyPr/>
          <a:lstStyle/>
          <a:p>
            <a:r>
              <a:rPr lang="en-US" sz="1600" u="sng" dirty="0"/>
              <a:t>Perpetual Peace as a Moral Duty</a:t>
            </a:r>
            <a:r>
              <a:rPr lang="en-US" sz="1600" dirty="0"/>
              <a:t>: Kant moved beyond merely managing conflict; he argued that humanity has a moral obligation to work towards the complete abolition of war and establish a "perpetual peace."</a:t>
            </a:r>
          </a:p>
          <a:p>
            <a:endParaRPr lang="en-US" sz="1600" dirty="0"/>
          </a:p>
          <a:p>
            <a:r>
              <a:rPr lang="en-US" sz="1600" u="sng" dirty="0"/>
              <a:t>The "Pacific Federation" of Republics</a:t>
            </a:r>
            <a:r>
              <a:rPr lang="en-US" sz="1600" dirty="0"/>
              <a:t>: He proposed a voluntary league of free, republican states that would agree to resolve disputes peacefully, rejecting the idea of a coercive world government.</a:t>
            </a:r>
          </a:p>
          <a:p>
            <a:endParaRPr lang="en-US" sz="1600" dirty="0"/>
          </a:p>
          <a:p>
            <a:r>
              <a:rPr lang="en-US" sz="1600" u="sng" dirty="0"/>
              <a:t>The Democratic Peace Theory</a:t>
            </a:r>
            <a:r>
              <a:rPr lang="en-US" sz="1600" dirty="0"/>
              <a:t>: Kant's core insight was that republican (democratic) states, where citizens who bear the costs of war consent to it, are inherently more peaceful, especially towards each other.</a:t>
            </a:r>
          </a:p>
          <a:p>
            <a:pPr marL="0" indent="0">
              <a:buNone/>
            </a:pPr>
            <a:endParaRPr lang="en-US" sz="1600" dirty="0"/>
          </a:p>
        </p:txBody>
      </p:sp>
    </p:spTree>
    <p:extLst>
      <p:ext uri="{BB962C8B-B14F-4D97-AF65-F5344CB8AC3E}">
        <p14:creationId xmlns:p14="http://schemas.microsoft.com/office/powerpoint/2010/main" val="25016063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2937B-BA0F-5B1E-0C14-0961ECFE2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A573E-B5DA-FCCD-FCD8-51FCD8AF1C0C}"/>
              </a:ext>
            </a:extLst>
          </p:cNvPr>
          <p:cNvSpPr>
            <a:spLocks noGrp="1"/>
          </p:cNvSpPr>
          <p:nvPr>
            <p:ph type="title"/>
          </p:nvPr>
        </p:nvSpPr>
        <p:spPr>
          <a:xfrm>
            <a:off x="457200" y="277813"/>
            <a:ext cx="8229600" cy="712787"/>
          </a:xfrm>
        </p:spPr>
        <p:txBody>
          <a:bodyPr/>
          <a:lstStyle/>
          <a:p>
            <a:r>
              <a:rPr lang="en-US" sz="2800" dirty="0">
                <a:solidFill>
                  <a:srgbClr val="FFFF00"/>
                </a:solidFill>
              </a:rPr>
              <a:t>Kant’s Key Contributions to the Study of IR</a:t>
            </a:r>
          </a:p>
        </p:txBody>
      </p:sp>
      <p:sp>
        <p:nvSpPr>
          <p:cNvPr id="3" name="Content Placeholder 2">
            <a:extLst>
              <a:ext uri="{FF2B5EF4-FFF2-40B4-BE49-F238E27FC236}">
                <a16:creationId xmlns:a16="http://schemas.microsoft.com/office/drawing/2014/main" id="{231E7B7A-174F-7670-9065-54B39450D844}"/>
              </a:ext>
            </a:extLst>
          </p:cNvPr>
          <p:cNvSpPr>
            <a:spLocks noGrp="1"/>
          </p:cNvSpPr>
          <p:nvPr>
            <p:ph idx="1"/>
          </p:nvPr>
        </p:nvSpPr>
        <p:spPr>
          <a:xfrm>
            <a:off x="457200" y="1295400"/>
            <a:ext cx="8229600" cy="4530725"/>
          </a:xfrm>
        </p:spPr>
        <p:txBody>
          <a:bodyPr/>
          <a:lstStyle/>
          <a:p>
            <a:r>
              <a:rPr lang="en-US" sz="1600" u="sng" dirty="0"/>
              <a:t>Perpetual Peace as a Moral Duty</a:t>
            </a:r>
            <a:r>
              <a:rPr lang="en-US" sz="1600" dirty="0"/>
              <a:t>: Kant moved beyond merely managing conflict; he argued that humanity has a moral obligation to work towards the complete abolition of war and establish a "perpetual peace."</a:t>
            </a:r>
          </a:p>
          <a:p>
            <a:endParaRPr lang="en-US" sz="1600" dirty="0"/>
          </a:p>
          <a:p>
            <a:r>
              <a:rPr lang="en-US" sz="1600" u="sng" dirty="0"/>
              <a:t>The "Pacific Federation" of Republics</a:t>
            </a:r>
            <a:r>
              <a:rPr lang="en-US" sz="1600" dirty="0"/>
              <a:t>: He proposed a voluntary league of free, republican states that would agree to resolve disputes peacefully, rejecting the idea of a coercive world government.</a:t>
            </a:r>
          </a:p>
          <a:p>
            <a:endParaRPr lang="en-US" sz="1600" dirty="0"/>
          </a:p>
          <a:p>
            <a:r>
              <a:rPr lang="en-US" sz="1600" u="sng" dirty="0"/>
              <a:t>The Democratic Peace Theory</a:t>
            </a:r>
            <a:r>
              <a:rPr lang="en-US" sz="1600" dirty="0"/>
              <a:t>: Kant's core insight was that republican (democratic) states, where citizens who bear the costs of war consent to it, are inherently more peaceful, especially towards each other.</a:t>
            </a:r>
          </a:p>
          <a:p>
            <a:endParaRPr lang="en-US" sz="1600" dirty="0"/>
          </a:p>
          <a:p>
            <a:r>
              <a:rPr lang="en-US" sz="1600" u="sng" dirty="0"/>
              <a:t>Critique of Jurists as "Miserable Comforters"</a:t>
            </a:r>
            <a:r>
              <a:rPr lang="en-US" sz="1600" dirty="0"/>
              <a:t>: He famously dismissed earlier jurists for merely codifying the rules of war, which legitimized it as a tool of statecraft, rather than seeking to eliminate it.</a:t>
            </a:r>
          </a:p>
        </p:txBody>
      </p:sp>
    </p:spTree>
    <p:extLst>
      <p:ext uri="{BB962C8B-B14F-4D97-AF65-F5344CB8AC3E}">
        <p14:creationId xmlns:p14="http://schemas.microsoft.com/office/powerpoint/2010/main" val="42195534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27C1C-5A12-B376-950A-6913D786F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0D156F-0653-695F-007B-69CA0E3ECE9D}"/>
              </a:ext>
            </a:extLst>
          </p:cNvPr>
          <p:cNvSpPr>
            <a:spLocks noGrp="1"/>
          </p:cNvSpPr>
          <p:nvPr>
            <p:ph type="title"/>
          </p:nvPr>
        </p:nvSpPr>
        <p:spPr>
          <a:xfrm>
            <a:off x="457200" y="277813"/>
            <a:ext cx="8229600" cy="712787"/>
          </a:xfrm>
        </p:spPr>
        <p:txBody>
          <a:bodyPr/>
          <a:lstStyle/>
          <a:p>
            <a:r>
              <a:rPr lang="en-US" sz="2800" dirty="0">
                <a:solidFill>
                  <a:srgbClr val="FFFF00"/>
                </a:solidFill>
              </a:rPr>
              <a:t>Kant’s Key Contributions to the Study of IR</a:t>
            </a:r>
          </a:p>
        </p:txBody>
      </p:sp>
      <p:sp>
        <p:nvSpPr>
          <p:cNvPr id="3" name="Content Placeholder 2">
            <a:extLst>
              <a:ext uri="{FF2B5EF4-FFF2-40B4-BE49-F238E27FC236}">
                <a16:creationId xmlns:a16="http://schemas.microsoft.com/office/drawing/2014/main" id="{D6F74A84-C7EC-CD43-570A-5C1E371D01BA}"/>
              </a:ext>
            </a:extLst>
          </p:cNvPr>
          <p:cNvSpPr>
            <a:spLocks noGrp="1"/>
          </p:cNvSpPr>
          <p:nvPr>
            <p:ph idx="1"/>
          </p:nvPr>
        </p:nvSpPr>
        <p:spPr>
          <a:xfrm>
            <a:off x="457200" y="1295400"/>
            <a:ext cx="8229600" cy="4530725"/>
          </a:xfrm>
        </p:spPr>
        <p:txBody>
          <a:bodyPr/>
          <a:lstStyle/>
          <a:p>
            <a:r>
              <a:rPr lang="en-US" sz="1600" u="sng" dirty="0"/>
              <a:t>Perpetual Peace as a Moral Duty</a:t>
            </a:r>
            <a:r>
              <a:rPr lang="en-US" sz="1600" dirty="0"/>
              <a:t>: Kant moved beyond merely managing conflict; he argued that humanity has a moral obligation to work towards the complete abolition of war and establish a "perpetual peace."</a:t>
            </a:r>
          </a:p>
          <a:p>
            <a:endParaRPr lang="en-US" sz="1600" dirty="0"/>
          </a:p>
          <a:p>
            <a:r>
              <a:rPr lang="en-US" sz="1600" u="sng" dirty="0"/>
              <a:t>The "Pacific Federation" of Republics</a:t>
            </a:r>
            <a:r>
              <a:rPr lang="en-US" sz="1600" dirty="0"/>
              <a:t>: He proposed a voluntary league of free, republican states that would agree to resolve disputes peacefully, rejecting the idea of a coercive world government.</a:t>
            </a:r>
          </a:p>
          <a:p>
            <a:endParaRPr lang="en-US" sz="1600" dirty="0"/>
          </a:p>
          <a:p>
            <a:r>
              <a:rPr lang="en-US" sz="1600" u="sng" dirty="0"/>
              <a:t>The Democratic Peace Theory</a:t>
            </a:r>
            <a:r>
              <a:rPr lang="en-US" sz="1600" dirty="0"/>
              <a:t>: Kant's core insight was that republican (democratic) states, where citizens who bear the costs of war consent to it, are inherently more peaceful, especially towards each other.</a:t>
            </a:r>
          </a:p>
          <a:p>
            <a:endParaRPr lang="en-US" sz="1600" dirty="0"/>
          </a:p>
          <a:p>
            <a:r>
              <a:rPr lang="en-US" sz="1600" u="sng" dirty="0"/>
              <a:t>Critique of Jurists as "Miserable Comforters"</a:t>
            </a:r>
            <a:r>
              <a:rPr lang="en-US" sz="1600" dirty="0"/>
              <a:t>: He famously dismissed earlier jurists for merely codifying the rules of war, which legitimized it as a tool of statecraft, rather than seeking to eliminate it.</a:t>
            </a:r>
          </a:p>
          <a:p>
            <a:endParaRPr lang="en-US" sz="1600" dirty="0"/>
          </a:p>
          <a:p>
            <a:r>
              <a:rPr lang="en-US" sz="1600" u="sng" dirty="0"/>
              <a:t>Cosmopolitan Law and Universal Hospitality</a:t>
            </a:r>
            <a:r>
              <a:rPr lang="en-US" sz="1600" dirty="0"/>
              <a:t>: Kant introduced the idea of a global law that protects individuals' right to travel and trade freely, fostering interdependence as another pillar of peace.</a:t>
            </a:r>
          </a:p>
        </p:txBody>
      </p:sp>
    </p:spTree>
    <p:extLst>
      <p:ext uri="{BB962C8B-B14F-4D97-AF65-F5344CB8AC3E}">
        <p14:creationId xmlns:p14="http://schemas.microsoft.com/office/powerpoint/2010/main" val="3449779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CD3B8-6276-4A60-F5C2-80B3F101E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32E29-3927-2C68-0DFD-18CBA51F03E2}"/>
              </a:ext>
            </a:extLst>
          </p:cNvPr>
          <p:cNvSpPr>
            <a:spLocks noGrp="1"/>
          </p:cNvSpPr>
          <p:nvPr>
            <p:ph type="title"/>
          </p:nvPr>
        </p:nvSpPr>
        <p:spPr>
          <a:xfrm>
            <a:off x="457200" y="277813"/>
            <a:ext cx="8229600" cy="712787"/>
          </a:xfrm>
        </p:spPr>
        <p:txBody>
          <a:bodyPr/>
          <a:lstStyle/>
          <a:p>
            <a:r>
              <a:rPr lang="en-US" sz="2800" dirty="0">
                <a:solidFill>
                  <a:srgbClr val="FFFF00"/>
                </a:solidFill>
              </a:rPr>
              <a:t>The Intellectual Path from Locke to Kant</a:t>
            </a:r>
          </a:p>
        </p:txBody>
      </p:sp>
      <p:sp>
        <p:nvSpPr>
          <p:cNvPr id="3" name="Content Placeholder 2">
            <a:extLst>
              <a:ext uri="{FF2B5EF4-FFF2-40B4-BE49-F238E27FC236}">
                <a16:creationId xmlns:a16="http://schemas.microsoft.com/office/drawing/2014/main" id="{D88D6E91-CEAD-5388-0AB5-3E48D4704078}"/>
              </a:ext>
            </a:extLst>
          </p:cNvPr>
          <p:cNvSpPr>
            <a:spLocks noGrp="1"/>
          </p:cNvSpPr>
          <p:nvPr>
            <p:ph idx="1"/>
          </p:nvPr>
        </p:nvSpPr>
        <p:spPr>
          <a:xfrm>
            <a:off x="457200" y="1295400"/>
            <a:ext cx="8229600" cy="4530725"/>
          </a:xfrm>
        </p:spPr>
        <p:txBody>
          <a:bodyPr/>
          <a:lstStyle/>
          <a:p>
            <a:pPr marL="0" indent="0">
              <a:buNone/>
            </a:pPr>
            <a:endParaRPr lang="en-US" sz="1600" dirty="0"/>
          </a:p>
        </p:txBody>
      </p:sp>
    </p:spTree>
    <p:extLst>
      <p:ext uri="{BB962C8B-B14F-4D97-AF65-F5344CB8AC3E}">
        <p14:creationId xmlns:p14="http://schemas.microsoft.com/office/powerpoint/2010/main" val="25834087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4CCBC-0E50-5953-B54E-5AC056965A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BA7CF2-D57C-1723-CBA5-5C597C5A4CF4}"/>
              </a:ext>
            </a:extLst>
          </p:cNvPr>
          <p:cNvSpPr>
            <a:spLocks noGrp="1"/>
          </p:cNvSpPr>
          <p:nvPr>
            <p:ph type="title"/>
          </p:nvPr>
        </p:nvSpPr>
        <p:spPr>
          <a:xfrm>
            <a:off x="457200" y="277813"/>
            <a:ext cx="8229600" cy="712787"/>
          </a:xfrm>
        </p:spPr>
        <p:txBody>
          <a:bodyPr/>
          <a:lstStyle/>
          <a:p>
            <a:r>
              <a:rPr lang="en-US" sz="2800" dirty="0">
                <a:solidFill>
                  <a:srgbClr val="FFFF00"/>
                </a:solidFill>
              </a:rPr>
              <a:t>The Intellectual Path from Locke to Kant</a:t>
            </a:r>
          </a:p>
        </p:txBody>
      </p:sp>
      <p:sp>
        <p:nvSpPr>
          <p:cNvPr id="3" name="Content Placeholder 2">
            <a:extLst>
              <a:ext uri="{FF2B5EF4-FFF2-40B4-BE49-F238E27FC236}">
                <a16:creationId xmlns:a16="http://schemas.microsoft.com/office/drawing/2014/main" id="{9EE1E5E4-EFC1-129C-02A9-5F931BDF7E80}"/>
              </a:ext>
            </a:extLst>
          </p:cNvPr>
          <p:cNvSpPr>
            <a:spLocks noGrp="1"/>
          </p:cNvSpPr>
          <p:nvPr>
            <p:ph idx="1"/>
          </p:nvPr>
        </p:nvSpPr>
        <p:spPr>
          <a:xfrm>
            <a:off x="457200" y="1295400"/>
            <a:ext cx="8229600" cy="4530725"/>
          </a:xfrm>
        </p:spPr>
        <p:txBody>
          <a:bodyPr/>
          <a:lstStyle/>
          <a:p>
            <a:r>
              <a:rPr lang="en-US" sz="1600" u="sng" dirty="0"/>
              <a:t>Locke's Problem: Anarchy's "Inconvenience"</a:t>
            </a:r>
            <a:r>
              <a:rPr lang="en-US" sz="1600" dirty="0"/>
              <a:t>: Locke identified the core issue: the lack of an impartial judge in the international state of nature makes peace fragile, even with a governing moral law.</a:t>
            </a:r>
          </a:p>
          <a:p>
            <a:pPr marL="0" indent="0">
              <a:buNone/>
            </a:pPr>
            <a:endParaRPr lang="en-US" sz="1600" dirty="0"/>
          </a:p>
        </p:txBody>
      </p:sp>
    </p:spTree>
    <p:extLst>
      <p:ext uri="{BB962C8B-B14F-4D97-AF65-F5344CB8AC3E}">
        <p14:creationId xmlns:p14="http://schemas.microsoft.com/office/powerpoint/2010/main" val="19990221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8543F-43E8-497C-18CF-A3EF09698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D2EA7-5AA7-75C8-87DA-0E676F562C69}"/>
              </a:ext>
            </a:extLst>
          </p:cNvPr>
          <p:cNvSpPr>
            <a:spLocks noGrp="1"/>
          </p:cNvSpPr>
          <p:nvPr>
            <p:ph type="title"/>
          </p:nvPr>
        </p:nvSpPr>
        <p:spPr>
          <a:xfrm>
            <a:off x="457200" y="277813"/>
            <a:ext cx="8229600" cy="712787"/>
          </a:xfrm>
        </p:spPr>
        <p:txBody>
          <a:bodyPr/>
          <a:lstStyle/>
          <a:p>
            <a:r>
              <a:rPr lang="en-US" sz="2800" dirty="0">
                <a:solidFill>
                  <a:srgbClr val="FFFF00"/>
                </a:solidFill>
              </a:rPr>
              <a:t>The Intellectual Path from Locke to Kant</a:t>
            </a:r>
          </a:p>
        </p:txBody>
      </p:sp>
      <p:sp>
        <p:nvSpPr>
          <p:cNvPr id="3" name="Content Placeholder 2">
            <a:extLst>
              <a:ext uri="{FF2B5EF4-FFF2-40B4-BE49-F238E27FC236}">
                <a16:creationId xmlns:a16="http://schemas.microsoft.com/office/drawing/2014/main" id="{92D3D392-0326-E2A2-3B16-A172F6D6280B}"/>
              </a:ext>
            </a:extLst>
          </p:cNvPr>
          <p:cNvSpPr>
            <a:spLocks noGrp="1"/>
          </p:cNvSpPr>
          <p:nvPr>
            <p:ph idx="1"/>
          </p:nvPr>
        </p:nvSpPr>
        <p:spPr>
          <a:xfrm>
            <a:off x="457200" y="1295400"/>
            <a:ext cx="8229600" cy="4530725"/>
          </a:xfrm>
        </p:spPr>
        <p:txBody>
          <a:bodyPr/>
          <a:lstStyle/>
          <a:p>
            <a:r>
              <a:rPr lang="en-US" sz="1600" u="sng" dirty="0"/>
              <a:t>Locke's Problem: Anarchy's "Inconvenience"</a:t>
            </a:r>
            <a:r>
              <a:rPr lang="en-US" sz="1600" dirty="0"/>
              <a:t>: Locke identified the core issue: the lack of an impartial judge in the international state of nature makes peace fragile, even with a governing moral law.</a:t>
            </a:r>
          </a:p>
          <a:p>
            <a:endParaRPr lang="en-US" sz="1600" dirty="0"/>
          </a:p>
          <a:p>
            <a:r>
              <a:rPr lang="en-US" sz="1600" u="sng" dirty="0"/>
              <a:t>Locke's Solution: Pragmatic &amp; Incomplete</a:t>
            </a:r>
            <a:r>
              <a:rPr lang="en-US" sz="1600" dirty="0"/>
              <a:t>: His answer for states was prudent self-interest through treaties and alliances (the "federative power"), but he offered no way for nations to truly exit the state of nature as individuals could.</a:t>
            </a:r>
          </a:p>
          <a:p>
            <a:pPr marL="0" indent="0">
              <a:buNone/>
            </a:pPr>
            <a:endParaRPr lang="en-US" sz="1600" dirty="0"/>
          </a:p>
        </p:txBody>
      </p:sp>
    </p:spTree>
    <p:extLst>
      <p:ext uri="{BB962C8B-B14F-4D97-AF65-F5344CB8AC3E}">
        <p14:creationId xmlns:p14="http://schemas.microsoft.com/office/powerpoint/2010/main" val="19918314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1B09C-6648-3C45-9E44-CFD35D90CE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C01B03-7EF9-2A53-FBF0-77E1BFE7A8F3}"/>
              </a:ext>
            </a:extLst>
          </p:cNvPr>
          <p:cNvSpPr>
            <a:spLocks noGrp="1"/>
          </p:cNvSpPr>
          <p:nvPr>
            <p:ph type="title"/>
          </p:nvPr>
        </p:nvSpPr>
        <p:spPr>
          <a:xfrm>
            <a:off x="457200" y="277813"/>
            <a:ext cx="8229600" cy="712787"/>
          </a:xfrm>
        </p:spPr>
        <p:txBody>
          <a:bodyPr/>
          <a:lstStyle/>
          <a:p>
            <a:r>
              <a:rPr lang="en-US" sz="2800" dirty="0">
                <a:solidFill>
                  <a:srgbClr val="FFFF00"/>
                </a:solidFill>
              </a:rPr>
              <a:t>The Intellectual Path from Locke to Kant</a:t>
            </a:r>
          </a:p>
        </p:txBody>
      </p:sp>
      <p:sp>
        <p:nvSpPr>
          <p:cNvPr id="3" name="Content Placeholder 2">
            <a:extLst>
              <a:ext uri="{FF2B5EF4-FFF2-40B4-BE49-F238E27FC236}">
                <a16:creationId xmlns:a16="http://schemas.microsoft.com/office/drawing/2014/main" id="{E7147F50-2403-9804-8ED2-B28F5F29CBE0}"/>
              </a:ext>
            </a:extLst>
          </p:cNvPr>
          <p:cNvSpPr>
            <a:spLocks noGrp="1"/>
          </p:cNvSpPr>
          <p:nvPr>
            <p:ph idx="1"/>
          </p:nvPr>
        </p:nvSpPr>
        <p:spPr>
          <a:xfrm>
            <a:off x="457200" y="1295400"/>
            <a:ext cx="8229600" cy="4530725"/>
          </a:xfrm>
        </p:spPr>
        <p:txBody>
          <a:bodyPr/>
          <a:lstStyle/>
          <a:p>
            <a:r>
              <a:rPr lang="en-US" sz="1600" u="sng" dirty="0"/>
              <a:t>Locke's Problem: Anarchy's "Inconvenience"</a:t>
            </a:r>
            <a:r>
              <a:rPr lang="en-US" sz="1600" dirty="0"/>
              <a:t>: Locke identified the core issue: the lack of an impartial judge in the international state of nature makes peace fragile, even with a governing moral law.</a:t>
            </a:r>
          </a:p>
          <a:p>
            <a:endParaRPr lang="en-US" sz="1600" dirty="0"/>
          </a:p>
          <a:p>
            <a:r>
              <a:rPr lang="en-US" sz="1600" u="sng" dirty="0"/>
              <a:t>Locke's Solution: Pragmatic &amp; Incomplete</a:t>
            </a:r>
            <a:r>
              <a:rPr lang="en-US" sz="1600" dirty="0"/>
              <a:t>: His answer for states was prudent self-interest through treaties and alliances (the "federative power"), but he offered no way for nations to truly exit the state of nature as individuals could.</a:t>
            </a:r>
          </a:p>
          <a:p>
            <a:endParaRPr lang="en-US" sz="1600" dirty="0"/>
          </a:p>
          <a:p>
            <a:r>
              <a:rPr lang="en-US" sz="1600" u="sng" dirty="0"/>
              <a:t>Kant Takes Up the Challenge</a:t>
            </a:r>
            <a:r>
              <a:rPr lang="en-US" sz="1600" dirty="0"/>
              <a:t>: Kant started with Locke's problem but found his pragmatic solution insufficient. He sought a systematic way for states to solve the "inconvenience" of anarchy permanently.</a:t>
            </a:r>
          </a:p>
        </p:txBody>
      </p:sp>
    </p:spTree>
    <p:extLst>
      <p:ext uri="{BB962C8B-B14F-4D97-AF65-F5344CB8AC3E}">
        <p14:creationId xmlns:p14="http://schemas.microsoft.com/office/powerpoint/2010/main" val="39281065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4FEFE-A359-A38E-91E5-FD5DEA4105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7A7B5-D1E6-3F70-E531-6A3C2FF22390}"/>
              </a:ext>
            </a:extLst>
          </p:cNvPr>
          <p:cNvSpPr>
            <a:spLocks noGrp="1"/>
          </p:cNvSpPr>
          <p:nvPr>
            <p:ph type="title"/>
          </p:nvPr>
        </p:nvSpPr>
        <p:spPr>
          <a:xfrm>
            <a:off x="457200" y="277813"/>
            <a:ext cx="8229600" cy="712787"/>
          </a:xfrm>
        </p:spPr>
        <p:txBody>
          <a:bodyPr/>
          <a:lstStyle/>
          <a:p>
            <a:r>
              <a:rPr lang="en-US" sz="2800" dirty="0">
                <a:solidFill>
                  <a:srgbClr val="FFFF00"/>
                </a:solidFill>
              </a:rPr>
              <a:t>The Intellectual Path from Locke to Kant</a:t>
            </a:r>
          </a:p>
        </p:txBody>
      </p:sp>
      <p:sp>
        <p:nvSpPr>
          <p:cNvPr id="3" name="Content Placeholder 2">
            <a:extLst>
              <a:ext uri="{FF2B5EF4-FFF2-40B4-BE49-F238E27FC236}">
                <a16:creationId xmlns:a16="http://schemas.microsoft.com/office/drawing/2014/main" id="{920CCDB4-22E0-D892-6FBE-B7C1E01E8612}"/>
              </a:ext>
            </a:extLst>
          </p:cNvPr>
          <p:cNvSpPr>
            <a:spLocks noGrp="1"/>
          </p:cNvSpPr>
          <p:nvPr>
            <p:ph idx="1"/>
          </p:nvPr>
        </p:nvSpPr>
        <p:spPr>
          <a:xfrm>
            <a:off x="457200" y="1295400"/>
            <a:ext cx="8229600" cy="4530725"/>
          </a:xfrm>
        </p:spPr>
        <p:txBody>
          <a:bodyPr/>
          <a:lstStyle/>
          <a:p>
            <a:r>
              <a:rPr lang="en-US" sz="1600" u="sng" dirty="0"/>
              <a:t>Locke's Problem: Anarchy's "Inconvenience"</a:t>
            </a:r>
            <a:r>
              <a:rPr lang="en-US" sz="1600" dirty="0"/>
              <a:t>: Locke identified the core issue: the lack of an impartial judge in the international state of nature makes peace fragile, even with a governing moral law.</a:t>
            </a:r>
          </a:p>
          <a:p>
            <a:endParaRPr lang="en-US" sz="1600" dirty="0"/>
          </a:p>
          <a:p>
            <a:r>
              <a:rPr lang="en-US" sz="1600" u="sng" dirty="0"/>
              <a:t>Locke's Solution: Pragmatic &amp; Incomplete</a:t>
            </a:r>
            <a:r>
              <a:rPr lang="en-US" sz="1600" dirty="0"/>
              <a:t>: His answer for states was prudent self-interest through treaties and alliances (the "federative power"), but he offered no way for nations to truly exit the state of nature as individuals could.</a:t>
            </a:r>
          </a:p>
          <a:p>
            <a:endParaRPr lang="en-US" sz="1600" dirty="0"/>
          </a:p>
          <a:p>
            <a:r>
              <a:rPr lang="en-US" sz="1600" u="sng" dirty="0"/>
              <a:t>Kant Takes Up the Challenge</a:t>
            </a:r>
            <a:r>
              <a:rPr lang="en-US" sz="1600" dirty="0"/>
              <a:t>: Kant started with Locke's problem but found his pragmatic solution insufficient. He sought a systematic way for states to solve the "inconvenience" of anarchy permanently.</a:t>
            </a:r>
          </a:p>
          <a:p>
            <a:endParaRPr lang="en-US" sz="1600" dirty="0"/>
          </a:p>
          <a:p>
            <a:r>
              <a:rPr lang="en-US" sz="1600" u="sng" dirty="0"/>
              <a:t>Kant's Solution: A Contract Between States</a:t>
            </a:r>
            <a:r>
              <a:rPr lang="en-US" sz="1600" dirty="0"/>
              <a:t>: Kant's "Pacific Federation" is essentially a social contract for nations, applying Locke's domestic solution to the international realm, where states voluntarily cede their right to wage war.</a:t>
            </a:r>
          </a:p>
        </p:txBody>
      </p:sp>
    </p:spTree>
    <p:extLst>
      <p:ext uri="{BB962C8B-B14F-4D97-AF65-F5344CB8AC3E}">
        <p14:creationId xmlns:p14="http://schemas.microsoft.com/office/powerpoint/2010/main" val="32059803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6AFBB-5CFB-1B0F-6189-02A91FEA9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86175-5DF7-D355-6B70-60FE838495E3}"/>
              </a:ext>
            </a:extLst>
          </p:cNvPr>
          <p:cNvSpPr>
            <a:spLocks noGrp="1"/>
          </p:cNvSpPr>
          <p:nvPr>
            <p:ph type="title"/>
          </p:nvPr>
        </p:nvSpPr>
        <p:spPr>
          <a:xfrm>
            <a:off x="457200" y="277813"/>
            <a:ext cx="8229600" cy="712787"/>
          </a:xfrm>
        </p:spPr>
        <p:txBody>
          <a:bodyPr/>
          <a:lstStyle/>
          <a:p>
            <a:r>
              <a:rPr lang="en-US" sz="2800" dirty="0">
                <a:solidFill>
                  <a:srgbClr val="FFFF00"/>
                </a:solidFill>
              </a:rPr>
              <a:t>The Intellectual Path from Locke to Kant</a:t>
            </a:r>
          </a:p>
        </p:txBody>
      </p:sp>
      <p:sp>
        <p:nvSpPr>
          <p:cNvPr id="3" name="Content Placeholder 2">
            <a:extLst>
              <a:ext uri="{FF2B5EF4-FFF2-40B4-BE49-F238E27FC236}">
                <a16:creationId xmlns:a16="http://schemas.microsoft.com/office/drawing/2014/main" id="{EA45CD03-4559-8269-F369-A3D567ADEA63}"/>
              </a:ext>
            </a:extLst>
          </p:cNvPr>
          <p:cNvSpPr>
            <a:spLocks noGrp="1"/>
          </p:cNvSpPr>
          <p:nvPr>
            <p:ph idx="1"/>
          </p:nvPr>
        </p:nvSpPr>
        <p:spPr>
          <a:xfrm>
            <a:off x="457200" y="1295400"/>
            <a:ext cx="8229600" cy="4530725"/>
          </a:xfrm>
        </p:spPr>
        <p:txBody>
          <a:bodyPr/>
          <a:lstStyle/>
          <a:p>
            <a:r>
              <a:rPr lang="en-US" sz="1600" u="sng" dirty="0"/>
              <a:t>Locke's Problem: Anarchy's "Inconvenience"</a:t>
            </a:r>
            <a:r>
              <a:rPr lang="en-US" sz="1600" dirty="0"/>
              <a:t>: Locke identified the core issue: the lack of an impartial judge in the international state of nature makes peace fragile, even with a governing moral law.</a:t>
            </a:r>
          </a:p>
          <a:p>
            <a:endParaRPr lang="en-US" sz="1600" dirty="0"/>
          </a:p>
          <a:p>
            <a:r>
              <a:rPr lang="en-US" sz="1600" u="sng" dirty="0"/>
              <a:t>Locke's Solution: Pragmatic &amp; Incomplete</a:t>
            </a:r>
            <a:r>
              <a:rPr lang="en-US" sz="1600" dirty="0"/>
              <a:t>: His answer for states was prudent self-interest through treaties and alliances (the "federative power"), but he offered no way for nations to truly exit the state of nature as individuals could.</a:t>
            </a:r>
          </a:p>
          <a:p>
            <a:endParaRPr lang="en-US" sz="1600" dirty="0"/>
          </a:p>
          <a:p>
            <a:r>
              <a:rPr lang="en-US" sz="1600" u="sng" dirty="0"/>
              <a:t>Kant Takes Up the Challenge</a:t>
            </a:r>
            <a:r>
              <a:rPr lang="en-US" sz="1600" dirty="0"/>
              <a:t>: Kant started with Locke's problem but found his pragmatic solution insufficient. He sought a systematic way for states to solve the "inconvenience" of anarchy permanently.</a:t>
            </a:r>
          </a:p>
          <a:p>
            <a:endParaRPr lang="en-US" sz="1600" dirty="0"/>
          </a:p>
          <a:p>
            <a:r>
              <a:rPr lang="en-US" sz="1600" u="sng" dirty="0"/>
              <a:t>Kant's Solution: A Contract Between States</a:t>
            </a:r>
            <a:r>
              <a:rPr lang="en-US" sz="1600" dirty="0"/>
              <a:t>: Kant's "Pacific Federation" is essentially a social contract for nations, applying Locke's domestic solution to the international realm, where states voluntarily cede their right to wage war.</a:t>
            </a:r>
          </a:p>
          <a:p>
            <a:endParaRPr lang="en-US" sz="1600" dirty="0"/>
          </a:p>
          <a:p>
            <a:r>
              <a:rPr lang="en-US" sz="1600" u="sng" dirty="0"/>
              <a:t>From Natural Law to Moral Imperative</a:t>
            </a:r>
            <a:r>
              <a:rPr lang="en-US" sz="1600" dirty="0"/>
              <a:t>: Kant transformed Locke's idea of a rational Law of Nature into an absolute moral duty. For Kant, achieving perpetual peace wasn't just a good idea; it was the ultimate goal of political reason.</a:t>
            </a:r>
          </a:p>
        </p:txBody>
      </p:sp>
    </p:spTree>
    <p:extLst>
      <p:ext uri="{BB962C8B-B14F-4D97-AF65-F5344CB8AC3E}">
        <p14:creationId xmlns:p14="http://schemas.microsoft.com/office/powerpoint/2010/main" val="15447527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A7C09-A4CF-7696-F381-45A3330B7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17A25-20D6-E9E0-C0F7-80490FEBC018}"/>
              </a:ext>
            </a:extLst>
          </p:cNvPr>
          <p:cNvSpPr>
            <a:spLocks noGrp="1"/>
          </p:cNvSpPr>
          <p:nvPr>
            <p:ph type="title"/>
          </p:nvPr>
        </p:nvSpPr>
        <p:spPr>
          <a:xfrm>
            <a:off x="457200" y="277813"/>
            <a:ext cx="8229600" cy="712787"/>
          </a:xfrm>
        </p:spPr>
        <p:txBody>
          <a:bodyPr/>
          <a:lstStyle/>
          <a:p>
            <a:r>
              <a:rPr lang="en-US" sz="2800" dirty="0">
                <a:solidFill>
                  <a:srgbClr val="FFFF00"/>
                </a:solidFill>
              </a:rPr>
              <a:t>The Contributions of Adam Smith and</a:t>
            </a:r>
            <a:br>
              <a:rPr lang="en-US" sz="2800" dirty="0">
                <a:solidFill>
                  <a:srgbClr val="FFFF00"/>
                </a:solidFill>
              </a:rPr>
            </a:br>
            <a:r>
              <a:rPr lang="en-US" sz="2800" dirty="0">
                <a:solidFill>
                  <a:srgbClr val="FFFF00"/>
                </a:solidFill>
              </a:rPr>
              <a:t>David Ricardo to Liberal IR Theory</a:t>
            </a:r>
          </a:p>
        </p:txBody>
      </p:sp>
      <p:sp>
        <p:nvSpPr>
          <p:cNvPr id="3" name="Content Placeholder 2">
            <a:extLst>
              <a:ext uri="{FF2B5EF4-FFF2-40B4-BE49-F238E27FC236}">
                <a16:creationId xmlns:a16="http://schemas.microsoft.com/office/drawing/2014/main" id="{25E766A4-7E4A-582F-00B0-EE3FDE956185}"/>
              </a:ext>
            </a:extLst>
          </p:cNvPr>
          <p:cNvSpPr>
            <a:spLocks noGrp="1"/>
          </p:cNvSpPr>
          <p:nvPr>
            <p:ph idx="1"/>
          </p:nvPr>
        </p:nvSpPr>
        <p:spPr>
          <a:xfrm>
            <a:off x="457200" y="1295400"/>
            <a:ext cx="8229600" cy="4530725"/>
          </a:xfrm>
        </p:spPr>
        <p:txBody>
          <a:bodyPr/>
          <a:lstStyle/>
          <a:p>
            <a:pPr marL="0" indent="0">
              <a:buNone/>
            </a:pPr>
            <a:endParaRPr lang="en-US" sz="1600" dirty="0"/>
          </a:p>
        </p:txBody>
      </p:sp>
    </p:spTree>
    <p:extLst>
      <p:ext uri="{BB962C8B-B14F-4D97-AF65-F5344CB8AC3E}">
        <p14:creationId xmlns:p14="http://schemas.microsoft.com/office/powerpoint/2010/main" val="24361173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3FE9B-78B4-361C-38B3-98B17C161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4B7B9-AAD5-C8AE-118D-7C79AAC21CDC}"/>
              </a:ext>
            </a:extLst>
          </p:cNvPr>
          <p:cNvSpPr>
            <a:spLocks noGrp="1"/>
          </p:cNvSpPr>
          <p:nvPr>
            <p:ph type="title"/>
          </p:nvPr>
        </p:nvSpPr>
        <p:spPr>
          <a:xfrm>
            <a:off x="457200" y="277813"/>
            <a:ext cx="8229600" cy="712787"/>
          </a:xfrm>
        </p:spPr>
        <p:txBody>
          <a:bodyPr/>
          <a:lstStyle/>
          <a:p>
            <a:r>
              <a:rPr lang="en-US" sz="2800" dirty="0">
                <a:solidFill>
                  <a:srgbClr val="FFFF00"/>
                </a:solidFill>
              </a:rPr>
              <a:t>The Contributions of Adam Smith and</a:t>
            </a:r>
            <a:br>
              <a:rPr lang="en-US" sz="2800" dirty="0">
                <a:solidFill>
                  <a:srgbClr val="FFFF00"/>
                </a:solidFill>
              </a:rPr>
            </a:br>
            <a:r>
              <a:rPr lang="en-US" sz="2800" dirty="0">
                <a:solidFill>
                  <a:srgbClr val="FFFF00"/>
                </a:solidFill>
              </a:rPr>
              <a:t>David Ricardo to Liberal IR Theory</a:t>
            </a:r>
          </a:p>
        </p:txBody>
      </p:sp>
      <p:sp>
        <p:nvSpPr>
          <p:cNvPr id="3" name="Content Placeholder 2">
            <a:extLst>
              <a:ext uri="{FF2B5EF4-FFF2-40B4-BE49-F238E27FC236}">
                <a16:creationId xmlns:a16="http://schemas.microsoft.com/office/drawing/2014/main" id="{FD9F2540-E18E-85C2-E334-6B8B67D36F7D}"/>
              </a:ext>
            </a:extLst>
          </p:cNvPr>
          <p:cNvSpPr>
            <a:spLocks noGrp="1"/>
          </p:cNvSpPr>
          <p:nvPr>
            <p:ph idx="1"/>
          </p:nvPr>
        </p:nvSpPr>
        <p:spPr>
          <a:xfrm>
            <a:off x="457200" y="1295400"/>
            <a:ext cx="8229600" cy="4530725"/>
          </a:xfrm>
        </p:spPr>
        <p:txBody>
          <a:bodyPr/>
          <a:lstStyle/>
          <a:p>
            <a:r>
              <a:rPr lang="en-US" sz="1600" u="sng" dirty="0"/>
              <a:t>The "Harmony of Interests" (Smith)</a:t>
            </a:r>
            <a:r>
              <a:rPr lang="en-US" sz="1600" dirty="0"/>
              <a:t>: Argued that, like the "invisible hand" in domestic markets, nations pursuing their economic self-interest through free trade inadvertently create a more peaceful and prosperous international order.</a:t>
            </a:r>
          </a:p>
          <a:p>
            <a:pPr marL="0" indent="0">
              <a:buNone/>
            </a:pPr>
            <a:endParaRPr lang="en-US" sz="1600" dirty="0"/>
          </a:p>
        </p:txBody>
      </p:sp>
    </p:spTree>
    <p:extLst>
      <p:ext uri="{BB962C8B-B14F-4D97-AF65-F5344CB8AC3E}">
        <p14:creationId xmlns:p14="http://schemas.microsoft.com/office/powerpoint/2010/main" val="3577995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C727E-5191-6D24-2127-8654C4D0AB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B8CDE-2F51-9DBD-ADAE-F7C4001E662A}"/>
              </a:ext>
            </a:extLst>
          </p:cNvPr>
          <p:cNvSpPr>
            <a:spLocks noGrp="1"/>
          </p:cNvSpPr>
          <p:nvPr>
            <p:ph type="title"/>
          </p:nvPr>
        </p:nvSpPr>
        <p:spPr>
          <a:xfrm>
            <a:off x="457200" y="277813"/>
            <a:ext cx="8229600" cy="712787"/>
          </a:xfrm>
        </p:spPr>
        <p:txBody>
          <a:bodyPr/>
          <a:lstStyle/>
          <a:p>
            <a:r>
              <a:rPr lang="en-US" sz="2800" dirty="0">
                <a:solidFill>
                  <a:srgbClr val="FFFF00"/>
                </a:solidFill>
              </a:rPr>
              <a:t>The Contributions of Adam Smith and</a:t>
            </a:r>
            <a:br>
              <a:rPr lang="en-US" sz="2800" dirty="0">
                <a:solidFill>
                  <a:srgbClr val="FFFF00"/>
                </a:solidFill>
              </a:rPr>
            </a:br>
            <a:r>
              <a:rPr lang="en-US" sz="2800" dirty="0">
                <a:solidFill>
                  <a:srgbClr val="FFFF00"/>
                </a:solidFill>
              </a:rPr>
              <a:t>David Ricardo to Liberal IR Theory</a:t>
            </a:r>
          </a:p>
        </p:txBody>
      </p:sp>
      <p:sp>
        <p:nvSpPr>
          <p:cNvPr id="3" name="Content Placeholder 2">
            <a:extLst>
              <a:ext uri="{FF2B5EF4-FFF2-40B4-BE49-F238E27FC236}">
                <a16:creationId xmlns:a16="http://schemas.microsoft.com/office/drawing/2014/main" id="{2C896A10-283E-BF03-70E8-3B1B0B3201FB}"/>
              </a:ext>
            </a:extLst>
          </p:cNvPr>
          <p:cNvSpPr>
            <a:spLocks noGrp="1"/>
          </p:cNvSpPr>
          <p:nvPr>
            <p:ph idx="1"/>
          </p:nvPr>
        </p:nvSpPr>
        <p:spPr>
          <a:xfrm>
            <a:off x="457200" y="1295400"/>
            <a:ext cx="8229600" cy="4530725"/>
          </a:xfrm>
        </p:spPr>
        <p:txBody>
          <a:bodyPr/>
          <a:lstStyle/>
          <a:p>
            <a:r>
              <a:rPr lang="en-US" sz="1600" u="sng" dirty="0"/>
              <a:t>The "Harmony of Interests" (Smith)</a:t>
            </a:r>
            <a:r>
              <a:rPr lang="en-US" sz="1600" dirty="0"/>
              <a:t>: Argued that, like the "invisible hand" in domestic markets, nations pursuing their economic self-interest through free trade inadvertently create a more peaceful and prosperous international order.</a:t>
            </a:r>
          </a:p>
          <a:p>
            <a:endParaRPr lang="en-US" sz="1600" dirty="0"/>
          </a:p>
          <a:p>
            <a:r>
              <a:rPr lang="en-US" sz="1600" u="sng" dirty="0"/>
              <a:t>Absolute Advantage &amp; Anti-Mercantilism (Smith)</a:t>
            </a:r>
            <a:r>
              <a:rPr lang="en-US" sz="1600" dirty="0"/>
              <a:t>: Directly attacked the realist/mercantilist idea that wealth is finite and best acquired through conquest or hoarding. He argued that all nations become wealthier by specializing in what they produce most efficiently and trading freely.</a:t>
            </a:r>
          </a:p>
          <a:p>
            <a:pPr marL="0" indent="0">
              <a:buNone/>
            </a:pPr>
            <a:endParaRPr lang="en-US" sz="1600" dirty="0"/>
          </a:p>
        </p:txBody>
      </p:sp>
    </p:spTree>
    <p:extLst>
      <p:ext uri="{BB962C8B-B14F-4D97-AF65-F5344CB8AC3E}">
        <p14:creationId xmlns:p14="http://schemas.microsoft.com/office/powerpoint/2010/main" val="7060587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8DE62-B1BD-F8A0-5DD1-00EDC925D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8C3C78-9231-3778-0059-59422E8B3EF1}"/>
              </a:ext>
            </a:extLst>
          </p:cNvPr>
          <p:cNvSpPr>
            <a:spLocks noGrp="1"/>
          </p:cNvSpPr>
          <p:nvPr>
            <p:ph type="title"/>
          </p:nvPr>
        </p:nvSpPr>
        <p:spPr>
          <a:xfrm>
            <a:off x="457200" y="277813"/>
            <a:ext cx="8229600" cy="712787"/>
          </a:xfrm>
        </p:spPr>
        <p:txBody>
          <a:bodyPr/>
          <a:lstStyle/>
          <a:p>
            <a:r>
              <a:rPr lang="en-US" sz="2800" dirty="0">
                <a:solidFill>
                  <a:srgbClr val="FFFF00"/>
                </a:solidFill>
              </a:rPr>
              <a:t>The Contributions of Adam Smith and</a:t>
            </a:r>
            <a:br>
              <a:rPr lang="en-US" sz="2800" dirty="0">
                <a:solidFill>
                  <a:srgbClr val="FFFF00"/>
                </a:solidFill>
              </a:rPr>
            </a:br>
            <a:r>
              <a:rPr lang="en-US" sz="2800" dirty="0">
                <a:solidFill>
                  <a:srgbClr val="FFFF00"/>
                </a:solidFill>
              </a:rPr>
              <a:t>David Ricardo to Liberal IR Theory</a:t>
            </a:r>
          </a:p>
        </p:txBody>
      </p:sp>
      <p:sp>
        <p:nvSpPr>
          <p:cNvPr id="3" name="Content Placeholder 2">
            <a:extLst>
              <a:ext uri="{FF2B5EF4-FFF2-40B4-BE49-F238E27FC236}">
                <a16:creationId xmlns:a16="http://schemas.microsoft.com/office/drawing/2014/main" id="{3CA6F465-AB5C-0245-2116-8FD7E867D08B}"/>
              </a:ext>
            </a:extLst>
          </p:cNvPr>
          <p:cNvSpPr>
            <a:spLocks noGrp="1"/>
          </p:cNvSpPr>
          <p:nvPr>
            <p:ph idx="1"/>
          </p:nvPr>
        </p:nvSpPr>
        <p:spPr>
          <a:xfrm>
            <a:off x="457200" y="1295400"/>
            <a:ext cx="8229600" cy="4530725"/>
          </a:xfrm>
        </p:spPr>
        <p:txBody>
          <a:bodyPr/>
          <a:lstStyle/>
          <a:p>
            <a:r>
              <a:rPr lang="en-US" sz="1600" u="sng" dirty="0"/>
              <a:t>The "Harmony of Interests" (Smith)</a:t>
            </a:r>
            <a:r>
              <a:rPr lang="en-US" sz="1600" dirty="0"/>
              <a:t>: Argued that, like the "invisible hand" in domestic markets, nations pursuing their economic self-interest through free trade inadvertently create a more peaceful and prosperous international order.</a:t>
            </a:r>
          </a:p>
          <a:p>
            <a:endParaRPr lang="en-US" sz="1600" dirty="0"/>
          </a:p>
          <a:p>
            <a:r>
              <a:rPr lang="en-US" sz="1600" u="sng" dirty="0"/>
              <a:t>Absolute Advantage &amp; Anti-Mercantilism (Smith)</a:t>
            </a:r>
            <a:r>
              <a:rPr lang="en-US" sz="1600" dirty="0"/>
              <a:t>: Directly attacked the realist/mercantilist idea that wealth is finite and best acquired through conquest or hoarding. He argued that all nations become wealthier by specializing in what they produce most efficiently and trading freely.</a:t>
            </a:r>
          </a:p>
          <a:p>
            <a:endParaRPr lang="en-US" sz="1600" dirty="0"/>
          </a:p>
          <a:p>
            <a:r>
              <a:rPr lang="en-US" sz="1600" u="sng" dirty="0"/>
              <a:t>Comparative Advantage (Ricardo)</a:t>
            </a:r>
            <a:r>
              <a:rPr lang="en-US" sz="1600" dirty="0"/>
              <a:t>: Provided a more powerful case for free trade, showing that it's mutually beneficial even when one nation is more productive in every area. This created a compelling economic logic for cooperation over conflict.</a:t>
            </a:r>
          </a:p>
          <a:p>
            <a:pPr marL="0" indent="0">
              <a:buNone/>
            </a:pPr>
            <a:endParaRPr lang="en-US" sz="1600" dirty="0"/>
          </a:p>
        </p:txBody>
      </p:sp>
    </p:spTree>
    <p:extLst>
      <p:ext uri="{BB962C8B-B14F-4D97-AF65-F5344CB8AC3E}">
        <p14:creationId xmlns:p14="http://schemas.microsoft.com/office/powerpoint/2010/main" val="19211757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BC9FD-18A0-B780-B902-4DBC99CCD0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8ED45-E0EA-8F37-2AE5-7F1922A9ADF0}"/>
              </a:ext>
            </a:extLst>
          </p:cNvPr>
          <p:cNvSpPr>
            <a:spLocks noGrp="1"/>
          </p:cNvSpPr>
          <p:nvPr>
            <p:ph type="title"/>
          </p:nvPr>
        </p:nvSpPr>
        <p:spPr>
          <a:xfrm>
            <a:off x="457200" y="277813"/>
            <a:ext cx="8229600" cy="712787"/>
          </a:xfrm>
        </p:spPr>
        <p:txBody>
          <a:bodyPr/>
          <a:lstStyle/>
          <a:p>
            <a:r>
              <a:rPr lang="en-US" sz="2800" dirty="0">
                <a:solidFill>
                  <a:srgbClr val="FFFF00"/>
                </a:solidFill>
              </a:rPr>
              <a:t>The Contributions of Adam Smith and</a:t>
            </a:r>
            <a:br>
              <a:rPr lang="en-US" sz="2800" dirty="0">
                <a:solidFill>
                  <a:srgbClr val="FFFF00"/>
                </a:solidFill>
              </a:rPr>
            </a:br>
            <a:r>
              <a:rPr lang="en-US" sz="2800" dirty="0">
                <a:solidFill>
                  <a:srgbClr val="FFFF00"/>
                </a:solidFill>
              </a:rPr>
              <a:t>David Ricardo to Liberal IR Theory</a:t>
            </a:r>
          </a:p>
        </p:txBody>
      </p:sp>
      <p:sp>
        <p:nvSpPr>
          <p:cNvPr id="3" name="Content Placeholder 2">
            <a:extLst>
              <a:ext uri="{FF2B5EF4-FFF2-40B4-BE49-F238E27FC236}">
                <a16:creationId xmlns:a16="http://schemas.microsoft.com/office/drawing/2014/main" id="{4F3A8651-F6E7-607F-A0C2-F046A8C120EA}"/>
              </a:ext>
            </a:extLst>
          </p:cNvPr>
          <p:cNvSpPr>
            <a:spLocks noGrp="1"/>
          </p:cNvSpPr>
          <p:nvPr>
            <p:ph idx="1"/>
          </p:nvPr>
        </p:nvSpPr>
        <p:spPr>
          <a:xfrm>
            <a:off x="457200" y="1295400"/>
            <a:ext cx="8229600" cy="4530725"/>
          </a:xfrm>
        </p:spPr>
        <p:txBody>
          <a:bodyPr/>
          <a:lstStyle/>
          <a:p>
            <a:r>
              <a:rPr lang="en-US" sz="1600" u="sng" dirty="0"/>
              <a:t>The "Harmony of Interests" (Smith)</a:t>
            </a:r>
            <a:r>
              <a:rPr lang="en-US" sz="1600" dirty="0"/>
              <a:t>: Argued that, like the "invisible hand" in domestic markets, nations pursuing their economic self-interest through free trade inadvertently create a more peaceful and prosperous international order.</a:t>
            </a:r>
          </a:p>
          <a:p>
            <a:endParaRPr lang="en-US" sz="1600" dirty="0"/>
          </a:p>
          <a:p>
            <a:r>
              <a:rPr lang="en-US" sz="1600" u="sng" dirty="0"/>
              <a:t>Absolute Advantage &amp; Anti-Mercantilism (Smith)</a:t>
            </a:r>
            <a:r>
              <a:rPr lang="en-US" sz="1600" dirty="0"/>
              <a:t>: Directly attacked the realist/mercantilist idea that wealth is finite and best acquired through conquest or hoarding. He argued that all nations become wealthier by specializing in what they produce most efficiently and trading freely.</a:t>
            </a:r>
          </a:p>
          <a:p>
            <a:endParaRPr lang="en-US" sz="1600" dirty="0"/>
          </a:p>
          <a:p>
            <a:r>
              <a:rPr lang="en-US" sz="1600" u="sng" dirty="0"/>
              <a:t>Comparative Advantage (Ricardo)</a:t>
            </a:r>
            <a:r>
              <a:rPr lang="en-US" sz="1600" dirty="0"/>
              <a:t>: Provided a more powerful case for free trade, showing that it's mutually beneficial even when one nation is more productive in every area. This created a compelling economic logic for cooperation over conflict.</a:t>
            </a:r>
          </a:p>
          <a:p>
            <a:endParaRPr lang="en-US" sz="1600" dirty="0"/>
          </a:p>
          <a:p>
            <a:r>
              <a:rPr lang="en-US" sz="1600" u="sng" dirty="0"/>
              <a:t>Trade is Cheaper than Empire</a:t>
            </a:r>
            <a:r>
              <a:rPr lang="en-US" sz="1600" dirty="0"/>
              <a:t>: Their combined work established that it is more profitable to trade for resources than to conquer and rule the territories that hold them, directly challenging a primary historical justification for war.</a:t>
            </a:r>
          </a:p>
          <a:p>
            <a:pPr marL="0" indent="0">
              <a:buNone/>
            </a:pPr>
            <a:endParaRPr lang="en-US" sz="1600" dirty="0"/>
          </a:p>
        </p:txBody>
      </p:sp>
    </p:spTree>
    <p:extLst>
      <p:ext uri="{BB962C8B-B14F-4D97-AF65-F5344CB8AC3E}">
        <p14:creationId xmlns:p14="http://schemas.microsoft.com/office/powerpoint/2010/main" val="32487918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09EB2-1E9B-F083-561F-DC8F1A87C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453184-83A0-5AD8-6D7C-2DE5190FEC2B}"/>
              </a:ext>
            </a:extLst>
          </p:cNvPr>
          <p:cNvSpPr>
            <a:spLocks noGrp="1"/>
          </p:cNvSpPr>
          <p:nvPr>
            <p:ph type="title"/>
          </p:nvPr>
        </p:nvSpPr>
        <p:spPr>
          <a:xfrm>
            <a:off x="457200" y="277813"/>
            <a:ext cx="8229600" cy="712787"/>
          </a:xfrm>
        </p:spPr>
        <p:txBody>
          <a:bodyPr/>
          <a:lstStyle/>
          <a:p>
            <a:r>
              <a:rPr lang="en-US" sz="2800" dirty="0">
                <a:solidFill>
                  <a:srgbClr val="FFFF00"/>
                </a:solidFill>
              </a:rPr>
              <a:t>The Contributions of Adam Smith and</a:t>
            </a:r>
            <a:br>
              <a:rPr lang="en-US" sz="2800" dirty="0">
                <a:solidFill>
                  <a:srgbClr val="FFFF00"/>
                </a:solidFill>
              </a:rPr>
            </a:br>
            <a:r>
              <a:rPr lang="en-US" sz="2800" dirty="0">
                <a:solidFill>
                  <a:srgbClr val="FFFF00"/>
                </a:solidFill>
              </a:rPr>
              <a:t>David Ricardo to Liberal IR Theory</a:t>
            </a:r>
          </a:p>
        </p:txBody>
      </p:sp>
      <p:sp>
        <p:nvSpPr>
          <p:cNvPr id="3" name="Content Placeholder 2">
            <a:extLst>
              <a:ext uri="{FF2B5EF4-FFF2-40B4-BE49-F238E27FC236}">
                <a16:creationId xmlns:a16="http://schemas.microsoft.com/office/drawing/2014/main" id="{826D822E-083D-9A51-1FD6-8FB9CD18E086}"/>
              </a:ext>
            </a:extLst>
          </p:cNvPr>
          <p:cNvSpPr>
            <a:spLocks noGrp="1"/>
          </p:cNvSpPr>
          <p:nvPr>
            <p:ph idx="1"/>
          </p:nvPr>
        </p:nvSpPr>
        <p:spPr>
          <a:xfrm>
            <a:off x="457200" y="1295400"/>
            <a:ext cx="8229600" cy="4530725"/>
          </a:xfrm>
        </p:spPr>
        <p:txBody>
          <a:bodyPr/>
          <a:lstStyle/>
          <a:p>
            <a:r>
              <a:rPr lang="en-US" sz="1600" u="sng" dirty="0"/>
              <a:t>The "Harmony of Interests" (Smith)</a:t>
            </a:r>
            <a:r>
              <a:rPr lang="en-US" sz="1600" dirty="0"/>
              <a:t>: Argued that, like the "invisible hand" in domestic markets, nations pursuing their economic self-interest through free trade inadvertently create a more peaceful and prosperous international order.</a:t>
            </a:r>
          </a:p>
          <a:p>
            <a:endParaRPr lang="en-US" sz="1600" dirty="0"/>
          </a:p>
          <a:p>
            <a:r>
              <a:rPr lang="en-US" sz="1600" u="sng" dirty="0"/>
              <a:t>Absolute Advantage &amp; Anti-Mercantilism (Smith)</a:t>
            </a:r>
            <a:r>
              <a:rPr lang="en-US" sz="1600" dirty="0"/>
              <a:t>: Directly attacked the realist/mercantilist idea that wealth is finite and best acquired through conquest or hoarding. He argued that all nations become wealthier by specializing in what they produce most efficiently and trading freely.</a:t>
            </a:r>
          </a:p>
          <a:p>
            <a:endParaRPr lang="en-US" sz="1600" dirty="0"/>
          </a:p>
          <a:p>
            <a:r>
              <a:rPr lang="en-US" sz="1600" u="sng" dirty="0"/>
              <a:t>Comparative Advantage (Ricardo)</a:t>
            </a:r>
            <a:r>
              <a:rPr lang="en-US" sz="1600" dirty="0"/>
              <a:t>: Provided a more powerful case for free trade, showing that it's mutually beneficial even when one nation is more productive in every area. This created a compelling economic logic for cooperation over conflict.</a:t>
            </a:r>
          </a:p>
          <a:p>
            <a:endParaRPr lang="en-US" sz="1600" dirty="0"/>
          </a:p>
          <a:p>
            <a:r>
              <a:rPr lang="en-US" sz="1600" u="sng" dirty="0"/>
              <a:t>Trade is Cheaper than Empire</a:t>
            </a:r>
            <a:r>
              <a:rPr lang="en-US" sz="1600" dirty="0"/>
              <a:t>: Their combined work established that it is more profitable to trade for resources than to conquer and rule the territories that hold them, directly challenging a primary historical justification for war.</a:t>
            </a:r>
          </a:p>
          <a:p>
            <a:endParaRPr lang="en-US" sz="1600" dirty="0"/>
          </a:p>
          <a:p>
            <a:r>
              <a:rPr lang="en-US" sz="1600" u="sng" dirty="0"/>
              <a:t>Foundation of Commercial Liberalism</a:t>
            </a:r>
            <a:r>
              <a:rPr lang="en-US" sz="1600" dirty="0"/>
              <a:t>: Together, they created the intellectual basis for a core liberal belief: that deep economic interdependence and an open trading system raise the costs of war so high that it becomes an irrational choice for modern states.</a:t>
            </a:r>
          </a:p>
        </p:txBody>
      </p:sp>
    </p:spTree>
    <p:extLst>
      <p:ext uri="{BB962C8B-B14F-4D97-AF65-F5344CB8AC3E}">
        <p14:creationId xmlns:p14="http://schemas.microsoft.com/office/powerpoint/2010/main" val="40233962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3410F-CE2D-3A84-B1A2-4E9BFB3B3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06D29-5BF0-FBDC-454F-1FD89A2DC7EB}"/>
              </a:ext>
            </a:extLst>
          </p:cNvPr>
          <p:cNvSpPr>
            <a:spLocks noGrp="1"/>
          </p:cNvSpPr>
          <p:nvPr>
            <p:ph type="title"/>
          </p:nvPr>
        </p:nvSpPr>
        <p:spPr>
          <a:xfrm>
            <a:off x="457200" y="277813"/>
            <a:ext cx="8229600" cy="712787"/>
          </a:xfrm>
        </p:spPr>
        <p:txBody>
          <a:bodyPr/>
          <a:lstStyle/>
          <a:p>
            <a:r>
              <a:rPr lang="en-US" sz="2800" dirty="0">
                <a:solidFill>
                  <a:srgbClr val="FFFF00"/>
                </a:solidFill>
              </a:rPr>
              <a:t>Why the liberal search for a permanent solution to warfare wasn’t just an empty academic exercise</a:t>
            </a:r>
          </a:p>
        </p:txBody>
      </p:sp>
      <p:sp>
        <p:nvSpPr>
          <p:cNvPr id="3" name="Content Placeholder 2">
            <a:extLst>
              <a:ext uri="{FF2B5EF4-FFF2-40B4-BE49-F238E27FC236}">
                <a16:creationId xmlns:a16="http://schemas.microsoft.com/office/drawing/2014/main" id="{D8A8EF07-28FB-D8E3-9C67-064E860CB106}"/>
              </a:ext>
            </a:extLst>
          </p:cNvPr>
          <p:cNvSpPr>
            <a:spLocks noGrp="1"/>
          </p:cNvSpPr>
          <p:nvPr>
            <p:ph idx="1"/>
          </p:nvPr>
        </p:nvSpPr>
        <p:spPr>
          <a:xfrm>
            <a:off x="457200" y="1295400"/>
            <a:ext cx="8229600" cy="4530725"/>
          </a:xfrm>
        </p:spPr>
        <p:txBody>
          <a:bodyPr/>
          <a:lstStyle/>
          <a:p>
            <a:pPr marL="0" indent="0">
              <a:buNone/>
            </a:pPr>
            <a:r>
              <a:rPr lang="en-US" sz="1200" dirty="0"/>
              <a:t>	French Wars of Religion (1562–1598)</a:t>
            </a:r>
          </a:p>
          <a:p>
            <a:pPr marL="0" indent="0">
              <a:buNone/>
            </a:pPr>
            <a:r>
              <a:rPr lang="en-US" sz="1200" dirty="0"/>
              <a:t>	Estimated Deaths: 2,000,000 – 4,000,000</a:t>
            </a:r>
          </a:p>
          <a:p>
            <a:endParaRPr lang="en-US" sz="1200" dirty="0"/>
          </a:p>
          <a:p>
            <a:pPr marL="0" indent="0">
              <a:buNone/>
            </a:pPr>
            <a:r>
              <a:rPr lang="en-US" sz="1200" dirty="0"/>
              <a:t>		Eighty Years' War (Dutch Revolt) (1568–1648)</a:t>
            </a:r>
          </a:p>
          <a:p>
            <a:pPr marL="0" indent="0">
              <a:buNone/>
            </a:pPr>
            <a:r>
              <a:rPr lang="en-US" sz="1200" dirty="0"/>
              <a:t>		Estimated Deaths: 600,000 – 700,000</a:t>
            </a:r>
          </a:p>
          <a:p>
            <a:endParaRPr lang="en-US" sz="1200" dirty="0"/>
          </a:p>
          <a:p>
            <a:pPr marL="0" indent="0">
              <a:buNone/>
            </a:pPr>
            <a:r>
              <a:rPr lang="en-US" sz="1200" dirty="0"/>
              <a:t>			Thirty Years' War (1618–1648)</a:t>
            </a:r>
          </a:p>
          <a:p>
            <a:pPr marL="0" indent="0">
              <a:buNone/>
            </a:pPr>
            <a:r>
              <a:rPr lang="en-US" sz="1200" dirty="0"/>
              <a:t>			Estimated Deaths: 4,500,000 – 8,000,000</a:t>
            </a:r>
          </a:p>
          <a:p>
            <a:pPr marL="0" indent="0">
              <a:buNone/>
            </a:pPr>
            <a:endParaRPr lang="en-US" sz="1200" dirty="0"/>
          </a:p>
          <a:p>
            <a:pPr marL="0" indent="0">
              <a:buNone/>
            </a:pPr>
            <a:r>
              <a:rPr lang="en-US" sz="1200" dirty="0"/>
              <a:t>		Wars of Louis XIV (including the War of the Spanish Succession, 1701-1714)</a:t>
            </a:r>
          </a:p>
          <a:p>
            <a:pPr marL="0" indent="0">
              <a:buNone/>
            </a:pPr>
            <a:r>
              <a:rPr lang="en-US" sz="1200" dirty="0"/>
              <a:t>		Estimated Deaths: ~2,000,000 (for the War of Spanish Succession alone)</a:t>
            </a:r>
          </a:p>
          <a:p>
            <a:endParaRPr lang="en-US" sz="1200" dirty="0"/>
          </a:p>
          <a:p>
            <a:pPr marL="0" indent="0">
              <a:buNone/>
            </a:pPr>
            <a:r>
              <a:rPr lang="en-US" sz="1200" dirty="0"/>
              <a:t>	Great Northern War (1700–1721)</a:t>
            </a:r>
          </a:p>
          <a:p>
            <a:pPr marL="0" indent="0">
              <a:buNone/>
            </a:pPr>
            <a:r>
              <a:rPr lang="en-US" sz="1200" dirty="0"/>
              <a:t>	Estimated Deaths: ~350,000 (military and civilian)</a:t>
            </a:r>
          </a:p>
          <a:p>
            <a:endParaRPr lang="en-US" sz="1200" dirty="0"/>
          </a:p>
          <a:p>
            <a:pPr marL="0" indent="0">
              <a:buNone/>
            </a:pPr>
            <a:r>
              <a:rPr lang="en-US" sz="1200" dirty="0"/>
              <a:t>		War of the Austrian Succession (1740–1748)</a:t>
            </a:r>
          </a:p>
          <a:p>
            <a:pPr marL="0" indent="0">
              <a:buNone/>
            </a:pPr>
            <a:r>
              <a:rPr lang="en-US" sz="1200" dirty="0"/>
              <a:t>		Estimated Deaths: ~500,000</a:t>
            </a:r>
          </a:p>
          <a:p>
            <a:endParaRPr lang="en-US" sz="1200" dirty="0"/>
          </a:p>
          <a:p>
            <a:pPr marL="0" indent="0">
              <a:buNone/>
            </a:pPr>
            <a:r>
              <a:rPr lang="en-US" sz="1200" dirty="0"/>
              <a:t>			Seven Years' War (1756–1763)</a:t>
            </a:r>
          </a:p>
          <a:p>
            <a:pPr marL="0" indent="0">
              <a:buNone/>
            </a:pPr>
            <a:r>
              <a:rPr lang="en-US" sz="1200" dirty="0"/>
              <a:t>			Estimated Deaths: 900,000 – 1,400,000</a:t>
            </a:r>
          </a:p>
          <a:p>
            <a:endParaRPr lang="en-US" sz="1200" dirty="0"/>
          </a:p>
          <a:p>
            <a:pPr marL="0" indent="0">
              <a:buNone/>
            </a:pPr>
            <a:r>
              <a:rPr lang="en-US" sz="1200" dirty="0"/>
              <a:t>				French Revolutionary &amp; Napoleonic Wars (1792–1815)</a:t>
            </a:r>
          </a:p>
          <a:p>
            <a:pPr marL="0" indent="0">
              <a:buNone/>
            </a:pPr>
            <a:r>
              <a:rPr lang="en-US" sz="1200" dirty="0"/>
              <a:t>				Estimated Deaths: 3,500,000 – 7,000,000</a:t>
            </a:r>
          </a:p>
        </p:txBody>
      </p:sp>
    </p:spTree>
    <p:extLst>
      <p:ext uri="{BB962C8B-B14F-4D97-AF65-F5344CB8AC3E}">
        <p14:creationId xmlns:p14="http://schemas.microsoft.com/office/powerpoint/2010/main" val="35965963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149C0-807F-B72F-47B6-8F65B8D66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03CFDC-3857-8031-C284-1D4CFF36926C}"/>
              </a:ext>
            </a:extLst>
          </p:cNvPr>
          <p:cNvSpPr>
            <a:spLocks noGrp="1"/>
          </p:cNvSpPr>
          <p:nvPr>
            <p:ph type="title"/>
          </p:nvPr>
        </p:nvSpPr>
        <p:spPr>
          <a:xfrm>
            <a:off x="457200" y="277813"/>
            <a:ext cx="8229600" cy="712787"/>
          </a:xfrm>
        </p:spPr>
        <p:txBody>
          <a:bodyPr/>
          <a:lstStyle/>
          <a:p>
            <a:r>
              <a:rPr lang="en-US" sz="2800" dirty="0">
                <a:solidFill>
                  <a:srgbClr val="FFFF00"/>
                </a:solidFill>
              </a:rPr>
              <a:t>How people died during wars when liberal IR</a:t>
            </a:r>
            <a:br>
              <a:rPr lang="en-US" sz="2800" dirty="0">
                <a:solidFill>
                  <a:srgbClr val="FFFF00"/>
                </a:solidFill>
              </a:rPr>
            </a:br>
            <a:r>
              <a:rPr lang="en-US" sz="2800" dirty="0">
                <a:solidFill>
                  <a:srgbClr val="FFFF00"/>
                </a:solidFill>
              </a:rPr>
              <a:t>was taking shape</a:t>
            </a:r>
          </a:p>
        </p:txBody>
      </p:sp>
      <p:sp>
        <p:nvSpPr>
          <p:cNvPr id="3" name="Content Placeholder 2">
            <a:extLst>
              <a:ext uri="{FF2B5EF4-FFF2-40B4-BE49-F238E27FC236}">
                <a16:creationId xmlns:a16="http://schemas.microsoft.com/office/drawing/2014/main" id="{E69BABE0-A0CF-AC67-B298-8E975069F641}"/>
              </a:ext>
            </a:extLst>
          </p:cNvPr>
          <p:cNvSpPr>
            <a:spLocks noGrp="1"/>
          </p:cNvSpPr>
          <p:nvPr>
            <p:ph idx="1"/>
          </p:nvPr>
        </p:nvSpPr>
        <p:spPr>
          <a:xfrm>
            <a:off x="457200" y="1295400"/>
            <a:ext cx="8229600" cy="4530725"/>
          </a:xfrm>
        </p:spPr>
        <p:txBody>
          <a:bodyPr/>
          <a:lstStyle/>
          <a:p>
            <a:pPr marL="0" indent="0">
              <a:buNone/>
            </a:pPr>
            <a:endParaRPr lang="en-US" sz="1200" dirty="0"/>
          </a:p>
        </p:txBody>
      </p:sp>
    </p:spTree>
    <p:extLst>
      <p:ext uri="{BB962C8B-B14F-4D97-AF65-F5344CB8AC3E}">
        <p14:creationId xmlns:p14="http://schemas.microsoft.com/office/powerpoint/2010/main" val="5075309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63432-9611-8376-E03C-546A019511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D180B2-62D7-8DE3-AFDF-D728948AE663}"/>
              </a:ext>
            </a:extLst>
          </p:cNvPr>
          <p:cNvSpPr>
            <a:spLocks noGrp="1"/>
          </p:cNvSpPr>
          <p:nvPr>
            <p:ph type="title"/>
          </p:nvPr>
        </p:nvSpPr>
        <p:spPr>
          <a:xfrm>
            <a:off x="457200" y="277813"/>
            <a:ext cx="8229600" cy="712787"/>
          </a:xfrm>
        </p:spPr>
        <p:txBody>
          <a:bodyPr/>
          <a:lstStyle/>
          <a:p>
            <a:r>
              <a:rPr lang="en-US" sz="2800" dirty="0">
                <a:solidFill>
                  <a:srgbClr val="FFFF00"/>
                </a:solidFill>
              </a:rPr>
              <a:t>How people died during wars when liberal IR</a:t>
            </a:r>
            <a:br>
              <a:rPr lang="en-US" sz="2800" dirty="0">
                <a:solidFill>
                  <a:srgbClr val="FFFF00"/>
                </a:solidFill>
              </a:rPr>
            </a:br>
            <a:r>
              <a:rPr lang="en-US" sz="2800" dirty="0">
                <a:solidFill>
                  <a:srgbClr val="FFFF00"/>
                </a:solidFill>
              </a:rPr>
              <a:t>was taking shape</a:t>
            </a:r>
          </a:p>
        </p:txBody>
      </p:sp>
      <p:sp>
        <p:nvSpPr>
          <p:cNvPr id="3" name="Content Placeholder 2">
            <a:extLst>
              <a:ext uri="{FF2B5EF4-FFF2-40B4-BE49-F238E27FC236}">
                <a16:creationId xmlns:a16="http://schemas.microsoft.com/office/drawing/2014/main" id="{2BA242C2-3D63-AC54-C8F3-2ADA80F07487}"/>
              </a:ext>
            </a:extLst>
          </p:cNvPr>
          <p:cNvSpPr>
            <a:spLocks noGrp="1"/>
          </p:cNvSpPr>
          <p:nvPr>
            <p:ph idx="1"/>
          </p:nvPr>
        </p:nvSpPr>
        <p:spPr>
          <a:xfrm>
            <a:off x="457200" y="1295400"/>
            <a:ext cx="8229600" cy="4530725"/>
          </a:xfrm>
        </p:spPr>
        <p:txBody>
          <a:bodyPr/>
          <a:lstStyle/>
          <a:p>
            <a:pPr marL="0" indent="0">
              <a:buNone/>
            </a:pPr>
            <a:endParaRPr lang="en-US" sz="1200" dirty="0"/>
          </a:p>
          <a:p>
            <a:pPr marL="0" indent="0">
              <a:buNone/>
            </a:pPr>
            <a:r>
              <a:rPr lang="en-US" sz="1600" u="sng" dirty="0"/>
              <a:t>Killed on the Battlefield</a:t>
            </a:r>
            <a:r>
              <a:rPr lang="en-US" sz="1600" dirty="0"/>
              <a:t>: Of course.</a:t>
            </a:r>
          </a:p>
          <a:p>
            <a:pPr marL="0" indent="0">
              <a:buNone/>
            </a:pPr>
            <a:endParaRPr lang="en-US" sz="1600" dirty="0"/>
          </a:p>
        </p:txBody>
      </p:sp>
    </p:spTree>
    <p:extLst>
      <p:ext uri="{BB962C8B-B14F-4D97-AF65-F5344CB8AC3E}">
        <p14:creationId xmlns:p14="http://schemas.microsoft.com/office/powerpoint/2010/main" val="32916522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B82C1-FC50-96DE-E0B1-4489764E3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8D41A-47CA-2852-618E-D977288DAE68}"/>
              </a:ext>
            </a:extLst>
          </p:cNvPr>
          <p:cNvSpPr>
            <a:spLocks noGrp="1"/>
          </p:cNvSpPr>
          <p:nvPr>
            <p:ph type="title"/>
          </p:nvPr>
        </p:nvSpPr>
        <p:spPr>
          <a:xfrm>
            <a:off x="457200" y="277813"/>
            <a:ext cx="8229600" cy="712787"/>
          </a:xfrm>
        </p:spPr>
        <p:txBody>
          <a:bodyPr/>
          <a:lstStyle/>
          <a:p>
            <a:r>
              <a:rPr lang="en-US" sz="2800" dirty="0">
                <a:solidFill>
                  <a:srgbClr val="FFFF00"/>
                </a:solidFill>
              </a:rPr>
              <a:t>How people died during wars when liberal IR</a:t>
            </a:r>
            <a:br>
              <a:rPr lang="en-US" sz="2800" dirty="0">
                <a:solidFill>
                  <a:srgbClr val="FFFF00"/>
                </a:solidFill>
              </a:rPr>
            </a:br>
            <a:r>
              <a:rPr lang="en-US" sz="2800" dirty="0">
                <a:solidFill>
                  <a:srgbClr val="FFFF00"/>
                </a:solidFill>
              </a:rPr>
              <a:t>was taking shape</a:t>
            </a:r>
          </a:p>
        </p:txBody>
      </p:sp>
      <p:sp>
        <p:nvSpPr>
          <p:cNvPr id="3" name="Content Placeholder 2">
            <a:extLst>
              <a:ext uri="{FF2B5EF4-FFF2-40B4-BE49-F238E27FC236}">
                <a16:creationId xmlns:a16="http://schemas.microsoft.com/office/drawing/2014/main" id="{36046BBC-20A2-38C2-023D-977139E89E7B}"/>
              </a:ext>
            </a:extLst>
          </p:cNvPr>
          <p:cNvSpPr>
            <a:spLocks noGrp="1"/>
          </p:cNvSpPr>
          <p:nvPr>
            <p:ph idx="1"/>
          </p:nvPr>
        </p:nvSpPr>
        <p:spPr>
          <a:xfrm>
            <a:off x="457200" y="1295400"/>
            <a:ext cx="8229600" cy="4530725"/>
          </a:xfrm>
        </p:spPr>
        <p:txBody>
          <a:bodyPr/>
          <a:lstStyle/>
          <a:p>
            <a:pPr marL="0" indent="0">
              <a:buNone/>
            </a:pPr>
            <a:endParaRPr lang="en-US" sz="1200" dirty="0"/>
          </a:p>
          <a:p>
            <a:pPr marL="0" indent="0">
              <a:buNone/>
            </a:pPr>
            <a:r>
              <a:rPr lang="en-US" sz="1600" u="sng" dirty="0"/>
              <a:t>Killed on the Battlefield</a:t>
            </a:r>
            <a:r>
              <a:rPr lang="en-US" sz="1600" dirty="0"/>
              <a:t>: Of course.</a:t>
            </a:r>
          </a:p>
          <a:p>
            <a:pPr marL="0" indent="0">
              <a:buNone/>
            </a:pPr>
            <a:endParaRPr lang="en-US" sz="1600" dirty="0"/>
          </a:p>
          <a:p>
            <a:pPr marL="0" indent="0">
              <a:buNone/>
            </a:pPr>
            <a:r>
              <a:rPr lang="en-US" sz="1600" u="sng" dirty="0"/>
              <a:t>Famine and Starvation</a:t>
            </a:r>
            <a:r>
              <a:rPr lang="en-US" sz="1600" dirty="0"/>
              <a:t>: Armies, often poorly supplied, would "live off the land." This meant they systematically stripped entire regions of food, livestock, and grain, leading to mass starvation for the civilian population. The Thirty Years' War, in particular, was infamous for this.</a:t>
            </a:r>
          </a:p>
          <a:p>
            <a:pPr marL="0" indent="0">
              <a:buNone/>
            </a:pPr>
            <a:endParaRPr lang="en-US" sz="1600" dirty="0"/>
          </a:p>
        </p:txBody>
      </p:sp>
    </p:spTree>
    <p:extLst>
      <p:ext uri="{BB962C8B-B14F-4D97-AF65-F5344CB8AC3E}">
        <p14:creationId xmlns:p14="http://schemas.microsoft.com/office/powerpoint/2010/main" val="14926865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94173-6F6E-EB6C-952B-62FDF2054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F20BF0-F4BF-17A0-00F0-5F479A27FE9F}"/>
              </a:ext>
            </a:extLst>
          </p:cNvPr>
          <p:cNvSpPr>
            <a:spLocks noGrp="1"/>
          </p:cNvSpPr>
          <p:nvPr>
            <p:ph type="title"/>
          </p:nvPr>
        </p:nvSpPr>
        <p:spPr>
          <a:xfrm>
            <a:off x="457200" y="277813"/>
            <a:ext cx="8229600" cy="712787"/>
          </a:xfrm>
        </p:spPr>
        <p:txBody>
          <a:bodyPr/>
          <a:lstStyle/>
          <a:p>
            <a:r>
              <a:rPr lang="en-US" sz="2800" dirty="0">
                <a:solidFill>
                  <a:srgbClr val="FFFF00"/>
                </a:solidFill>
              </a:rPr>
              <a:t>How people died during wars when liberal IR</a:t>
            </a:r>
            <a:br>
              <a:rPr lang="en-US" sz="2800" dirty="0">
                <a:solidFill>
                  <a:srgbClr val="FFFF00"/>
                </a:solidFill>
              </a:rPr>
            </a:br>
            <a:r>
              <a:rPr lang="en-US" sz="2800" dirty="0">
                <a:solidFill>
                  <a:srgbClr val="FFFF00"/>
                </a:solidFill>
              </a:rPr>
              <a:t>was taking shape</a:t>
            </a:r>
          </a:p>
        </p:txBody>
      </p:sp>
      <p:sp>
        <p:nvSpPr>
          <p:cNvPr id="3" name="Content Placeholder 2">
            <a:extLst>
              <a:ext uri="{FF2B5EF4-FFF2-40B4-BE49-F238E27FC236}">
                <a16:creationId xmlns:a16="http://schemas.microsoft.com/office/drawing/2014/main" id="{E7FDB491-4F88-6F0B-3BB7-265E11EA2481}"/>
              </a:ext>
            </a:extLst>
          </p:cNvPr>
          <p:cNvSpPr>
            <a:spLocks noGrp="1"/>
          </p:cNvSpPr>
          <p:nvPr>
            <p:ph idx="1"/>
          </p:nvPr>
        </p:nvSpPr>
        <p:spPr>
          <a:xfrm>
            <a:off x="457200" y="1295400"/>
            <a:ext cx="8229600" cy="4530725"/>
          </a:xfrm>
        </p:spPr>
        <p:txBody>
          <a:bodyPr/>
          <a:lstStyle/>
          <a:p>
            <a:pPr marL="0" indent="0">
              <a:buNone/>
            </a:pPr>
            <a:endParaRPr lang="en-US" sz="1200" dirty="0"/>
          </a:p>
          <a:p>
            <a:pPr marL="0" indent="0">
              <a:buNone/>
            </a:pPr>
            <a:r>
              <a:rPr lang="en-US" sz="1600" u="sng" dirty="0"/>
              <a:t>Killed on the Battlefield</a:t>
            </a:r>
            <a:r>
              <a:rPr lang="en-US" sz="1600" dirty="0"/>
              <a:t>: Of course.</a:t>
            </a:r>
          </a:p>
          <a:p>
            <a:pPr marL="0" indent="0">
              <a:buNone/>
            </a:pPr>
            <a:endParaRPr lang="en-US" sz="1600" dirty="0"/>
          </a:p>
          <a:p>
            <a:pPr marL="0" indent="0">
              <a:buNone/>
            </a:pPr>
            <a:r>
              <a:rPr lang="en-US" sz="1600" u="sng" dirty="0"/>
              <a:t>Famine and Starvation</a:t>
            </a:r>
            <a:r>
              <a:rPr lang="en-US" sz="1600" dirty="0"/>
              <a:t>: Armies, often poorly supplied, would "live off the land." This meant they systematically stripped entire regions of food, livestock, and grain, leading to mass starvation for the civilian population. The Thirty Years' War, in particular, was infamous for this.</a:t>
            </a:r>
          </a:p>
          <a:p>
            <a:pPr marL="0" indent="0">
              <a:buNone/>
            </a:pPr>
            <a:endParaRPr lang="en-US" sz="1600" dirty="0"/>
          </a:p>
          <a:p>
            <a:pPr marL="0" indent="0">
              <a:buNone/>
            </a:pPr>
            <a:r>
              <a:rPr lang="en-US" sz="1600" u="sng" dirty="0"/>
              <a:t>Disease</a:t>
            </a:r>
            <a:r>
              <a:rPr lang="en-US" sz="1600" dirty="0"/>
              <a:t>: Large concentrations of soldiers in unsanitary camps were breeding grounds for diseases like typhus, dysentery, and smallpox. As these armies moved, they spread pandemics through the civilian population, who were already weakened by malnutrition. Disease almost always killed far more people than combat.</a:t>
            </a:r>
          </a:p>
          <a:p>
            <a:pPr marL="0" indent="0">
              <a:buNone/>
            </a:pPr>
            <a:endParaRPr lang="en-US" sz="1600" dirty="0"/>
          </a:p>
        </p:txBody>
      </p:sp>
    </p:spTree>
    <p:extLst>
      <p:ext uri="{BB962C8B-B14F-4D97-AF65-F5344CB8AC3E}">
        <p14:creationId xmlns:p14="http://schemas.microsoft.com/office/powerpoint/2010/main" val="1266369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FF935-4721-181C-13E4-C0E9C81CC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F5C40-9F89-660C-FB02-14F469E2FC28}"/>
              </a:ext>
            </a:extLst>
          </p:cNvPr>
          <p:cNvSpPr>
            <a:spLocks noGrp="1"/>
          </p:cNvSpPr>
          <p:nvPr>
            <p:ph type="title"/>
          </p:nvPr>
        </p:nvSpPr>
        <p:spPr>
          <a:xfrm>
            <a:off x="457200" y="277813"/>
            <a:ext cx="8229600" cy="712787"/>
          </a:xfrm>
        </p:spPr>
        <p:txBody>
          <a:bodyPr/>
          <a:lstStyle/>
          <a:p>
            <a:r>
              <a:rPr lang="en-US" sz="2800" dirty="0">
                <a:solidFill>
                  <a:srgbClr val="FFFF00"/>
                </a:solidFill>
              </a:rPr>
              <a:t>How people died during wars when liberal IR</a:t>
            </a:r>
            <a:br>
              <a:rPr lang="en-US" sz="2800" dirty="0">
                <a:solidFill>
                  <a:srgbClr val="FFFF00"/>
                </a:solidFill>
              </a:rPr>
            </a:br>
            <a:r>
              <a:rPr lang="en-US" sz="2800" dirty="0">
                <a:solidFill>
                  <a:srgbClr val="FFFF00"/>
                </a:solidFill>
              </a:rPr>
              <a:t>was taking shape</a:t>
            </a:r>
          </a:p>
        </p:txBody>
      </p:sp>
      <p:sp>
        <p:nvSpPr>
          <p:cNvPr id="3" name="Content Placeholder 2">
            <a:extLst>
              <a:ext uri="{FF2B5EF4-FFF2-40B4-BE49-F238E27FC236}">
                <a16:creationId xmlns:a16="http://schemas.microsoft.com/office/drawing/2014/main" id="{1AC15E53-FB4C-1E48-D740-FCD2FE1A6D0E}"/>
              </a:ext>
            </a:extLst>
          </p:cNvPr>
          <p:cNvSpPr>
            <a:spLocks noGrp="1"/>
          </p:cNvSpPr>
          <p:nvPr>
            <p:ph idx="1"/>
          </p:nvPr>
        </p:nvSpPr>
        <p:spPr>
          <a:xfrm>
            <a:off x="457200" y="1295400"/>
            <a:ext cx="8229600" cy="4530725"/>
          </a:xfrm>
        </p:spPr>
        <p:txBody>
          <a:bodyPr/>
          <a:lstStyle/>
          <a:p>
            <a:pPr marL="0" indent="0">
              <a:buNone/>
            </a:pPr>
            <a:endParaRPr lang="en-US" sz="1200" dirty="0"/>
          </a:p>
          <a:p>
            <a:pPr marL="0" indent="0">
              <a:buNone/>
            </a:pPr>
            <a:r>
              <a:rPr lang="en-US" sz="1600" u="sng" dirty="0"/>
              <a:t>Killed on the Battlefield</a:t>
            </a:r>
            <a:r>
              <a:rPr lang="en-US" sz="1600" dirty="0"/>
              <a:t>: Of course.</a:t>
            </a:r>
          </a:p>
          <a:p>
            <a:pPr marL="0" indent="0">
              <a:buNone/>
            </a:pPr>
            <a:endParaRPr lang="en-US" sz="1600" dirty="0"/>
          </a:p>
          <a:p>
            <a:pPr marL="0" indent="0">
              <a:buNone/>
            </a:pPr>
            <a:r>
              <a:rPr lang="en-US" sz="1600" u="sng" dirty="0"/>
              <a:t>Famine and Starvation</a:t>
            </a:r>
            <a:r>
              <a:rPr lang="en-US" sz="1600" dirty="0"/>
              <a:t>: Armies, often poorly supplied, would "live off the land." This meant they systematically stripped entire regions of food, livestock, and grain, leading to mass starvation for the civilian population. The Thirty Years' War, in particular, was infamous for this.</a:t>
            </a:r>
          </a:p>
          <a:p>
            <a:pPr marL="0" indent="0">
              <a:buNone/>
            </a:pPr>
            <a:endParaRPr lang="en-US" sz="1600" dirty="0"/>
          </a:p>
          <a:p>
            <a:pPr marL="0" indent="0">
              <a:buNone/>
            </a:pPr>
            <a:r>
              <a:rPr lang="en-US" sz="1600" u="sng" dirty="0"/>
              <a:t>Disease</a:t>
            </a:r>
            <a:r>
              <a:rPr lang="en-US" sz="1600" dirty="0"/>
              <a:t>: Large concentrations of soldiers in unsanitary camps were breeding grounds for diseases like typhus, dysentery, and smallpox. As these armies moved, they spread pandemics through the civilian population, who were already weakened by malnutrition. Disease almost always killed far more people than combat.</a:t>
            </a:r>
          </a:p>
          <a:p>
            <a:pPr marL="0" indent="0">
              <a:buNone/>
            </a:pPr>
            <a:endParaRPr lang="en-US" sz="1600" dirty="0"/>
          </a:p>
          <a:p>
            <a:pPr marL="0" indent="0">
              <a:buNone/>
            </a:pPr>
            <a:r>
              <a:rPr lang="en-US" sz="1600" u="sng" dirty="0"/>
              <a:t>Displacement and Exposure</a:t>
            </a:r>
            <a:r>
              <a:rPr lang="en-US" sz="1600" dirty="0"/>
              <a:t>: Huge numbers of people were forced to flee their homes as armies approached, becoming refugees. They often died from exposure, hunger, and violence while on the move.</a:t>
            </a:r>
          </a:p>
          <a:p>
            <a:pPr marL="0" indent="0">
              <a:buNone/>
            </a:pPr>
            <a:endParaRPr lang="en-US" sz="1600" dirty="0"/>
          </a:p>
        </p:txBody>
      </p:sp>
    </p:spTree>
    <p:extLst>
      <p:ext uri="{BB962C8B-B14F-4D97-AF65-F5344CB8AC3E}">
        <p14:creationId xmlns:p14="http://schemas.microsoft.com/office/powerpoint/2010/main" val="5825436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B8DC3-60A8-4F39-C152-D72A1F550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895F5-B347-7777-1D54-EE30B59CA7F1}"/>
              </a:ext>
            </a:extLst>
          </p:cNvPr>
          <p:cNvSpPr>
            <a:spLocks noGrp="1"/>
          </p:cNvSpPr>
          <p:nvPr>
            <p:ph type="title"/>
          </p:nvPr>
        </p:nvSpPr>
        <p:spPr>
          <a:xfrm>
            <a:off x="457200" y="277813"/>
            <a:ext cx="8229600" cy="712787"/>
          </a:xfrm>
        </p:spPr>
        <p:txBody>
          <a:bodyPr/>
          <a:lstStyle/>
          <a:p>
            <a:r>
              <a:rPr lang="en-US" sz="2800" dirty="0">
                <a:solidFill>
                  <a:srgbClr val="FFFF00"/>
                </a:solidFill>
              </a:rPr>
              <a:t>How people died during wars when liberal IR</a:t>
            </a:r>
            <a:br>
              <a:rPr lang="en-US" sz="2800" dirty="0">
                <a:solidFill>
                  <a:srgbClr val="FFFF00"/>
                </a:solidFill>
              </a:rPr>
            </a:br>
            <a:r>
              <a:rPr lang="en-US" sz="2800" dirty="0">
                <a:solidFill>
                  <a:srgbClr val="FFFF00"/>
                </a:solidFill>
              </a:rPr>
              <a:t>was taking shape</a:t>
            </a:r>
          </a:p>
        </p:txBody>
      </p:sp>
      <p:sp>
        <p:nvSpPr>
          <p:cNvPr id="3" name="Content Placeholder 2">
            <a:extLst>
              <a:ext uri="{FF2B5EF4-FFF2-40B4-BE49-F238E27FC236}">
                <a16:creationId xmlns:a16="http://schemas.microsoft.com/office/drawing/2014/main" id="{6196AF6E-A204-EE87-2494-14755ED0FEE3}"/>
              </a:ext>
            </a:extLst>
          </p:cNvPr>
          <p:cNvSpPr>
            <a:spLocks noGrp="1"/>
          </p:cNvSpPr>
          <p:nvPr>
            <p:ph idx="1"/>
          </p:nvPr>
        </p:nvSpPr>
        <p:spPr>
          <a:xfrm>
            <a:off x="457200" y="1295400"/>
            <a:ext cx="8229600" cy="4530725"/>
          </a:xfrm>
        </p:spPr>
        <p:txBody>
          <a:bodyPr/>
          <a:lstStyle/>
          <a:p>
            <a:pPr marL="0" indent="0">
              <a:buNone/>
            </a:pPr>
            <a:endParaRPr lang="en-US" sz="1200" dirty="0"/>
          </a:p>
          <a:p>
            <a:pPr marL="0" indent="0">
              <a:buNone/>
            </a:pPr>
            <a:r>
              <a:rPr lang="en-US" sz="1600" u="sng" dirty="0"/>
              <a:t>Killed on the Battlefield</a:t>
            </a:r>
            <a:r>
              <a:rPr lang="en-US" sz="1600" dirty="0"/>
              <a:t>: Of course.</a:t>
            </a:r>
          </a:p>
          <a:p>
            <a:pPr marL="0" indent="0">
              <a:buNone/>
            </a:pPr>
            <a:endParaRPr lang="en-US" sz="1600" dirty="0"/>
          </a:p>
          <a:p>
            <a:pPr marL="0" indent="0">
              <a:buNone/>
            </a:pPr>
            <a:r>
              <a:rPr lang="en-US" sz="1600" u="sng" dirty="0"/>
              <a:t>Famine and Starvation</a:t>
            </a:r>
            <a:r>
              <a:rPr lang="en-US" sz="1600" dirty="0"/>
              <a:t>: Armies, often poorly supplied, would "live off the land." This meant they systematically stripped entire regions of food, livestock, and grain, leading to mass starvation for the civilian population. The Thirty Years' War, in particular, was infamous for this.</a:t>
            </a:r>
          </a:p>
          <a:p>
            <a:pPr marL="0" indent="0">
              <a:buNone/>
            </a:pPr>
            <a:endParaRPr lang="en-US" sz="1600" dirty="0"/>
          </a:p>
          <a:p>
            <a:pPr marL="0" indent="0">
              <a:buNone/>
            </a:pPr>
            <a:r>
              <a:rPr lang="en-US" sz="1600" u="sng" dirty="0"/>
              <a:t>Disease</a:t>
            </a:r>
            <a:r>
              <a:rPr lang="en-US" sz="1600" dirty="0"/>
              <a:t>: Large concentrations of soldiers in unsanitary camps were breeding grounds for diseases like typhus, dysentery, and smallpox. As these armies moved, they spread pandemics through the civilian population, who were already weakened by malnutrition. Disease almost always killed far more people than combat.</a:t>
            </a:r>
          </a:p>
          <a:p>
            <a:pPr marL="0" indent="0">
              <a:buNone/>
            </a:pPr>
            <a:endParaRPr lang="en-US" sz="1600" dirty="0"/>
          </a:p>
          <a:p>
            <a:pPr marL="0" indent="0">
              <a:buNone/>
            </a:pPr>
            <a:r>
              <a:rPr lang="en-US" sz="1600" u="sng" dirty="0"/>
              <a:t>Displacement and Exposure</a:t>
            </a:r>
            <a:r>
              <a:rPr lang="en-US" sz="1600" dirty="0"/>
              <a:t>: Huge numbers of people were forced to flee their homes as armies approached, becoming refugees. They often died from exposure, hunger, and violence while on the move.</a:t>
            </a:r>
          </a:p>
          <a:p>
            <a:pPr marL="0" indent="0">
              <a:buNone/>
            </a:pPr>
            <a:endParaRPr lang="en-US" sz="1600" dirty="0"/>
          </a:p>
          <a:p>
            <a:pPr marL="0" indent="0">
              <a:buNone/>
            </a:pPr>
            <a:r>
              <a:rPr lang="en-US" sz="1600" u="sng" dirty="0"/>
              <a:t>Destruction of Infrastructure</a:t>
            </a:r>
            <a:r>
              <a:rPr lang="en-US" sz="1600" dirty="0"/>
              <a:t>: The razing of villages, destruction of crops, and disruption of trade routes had long-term effects that crippled communities for decades, leading to further population decline.</a:t>
            </a:r>
          </a:p>
        </p:txBody>
      </p:sp>
    </p:spTree>
    <p:extLst>
      <p:ext uri="{BB962C8B-B14F-4D97-AF65-F5344CB8AC3E}">
        <p14:creationId xmlns:p14="http://schemas.microsoft.com/office/powerpoint/2010/main" val="35662656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7B63D-1442-54AB-FC0A-84AD41A9F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B3E1B6-580D-FD8F-06B5-314561C71B99}"/>
              </a:ext>
            </a:extLst>
          </p:cNvPr>
          <p:cNvSpPr>
            <a:spLocks noGrp="1"/>
          </p:cNvSpPr>
          <p:nvPr>
            <p:ph type="title"/>
          </p:nvPr>
        </p:nvSpPr>
        <p:spPr>
          <a:xfrm>
            <a:off x="457200" y="277813"/>
            <a:ext cx="8229600" cy="712787"/>
          </a:xfrm>
        </p:spPr>
        <p:txBody>
          <a:bodyPr/>
          <a:lstStyle/>
          <a:p>
            <a:r>
              <a:rPr lang="en-US" sz="2800" dirty="0">
                <a:solidFill>
                  <a:srgbClr val="FFFF00"/>
                </a:solidFill>
              </a:rPr>
              <a:t>The Long Peace of the European 19</a:t>
            </a:r>
            <a:r>
              <a:rPr lang="en-US" sz="2800" baseline="30000" dirty="0">
                <a:solidFill>
                  <a:srgbClr val="FFFF00"/>
                </a:solidFill>
              </a:rPr>
              <a:t>th</a:t>
            </a:r>
            <a:r>
              <a:rPr lang="en-US" sz="2800" dirty="0">
                <a:solidFill>
                  <a:srgbClr val="FFFF00"/>
                </a:solidFill>
              </a:rPr>
              <a:t> Century</a:t>
            </a:r>
            <a:br>
              <a:rPr lang="en-US" sz="2800" dirty="0">
                <a:solidFill>
                  <a:srgbClr val="FFFF00"/>
                </a:solidFill>
              </a:rPr>
            </a:br>
            <a:r>
              <a:rPr lang="en-US" sz="2800" dirty="0">
                <a:solidFill>
                  <a:srgbClr val="FFFF00"/>
                </a:solidFill>
              </a:rPr>
              <a:t>(1815-1914):  A Liberal Peace?  Nope.</a:t>
            </a:r>
          </a:p>
        </p:txBody>
      </p:sp>
      <p:sp>
        <p:nvSpPr>
          <p:cNvPr id="3" name="Content Placeholder 2">
            <a:extLst>
              <a:ext uri="{FF2B5EF4-FFF2-40B4-BE49-F238E27FC236}">
                <a16:creationId xmlns:a16="http://schemas.microsoft.com/office/drawing/2014/main" id="{19FCADAF-4EC3-D03E-EC4E-58415CCD1278}"/>
              </a:ext>
            </a:extLst>
          </p:cNvPr>
          <p:cNvSpPr>
            <a:spLocks noGrp="1"/>
          </p:cNvSpPr>
          <p:nvPr>
            <p:ph idx="1"/>
          </p:nvPr>
        </p:nvSpPr>
        <p:spPr>
          <a:xfrm>
            <a:off x="457200" y="1295400"/>
            <a:ext cx="8229600" cy="4530725"/>
          </a:xfrm>
        </p:spPr>
        <p:txBody>
          <a:bodyPr/>
          <a:lstStyle/>
          <a:p>
            <a:pPr marL="0" indent="0">
              <a:buNone/>
            </a:pPr>
            <a:endParaRPr lang="en-US" sz="1200" dirty="0"/>
          </a:p>
        </p:txBody>
      </p:sp>
    </p:spTree>
    <p:extLst>
      <p:ext uri="{BB962C8B-B14F-4D97-AF65-F5344CB8AC3E}">
        <p14:creationId xmlns:p14="http://schemas.microsoft.com/office/powerpoint/2010/main" val="21802912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13C62-2EDD-E046-4D43-8985F36D1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FAE84-1123-B9EA-5B1D-487E3425EA8F}"/>
              </a:ext>
            </a:extLst>
          </p:cNvPr>
          <p:cNvSpPr>
            <a:spLocks noGrp="1"/>
          </p:cNvSpPr>
          <p:nvPr>
            <p:ph type="title"/>
          </p:nvPr>
        </p:nvSpPr>
        <p:spPr>
          <a:xfrm>
            <a:off x="457200" y="277813"/>
            <a:ext cx="8229600" cy="712787"/>
          </a:xfrm>
        </p:spPr>
        <p:txBody>
          <a:bodyPr/>
          <a:lstStyle/>
          <a:p>
            <a:r>
              <a:rPr lang="en-US" sz="2800" dirty="0">
                <a:solidFill>
                  <a:srgbClr val="FFFF00"/>
                </a:solidFill>
              </a:rPr>
              <a:t>The Long Peace of the European 19</a:t>
            </a:r>
            <a:r>
              <a:rPr lang="en-US" sz="2800" baseline="30000" dirty="0">
                <a:solidFill>
                  <a:srgbClr val="FFFF00"/>
                </a:solidFill>
              </a:rPr>
              <a:t>th</a:t>
            </a:r>
            <a:r>
              <a:rPr lang="en-US" sz="2800" dirty="0">
                <a:solidFill>
                  <a:srgbClr val="FFFF00"/>
                </a:solidFill>
              </a:rPr>
              <a:t> Century</a:t>
            </a:r>
            <a:br>
              <a:rPr lang="en-US" sz="2800" dirty="0">
                <a:solidFill>
                  <a:srgbClr val="FFFF00"/>
                </a:solidFill>
              </a:rPr>
            </a:br>
            <a:r>
              <a:rPr lang="en-US" sz="2800" dirty="0">
                <a:solidFill>
                  <a:srgbClr val="FFFF00"/>
                </a:solidFill>
              </a:rPr>
              <a:t>(1815-1914):  A Liberal Peace?  Nope.</a:t>
            </a:r>
          </a:p>
        </p:txBody>
      </p:sp>
      <p:sp>
        <p:nvSpPr>
          <p:cNvPr id="3" name="Content Placeholder 2">
            <a:extLst>
              <a:ext uri="{FF2B5EF4-FFF2-40B4-BE49-F238E27FC236}">
                <a16:creationId xmlns:a16="http://schemas.microsoft.com/office/drawing/2014/main" id="{F0297001-D720-3264-1C84-99CD1BD176AE}"/>
              </a:ext>
            </a:extLst>
          </p:cNvPr>
          <p:cNvSpPr>
            <a:spLocks noGrp="1"/>
          </p:cNvSpPr>
          <p:nvPr>
            <p:ph idx="1"/>
          </p:nvPr>
        </p:nvSpPr>
        <p:spPr>
          <a:xfrm>
            <a:off x="457200" y="1295400"/>
            <a:ext cx="8229600" cy="4530725"/>
          </a:xfrm>
        </p:spPr>
        <p:txBody>
          <a:bodyPr/>
          <a:lstStyle/>
          <a:p>
            <a:pPr marL="0" indent="0">
              <a:buNone/>
            </a:pPr>
            <a:endParaRPr lang="en-US" sz="1200" dirty="0"/>
          </a:p>
          <a:p>
            <a:pPr marL="0" indent="0">
              <a:buNone/>
            </a:pPr>
            <a:r>
              <a:rPr lang="en-US" sz="1600" u="sng" dirty="0"/>
              <a:t>The Concert of Europe</a:t>
            </a:r>
            <a:r>
              <a:rPr lang="en-US" sz="1600" dirty="0"/>
              <a:t>: This was not a liberal institution based on a harmony of interests. It was an exclusive club of great powers (Britain, Russia, Prussia, Austria, and France) explicitly designed to manage the balance of power, enforce treaties, and prevent any single nation from dominating the continent as Napoleon had.</a:t>
            </a:r>
          </a:p>
          <a:p>
            <a:pPr marL="0" indent="0">
              <a:buNone/>
            </a:pPr>
            <a:endParaRPr lang="en-US" sz="1600" dirty="0"/>
          </a:p>
        </p:txBody>
      </p:sp>
    </p:spTree>
    <p:extLst>
      <p:ext uri="{BB962C8B-B14F-4D97-AF65-F5344CB8AC3E}">
        <p14:creationId xmlns:p14="http://schemas.microsoft.com/office/powerpoint/2010/main" val="39292811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40145-A9AD-E019-272D-189FACAC0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BDFF3-2573-5531-006E-C25FBE92F2DC}"/>
              </a:ext>
            </a:extLst>
          </p:cNvPr>
          <p:cNvSpPr>
            <a:spLocks noGrp="1"/>
          </p:cNvSpPr>
          <p:nvPr>
            <p:ph type="title"/>
          </p:nvPr>
        </p:nvSpPr>
        <p:spPr>
          <a:xfrm>
            <a:off x="457200" y="277813"/>
            <a:ext cx="8229600" cy="712787"/>
          </a:xfrm>
        </p:spPr>
        <p:txBody>
          <a:bodyPr/>
          <a:lstStyle/>
          <a:p>
            <a:r>
              <a:rPr lang="en-US" sz="2800" dirty="0">
                <a:solidFill>
                  <a:srgbClr val="FFFF00"/>
                </a:solidFill>
              </a:rPr>
              <a:t>The Long Peace of the European 19</a:t>
            </a:r>
            <a:r>
              <a:rPr lang="en-US" sz="2800" baseline="30000" dirty="0">
                <a:solidFill>
                  <a:srgbClr val="FFFF00"/>
                </a:solidFill>
              </a:rPr>
              <a:t>th</a:t>
            </a:r>
            <a:r>
              <a:rPr lang="en-US" sz="2800" dirty="0">
                <a:solidFill>
                  <a:srgbClr val="FFFF00"/>
                </a:solidFill>
              </a:rPr>
              <a:t> Century</a:t>
            </a:r>
            <a:br>
              <a:rPr lang="en-US" sz="2800" dirty="0">
                <a:solidFill>
                  <a:srgbClr val="FFFF00"/>
                </a:solidFill>
              </a:rPr>
            </a:br>
            <a:r>
              <a:rPr lang="en-US" sz="2800" dirty="0">
                <a:solidFill>
                  <a:srgbClr val="FFFF00"/>
                </a:solidFill>
              </a:rPr>
              <a:t>(1815-1914):  A Liberal Peace?  Nope.</a:t>
            </a:r>
          </a:p>
        </p:txBody>
      </p:sp>
      <p:sp>
        <p:nvSpPr>
          <p:cNvPr id="3" name="Content Placeholder 2">
            <a:extLst>
              <a:ext uri="{FF2B5EF4-FFF2-40B4-BE49-F238E27FC236}">
                <a16:creationId xmlns:a16="http://schemas.microsoft.com/office/drawing/2014/main" id="{4CD1903D-71AC-0CB2-345D-3C50DAB961A6}"/>
              </a:ext>
            </a:extLst>
          </p:cNvPr>
          <p:cNvSpPr>
            <a:spLocks noGrp="1"/>
          </p:cNvSpPr>
          <p:nvPr>
            <p:ph idx="1"/>
          </p:nvPr>
        </p:nvSpPr>
        <p:spPr>
          <a:xfrm>
            <a:off x="457200" y="1295400"/>
            <a:ext cx="8229600" cy="4530725"/>
          </a:xfrm>
        </p:spPr>
        <p:txBody>
          <a:bodyPr/>
          <a:lstStyle/>
          <a:p>
            <a:pPr marL="0" indent="0">
              <a:buNone/>
            </a:pPr>
            <a:endParaRPr lang="en-US" sz="1200" dirty="0"/>
          </a:p>
          <a:p>
            <a:pPr marL="0" indent="0">
              <a:buNone/>
            </a:pPr>
            <a:r>
              <a:rPr lang="en-US" sz="1600" u="sng" dirty="0"/>
              <a:t>The Concert of Europe</a:t>
            </a:r>
            <a:r>
              <a:rPr lang="en-US" sz="1600" dirty="0"/>
              <a:t>: This was not a liberal institution based on a harmony of interests. It was an exclusive club of great powers (Britain, Russia, Prussia, Austria, and France) explicitly designed to manage the balance of power, enforce treaties, and prevent any single nation from dominating the continent as Napoleon had.</a:t>
            </a:r>
          </a:p>
          <a:p>
            <a:pPr marL="0" indent="0">
              <a:buNone/>
            </a:pPr>
            <a:endParaRPr lang="en-US" sz="1600" dirty="0"/>
          </a:p>
          <a:p>
            <a:pPr marL="0" indent="0">
              <a:buNone/>
            </a:pPr>
            <a:r>
              <a:rPr lang="en-US" sz="1600" u="sng" dirty="0"/>
              <a:t>Shared Conservative Interests</a:t>
            </a:r>
            <a:r>
              <a:rPr lang="en-US" sz="1600" dirty="0"/>
              <a:t>: For the first few decades, the primary goal of the Concert's key members (Austria, Prussia, Russia) was to suppress the very liberal and nationalist revolutions that might have created more Kantian-style republics. It was a peace designed to protect monarchies, not promote liberal values.</a:t>
            </a:r>
          </a:p>
          <a:p>
            <a:pPr marL="0" indent="0">
              <a:buNone/>
            </a:pPr>
            <a:endParaRPr lang="en-US" sz="1600" dirty="0"/>
          </a:p>
        </p:txBody>
      </p:sp>
    </p:spTree>
    <p:extLst>
      <p:ext uri="{BB962C8B-B14F-4D97-AF65-F5344CB8AC3E}">
        <p14:creationId xmlns:p14="http://schemas.microsoft.com/office/powerpoint/2010/main" val="11636702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62E64-4F7B-EB72-B1F0-BDB58DF7D8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1B56BB-B04B-8116-9380-ECBDCB4FEF86}"/>
              </a:ext>
            </a:extLst>
          </p:cNvPr>
          <p:cNvSpPr>
            <a:spLocks noGrp="1"/>
          </p:cNvSpPr>
          <p:nvPr>
            <p:ph type="title"/>
          </p:nvPr>
        </p:nvSpPr>
        <p:spPr>
          <a:xfrm>
            <a:off x="457200" y="277813"/>
            <a:ext cx="8229600" cy="712787"/>
          </a:xfrm>
        </p:spPr>
        <p:txBody>
          <a:bodyPr/>
          <a:lstStyle/>
          <a:p>
            <a:r>
              <a:rPr lang="en-US" sz="2800" dirty="0">
                <a:solidFill>
                  <a:srgbClr val="FFFF00"/>
                </a:solidFill>
              </a:rPr>
              <a:t>The Long Peace of the European 19</a:t>
            </a:r>
            <a:r>
              <a:rPr lang="en-US" sz="2800" baseline="30000" dirty="0">
                <a:solidFill>
                  <a:srgbClr val="FFFF00"/>
                </a:solidFill>
              </a:rPr>
              <a:t>th</a:t>
            </a:r>
            <a:r>
              <a:rPr lang="en-US" sz="2800" dirty="0">
                <a:solidFill>
                  <a:srgbClr val="FFFF00"/>
                </a:solidFill>
              </a:rPr>
              <a:t> Century</a:t>
            </a:r>
            <a:br>
              <a:rPr lang="en-US" sz="2800" dirty="0">
                <a:solidFill>
                  <a:srgbClr val="FFFF00"/>
                </a:solidFill>
              </a:rPr>
            </a:br>
            <a:r>
              <a:rPr lang="en-US" sz="2800" dirty="0">
                <a:solidFill>
                  <a:srgbClr val="FFFF00"/>
                </a:solidFill>
              </a:rPr>
              <a:t>(1815-1914):  A Liberal Peace?  Nope.</a:t>
            </a:r>
          </a:p>
        </p:txBody>
      </p:sp>
      <p:sp>
        <p:nvSpPr>
          <p:cNvPr id="3" name="Content Placeholder 2">
            <a:extLst>
              <a:ext uri="{FF2B5EF4-FFF2-40B4-BE49-F238E27FC236}">
                <a16:creationId xmlns:a16="http://schemas.microsoft.com/office/drawing/2014/main" id="{75BBA875-502B-1171-6945-377CDD15EC11}"/>
              </a:ext>
            </a:extLst>
          </p:cNvPr>
          <p:cNvSpPr>
            <a:spLocks noGrp="1"/>
          </p:cNvSpPr>
          <p:nvPr>
            <p:ph idx="1"/>
          </p:nvPr>
        </p:nvSpPr>
        <p:spPr>
          <a:xfrm>
            <a:off x="457200" y="1295400"/>
            <a:ext cx="8229600" cy="4530725"/>
          </a:xfrm>
        </p:spPr>
        <p:txBody>
          <a:bodyPr/>
          <a:lstStyle/>
          <a:p>
            <a:pPr marL="0" indent="0">
              <a:buNone/>
            </a:pPr>
            <a:endParaRPr lang="en-US" sz="1200" dirty="0"/>
          </a:p>
          <a:p>
            <a:pPr marL="0" indent="0">
              <a:buNone/>
            </a:pPr>
            <a:r>
              <a:rPr lang="en-US" sz="1600" u="sng" dirty="0"/>
              <a:t>The Concert of Europe</a:t>
            </a:r>
            <a:r>
              <a:rPr lang="en-US" sz="1600" dirty="0"/>
              <a:t>: This was not a liberal institution based on a harmony of interests. It was an exclusive club of great powers (Britain, Russia, Prussia, Austria, and France) explicitly designed to manage the balance of power, enforce treaties, and prevent any single nation from dominating the continent as Napoleon had.</a:t>
            </a:r>
          </a:p>
          <a:p>
            <a:pPr marL="0" indent="0">
              <a:buNone/>
            </a:pPr>
            <a:endParaRPr lang="en-US" sz="1600" dirty="0"/>
          </a:p>
          <a:p>
            <a:pPr marL="0" indent="0">
              <a:buNone/>
            </a:pPr>
            <a:r>
              <a:rPr lang="en-US" sz="1600" u="sng" dirty="0"/>
              <a:t>Shared Conservative Interests</a:t>
            </a:r>
            <a:r>
              <a:rPr lang="en-US" sz="1600" dirty="0"/>
              <a:t>: For the first few decades, the primary goal of the Concert's key members (Austria, Prussia, Russia) was to suppress the very liberal and nationalist revolutions that might have created more Kantian-style republics. It was a peace designed to protect monarchies, not promote liberal values.</a:t>
            </a:r>
          </a:p>
          <a:p>
            <a:pPr marL="0" indent="0">
              <a:buNone/>
            </a:pPr>
            <a:endParaRPr lang="en-US" sz="1600" dirty="0"/>
          </a:p>
          <a:p>
            <a:pPr marL="0" indent="0">
              <a:buNone/>
            </a:pPr>
            <a:r>
              <a:rPr lang="en-US" sz="1600" u="sng" dirty="0"/>
              <a:t>British Hegemony</a:t>
            </a:r>
            <a:r>
              <a:rPr lang="en-US" sz="1600" dirty="0"/>
              <a:t>: The system was underwritten by Britain's role as an "offshore balancer." The Royal Navy's dominance kept the sea lanes open for the trade liberals prized, but it was also an instrument of power that could be used to check any rising European challenger.</a:t>
            </a:r>
          </a:p>
          <a:p>
            <a:pPr marL="0" indent="0">
              <a:buNone/>
            </a:pPr>
            <a:endParaRPr lang="en-US" sz="1600" dirty="0"/>
          </a:p>
        </p:txBody>
      </p:sp>
    </p:spTree>
    <p:extLst>
      <p:ext uri="{BB962C8B-B14F-4D97-AF65-F5344CB8AC3E}">
        <p14:creationId xmlns:p14="http://schemas.microsoft.com/office/powerpoint/2010/main" val="20010500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41EBF-489B-FBD3-9215-017D26BA8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C8E6C-94FC-F1ED-5CEE-1A1A07B61883}"/>
              </a:ext>
            </a:extLst>
          </p:cNvPr>
          <p:cNvSpPr>
            <a:spLocks noGrp="1"/>
          </p:cNvSpPr>
          <p:nvPr>
            <p:ph type="title"/>
          </p:nvPr>
        </p:nvSpPr>
        <p:spPr>
          <a:xfrm>
            <a:off x="457200" y="277813"/>
            <a:ext cx="8229600" cy="712787"/>
          </a:xfrm>
        </p:spPr>
        <p:txBody>
          <a:bodyPr/>
          <a:lstStyle/>
          <a:p>
            <a:r>
              <a:rPr lang="en-US" sz="2800" dirty="0">
                <a:solidFill>
                  <a:srgbClr val="FFFF00"/>
                </a:solidFill>
              </a:rPr>
              <a:t>The Long Peace of the European 19</a:t>
            </a:r>
            <a:r>
              <a:rPr lang="en-US" sz="2800" baseline="30000" dirty="0">
                <a:solidFill>
                  <a:srgbClr val="FFFF00"/>
                </a:solidFill>
              </a:rPr>
              <a:t>th</a:t>
            </a:r>
            <a:r>
              <a:rPr lang="en-US" sz="2800" dirty="0">
                <a:solidFill>
                  <a:srgbClr val="FFFF00"/>
                </a:solidFill>
              </a:rPr>
              <a:t> Century</a:t>
            </a:r>
            <a:br>
              <a:rPr lang="en-US" sz="2800" dirty="0">
                <a:solidFill>
                  <a:srgbClr val="FFFF00"/>
                </a:solidFill>
              </a:rPr>
            </a:br>
            <a:r>
              <a:rPr lang="en-US" sz="2800" dirty="0">
                <a:solidFill>
                  <a:srgbClr val="FFFF00"/>
                </a:solidFill>
              </a:rPr>
              <a:t>(1815-1914):  A Liberal Peace?  Nope.</a:t>
            </a:r>
          </a:p>
        </p:txBody>
      </p:sp>
      <p:sp>
        <p:nvSpPr>
          <p:cNvPr id="3" name="Content Placeholder 2">
            <a:extLst>
              <a:ext uri="{FF2B5EF4-FFF2-40B4-BE49-F238E27FC236}">
                <a16:creationId xmlns:a16="http://schemas.microsoft.com/office/drawing/2014/main" id="{ED00D716-4D43-4671-ED54-3869FFE34F93}"/>
              </a:ext>
            </a:extLst>
          </p:cNvPr>
          <p:cNvSpPr>
            <a:spLocks noGrp="1"/>
          </p:cNvSpPr>
          <p:nvPr>
            <p:ph idx="1"/>
          </p:nvPr>
        </p:nvSpPr>
        <p:spPr>
          <a:xfrm>
            <a:off x="457200" y="1295400"/>
            <a:ext cx="8229600" cy="4530725"/>
          </a:xfrm>
        </p:spPr>
        <p:txBody>
          <a:bodyPr/>
          <a:lstStyle/>
          <a:p>
            <a:pPr marL="0" indent="0">
              <a:buNone/>
            </a:pPr>
            <a:endParaRPr lang="en-US" sz="1200" dirty="0"/>
          </a:p>
          <a:p>
            <a:pPr marL="0" indent="0">
              <a:buNone/>
            </a:pPr>
            <a:r>
              <a:rPr lang="en-US" sz="1600" u="sng" dirty="0"/>
              <a:t>The Concert of Europe</a:t>
            </a:r>
            <a:r>
              <a:rPr lang="en-US" sz="1600" dirty="0"/>
              <a:t>: This was not a liberal institution based on a harmony of interests. It was an exclusive club of great powers (Britain, Russia, Prussia, Austria, and France) explicitly designed to manage the balance of power, enforce treaties, and prevent any single nation from dominating the continent as Napoleon had.</a:t>
            </a:r>
          </a:p>
          <a:p>
            <a:pPr marL="0" indent="0">
              <a:buNone/>
            </a:pPr>
            <a:endParaRPr lang="en-US" sz="1600" dirty="0"/>
          </a:p>
          <a:p>
            <a:pPr marL="0" indent="0">
              <a:buNone/>
            </a:pPr>
            <a:r>
              <a:rPr lang="en-US" sz="1600" u="sng" dirty="0"/>
              <a:t>Shared Conservative Interests</a:t>
            </a:r>
            <a:r>
              <a:rPr lang="en-US" sz="1600" dirty="0"/>
              <a:t>: For the first few decades, the primary goal of the Concert's key members (Austria, Prussia, Russia) was to suppress the very liberal and nationalist revolutions that might have created more Kantian-style republics. It was a peace designed to protect monarchies, not promote liberal values.</a:t>
            </a:r>
          </a:p>
          <a:p>
            <a:pPr marL="0" indent="0">
              <a:buNone/>
            </a:pPr>
            <a:endParaRPr lang="en-US" sz="1600" dirty="0"/>
          </a:p>
          <a:p>
            <a:pPr marL="0" indent="0">
              <a:buNone/>
            </a:pPr>
            <a:r>
              <a:rPr lang="en-US" sz="1600" u="sng" dirty="0"/>
              <a:t>British Hegemony</a:t>
            </a:r>
            <a:r>
              <a:rPr lang="en-US" sz="1600" dirty="0"/>
              <a:t>: The system was underwritten by Britain's role as an "offshore balancer." The Royal Navy's dominance kept the sea lanes open for the trade liberals prized, but it was also an instrument of power that could be used to check any rising European challenger.</a:t>
            </a:r>
          </a:p>
          <a:p>
            <a:pPr marL="0" indent="0">
              <a:buNone/>
            </a:pPr>
            <a:endParaRPr lang="en-US" sz="1600" dirty="0"/>
          </a:p>
          <a:p>
            <a:pPr marL="0" indent="0">
              <a:buNone/>
            </a:pPr>
            <a:r>
              <a:rPr lang="en-US" sz="1600" u="sng" dirty="0"/>
              <a:t>The Ultimate Failure (WWI)</a:t>
            </a:r>
            <a:r>
              <a:rPr lang="en-US" sz="1600" dirty="0"/>
              <a:t>: The most powerful argument against the liberal interpretation is that the system ultimately failed in the most spectacular way possible. The year 1913 represented a historic peak of global economic interdependence. If commercial liberalism were a sufficient cause for peace, World War I should never have happened.</a:t>
            </a:r>
          </a:p>
        </p:txBody>
      </p:sp>
    </p:spTree>
    <p:extLst>
      <p:ext uri="{BB962C8B-B14F-4D97-AF65-F5344CB8AC3E}">
        <p14:creationId xmlns:p14="http://schemas.microsoft.com/office/powerpoint/2010/main" val="19316764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A0C02-7B42-4144-3E9A-91A8B7A7E3F7}"/>
              </a:ext>
            </a:extLst>
          </p:cNvPr>
          <p:cNvSpPr>
            <a:spLocks noGrp="1"/>
          </p:cNvSpPr>
          <p:nvPr>
            <p:ph type="title"/>
          </p:nvPr>
        </p:nvSpPr>
        <p:spPr>
          <a:xfrm>
            <a:off x="457200" y="33338"/>
            <a:ext cx="8229600" cy="1066800"/>
          </a:xfrm>
        </p:spPr>
        <p:txBody>
          <a:bodyPr/>
          <a:lstStyle/>
          <a:p>
            <a:pPr eaLnBrk="1" hangingPunct="1">
              <a:defRPr/>
            </a:pPr>
            <a:r>
              <a:rPr lang="en-US" altLang="x-none" sz="3600" dirty="0">
                <a:solidFill>
                  <a:srgbClr val="FFFF00"/>
                </a:solidFill>
                <a:ea typeface="ＭＳ Ｐゴシック" charset="-128"/>
              </a:rPr>
              <a:t>20</a:t>
            </a:r>
            <a:r>
              <a:rPr lang="en-US" altLang="x-none" sz="3600" baseline="30000" dirty="0">
                <a:solidFill>
                  <a:srgbClr val="FFFF00"/>
                </a:solidFill>
                <a:ea typeface="ＭＳ Ｐゴシック" charset="-128"/>
              </a:rPr>
              <a:t>th</a:t>
            </a:r>
            <a:r>
              <a:rPr lang="en-US" altLang="x-none" sz="3600" dirty="0">
                <a:solidFill>
                  <a:srgbClr val="FFFF00"/>
                </a:solidFill>
                <a:ea typeface="ＭＳ Ｐゴシック" charset="-128"/>
              </a:rPr>
              <a:t>/21</a:t>
            </a:r>
            <a:r>
              <a:rPr lang="en-US" altLang="x-none" sz="3600" baseline="30000" dirty="0">
                <a:solidFill>
                  <a:srgbClr val="FFFF00"/>
                </a:solidFill>
                <a:ea typeface="ＭＳ Ｐゴシック" charset="-128"/>
              </a:rPr>
              <a:t>st</a:t>
            </a:r>
            <a:r>
              <a:rPr lang="en-US" altLang="x-none" sz="3600" dirty="0">
                <a:solidFill>
                  <a:srgbClr val="FFFF00"/>
                </a:solidFill>
                <a:ea typeface="ＭＳ Ｐゴシック" charset="-128"/>
              </a:rPr>
              <a:t> Century Western IR Theory</a:t>
            </a:r>
          </a:p>
        </p:txBody>
      </p:sp>
      <p:sp>
        <p:nvSpPr>
          <p:cNvPr id="3" name="Content Placeholder 2">
            <a:extLst>
              <a:ext uri="{FF2B5EF4-FFF2-40B4-BE49-F238E27FC236}">
                <a16:creationId xmlns:a16="http://schemas.microsoft.com/office/drawing/2014/main" id="{A6051A59-8EB0-EB61-5742-3AE9846516C8}"/>
              </a:ext>
            </a:extLst>
          </p:cNvPr>
          <p:cNvSpPr>
            <a:spLocks noGrp="1"/>
          </p:cNvSpPr>
          <p:nvPr>
            <p:ph idx="1"/>
          </p:nvPr>
        </p:nvSpPr>
        <p:spPr>
          <a:xfrm>
            <a:off x="152400" y="1600200"/>
            <a:ext cx="8839200" cy="4530725"/>
          </a:xfrm>
        </p:spPr>
        <p:txBody>
          <a:bodyPr/>
          <a:lstStyle/>
          <a:p>
            <a:pPr marL="0" indent="0" eaLnBrk="1" hangingPunct="1">
              <a:spcBef>
                <a:spcPct val="0"/>
              </a:spcBef>
              <a:buFont typeface="Wingdings" charset="2"/>
              <a:buNone/>
              <a:defRPr/>
            </a:pPr>
            <a:r>
              <a:rPr lang="en-US" altLang="x-none" sz="2000" dirty="0">
                <a:ea typeface="ＭＳ Ｐゴシック" charset="-128"/>
              </a:rPr>
              <a:t>1919-</a:t>
            </a:r>
            <a:r>
              <a:rPr lang="ja-JP" altLang="en-US" sz="2000" dirty="0">
                <a:ea typeface="ＭＳ Ｐゴシック" charset="-128"/>
              </a:rPr>
              <a:t>’</a:t>
            </a:r>
            <a:r>
              <a:rPr lang="en-US" altLang="ja-JP" sz="2000" dirty="0">
                <a:ea typeface="ＭＳ Ｐゴシック" charset="-128"/>
              </a:rPr>
              <a:t>39:	Liberalism, or “Idealism,” dominant</a:t>
            </a:r>
          </a:p>
          <a:p>
            <a:pPr marL="0" indent="0" eaLnBrk="1" hangingPunct="1">
              <a:spcBef>
                <a:spcPct val="0"/>
              </a:spcBef>
              <a:buFont typeface="Wingdings" charset="2"/>
              <a:buNone/>
              <a:defRPr/>
            </a:pPr>
            <a:endParaRPr lang="en-US" altLang="x-none" sz="2000" dirty="0">
              <a:ea typeface="ＭＳ Ｐゴシック" charset="-128"/>
            </a:endParaRPr>
          </a:p>
          <a:p>
            <a:pPr marL="0" indent="0" eaLnBrk="1" hangingPunct="1">
              <a:spcBef>
                <a:spcPct val="0"/>
              </a:spcBef>
              <a:buFont typeface="Wingdings" charset="2"/>
              <a:buNone/>
              <a:defRPr/>
            </a:pPr>
            <a:r>
              <a:rPr lang="en-US" altLang="x-none" sz="2000" dirty="0">
                <a:ea typeface="ＭＳ Ｐゴシック" charset="-128"/>
              </a:rPr>
              <a:t>1939-</a:t>
            </a:r>
            <a:r>
              <a:rPr lang="ja-JP" altLang="en-US" sz="2000" dirty="0">
                <a:ea typeface="ＭＳ Ｐゴシック" charset="-128"/>
              </a:rPr>
              <a:t>’</a:t>
            </a:r>
            <a:r>
              <a:rPr lang="en-US" altLang="ja-JP" sz="2000" dirty="0">
                <a:ea typeface="ＭＳ Ｐゴシック" charset="-128"/>
              </a:rPr>
              <a:t>69:	Realism dominant, </a:t>
            </a:r>
            <a:r>
              <a:rPr lang="en-US" altLang="ja-JP" sz="2000" dirty="0">
                <a:solidFill>
                  <a:srgbClr val="92D050"/>
                </a:solidFill>
                <a:ea typeface="ＭＳ Ｐゴシック" charset="-128"/>
              </a:rPr>
              <a:t>EXCEPT for late 1940s interlude</a:t>
            </a:r>
            <a:r>
              <a:rPr lang="en-US" altLang="ja-JP" sz="2000" dirty="0">
                <a:ea typeface="ＭＳ Ｐゴシック" charset="-128"/>
              </a:rPr>
              <a:t>; 			Realists mock Liberals as Idealists</a:t>
            </a:r>
          </a:p>
          <a:p>
            <a:pPr marL="0" indent="0" eaLnBrk="1" hangingPunct="1">
              <a:spcBef>
                <a:spcPct val="0"/>
              </a:spcBef>
              <a:buFont typeface="Wingdings" charset="2"/>
              <a:buNone/>
              <a:defRPr/>
            </a:pPr>
            <a:endParaRPr lang="en-US" altLang="x-none" sz="2000" dirty="0">
              <a:ea typeface="ＭＳ Ｐゴシック" charset="-128"/>
            </a:endParaRPr>
          </a:p>
          <a:p>
            <a:pPr marL="0" indent="0" eaLnBrk="1" hangingPunct="1">
              <a:spcBef>
                <a:spcPct val="0"/>
              </a:spcBef>
              <a:buFont typeface="Wingdings" charset="2"/>
              <a:buNone/>
              <a:defRPr/>
            </a:pPr>
            <a:r>
              <a:rPr lang="en-US" altLang="x-none" sz="2000" dirty="0">
                <a:solidFill>
                  <a:srgbClr val="00B0F0"/>
                </a:solidFill>
                <a:ea typeface="ＭＳ Ｐゴシック" charset="-128"/>
              </a:rPr>
              <a:t>1970s:		Discovery of transnational relations and interdependence  		gives rise to Neoliberalism</a:t>
            </a:r>
          </a:p>
          <a:p>
            <a:pPr marL="0" indent="0" eaLnBrk="1" hangingPunct="1">
              <a:spcBef>
                <a:spcPct val="0"/>
              </a:spcBef>
              <a:buFont typeface="Wingdings" charset="2"/>
              <a:buNone/>
              <a:defRPr/>
            </a:pPr>
            <a:endParaRPr lang="en-US" altLang="x-none" sz="2000" dirty="0">
              <a:ea typeface="ＭＳ Ｐゴシック" charset="-128"/>
            </a:endParaRPr>
          </a:p>
          <a:p>
            <a:pPr marL="0" indent="0" eaLnBrk="1" hangingPunct="1">
              <a:spcBef>
                <a:spcPct val="0"/>
              </a:spcBef>
              <a:buFont typeface="Wingdings" charset="2"/>
              <a:buNone/>
              <a:defRPr/>
            </a:pPr>
            <a:r>
              <a:rPr lang="en-US" altLang="x-none" sz="2000" dirty="0">
                <a:ea typeface="ＭＳ Ｐゴシック" charset="-128"/>
              </a:rPr>
              <a:t>1979-</a:t>
            </a:r>
            <a:r>
              <a:rPr lang="ja-JP" altLang="en-US" sz="2000" dirty="0">
                <a:ea typeface="ＭＳ Ｐゴシック" charset="-128"/>
              </a:rPr>
              <a:t>’</a:t>
            </a:r>
            <a:r>
              <a:rPr lang="en-US" altLang="ja-JP" sz="2000" dirty="0">
                <a:ea typeface="ＭＳ Ｐゴシック" charset="-128"/>
              </a:rPr>
              <a:t>89:	Emergence of the </a:t>
            </a:r>
            <a:r>
              <a:rPr lang="ja-JP" altLang="en-US" sz="2000" dirty="0">
                <a:ea typeface="ＭＳ Ｐゴシック" charset="-128"/>
              </a:rPr>
              <a:t>“</a:t>
            </a:r>
            <a:r>
              <a:rPr lang="en-US" altLang="ja-JP" sz="2000" dirty="0">
                <a:ea typeface="ＭＳ Ｐゴシック" charset="-128"/>
              </a:rPr>
              <a:t>Neo-Neo Debate</a:t>
            </a:r>
            <a:r>
              <a:rPr lang="ja-JP" altLang="en-US" sz="2000" dirty="0">
                <a:ea typeface="ＭＳ Ｐゴシック" charset="-128"/>
              </a:rPr>
              <a:t>”</a:t>
            </a:r>
            <a:endParaRPr lang="en-US" altLang="ja-JP" sz="2000" dirty="0">
              <a:ea typeface="ＭＳ Ｐゴシック" charset="-128"/>
            </a:endParaRPr>
          </a:p>
          <a:p>
            <a:pPr marL="0" indent="0" eaLnBrk="1" hangingPunct="1">
              <a:spcBef>
                <a:spcPct val="0"/>
              </a:spcBef>
              <a:buFont typeface="Wingdings" charset="2"/>
              <a:buNone/>
              <a:defRPr/>
            </a:pPr>
            <a:endParaRPr lang="en-US" altLang="x-none" sz="2000" dirty="0">
              <a:ea typeface="ＭＳ Ｐゴシック" charset="-128"/>
            </a:endParaRPr>
          </a:p>
          <a:p>
            <a:pPr marL="0" indent="0" eaLnBrk="1" hangingPunct="1">
              <a:spcBef>
                <a:spcPct val="0"/>
              </a:spcBef>
              <a:buFont typeface="Wingdings" charset="2"/>
              <a:buNone/>
              <a:defRPr/>
            </a:pPr>
            <a:r>
              <a:rPr lang="en-US" altLang="x-none" sz="2000" dirty="0">
                <a:ea typeface="ＭＳ Ｐゴシック" charset="-128"/>
              </a:rPr>
              <a:t>1990s:		Fukuyama’s “End of History;” democratic peace hypothesis;</a:t>
            </a:r>
            <a:r>
              <a:rPr lang="en-US" altLang="x-none" sz="800" dirty="0">
                <a:ea typeface="ＭＳ Ｐゴシック" charset="-128"/>
              </a:rPr>
              <a:t> 		</a:t>
            </a:r>
            <a:r>
              <a:rPr lang="en-US" altLang="x-none" sz="2000" dirty="0">
                <a:ea typeface="ＭＳ Ｐゴシック" charset="-128"/>
              </a:rPr>
              <a:t>Constructivism; Critical Theory; Feminist IR Theory</a:t>
            </a:r>
          </a:p>
          <a:p>
            <a:pPr marL="0" indent="0" eaLnBrk="1" hangingPunct="1">
              <a:spcBef>
                <a:spcPct val="0"/>
              </a:spcBef>
              <a:buFont typeface="Wingdings" charset="2"/>
              <a:buNone/>
              <a:defRPr/>
            </a:pPr>
            <a:endParaRPr lang="en-US" altLang="x-none" sz="2000" dirty="0">
              <a:ea typeface="ＭＳ Ｐゴシック" charset="-128"/>
            </a:endParaRPr>
          </a:p>
          <a:p>
            <a:pPr marL="0" indent="0" eaLnBrk="1" hangingPunct="1">
              <a:spcBef>
                <a:spcPct val="0"/>
              </a:spcBef>
              <a:buFont typeface="Wingdings" charset="2"/>
              <a:buNone/>
              <a:defRPr/>
            </a:pPr>
            <a:r>
              <a:rPr lang="en-US" altLang="x-none" sz="2000" dirty="0">
                <a:ea typeface="ＭＳ Ｐゴシック" charset="-128"/>
              </a:rPr>
              <a:t>2000s-2010s:	Return of Realism, especially Power Transition Theory</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6A412392-E9E1-6720-E775-983067F12F41}"/>
              </a:ext>
            </a:extLst>
          </p:cNvPr>
          <p:cNvSpPr>
            <a:spLocks noGrp="1" noChangeArrowheads="1"/>
          </p:cNvSpPr>
          <p:nvPr>
            <p:ph type="title"/>
          </p:nvPr>
        </p:nvSpPr>
        <p:spPr/>
        <p:txBody>
          <a:bodyPr/>
          <a:lstStyle/>
          <a:p>
            <a:pPr eaLnBrk="1" hangingPunct="1">
              <a:defRPr/>
            </a:pPr>
            <a:r>
              <a:rPr lang="en-US" altLang="x-none" sz="3600" dirty="0">
                <a:solidFill>
                  <a:srgbClr val="FFFF00"/>
                </a:solidFill>
                <a:ea typeface="ＭＳ Ｐゴシック" charset="-128"/>
              </a:rPr>
              <a:t>Little</a:t>
            </a:r>
            <a:r>
              <a:rPr lang="ja-JP" altLang="en-US" sz="3600">
                <a:solidFill>
                  <a:srgbClr val="FFFF00"/>
                </a:solidFill>
                <a:ea typeface="ＭＳ Ｐゴシック" charset="-128"/>
              </a:rPr>
              <a:t>’</a:t>
            </a:r>
            <a:r>
              <a:rPr lang="en-US" altLang="ja-JP" sz="3600" dirty="0">
                <a:solidFill>
                  <a:srgbClr val="FFFF00"/>
                </a:solidFill>
                <a:ea typeface="ＭＳ Ｐゴシック" charset="-128"/>
              </a:rPr>
              <a:t>s </a:t>
            </a:r>
            <a:r>
              <a:rPr lang="ja-JP" altLang="en-US" sz="3600">
                <a:solidFill>
                  <a:srgbClr val="FFFF00"/>
                </a:solidFill>
                <a:ea typeface="ＭＳ Ｐゴシック" charset="-128"/>
              </a:rPr>
              <a:t>“</a:t>
            </a:r>
            <a:r>
              <a:rPr lang="en-US" altLang="ja-JP" sz="3600" dirty="0">
                <a:solidFill>
                  <a:srgbClr val="FFFF00"/>
                </a:solidFill>
                <a:ea typeface="ＭＳ Ｐゴシック" charset="-128"/>
              </a:rPr>
              <a:t>Three Key Discoveries</a:t>
            </a:r>
            <a:r>
              <a:rPr lang="ja-JP" altLang="en-US" sz="3600">
                <a:solidFill>
                  <a:srgbClr val="FFFF00"/>
                </a:solidFill>
                <a:ea typeface="ＭＳ Ｐゴシック" charset="-128"/>
              </a:rPr>
              <a:t>”</a:t>
            </a:r>
            <a:r>
              <a:rPr lang="en-US" altLang="ja-JP" sz="3600" dirty="0">
                <a:solidFill>
                  <a:srgbClr val="FFFF00"/>
                </a:solidFill>
                <a:ea typeface="ＭＳ Ｐゴシック" charset="-128"/>
              </a:rPr>
              <a:t> (by Neoliberals) in the 1960s and ‘70s</a:t>
            </a:r>
            <a:endParaRPr lang="en-US" altLang="x-none" sz="3600" dirty="0">
              <a:solidFill>
                <a:srgbClr val="FFFF00"/>
              </a:solidFill>
              <a:ea typeface="ＭＳ Ｐゴシック" charset="-128"/>
            </a:endParaRPr>
          </a:p>
        </p:txBody>
      </p:sp>
      <p:sp>
        <p:nvSpPr>
          <p:cNvPr id="367619" name="Rectangle 3">
            <a:extLst>
              <a:ext uri="{FF2B5EF4-FFF2-40B4-BE49-F238E27FC236}">
                <a16:creationId xmlns:a16="http://schemas.microsoft.com/office/drawing/2014/main" id="{8AC96825-D64E-DDCC-810A-CAF59134F75E}"/>
              </a:ext>
            </a:extLst>
          </p:cNvPr>
          <p:cNvSpPr>
            <a:spLocks noGrp="1" noChangeArrowheads="1"/>
          </p:cNvSpPr>
          <p:nvPr>
            <p:ph type="body" idx="1"/>
          </p:nvPr>
        </p:nvSpPr>
        <p:spPr/>
        <p:txBody>
          <a:bodyPr/>
          <a:lstStyle/>
          <a:p>
            <a:pPr marL="609600" indent="-609600" eaLnBrk="1" hangingPunct="1">
              <a:buFont typeface="Wingdings" charset="2"/>
              <a:buNone/>
              <a:defRPr/>
            </a:pPr>
            <a:endParaRPr lang="en-US" altLang="x-none" dirty="0">
              <a:ea typeface="ＭＳ Ｐゴシック" charset="-128"/>
            </a:endParaRPr>
          </a:p>
          <a:p>
            <a:pPr marL="609600" indent="-609600" eaLnBrk="1" hangingPunct="1">
              <a:buFont typeface="Wingdings" charset="2"/>
              <a:buNone/>
              <a:defRPr/>
            </a:pPr>
            <a:r>
              <a:rPr lang="en-US" altLang="x-none" dirty="0">
                <a:ea typeface="ＭＳ Ｐゴシック" charset="-128"/>
              </a:rPr>
              <a:t>1.	State fragmentation</a:t>
            </a:r>
          </a:p>
          <a:p>
            <a:pPr marL="609600" indent="-609600" eaLnBrk="1" hangingPunct="1">
              <a:buFont typeface="Wingdings" charset="2"/>
              <a:buNone/>
              <a:defRPr/>
            </a:pPr>
            <a:endParaRPr lang="en-US" altLang="x-none" dirty="0">
              <a:ea typeface="ＭＳ Ｐゴシック" charset="-128"/>
            </a:endParaRPr>
          </a:p>
          <a:p>
            <a:pPr marL="609600" indent="-609600" eaLnBrk="1" hangingPunct="1">
              <a:buFont typeface="Wingdings" charset="2"/>
              <a:buNone/>
              <a:defRPr/>
            </a:pPr>
            <a:r>
              <a:rPr lang="en-US" altLang="x-none" dirty="0">
                <a:ea typeface="ＭＳ Ｐゴシック" charset="-128"/>
              </a:rPr>
              <a:t>2.	Transnationalism</a:t>
            </a:r>
          </a:p>
          <a:p>
            <a:pPr marL="609600" indent="-609600" eaLnBrk="1" hangingPunct="1">
              <a:buFont typeface="Wingdings" charset="2"/>
              <a:buNone/>
              <a:defRPr/>
            </a:pPr>
            <a:endParaRPr lang="en-US" altLang="x-none" dirty="0">
              <a:ea typeface="ＭＳ Ｐゴシック" charset="-128"/>
            </a:endParaRPr>
          </a:p>
          <a:p>
            <a:pPr marL="609600" indent="-609600" eaLnBrk="1" hangingPunct="1">
              <a:buFont typeface="Wingdings" charset="2"/>
              <a:buNone/>
              <a:defRPr/>
            </a:pPr>
            <a:r>
              <a:rPr lang="en-US" altLang="x-none" dirty="0">
                <a:ea typeface="ＭＳ Ｐゴシック" charset="-128"/>
              </a:rPr>
              <a:t>3.	Interdependence</a:t>
            </a:r>
          </a:p>
        </p:txBody>
      </p:sp>
      <p:pic>
        <p:nvPicPr>
          <p:cNvPr id="39939" name="Picture 4" descr="Little, Richard">
            <a:extLst>
              <a:ext uri="{FF2B5EF4-FFF2-40B4-BE49-F238E27FC236}">
                <a16:creationId xmlns:a16="http://schemas.microsoft.com/office/drawing/2014/main" id="{5F0FA2A4-2400-2E36-8D6B-18EDDD548C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2286000"/>
            <a:ext cx="30480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C4139-DAA3-02D0-6729-4DEBCED08AB1}"/>
              </a:ext>
            </a:extLst>
          </p:cNvPr>
          <p:cNvSpPr>
            <a:spLocks noGrp="1"/>
          </p:cNvSpPr>
          <p:nvPr>
            <p:ph type="title"/>
          </p:nvPr>
        </p:nvSpPr>
        <p:spPr/>
        <p:txBody>
          <a:bodyPr/>
          <a:lstStyle/>
          <a:p>
            <a:pPr eaLnBrk="1" hangingPunct="1">
              <a:defRPr/>
            </a:pPr>
            <a:endParaRPr lang="en-US" altLang="en-US" dirty="0">
              <a:ea typeface="ＭＳ Ｐゴシック" panose="020B0600070205080204" pitchFamily="34" charset="-128"/>
            </a:endParaRPr>
          </a:p>
        </p:txBody>
      </p:sp>
      <p:pic>
        <p:nvPicPr>
          <p:cNvPr id="41986" name="Content Placeholder 3" descr="Billiard Balls.gif">
            <a:extLst>
              <a:ext uri="{FF2B5EF4-FFF2-40B4-BE49-F238E27FC236}">
                <a16:creationId xmlns:a16="http://schemas.microsoft.com/office/drawing/2014/main" id="{F5B3498D-8BF2-5DA1-4202-C88B46D4015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0"/>
            <a:ext cx="3657600" cy="3657600"/>
          </a:xfrm>
        </p:spPr>
      </p:pic>
      <p:pic>
        <p:nvPicPr>
          <p:cNvPr id="41987" name="Picture 5" descr="Neural nets 2">
            <a:extLst>
              <a:ext uri="{FF2B5EF4-FFF2-40B4-BE49-F238E27FC236}">
                <a16:creationId xmlns:a16="http://schemas.microsoft.com/office/drawing/2014/main" id="{0E1C2392-3397-035B-19F0-DB116BD5E7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9488" y="3200400"/>
            <a:ext cx="5624512"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TextBox 4">
            <a:extLst>
              <a:ext uri="{FF2B5EF4-FFF2-40B4-BE49-F238E27FC236}">
                <a16:creationId xmlns:a16="http://schemas.microsoft.com/office/drawing/2014/main" id="{C772DD93-F91E-A43C-E750-2B10B984689B}"/>
              </a:ext>
            </a:extLst>
          </p:cNvPr>
          <p:cNvSpPr txBox="1">
            <a:spLocks noChangeArrowheads="1"/>
          </p:cNvSpPr>
          <p:nvPr/>
        </p:nvSpPr>
        <p:spPr bwMode="auto">
          <a:xfrm>
            <a:off x="4724400" y="1524000"/>
            <a:ext cx="251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800"/>
              <a:t>Realist view</a:t>
            </a:r>
          </a:p>
        </p:txBody>
      </p:sp>
      <p:sp>
        <p:nvSpPr>
          <p:cNvPr id="41989" name="TextBox 6">
            <a:extLst>
              <a:ext uri="{FF2B5EF4-FFF2-40B4-BE49-F238E27FC236}">
                <a16:creationId xmlns:a16="http://schemas.microsoft.com/office/drawing/2014/main" id="{F4FA9FE9-CDF5-DCC8-8367-128F42E43E3A}"/>
              </a:ext>
            </a:extLst>
          </p:cNvPr>
          <p:cNvSpPr txBox="1">
            <a:spLocks noChangeArrowheads="1"/>
          </p:cNvSpPr>
          <p:nvPr/>
        </p:nvSpPr>
        <p:spPr bwMode="auto">
          <a:xfrm>
            <a:off x="0" y="5029200"/>
            <a:ext cx="2971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800"/>
              <a:t>Neoliberal view</a:t>
            </a:r>
          </a:p>
        </p:txBody>
      </p:sp>
      <p:sp>
        <p:nvSpPr>
          <p:cNvPr id="8" name="Right Arrow 7">
            <a:extLst>
              <a:ext uri="{FF2B5EF4-FFF2-40B4-BE49-F238E27FC236}">
                <a16:creationId xmlns:a16="http://schemas.microsoft.com/office/drawing/2014/main" id="{7498177B-93E1-43EC-EDC7-AC7541B7950C}"/>
              </a:ext>
            </a:extLst>
          </p:cNvPr>
          <p:cNvSpPr/>
          <p:nvPr/>
        </p:nvSpPr>
        <p:spPr>
          <a:xfrm>
            <a:off x="2590800" y="51816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dirty="0">
              <a:solidFill>
                <a:srgbClr val="FFFFFF"/>
              </a:solidFill>
            </a:endParaRPr>
          </a:p>
        </p:txBody>
      </p:sp>
      <p:sp>
        <p:nvSpPr>
          <p:cNvPr id="9" name="Left Arrow 8">
            <a:extLst>
              <a:ext uri="{FF2B5EF4-FFF2-40B4-BE49-F238E27FC236}">
                <a16:creationId xmlns:a16="http://schemas.microsoft.com/office/drawing/2014/main" id="{54F0DEFE-5752-26A6-1D4E-1EEBA1C2E6F7}"/>
              </a:ext>
            </a:extLst>
          </p:cNvPr>
          <p:cNvSpPr/>
          <p:nvPr/>
        </p:nvSpPr>
        <p:spPr>
          <a:xfrm>
            <a:off x="3581400" y="1676400"/>
            <a:ext cx="1066800" cy="2286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dirty="0">
              <a:solidFill>
                <a:srgbClr val="FFFFFF"/>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010" name="Rectangle 2">
            <a:extLst>
              <a:ext uri="{FF2B5EF4-FFF2-40B4-BE49-F238E27FC236}">
                <a16:creationId xmlns:a16="http://schemas.microsoft.com/office/drawing/2014/main" id="{2E5286FA-EE8E-7357-E47A-9E4DEFBBEFDE}"/>
              </a:ext>
            </a:extLst>
          </p:cNvPr>
          <p:cNvSpPr>
            <a:spLocks noGrp="1" noChangeArrowheads="1"/>
          </p:cNvSpPr>
          <p:nvPr>
            <p:ph type="title"/>
          </p:nvPr>
        </p:nvSpPr>
        <p:spPr/>
        <p:txBody>
          <a:bodyPr/>
          <a:lstStyle/>
          <a:p>
            <a:pPr eaLnBrk="1" hangingPunct="1">
              <a:defRPr/>
            </a:pPr>
            <a:endParaRPr lang="en-US" altLang="en-US" dirty="0">
              <a:ea typeface="ＭＳ Ｐゴシック" panose="020B0600070205080204" pitchFamily="34" charset="-128"/>
            </a:endParaRPr>
          </a:p>
        </p:txBody>
      </p:sp>
      <p:sp>
        <p:nvSpPr>
          <p:cNvPr id="1067011" name="Rectangle 3">
            <a:extLst>
              <a:ext uri="{FF2B5EF4-FFF2-40B4-BE49-F238E27FC236}">
                <a16:creationId xmlns:a16="http://schemas.microsoft.com/office/drawing/2014/main" id="{53495E43-1BB3-0A20-DC38-283B152A62F0}"/>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43011" name="Picture 4" descr="Levels of analysis">
            <a:extLst>
              <a:ext uri="{FF2B5EF4-FFF2-40B4-BE49-F238E27FC236}">
                <a16:creationId xmlns:a16="http://schemas.microsoft.com/office/drawing/2014/main" id="{0B072C48-6354-2083-6845-4555F726FB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588"/>
            <a:ext cx="6856413" cy="685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TextBox 1">
            <a:extLst>
              <a:ext uri="{FF2B5EF4-FFF2-40B4-BE49-F238E27FC236}">
                <a16:creationId xmlns:a16="http://schemas.microsoft.com/office/drawing/2014/main" id="{96769B79-3626-4BF3-9877-BFA60BB2EAC8}"/>
              </a:ext>
            </a:extLst>
          </p:cNvPr>
          <p:cNvSpPr txBox="1">
            <a:spLocks noChangeArrowheads="1"/>
          </p:cNvSpPr>
          <p:nvPr/>
        </p:nvSpPr>
        <p:spPr bwMode="auto">
          <a:xfrm>
            <a:off x="3389313" y="873125"/>
            <a:ext cx="2362200" cy="584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b="1">
                <a:solidFill>
                  <a:schemeClr val="bg1"/>
                </a:solidFill>
              </a:rPr>
              <a:t>ANARCHY!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0DCDA3FD-0A7E-9D30-4746-6E392A1313F7}"/>
              </a:ext>
            </a:extLst>
          </p:cNvPr>
          <p:cNvSpPr>
            <a:spLocks noGrp="1" noChangeArrowheads="1"/>
          </p:cNvSpPr>
          <p:nvPr>
            <p:ph type="title"/>
          </p:nvPr>
        </p:nvSpPr>
        <p:spPr/>
        <p:txBody>
          <a:bodyPr/>
          <a:lstStyle/>
          <a:p>
            <a:pPr eaLnBrk="1" hangingPunct="1">
              <a:defRPr/>
            </a:pPr>
            <a:r>
              <a:rPr lang="en-US" altLang="x-none" sz="3600" dirty="0">
                <a:solidFill>
                  <a:srgbClr val="FFFF00"/>
                </a:solidFill>
                <a:ea typeface="ＭＳ Ｐゴシック" charset="-128"/>
              </a:rPr>
              <a:t>Little</a:t>
            </a:r>
            <a:r>
              <a:rPr lang="ja-JP" altLang="en-US" sz="3600">
                <a:solidFill>
                  <a:srgbClr val="FFFF00"/>
                </a:solidFill>
                <a:ea typeface="ＭＳ Ｐゴシック" charset="-128"/>
              </a:rPr>
              <a:t>’</a:t>
            </a:r>
            <a:r>
              <a:rPr lang="en-US" altLang="ja-JP" sz="3600" dirty="0">
                <a:solidFill>
                  <a:srgbClr val="FFFF00"/>
                </a:solidFill>
                <a:ea typeface="ＭＳ Ｐゴシック" charset="-128"/>
              </a:rPr>
              <a:t>s </a:t>
            </a:r>
            <a:r>
              <a:rPr lang="ja-JP" altLang="en-US" sz="3600">
                <a:solidFill>
                  <a:srgbClr val="FFFF00"/>
                </a:solidFill>
                <a:ea typeface="ＭＳ Ｐゴシック" charset="-128"/>
              </a:rPr>
              <a:t>“</a:t>
            </a:r>
            <a:r>
              <a:rPr lang="en-US" altLang="ja-JP" sz="3600" dirty="0">
                <a:solidFill>
                  <a:srgbClr val="FFFF00"/>
                </a:solidFill>
                <a:ea typeface="ＭＳ Ｐゴシック" charset="-128"/>
              </a:rPr>
              <a:t>Three Key Discoveries</a:t>
            </a:r>
            <a:r>
              <a:rPr lang="ja-JP" altLang="en-US" sz="3600">
                <a:solidFill>
                  <a:srgbClr val="FFFF00"/>
                </a:solidFill>
                <a:ea typeface="ＭＳ Ｐゴシック" charset="-128"/>
              </a:rPr>
              <a:t>”</a:t>
            </a:r>
            <a:r>
              <a:rPr lang="en-US" altLang="ja-JP" sz="3600" dirty="0">
                <a:solidFill>
                  <a:srgbClr val="FFFF00"/>
                </a:solidFill>
                <a:ea typeface="ＭＳ Ｐゴシック" charset="-128"/>
              </a:rPr>
              <a:t> (by Neoliberals) in the 1960s and ‘70s</a:t>
            </a:r>
            <a:endParaRPr lang="en-US" altLang="x-none" sz="3600" dirty="0">
              <a:ea typeface="ＭＳ Ｐゴシック" charset="-128"/>
            </a:endParaRPr>
          </a:p>
        </p:txBody>
      </p:sp>
      <p:sp>
        <p:nvSpPr>
          <p:cNvPr id="367619" name="Rectangle 3">
            <a:extLst>
              <a:ext uri="{FF2B5EF4-FFF2-40B4-BE49-F238E27FC236}">
                <a16:creationId xmlns:a16="http://schemas.microsoft.com/office/drawing/2014/main" id="{D654EDB4-45C1-DE56-89FF-5513B2854486}"/>
              </a:ext>
            </a:extLst>
          </p:cNvPr>
          <p:cNvSpPr>
            <a:spLocks noGrp="1" noChangeArrowheads="1"/>
          </p:cNvSpPr>
          <p:nvPr>
            <p:ph type="body" idx="1"/>
          </p:nvPr>
        </p:nvSpPr>
        <p:spPr/>
        <p:txBody>
          <a:bodyPr/>
          <a:lstStyle/>
          <a:p>
            <a:pPr marL="609600" indent="-609600" eaLnBrk="1" hangingPunct="1">
              <a:buFont typeface="Wingdings" charset="0"/>
              <a:buNone/>
              <a:defRPr/>
            </a:pPr>
            <a:endParaRPr lang="en-US" dirty="0"/>
          </a:p>
          <a:p>
            <a:pPr marL="609600" indent="-609600" eaLnBrk="1" hangingPunct="1">
              <a:buFont typeface="Wingdings" charset="0"/>
              <a:buNone/>
              <a:defRPr/>
            </a:pPr>
            <a:r>
              <a:rPr lang="en-US" dirty="0"/>
              <a:t>1.	State fragmentation:</a:t>
            </a:r>
          </a:p>
          <a:p>
            <a:pPr marL="609600" indent="-609600" eaLnBrk="1" hangingPunct="1">
              <a:buFont typeface="Wingdings" charset="0"/>
              <a:buNone/>
              <a:defRPr/>
            </a:pP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A3799C2B-F0D5-ACA0-D0AF-4E0E24EC9587}"/>
              </a:ext>
            </a:extLst>
          </p:cNvPr>
          <p:cNvSpPr>
            <a:spLocks noGrp="1" noChangeArrowheads="1"/>
          </p:cNvSpPr>
          <p:nvPr>
            <p:ph type="title"/>
          </p:nvPr>
        </p:nvSpPr>
        <p:spPr/>
        <p:txBody>
          <a:bodyPr/>
          <a:lstStyle/>
          <a:p>
            <a:pPr eaLnBrk="1" hangingPunct="1">
              <a:defRPr/>
            </a:pPr>
            <a:r>
              <a:rPr lang="en-US" altLang="x-none" sz="3600" dirty="0">
                <a:solidFill>
                  <a:srgbClr val="FFFF00"/>
                </a:solidFill>
                <a:ea typeface="ＭＳ Ｐゴシック" charset="-128"/>
              </a:rPr>
              <a:t>Little</a:t>
            </a:r>
            <a:r>
              <a:rPr lang="ja-JP" altLang="en-US" sz="3600">
                <a:solidFill>
                  <a:srgbClr val="FFFF00"/>
                </a:solidFill>
                <a:ea typeface="ＭＳ Ｐゴシック" charset="-128"/>
              </a:rPr>
              <a:t>’</a:t>
            </a:r>
            <a:r>
              <a:rPr lang="en-US" altLang="ja-JP" sz="3600" dirty="0">
                <a:solidFill>
                  <a:srgbClr val="FFFF00"/>
                </a:solidFill>
                <a:ea typeface="ＭＳ Ｐゴシック" charset="-128"/>
              </a:rPr>
              <a:t>s </a:t>
            </a:r>
            <a:r>
              <a:rPr lang="ja-JP" altLang="en-US" sz="3600">
                <a:solidFill>
                  <a:srgbClr val="FFFF00"/>
                </a:solidFill>
                <a:ea typeface="ＭＳ Ｐゴシック" charset="-128"/>
              </a:rPr>
              <a:t>“</a:t>
            </a:r>
            <a:r>
              <a:rPr lang="en-US" altLang="ja-JP" sz="3600" dirty="0">
                <a:solidFill>
                  <a:srgbClr val="FFFF00"/>
                </a:solidFill>
                <a:ea typeface="ＭＳ Ｐゴシック" charset="-128"/>
              </a:rPr>
              <a:t>Three Key Discoveries</a:t>
            </a:r>
            <a:r>
              <a:rPr lang="ja-JP" altLang="en-US" sz="3600">
                <a:solidFill>
                  <a:srgbClr val="FFFF00"/>
                </a:solidFill>
                <a:ea typeface="ＭＳ Ｐゴシック" charset="-128"/>
              </a:rPr>
              <a:t>”</a:t>
            </a:r>
            <a:r>
              <a:rPr lang="en-US" altLang="ja-JP" sz="3600" dirty="0">
                <a:solidFill>
                  <a:srgbClr val="FFFF00"/>
                </a:solidFill>
                <a:ea typeface="ＭＳ Ｐゴシック" charset="-128"/>
              </a:rPr>
              <a:t> (by Neoliberals) in the 1960s and ‘70s</a:t>
            </a:r>
            <a:endParaRPr lang="en-US" altLang="x-none" sz="3600" dirty="0">
              <a:ea typeface="ＭＳ Ｐゴシック" charset="-128"/>
            </a:endParaRPr>
          </a:p>
        </p:txBody>
      </p:sp>
      <p:sp>
        <p:nvSpPr>
          <p:cNvPr id="367619" name="Rectangle 3">
            <a:extLst>
              <a:ext uri="{FF2B5EF4-FFF2-40B4-BE49-F238E27FC236}">
                <a16:creationId xmlns:a16="http://schemas.microsoft.com/office/drawing/2014/main" id="{91EF2C07-FE51-9AA9-40F1-7EFFA68ECB03}"/>
              </a:ext>
            </a:extLst>
          </p:cNvPr>
          <p:cNvSpPr>
            <a:spLocks noGrp="1" noChangeArrowheads="1"/>
          </p:cNvSpPr>
          <p:nvPr>
            <p:ph type="body" idx="1"/>
          </p:nvPr>
        </p:nvSpPr>
        <p:spPr/>
        <p:txBody>
          <a:bodyPr/>
          <a:lstStyle/>
          <a:p>
            <a:pPr marL="609600" indent="-609600" eaLnBrk="1" hangingPunct="1">
              <a:buFont typeface="Wingdings" charset="2"/>
              <a:buNone/>
              <a:defRPr/>
            </a:pPr>
            <a:endParaRPr lang="en-US" altLang="x-none" dirty="0">
              <a:ea typeface="ＭＳ Ｐゴシック" charset="-128"/>
            </a:endParaRPr>
          </a:p>
          <a:p>
            <a:pPr marL="609600" indent="-609600" eaLnBrk="1" hangingPunct="1">
              <a:buFont typeface="Wingdings" charset="2"/>
              <a:buNone/>
              <a:defRPr/>
            </a:pPr>
            <a:r>
              <a:rPr lang="en-US" altLang="x-none" dirty="0">
                <a:ea typeface="ＭＳ Ｐゴシック" charset="-128"/>
              </a:rPr>
              <a:t>1.	State fragmentation:</a:t>
            </a:r>
          </a:p>
          <a:p>
            <a:pPr marL="609600" indent="-609600" eaLnBrk="1" hangingPunct="1">
              <a:buFont typeface="Wingdings" charset="2"/>
              <a:buNone/>
              <a:defRPr/>
            </a:pPr>
            <a:endParaRPr lang="en-US" altLang="x-none" sz="1800" dirty="0">
              <a:ea typeface="ＭＳ Ｐゴシック" charset="-128"/>
            </a:endParaRPr>
          </a:p>
          <a:p>
            <a:pPr marL="609600" indent="-609600" eaLnBrk="1" hangingPunct="1">
              <a:buFont typeface="Wingdings" charset="2"/>
              <a:buNone/>
              <a:defRPr/>
            </a:pPr>
            <a:r>
              <a:rPr lang="en-US" altLang="x-none" dirty="0">
                <a:ea typeface="ＭＳ Ｐゴシック" charset="-128"/>
              </a:rPr>
              <a:t>	Political scientists began portraying US society as </a:t>
            </a:r>
            <a:r>
              <a:rPr lang="ja-JP" altLang="en-US" dirty="0">
                <a:ea typeface="ＭＳ Ｐゴシック" charset="-128"/>
              </a:rPr>
              <a:t>“</a:t>
            </a:r>
            <a:r>
              <a:rPr lang="en-US" altLang="ja-JP" dirty="0">
                <a:ea typeface="ＭＳ Ｐゴシック" charset="-128"/>
              </a:rPr>
              <a:t>fractured into jumbles of hundreds of small </a:t>
            </a:r>
            <a:r>
              <a:rPr lang="en-US" altLang="ja-JP" dirty="0">
                <a:solidFill>
                  <a:srgbClr val="92D050"/>
                </a:solidFill>
                <a:ea typeface="ＭＳ Ｐゴシック" charset="-128"/>
              </a:rPr>
              <a:t>special interest groups</a:t>
            </a:r>
            <a:r>
              <a:rPr lang="en-US" altLang="ja-JP" dirty="0">
                <a:ea typeface="ＭＳ Ｐゴシック" charset="-128"/>
              </a:rPr>
              <a:t>, with incompletely overlapping memberships, widely differing power bases, and a multitude of techniques for exercising influence.</a:t>
            </a:r>
            <a:r>
              <a:rPr lang="ja-JP" altLang="en-US" dirty="0">
                <a:ea typeface="ＭＳ Ｐゴシック" charset="-128"/>
              </a:rPr>
              <a:t>”</a:t>
            </a:r>
            <a:endParaRPr lang="en-US" altLang="ja-JP" dirty="0">
              <a:ea typeface="ＭＳ Ｐゴシック" charset="-128"/>
            </a:endParaRPr>
          </a:p>
          <a:p>
            <a:pPr marL="609600" indent="-609600" eaLnBrk="1" hangingPunct="1">
              <a:buFont typeface="Wingdings" charset="2"/>
              <a:buNone/>
              <a:defRPr/>
            </a:pPr>
            <a:endParaRPr lang="en-US" altLang="x-none" dirty="0">
              <a:ea typeface="ＭＳ Ｐゴシック" charset="-128"/>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a:extLst>
              <a:ext uri="{FF2B5EF4-FFF2-40B4-BE49-F238E27FC236}">
                <a16:creationId xmlns:a16="http://schemas.microsoft.com/office/drawing/2014/main" id="{9528AEA6-8287-EB4C-3D86-ABE0E794D356}"/>
              </a:ext>
            </a:extLst>
          </p:cNvPr>
          <p:cNvSpPr>
            <a:spLocks noGrp="1" noChangeArrowheads="1"/>
          </p:cNvSpPr>
          <p:nvPr>
            <p:ph type="title"/>
          </p:nvPr>
        </p:nvSpPr>
        <p:spPr/>
        <p:txBody>
          <a:bodyPr/>
          <a:lstStyle/>
          <a:p>
            <a:pPr eaLnBrk="1" hangingPunct="1">
              <a:defRPr/>
            </a:pPr>
            <a:endParaRPr lang="en-US" altLang="en-US" dirty="0">
              <a:ea typeface="ＭＳ Ｐゴシック" panose="020B0600070205080204" pitchFamily="34" charset="-128"/>
            </a:endParaRPr>
          </a:p>
        </p:txBody>
      </p:sp>
      <p:sp>
        <p:nvSpPr>
          <p:cNvPr id="373763" name="Rectangle 3">
            <a:extLst>
              <a:ext uri="{FF2B5EF4-FFF2-40B4-BE49-F238E27FC236}">
                <a16:creationId xmlns:a16="http://schemas.microsoft.com/office/drawing/2014/main" id="{76F36F0B-6074-99F2-39FC-B40A4FAE8173}"/>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49155" name="Picture 4">
            <a:extLst>
              <a:ext uri="{FF2B5EF4-FFF2-40B4-BE49-F238E27FC236}">
                <a16:creationId xmlns:a16="http://schemas.microsoft.com/office/drawing/2014/main" id="{2B5996A2-9D86-0258-A836-44205096AD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 y="457200"/>
            <a:ext cx="9077325"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TextBox 1">
            <a:extLst>
              <a:ext uri="{FF2B5EF4-FFF2-40B4-BE49-F238E27FC236}">
                <a16:creationId xmlns:a16="http://schemas.microsoft.com/office/drawing/2014/main" id="{8BDFB2A9-E7E2-04A3-6501-49E6BA9511CD}"/>
              </a:ext>
            </a:extLst>
          </p:cNvPr>
          <p:cNvSpPr txBox="1">
            <a:spLocks noChangeArrowheads="1"/>
          </p:cNvSpPr>
          <p:nvPr/>
        </p:nvSpPr>
        <p:spPr bwMode="auto">
          <a:xfrm>
            <a:off x="1676400" y="6035675"/>
            <a:ext cx="5562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400"/>
              <a:t>SOURCE:  http://www.politicalmachine.com/</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13746CF7-549F-9A58-9097-1B356859D6F5}"/>
              </a:ext>
            </a:extLst>
          </p:cNvPr>
          <p:cNvSpPr>
            <a:spLocks noGrp="1" noChangeArrowheads="1"/>
          </p:cNvSpPr>
          <p:nvPr>
            <p:ph type="title"/>
          </p:nvPr>
        </p:nvSpPr>
        <p:spPr/>
        <p:txBody>
          <a:bodyPr/>
          <a:lstStyle/>
          <a:p>
            <a:pPr eaLnBrk="1" hangingPunct="1">
              <a:defRPr/>
            </a:pPr>
            <a:r>
              <a:rPr lang="en-US" altLang="x-none" sz="3600" dirty="0">
                <a:solidFill>
                  <a:srgbClr val="FFFF00"/>
                </a:solidFill>
                <a:ea typeface="ＭＳ Ｐゴシック" charset="-128"/>
              </a:rPr>
              <a:t>Little</a:t>
            </a:r>
            <a:r>
              <a:rPr lang="ja-JP" altLang="en-US" sz="3600">
                <a:solidFill>
                  <a:srgbClr val="FFFF00"/>
                </a:solidFill>
                <a:ea typeface="ＭＳ Ｐゴシック" charset="-128"/>
              </a:rPr>
              <a:t>’</a:t>
            </a:r>
            <a:r>
              <a:rPr lang="en-US" altLang="ja-JP" sz="3600" dirty="0">
                <a:solidFill>
                  <a:srgbClr val="FFFF00"/>
                </a:solidFill>
                <a:ea typeface="ＭＳ Ｐゴシック" charset="-128"/>
              </a:rPr>
              <a:t>s </a:t>
            </a:r>
            <a:r>
              <a:rPr lang="ja-JP" altLang="en-US" sz="3600">
                <a:solidFill>
                  <a:srgbClr val="FFFF00"/>
                </a:solidFill>
                <a:ea typeface="ＭＳ Ｐゴシック" charset="-128"/>
              </a:rPr>
              <a:t>“</a:t>
            </a:r>
            <a:r>
              <a:rPr lang="en-US" altLang="ja-JP" sz="3600" dirty="0">
                <a:solidFill>
                  <a:srgbClr val="FFFF00"/>
                </a:solidFill>
                <a:ea typeface="ＭＳ Ｐゴシック" charset="-128"/>
              </a:rPr>
              <a:t>Three Key Discoveries</a:t>
            </a:r>
            <a:r>
              <a:rPr lang="ja-JP" altLang="en-US" sz="3600">
                <a:solidFill>
                  <a:srgbClr val="FFFF00"/>
                </a:solidFill>
                <a:ea typeface="ＭＳ Ｐゴシック" charset="-128"/>
              </a:rPr>
              <a:t>”</a:t>
            </a:r>
            <a:r>
              <a:rPr lang="en-US" altLang="ja-JP" sz="3600" dirty="0">
                <a:solidFill>
                  <a:srgbClr val="FFFF00"/>
                </a:solidFill>
                <a:ea typeface="ＭＳ Ｐゴシック" charset="-128"/>
              </a:rPr>
              <a:t> (by Neoliberals) in the 1960s and ‘70s</a:t>
            </a:r>
            <a:endParaRPr lang="en-US" altLang="x-none" sz="3600" dirty="0">
              <a:ea typeface="ＭＳ Ｐゴシック" charset="-128"/>
            </a:endParaRPr>
          </a:p>
        </p:txBody>
      </p:sp>
      <p:sp>
        <p:nvSpPr>
          <p:cNvPr id="367619" name="Rectangle 3">
            <a:extLst>
              <a:ext uri="{FF2B5EF4-FFF2-40B4-BE49-F238E27FC236}">
                <a16:creationId xmlns:a16="http://schemas.microsoft.com/office/drawing/2014/main" id="{E36D2265-0AF8-80A1-B16E-C2C2F67EAEAD}"/>
              </a:ext>
            </a:extLst>
          </p:cNvPr>
          <p:cNvSpPr>
            <a:spLocks noGrp="1" noChangeArrowheads="1"/>
          </p:cNvSpPr>
          <p:nvPr>
            <p:ph type="body" idx="1"/>
          </p:nvPr>
        </p:nvSpPr>
        <p:spPr/>
        <p:txBody>
          <a:bodyPr/>
          <a:lstStyle/>
          <a:p>
            <a:pPr marL="609600" indent="-609600" eaLnBrk="1" hangingPunct="1">
              <a:buFont typeface="Wingdings" charset="2"/>
              <a:buNone/>
              <a:defRPr/>
            </a:pPr>
            <a:endParaRPr lang="en-US" altLang="x-none" dirty="0">
              <a:ea typeface="ＭＳ Ｐゴシック" charset="-128"/>
            </a:endParaRPr>
          </a:p>
          <a:p>
            <a:pPr marL="609600" indent="-609600" eaLnBrk="1" hangingPunct="1">
              <a:buFont typeface="Wingdings" charset="2"/>
              <a:buNone/>
              <a:defRPr/>
            </a:pPr>
            <a:r>
              <a:rPr lang="en-US" altLang="x-none" dirty="0">
                <a:ea typeface="ＭＳ Ｐゴシック" charset="-128"/>
              </a:rPr>
              <a:t>1.	State fragmentation:</a:t>
            </a:r>
          </a:p>
          <a:p>
            <a:pPr marL="609600" indent="-609600" eaLnBrk="1" hangingPunct="1">
              <a:buFont typeface="Wingdings" charset="2"/>
              <a:buNone/>
              <a:defRPr/>
            </a:pPr>
            <a:endParaRPr lang="en-US" altLang="x-none" sz="1800" dirty="0">
              <a:ea typeface="ＭＳ Ｐゴシック" charset="-128"/>
            </a:endParaRPr>
          </a:p>
          <a:p>
            <a:pPr marL="609600" indent="-609600" eaLnBrk="1" hangingPunct="1">
              <a:buFont typeface="Wingdings" charset="2"/>
              <a:buNone/>
              <a:defRPr/>
            </a:pPr>
            <a:r>
              <a:rPr lang="en-US" altLang="x-none" dirty="0">
                <a:ea typeface="ＭＳ Ｐゴシック" charset="-128"/>
              </a:rPr>
              <a:t>	Next, political scientists started chipping away at Realist images of </a:t>
            </a:r>
            <a:r>
              <a:rPr lang="en-US" altLang="x-none" u="sng" dirty="0">
                <a:ea typeface="ＭＳ Ｐゴシック" charset="-128"/>
              </a:rPr>
              <a:t>the coherent </a:t>
            </a:r>
            <a:r>
              <a:rPr lang="en-US" altLang="x-none" i="1" u="sng" dirty="0">
                <a:ea typeface="ＭＳ Ｐゴシック" charset="-128"/>
              </a:rPr>
              <a:t>state</a:t>
            </a:r>
            <a:r>
              <a:rPr lang="en-US" altLang="x-none" u="sng" dirty="0">
                <a:ea typeface="ＭＳ Ｐゴシック" charset="-128"/>
              </a:rPr>
              <a:t> itself</a:t>
            </a:r>
            <a:r>
              <a:rPr lang="en-US" altLang="x-none" dirty="0">
                <a:ea typeface="ＭＳ Ｐゴシック" charset="-128"/>
              </a:rPr>
              <a:t> as a rational actor—because of the importance of </a:t>
            </a:r>
            <a:r>
              <a:rPr lang="en-US" altLang="x-none" i="1" dirty="0">
                <a:solidFill>
                  <a:srgbClr val="92D050"/>
                </a:solidFill>
                <a:ea typeface="ＭＳ Ｐゴシック" charset="-128"/>
              </a:rPr>
              <a:t>bureaucratic politics</a:t>
            </a:r>
            <a:r>
              <a:rPr lang="en-US" altLang="x-none" dirty="0">
                <a:ea typeface="ＭＳ Ｐゴシック" charset="-128"/>
              </a:rPr>
              <a:t>.</a:t>
            </a:r>
          </a:p>
          <a:p>
            <a:pPr marL="609600" indent="-609600" eaLnBrk="1" hangingPunct="1">
              <a:buFont typeface="Wingdings" charset="2"/>
              <a:buNone/>
              <a:defRPr/>
            </a:pPr>
            <a:endParaRPr lang="en-US" altLang="x-none" dirty="0">
              <a:ea typeface="ＭＳ Ｐゴシック" charset="-128"/>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a:extLst>
              <a:ext uri="{FF2B5EF4-FFF2-40B4-BE49-F238E27FC236}">
                <a16:creationId xmlns:a16="http://schemas.microsoft.com/office/drawing/2014/main" id="{1D6054D1-605C-807C-D69B-D91CE0FCA3F2}"/>
              </a:ext>
            </a:extLst>
          </p:cNvPr>
          <p:cNvSpPr>
            <a:spLocks noGrp="1" noChangeArrowheads="1"/>
          </p:cNvSpPr>
          <p:nvPr>
            <p:ph type="title"/>
          </p:nvPr>
        </p:nvSpPr>
        <p:spPr>
          <a:xfrm>
            <a:off x="457200" y="14288"/>
            <a:ext cx="8229600" cy="852487"/>
          </a:xfrm>
        </p:spPr>
        <p:txBody>
          <a:bodyPr/>
          <a:lstStyle/>
          <a:p>
            <a:pPr eaLnBrk="1" hangingPunct="1">
              <a:defRPr/>
            </a:pPr>
            <a:r>
              <a:rPr lang="en-US" altLang="en-US" sz="3200" dirty="0">
                <a:solidFill>
                  <a:schemeClr val="tx1"/>
                </a:solidFill>
                <a:ea typeface="ＭＳ Ｐゴシック" panose="020B0600070205080204" pitchFamily="34" charset="-128"/>
              </a:rPr>
              <a:t>U.S. Government</a:t>
            </a:r>
          </a:p>
        </p:txBody>
      </p:sp>
      <p:sp>
        <p:nvSpPr>
          <p:cNvPr id="371715" name="Rectangle 3">
            <a:extLst>
              <a:ext uri="{FF2B5EF4-FFF2-40B4-BE49-F238E27FC236}">
                <a16:creationId xmlns:a16="http://schemas.microsoft.com/office/drawing/2014/main" id="{84D70009-C0A8-C7E4-36E5-36DA829E4737}"/>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53251" name="Picture 4">
            <a:extLst>
              <a:ext uri="{FF2B5EF4-FFF2-40B4-BE49-F238E27FC236}">
                <a16:creationId xmlns:a16="http://schemas.microsoft.com/office/drawing/2014/main" id="{73903FB4-8700-B587-EEDA-99A345C48C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14400"/>
            <a:ext cx="9191625" cy="482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41A02-866F-D289-050F-6A6C208AFA14}"/>
              </a:ext>
            </a:extLst>
          </p:cNvPr>
          <p:cNvSpPr>
            <a:spLocks noGrp="1"/>
          </p:cNvSpPr>
          <p:nvPr>
            <p:ph type="title"/>
          </p:nvPr>
        </p:nvSpPr>
        <p:spPr/>
        <p:txBody>
          <a:bodyPr/>
          <a:lstStyle/>
          <a:p>
            <a:pPr eaLnBrk="1" hangingPunct="1">
              <a:defRPr/>
            </a:pPr>
            <a:r>
              <a:rPr lang="en-US" altLang="x-none" sz="4000" dirty="0">
                <a:solidFill>
                  <a:srgbClr val="FFFF00"/>
                </a:solidFill>
                <a:ea typeface="ＭＳ Ｐゴシック" charset="-128"/>
              </a:rPr>
              <a:t>A key multi-part question</a:t>
            </a:r>
          </a:p>
        </p:txBody>
      </p:sp>
      <p:sp>
        <p:nvSpPr>
          <p:cNvPr id="3" name="Content Placeholder 2">
            <a:extLst>
              <a:ext uri="{FF2B5EF4-FFF2-40B4-BE49-F238E27FC236}">
                <a16:creationId xmlns:a16="http://schemas.microsoft.com/office/drawing/2014/main" id="{39E638B1-C77B-C4E3-E1DA-5EF534503B0C}"/>
              </a:ext>
            </a:extLst>
          </p:cNvPr>
          <p:cNvSpPr>
            <a:spLocks noGrp="1"/>
          </p:cNvSpPr>
          <p:nvPr>
            <p:ph idx="1"/>
          </p:nvPr>
        </p:nvSpPr>
        <p:spPr/>
        <p:txBody>
          <a:bodyPr/>
          <a:lstStyle/>
          <a:p>
            <a:pPr eaLnBrk="1" hangingPunct="1">
              <a:buFont typeface="Wingdings" charset="2"/>
              <a:buNone/>
              <a:defRPr/>
            </a:pPr>
            <a:endParaRPr lang="en-US" altLang="x-none" sz="1800" dirty="0">
              <a:ea typeface="ＭＳ Ｐゴシック" charset="-128"/>
            </a:endParaRPr>
          </a:p>
          <a:p>
            <a:pPr eaLnBrk="1" hangingPunct="1">
              <a:buFont typeface="Wingdings" charset="2"/>
              <a:buNone/>
              <a:defRPr/>
            </a:pPr>
            <a:r>
              <a:rPr lang="en-US" altLang="x-none" dirty="0">
                <a:ea typeface="ＭＳ Ｐゴシック" charset="-128"/>
              </a:rPr>
              <a:t>	Under what circumstances (if any) can the state be considered a unified rational actor?</a:t>
            </a:r>
          </a:p>
          <a:p>
            <a:pPr eaLnBrk="1" hangingPunct="1">
              <a:buFont typeface="Wingdings" charset="2"/>
              <a:buNone/>
              <a:defRPr/>
            </a:pPr>
            <a:endParaRPr lang="en-US" altLang="x-none" sz="1800" dirty="0">
              <a:ea typeface="ＭＳ Ｐゴシック" charset="-128"/>
            </a:endParaRPr>
          </a:p>
          <a:p>
            <a:pPr eaLnBrk="1" hangingPunct="1">
              <a:buFont typeface="Wingdings" charset="2"/>
              <a:buNone/>
              <a:defRPr/>
            </a:pPr>
            <a:r>
              <a:rPr lang="en-US" altLang="x-none" dirty="0">
                <a:ea typeface="ＭＳ Ｐゴシック" charset="-128"/>
              </a:rPr>
              <a:t>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0780D-B765-F07E-AE0C-92A04360239A}"/>
              </a:ext>
            </a:extLst>
          </p:cNvPr>
          <p:cNvSpPr>
            <a:spLocks noGrp="1"/>
          </p:cNvSpPr>
          <p:nvPr>
            <p:ph type="title"/>
          </p:nvPr>
        </p:nvSpPr>
        <p:spPr/>
        <p:txBody>
          <a:bodyPr/>
          <a:lstStyle/>
          <a:p>
            <a:pPr eaLnBrk="1" hangingPunct="1">
              <a:defRPr/>
            </a:pPr>
            <a:r>
              <a:rPr lang="en-US" altLang="x-none" sz="4000" dirty="0">
                <a:solidFill>
                  <a:srgbClr val="FFFF00"/>
                </a:solidFill>
                <a:ea typeface="ＭＳ Ｐゴシック" charset="-128"/>
              </a:rPr>
              <a:t>A key multi-part question</a:t>
            </a:r>
          </a:p>
        </p:txBody>
      </p:sp>
      <p:sp>
        <p:nvSpPr>
          <p:cNvPr id="3" name="Content Placeholder 2">
            <a:extLst>
              <a:ext uri="{FF2B5EF4-FFF2-40B4-BE49-F238E27FC236}">
                <a16:creationId xmlns:a16="http://schemas.microsoft.com/office/drawing/2014/main" id="{8E36888B-B306-0FA2-C023-14913260284D}"/>
              </a:ext>
            </a:extLst>
          </p:cNvPr>
          <p:cNvSpPr>
            <a:spLocks noGrp="1"/>
          </p:cNvSpPr>
          <p:nvPr>
            <p:ph idx="1"/>
          </p:nvPr>
        </p:nvSpPr>
        <p:spPr/>
        <p:txBody>
          <a:bodyPr/>
          <a:lstStyle/>
          <a:p>
            <a:pPr eaLnBrk="1" hangingPunct="1">
              <a:buFont typeface="Wingdings" charset="2"/>
              <a:buNone/>
              <a:defRPr/>
            </a:pPr>
            <a:endParaRPr lang="en-US" altLang="x-none" sz="1800" dirty="0">
              <a:ea typeface="ＭＳ Ｐゴシック" charset="-128"/>
            </a:endParaRPr>
          </a:p>
          <a:p>
            <a:pPr eaLnBrk="1" hangingPunct="1">
              <a:buFont typeface="Wingdings" charset="2"/>
              <a:buNone/>
              <a:defRPr/>
            </a:pPr>
            <a:r>
              <a:rPr lang="en-US" altLang="x-none" dirty="0">
                <a:ea typeface="ＭＳ Ｐゴシック" charset="-128"/>
              </a:rPr>
              <a:t>	Under what circumstances (if any) can the state be considered a unified rational actor?</a:t>
            </a:r>
          </a:p>
          <a:p>
            <a:pPr eaLnBrk="1" hangingPunct="1">
              <a:buFont typeface="Wingdings" charset="2"/>
              <a:buNone/>
              <a:defRPr/>
            </a:pPr>
            <a:endParaRPr lang="en-US" altLang="x-none" sz="1800" dirty="0">
              <a:ea typeface="ＭＳ Ｐゴシック" charset="-128"/>
            </a:endParaRPr>
          </a:p>
          <a:p>
            <a:pPr eaLnBrk="1" hangingPunct="1">
              <a:buFont typeface="Wingdings" charset="2"/>
              <a:buNone/>
              <a:defRPr/>
            </a:pPr>
            <a:r>
              <a:rPr lang="en-US" altLang="x-none" dirty="0">
                <a:ea typeface="ＭＳ Ｐゴシック" charset="-128"/>
              </a:rPr>
              <a:t>	Does the answer vary by state (country)?</a:t>
            </a:r>
          </a:p>
          <a:p>
            <a:pPr eaLnBrk="1" hangingPunct="1">
              <a:buFont typeface="Wingdings" charset="2"/>
              <a:buNone/>
              <a:defRPr/>
            </a:pPr>
            <a:endParaRPr lang="en-US" altLang="x-none" sz="1800" dirty="0">
              <a:ea typeface="ＭＳ Ｐゴシック" charset="-128"/>
            </a:endParaRPr>
          </a:p>
          <a:p>
            <a:pPr eaLnBrk="1" hangingPunct="1">
              <a:buFont typeface="Wingdings" charset="2"/>
              <a:buNone/>
              <a:defRPr/>
            </a:pPr>
            <a:r>
              <a:rPr lang="en-US" altLang="x-none" dirty="0">
                <a:ea typeface="ＭＳ Ｐゴシック" charset="-128"/>
              </a:rPr>
              <a:t>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16B1C-DCF5-F3DA-EAE9-C20DA4D27E88}"/>
              </a:ext>
            </a:extLst>
          </p:cNvPr>
          <p:cNvSpPr>
            <a:spLocks noGrp="1"/>
          </p:cNvSpPr>
          <p:nvPr>
            <p:ph type="title"/>
          </p:nvPr>
        </p:nvSpPr>
        <p:spPr/>
        <p:txBody>
          <a:bodyPr/>
          <a:lstStyle/>
          <a:p>
            <a:pPr eaLnBrk="1" hangingPunct="1">
              <a:defRPr/>
            </a:pPr>
            <a:r>
              <a:rPr lang="en-US" altLang="x-none" sz="4000" dirty="0">
                <a:solidFill>
                  <a:srgbClr val="FFFF00"/>
                </a:solidFill>
                <a:ea typeface="ＭＳ Ｐゴシック" charset="-128"/>
              </a:rPr>
              <a:t>A key multi-part question</a:t>
            </a:r>
          </a:p>
        </p:txBody>
      </p:sp>
      <p:sp>
        <p:nvSpPr>
          <p:cNvPr id="3" name="Content Placeholder 2">
            <a:extLst>
              <a:ext uri="{FF2B5EF4-FFF2-40B4-BE49-F238E27FC236}">
                <a16:creationId xmlns:a16="http://schemas.microsoft.com/office/drawing/2014/main" id="{959D2D26-C0D7-9C13-2BA6-CE688D3997BF}"/>
              </a:ext>
            </a:extLst>
          </p:cNvPr>
          <p:cNvSpPr>
            <a:spLocks noGrp="1"/>
          </p:cNvSpPr>
          <p:nvPr>
            <p:ph idx="1"/>
          </p:nvPr>
        </p:nvSpPr>
        <p:spPr/>
        <p:txBody>
          <a:bodyPr/>
          <a:lstStyle/>
          <a:p>
            <a:pPr eaLnBrk="1" hangingPunct="1">
              <a:buFont typeface="Wingdings" charset="2"/>
              <a:buNone/>
              <a:defRPr/>
            </a:pPr>
            <a:endParaRPr lang="en-US" altLang="x-none" sz="1800" dirty="0">
              <a:ea typeface="ＭＳ Ｐゴシック" charset="-128"/>
            </a:endParaRPr>
          </a:p>
          <a:p>
            <a:pPr eaLnBrk="1" hangingPunct="1">
              <a:buFont typeface="Wingdings" charset="2"/>
              <a:buNone/>
              <a:defRPr/>
            </a:pPr>
            <a:r>
              <a:rPr lang="en-US" altLang="x-none" dirty="0">
                <a:ea typeface="ＭＳ Ｐゴシック" charset="-128"/>
              </a:rPr>
              <a:t>	Under what circumstances (if any) can the state be considered a unified rational actor?</a:t>
            </a:r>
          </a:p>
          <a:p>
            <a:pPr eaLnBrk="1" hangingPunct="1">
              <a:buFont typeface="Wingdings" charset="2"/>
              <a:buNone/>
              <a:defRPr/>
            </a:pPr>
            <a:endParaRPr lang="en-US" altLang="x-none" sz="1800" dirty="0">
              <a:ea typeface="ＭＳ Ｐゴシック" charset="-128"/>
            </a:endParaRPr>
          </a:p>
          <a:p>
            <a:pPr eaLnBrk="1" hangingPunct="1">
              <a:buFont typeface="Wingdings" charset="2"/>
              <a:buNone/>
              <a:defRPr/>
            </a:pPr>
            <a:r>
              <a:rPr lang="en-US" altLang="x-none" dirty="0">
                <a:ea typeface="ＭＳ Ｐゴシック" charset="-128"/>
              </a:rPr>
              <a:t>	Does the answer vary by state (country)?</a:t>
            </a:r>
          </a:p>
          <a:p>
            <a:pPr eaLnBrk="1" hangingPunct="1">
              <a:buFont typeface="Wingdings" charset="2"/>
              <a:buNone/>
              <a:defRPr/>
            </a:pPr>
            <a:endParaRPr lang="en-US" altLang="x-none" sz="1800" dirty="0">
              <a:ea typeface="ＭＳ Ｐゴシック" charset="-128"/>
            </a:endParaRPr>
          </a:p>
          <a:p>
            <a:pPr eaLnBrk="1" hangingPunct="1">
              <a:buFont typeface="Wingdings" charset="2"/>
              <a:buNone/>
              <a:defRPr/>
            </a:pPr>
            <a:r>
              <a:rPr lang="en-US" altLang="x-none" dirty="0">
                <a:ea typeface="ＭＳ Ｐゴシック" charset="-128"/>
              </a:rPr>
              <a:t>	What difference does the answer make for Realism, exactly?</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08F8634C-A70D-2844-A07D-5836F84DAF8B}"/>
              </a:ext>
            </a:extLst>
          </p:cNvPr>
          <p:cNvSpPr>
            <a:spLocks noGrp="1" noChangeArrowheads="1"/>
          </p:cNvSpPr>
          <p:nvPr>
            <p:ph type="title"/>
          </p:nvPr>
        </p:nvSpPr>
        <p:spPr/>
        <p:txBody>
          <a:bodyPr/>
          <a:lstStyle/>
          <a:p>
            <a:pPr eaLnBrk="1" hangingPunct="1">
              <a:defRPr/>
            </a:pPr>
            <a:r>
              <a:rPr lang="en-US" altLang="x-none" sz="3600" dirty="0">
                <a:solidFill>
                  <a:srgbClr val="FFFF00"/>
                </a:solidFill>
                <a:ea typeface="ＭＳ Ｐゴシック" charset="-128"/>
              </a:rPr>
              <a:t>Little</a:t>
            </a:r>
            <a:r>
              <a:rPr lang="ja-JP" altLang="en-US" sz="3600">
                <a:solidFill>
                  <a:srgbClr val="FFFF00"/>
                </a:solidFill>
                <a:ea typeface="ＭＳ Ｐゴシック" charset="-128"/>
              </a:rPr>
              <a:t>’</a:t>
            </a:r>
            <a:r>
              <a:rPr lang="en-US" altLang="ja-JP" sz="3600" dirty="0">
                <a:solidFill>
                  <a:srgbClr val="FFFF00"/>
                </a:solidFill>
                <a:ea typeface="ＭＳ Ｐゴシック" charset="-128"/>
              </a:rPr>
              <a:t>s </a:t>
            </a:r>
            <a:r>
              <a:rPr lang="ja-JP" altLang="en-US" sz="3600">
                <a:solidFill>
                  <a:srgbClr val="FFFF00"/>
                </a:solidFill>
                <a:ea typeface="ＭＳ Ｐゴシック" charset="-128"/>
              </a:rPr>
              <a:t>“</a:t>
            </a:r>
            <a:r>
              <a:rPr lang="en-US" altLang="ja-JP" sz="3600" dirty="0">
                <a:solidFill>
                  <a:srgbClr val="FFFF00"/>
                </a:solidFill>
                <a:ea typeface="ＭＳ Ｐゴシック" charset="-128"/>
              </a:rPr>
              <a:t>Three Key Discoveries</a:t>
            </a:r>
            <a:r>
              <a:rPr lang="ja-JP" altLang="en-US" sz="3600">
                <a:solidFill>
                  <a:srgbClr val="FFFF00"/>
                </a:solidFill>
                <a:ea typeface="ＭＳ Ｐゴシック" charset="-128"/>
              </a:rPr>
              <a:t>”</a:t>
            </a:r>
            <a:r>
              <a:rPr lang="en-US" altLang="ja-JP" sz="3600" dirty="0">
                <a:solidFill>
                  <a:srgbClr val="FFFF00"/>
                </a:solidFill>
                <a:ea typeface="ＭＳ Ｐゴシック" charset="-128"/>
              </a:rPr>
              <a:t> (by Neoliberals) in the 1960s and ‘70s</a:t>
            </a:r>
            <a:endParaRPr lang="en-US" altLang="x-none" sz="3600" dirty="0">
              <a:ea typeface="ＭＳ Ｐゴシック" charset="-128"/>
            </a:endParaRPr>
          </a:p>
        </p:txBody>
      </p:sp>
      <p:sp>
        <p:nvSpPr>
          <p:cNvPr id="367619" name="Rectangle 3">
            <a:extLst>
              <a:ext uri="{FF2B5EF4-FFF2-40B4-BE49-F238E27FC236}">
                <a16:creationId xmlns:a16="http://schemas.microsoft.com/office/drawing/2014/main" id="{E04EF2F2-232E-62C6-B1B6-6F3B5E8958BA}"/>
              </a:ext>
            </a:extLst>
          </p:cNvPr>
          <p:cNvSpPr>
            <a:spLocks noGrp="1" noChangeArrowheads="1"/>
          </p:cNvSpPr>
          <p:nvPr>
            <p:ph type="body" idx="1"/>
          </p:nvPr>
        </p:nvSpPr>
        <p:spPr/>
        <p:txBody>
          <a:bodyPr/>
          <a:lstStyle/>
          <a:p>
            <a:pPr marL="609600" indent="-609600" eaLnBrk="1" hangingPunct="1">
              <a:buFont typeface="Wingdings" charset="0"/>
              <a:buNone/>
              <a:defRPr/>
            </a:pPr>
            <a:endParaRPr lang="en-US" dirty="0"/>
          </a:p>
          <a:p>
            <a:pPr marL="609600" indent="-609600" eaLnBrk="1" hangingPunct="1">
              <a:buFont typeface="Wingdings" charset="0"/>
              <a:buNone/>
              <a:defRPr/>
            </a:pPr>
            <a:r>
              <a:rPr lang="en-US" dirty="0"/>
              <a:t>1.	State fragmentation</a:t>
            </a:r>
          </a:p>
          <a:p>
            <a:pPr marL="609600" indent="-609600" eaLnBrk="1" hangingPunct="1">
              <a:buFont typeface="Wingdings" charset="0"/>
              <a:buNone/>
              <a:defRPr/>
            </a:pPr>
            <a:endParaRPr lang="en-US" dirty="0"/>
          </a:p>
          <a:p>
            <a:pPr marL="609600" indent="-609600" eaLnBrk="1" hangingPunct="1">
              <a:buFont typeface="Wingdings" charset="0"/>
              <a:buNone/>
              <a:defRPr/>
            </a:pPr>
            <a:r>
              <a:rPr lang="en-US" dirty="0"/>
              <a:t>2.	Transnationalism</a:t>
            </a:r>
          </a:p>
          <a:p>
            <a:pPr marL="609600" indent="-609600" eaLnBrk="1" hangingPunct="1">
              <a:buFont typeface="Wingdings" charset="0"/>
              <a:buNone/>
              <a:defRPr/>
            </a:pPr>
            <a:endParaRPr lang="en-US" dirty="0"/>
          </a:p>
        </p:txBody>
      </p:sp>
      <p:pic>
        <p:nvPicPr>
          <p:cNvPr id="58371" name="Picture 4" descr="Little, Richard">
            <a:extLst>
              <a:ext uri="{FF2B5EF4-FFF2-40B4-BE49-F238E27FC236}">
                <a16:creationId xmlns:a16="http://schemas.microsoft.com/office/drawing/2014/main" id="{8DC82CDE-ECF0-BB3F-D25F-1901E0A1AE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2286000"/>
            <a:ext cx="30480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560BE619-C28B-A00F-5002-500CF7DCAD51}"/>
              </a:ext>
            </a:extLst>
          </p:cNvPr>
          <p:cNvSpPr>
            <a:spLocks noGrp="1" noChangeArrowheads="1"/>
          </p:cNvSpPr>
          <p:nvPr>
            <p:ph type="title"/>
          </p:nvPr>
        </p:nvSpPr>
        <p:spPr/>
        <p:txBody>
          <a:bodyPr/>
          <a:lstStyle/>
          <a:p>
            <a:pPr eaLnBrk="1" hangingPunct="1">
              <a:defRPr/>
            </a:pPr>
            <a:r>
              <a:rPr lang="en-US" altLang="x-none" sz="3600" dirty="0">
                <a:solidFill>
                  <a:srgbClr val="FFFF00"/>
                </a:solidFill>
                <a:ea typeface="ＭＳ Ｐゴシック" charset="-128"/>
              </a:rPr>
              <a:t>Little</a:t>
            </a:r>
            <a:r>
              <a:rPr lang="ja-JP" altLang="en-US" sz="3600">
                <a:solidFill>
                  <a:srgbClr val="FFFF00"/>
                </a:solidFill>
                <a:ea typeface="ＭＳ Ｐゴシック" charset="-128"/>
              </a:rPr>
              <a:t>’</a:t>
            </a:r>
            <a:r>
              <a:rPr lang="en-US" altLang="ja-JP" sz="3600" dirty="0">
                <a:solidFill>
                  <a:srgbClr val="FFFF00"/>
                </a:solidFill>
                <a:ea typeface="ＭＳ Ｐゴシック" charset="-128"/>
              </a:rPr>
              <a:t>s </a:t>
            </a:r>
            <a:r>
              <a:rPr lang="ja-JP" altLang="en-US" sz="3600">
                <a:solidFill>
                  <a:srgbClr val="FFFF00"/>
                </a:solidFill>
                <a:ea typeface="ＭＳ Ｐゴシック" charset="-128"/>
              </a:rPr>
              <a:t>“</a:t>
            </a:r>
            <a:r>
              <a:rPr lang="en-US" altLang="ja-JP" sz="3600" dirty="0">
                <a:solidFill>
                  <a:srgbClr val="FFFF00"/>
                </a:solidFill>
                <a:ea typeface="ＭＳ Ｐゴシック" charset="-128"/>
              </a:rPr>
              <a:t>Three Key Discoveries</a:t>
            </a:r>
            <a:r>
              <a:rPr lang="ja-JP" altLang="en-US" sz="3600">
                <a:solidFill>
                  <a:srgbClr val="FFFF00"/>
                </a:solidFill>
                <a:ea typeface="ＭＳ Ｐゴシック" charset="-128"/>
              </a:rPr>
              <a:t>”</a:t>
            </a:r>
            <a:r>
              <a:rPr lang="en-US" altLang="ja-JP" sz="3600" dirty="0">
                <a:solidFill>
                  <a:srgbClr val="FFFF00"/>
                </a:solidFill>
                <a:ea typeface="ＭＳ Ｐゴシック" charset="-128"/>
              </a:rPr>
              <a:t> (by Neoliberals) in the 1960s and ‘70s</a:t>
            </a:r>
            <a:endParaRPr lang="en-US" altLang="x-none" sz="3600" dirty="0">
              <a:ea typeface="ＭＳ Ｐゴシック" charset="-128"/>
            </a:endParaRPr>
          </a:p>
        </p:txBody>
      </p:sp>
      <p:sp>
        <p:nvSpPr>
          <p:cNvPr id="367619" name="Rectangle 3">
            <a:extLst>
              <a:ext uri="{FF2B5EF4-FFF2-40B4-BE49-F238E27FC236}">
                <a16:creationId xmlns:a16="http://schemas.microsoft.com/office/drawing/2014/main" id="{A81E2348-1F13-A0D8-B9CD-21B155E00582}"/>
              </a:ext>
            </a:extLst>
          </p:cNvPr>
          <p:cNvSpPr>
            <a:spLocks noGrp="1" noChangeArrowheads="1"/>
          </p:cNvSpPr>
          <p:nvPr>
            <p:ph type="body" idx="1"/>
          </p:nvPr>
        </p:nvSpPr>
        <p:spPr/>
        <p:txBody>
          <a:bodyPr/>
          <a:lstStyle/>
          <a:p>
            <a:pPr marL="609600" indent="-609600" eaLnBrk="1" hangingPunct="1">
              <a:buFont typeface="Wingdings" charset="2"/>
              <a:buNone/>
              <a:defRPr/>
            </a:pPr>
            <a:endParaRPr lang="en-US" altLang="x-none" dirty="0">
              <a:ea typeface="ＭＳ Ｐゴシック" charset="-128"/>
            </a:endParaRPr>
          </a:p>
          <a:p>
            <a:pPr marL="609600" indent="-609600" eaLnBrk="1" hangingPunct="1">
              <a:buFont typeface="Wingdings" charset="2"/>
              <a:buNone/>
              <a:defRPr/>
            </a:pPr>
            <a:r>
              <a:rPr lang="en-US" altLang="x-none" dirty="0">
                <a:ea typeface="ＭＳ Ｐゴシック" charset="-128"/>
              </a:rPr>
              <a:t>1.	State fragmentation</a:t>
            </a:r>
          </a:p>
          <a:p>
            <a:pPr marL="609600" indent="-609600" eaLnBrk="1" hangingPunct="1">
              <a:buFont typeface="Wingdings" charset="2"/>
              <a:buNone/>
              <a:defRPr/>
            </a:pPr>
            <a:endParaRPr lang="en-US" altLang="x-none" dirty="0">
              <a:ea typeface="ＭＳ Ｐゴシック" charset="-128"/>
            </a:endParaRPr>
          </a:p>
          <a:p>
            <a:pPr marL="609600" indent="-609600" eaLnBrk="1" hangingPunct="1">
              <a:buFont typeface="Wingdings" charset="2"/>
              <a:buNone/>
              <a:defRPr/>
            </a:pPr>
            <a:r>
              <a:rPr lang="en-US" altLang="x-none" dirty="0">
                <a:ea typeface="ＭＳ Ｐゴシック" charset="-128"/>
              </a:rPr>
              <a:t>2.	Transnationalism:</a:t>
            </a:r>
          </a:p>
          <a:p>
            <a:pPr marL="609600" indent="-609600" eaLnBrk="1" hangingPunct="1">
              <a:buFont typeface="Wingdings" charset="2"/>
              <a:buNone/>
              <a:defRPr/>
            </a:pPr>
            <a:endParaRPr lang="en-US" altLang="x-none" sz="1800" dirty="0">
              <a:ea typeface="ＭＳ Ｐゴシック" charset="-128"/>
            </a:endParaRPr>
          </a:p>
          <a:p>
            <a:pPr marL="609600" indent="-609600" eaLnBrk="1" hangingPunct="1">
              <a:buFont typeface="Wingdings" charset="2"/>
              <a:buNone/>
              <a:defRPr/>
            </a:pPr>
            <a:r>
              <a:rPr lang="en-US" altLang="x-none" dirty="0">
                <a:ea typeface="ＭＳ Ｐゴシック" charset="-128"/>
              </a:rPr>
              <a:t>	A new generation of IR analysts began paying systematic attention to MNCs, transnational media operations, jet air travel, cross-border pollution, and eventually NGOs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C0034-7784-7270-0FD6-1A9C5A89D92A}"/>
              </a:ext>
            </a:extLst>
          </p:cNvPr>
          <p:cNvSpPr>
            <a:spLocks noGrp="1"/>
          </p:cNvSpPr>
          <p:nvPr>
            <p:ph type="title"/>
          </p:nvPr>
        </p:nvSpPr>
        <p:spPr/>
        <p:txBody>
          <a:bodyPr/>
          <a:lstStyle/>
          <a:p>
            <a:pPr eaLnBrk="1" hangingPunct="1">
              <a:defRPr/>
            </a:pPr>
            <a:endParaRPr lang="en-US" altLang="en-US" dirty="0">
              <a:ea typeface="ＭＳ Ｐゴシック" panose="020B0600070205080204" pitchFamily="34" charset="-128"/>
            </a:endParaRPr>
          </a:p>
        </p:txBody>
      </p:sp>
      <p:pic>
        <p:nvPicPr>
          <p:cNvPr id="62466" name="Content Placeholder 3" descr="Billiard Balls.gif">
            <a:extLst>
              <a:ext uri="{FF2B5EF4-FFF2-40B4-BE49-F238E27FC236}">
                <a16:creationId xmlns:a16="http://schemas.microsoft.com/office/drawing/2014/main" id="{ABE2DD17-9A7F-939A-C1C0-BE4AD0F4F98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0"/>
            <a:ext cx="3657600" cy="3657600"/>
          </a:xfrm>
        </p:spPr>
      </p:pic>
      <p:pic>
        <p:nvPicPr>
          <p:cNvPr id="62467" name="Picture 5" descr="Neural nets 2">
            <a:extLst>
              <a:ext uri="{FF2B5EF4-FFF2-40B4-BE49-F238E27FC236}">
                <a16:creationId xmlns:a16="http://schemas.microsoft.com/office/drawing/2014/main" id="{3EA06206-7E07-DA14-9137-78B45AE7D0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9488" y="3200400"/>
            <a:ext cx="5624512"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8" name="TextBox 4">
            <a:extLst>
              <a:ext uri="{FF2B5EF4-FFF2-40B4-BE49-F238E27FC236}">
                <a16:creationId xmlns:a16="http://schemas.microsoft.com/office/drawing/2014/main" id="{D5ABC901-720D-EA26-5D2C-13EE0EE7809D}"/>
              </a:ext>
            </a:extLst>
          </p:cNvPr>
          <p:cNvSpPr txBox="1">
            <a:spLocks noChangeArrowheads="1"/>
          </p:cNvSpPr>
          <p:nvPr/>
        </p:nvSpPr>
        <p:spPr bwMode="auto">
          <a:xfrm>
            <a:off x="4724400" y="1524000"/>
            <a:ext cx="251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800"/>
              <a:t>Realist view</a:t>
            </a:r>
          </a:p>
        </p:txBody>
      </p:sp>
      <p:sp>
        <p:nvSpPr>
          <p:cNvPr id="62469" name="TextBox 6">
            <a:extLst>
              <a:ext uri="{FF2B5EF4-FFF2-40B4-BE49-F238E27FC236}">
                <a16:creationId xmlns:a16="http://schemas.microsoft.com/office/drawing/2014/main" id="{C44A8456-72CB-4096-3CEE-AC59F23DB869}"/>
              </a:ext>
            </a:extLst>
          </p:cNvPr>
          <p:cNvSpPr txBox="1">
            <a:spLocks noChangeArrowheads="1"/>
          </p:cNvSpPr>
          <p:nvPr/>
        </p:nvSpPr>
        <p:spPr bwMode="auto">
          <a:xfrm>
            <a:off x="0" y="5029200"/>
            <a:ext cx="2971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800"/>
              <a:t>Neoliberal view</a:t>
            </a:r>
          </a:p>
        </p:txBody>
      </p:sp>
      <p:sp>
        <p:nvSpPr>
          <p:cNvPr id="8" name="Right Arrow 7">
            <a:extLst>
              <a:ext uri="{FF2B5EF4-FFF2-40B4-BE49-F238E27FC236}">
                <a16:creationId xmlns:a16="http://schemas.microsoft.com/office/drawing/2014/main" id="{C610A481-CEB2-31EF-CE1C-8784962D2B61}"/>
              </a:ext>
            </a:extLst>
          </p:cNvPr>
          <p:cNvSpPr/>
          <p:nvPr/>
        </p:nvSpPr>
        <p:spPr>
          <a:xfrm>
            <a:off x="2590800" y="51816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dirty="0">
              <a:solidFill>
                <a:srgbClr val="FFFFFF"/>
              </a:solidFill>
            </a:endParaRPr>
          </a:p>
        </p:txBody>
      </p:sp>
      <p:sp>
        <p:nvSpPr>
          <p:cNvPr id="9" name="Left Arrow 8">
            <a:extLst>
              <a:ext uri="{FF2B5EF4-FFF2-40B4-BE49-F238E27FC236}">
                <a16:creationId xmlns:a16="http://schemas.microsoft.com/office/drawing/2014/main" id="{A26017C7-AD21-44E0-7FE8-35C225FBCB26}"/>
              </a:ext>
            </a:extLst>
          </p:cNvPr>
          <p:cNvSpPr/>
          <p:nvPr/>
        </p:nvSpPr>
        <p:spPr>
          <a:xfrm>
            <a:off x="3581400" y="1676400"/>
            <a:ext cx="1066800" cy="2286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en-US" altLang="en-US" dirty="0">
              <a:solidFill>
                <a:srgbClr val="FFFFFF"/>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468C1-C232-574F-170B-7CFDA3FCE982}"/>
              </a:ext>
            </a:extLst>
          </p:cNvPr>
          <p:cNvSpPr>
            <a:spLocks noGrp="1"/>
          </p:cNvSpPr>
          <p:nvPr>
            <p:ph type="title"/>
          </p:nvPr>
        </p:nvSpPr>
        <p:spPr/>
        <p:txBody>
          <a:bodyPr/>
          <a:lstStyle/>
          <a:p>
            <a:pPr>
              <a:defRPr/>
            </a:pPr>
            <a:endParaRPr lang="en-US"/>
          </a:p>
        </p:txBody>
      </p:sp>
      <p:pic>
        <p:nvPicPr>
          <p:cNvPr id="63490" name="Content Placeholder 4">
            <a:extLst>
              <a:ext uri="{FF2B5EF4-FFF2-40B4-BE49-F238E27FC236}">
                <a16:creationId xmlns:a16="http://schemas.microsoft.com/office/drawing/2014/main" id="{D85CE8FE-1DE7-6624-28DE-E02F5466E75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23938" y="762000"/>
            <a:ext cx="7086600" cy="5002213"/>
          </a:xfrm>
        </p:spPr>
      </p:pic>
      <p:sp>
        <p:nvSpPr>
          <p:cNvPr id="63491" name="TextBox 5">
            <a:extLst>
              <a:ext uri="{FF2B5EF4-FFF2-40B4-BE49-F238E27FC236}">
                <a16:creationId xmlns:a16="http://schemas.microsoft.com/office/drawing/2014/main" id="{2EA4A724-6DA0-6997-D22E-DF7AD8432633}"/>
              </a:ext>
            </a:extLst>
          </p:cNvPr>
          <p:cNvSpPr txBox="1">
            <a:spLocks noChangeArrowheads="1"/>
          </p:cNvSpPr>
          <p:nvPr/>
        </p:nvSpPr>
        <p:spPr bwMode="auto">
          <a:xfrm>
            <a:off x="985838" y="6248400"/>
            <a:ext cx="70104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SOURCE:  https://ourworldindata.org/grapher/airline-capacity-and-traffic</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32338-640D-9C50-B570-1E36EB601AC8}"/>
              </a:ext>
            </a:extLst>
          </p:cNvPr>
          <p:cNvSpPr>
            <a:spLocks noGrp="1"/>
          </p:cNvSpPr>
          <p:nvPr>
            <p:ph type="title"/>
          </p:nvPr>
        </p:nvSpPr>
        <p:spPr/>
        <p:txBody>
          <a:bodyPr/>
          <a:lstStyle/>
          <a:p>
            <a:pPr>
              <a:defRPr/>
            </a:pPr>
            <a:r>
              <a:rPr lang="en-US" sz="2000" dirty="0">
                <a:solidFill>
                  <a:schemeClr val="tx1"/>
                </a:solidFill>
              </a:rPr>
              <a:t>International Telephone Calls, 1940-1970</a:t>
            </a:r>
          </a:p>
        </p:txBody>
      </p:sp>
      <p:pic>
        <p:nvPicPr>
          <p:cNvPr id="64514" name="Content Placeholder 4">
            <a:extLst>
              <a:ext uri="{FF2B5EF4-FFF2-40B4-BE49-F238E27FC236}">
                <a16:creationId xmlns:a16="http://schemas.microsoft.com/office/drawing/2014/main" id="{B8491331-CE48-0266-FFFD-C03DE1D854A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662113"/>
            <a:ext cx="8294688" cy="3533775"/>
          </a:xfrm>
        </p:spPr>
      </p:pic>
      <p:sp>
        <p:nvSpPr>
          <p:cNvPr id="64515" name="TextBox 5">
            <a:extLst>
              <a:ext uri="{FF2B5EF4-FFF2-40B4-BE49-F238E27FC236}">
                <a16:creationId xmlns:a16="http://schemas.microsoft.com/office/drawing/2014/main" id="{1D3D9942-16DD-DF34-ECDC-BE241B51DED8}"/>
              </a:ext>
            </a:extLst>
          </p:cNvPr>
          <p:cNvSpPr txBox="1">
            <a:spLocks noChangeArrowheads="1"/>
          </p:cNvSpPr>
          <p:nvPr/>
        </p:nvSpPr>
        <p:spPr bwMode="auto">
          <a:xfrm>
            <a:off x="2355850" y="5867400"/>
            <a:ext cx="4495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SOURCE:  https://history.nasa.gov/SP-4217/ch9.htm</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2F324-B44A-FC68-8F91-76FD14587593}"/>
              </a:ext>
            </a:extLst>
          </p:cNvPr>
          <p:cNvSpPr>
            <a:spLocks noGrp="1"/>
          </p:cNvSpPr>
          <p:nvPr>
            <p:ph type="title"/>
          </p:nvPr>
        </p:nvSpPr>
        <p:spPr/>
        <p:txBody>
          <a:bodyPr/>
          <a:lstStyle/>
          <a:p>
            <a:pPr>
              <a:defRPr/>
            </a:pPr>
            <a:endParaRPr lang="en-US"/>
          </a:p>
        </p:txBody>
      </p:sp>
      <p:pic>
        <p:nvPicPr>
          <p:cNvPr id="65538" name="Content Placeholder 4">
            <a:extLst>
              <a:ext uri="{FF2B5EF4-FFF2-40B4-BE49-F238E27FC236}">
                <a16:creationId xmlns:a16="http://schemas.microsoft.com/office/drawing/2014/main" id="{13F498C9-F696-E907-3E56-1D2CB0C3C2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85838" y="609600"/>
            <a:ext cx="7172325" cy="5062538"/>
          </a:xfrm>
        </p:spPr>
      </p:pic>
      <p:sp>
        <p:nvSpPr>
          <p:cNvPr id="65539" name="TextBox 5">
            <a:extLst>
              <a:ext uri="{FF2B5EF4-FFF2-40B4-BE49-F238E27FC236}">
                <a16:creationId xmlns:a16="http://schemas.microsoft.com/office/drawing/2014/main" id="{B85DD124-627E-3BDE-91B5-138309713624}"/>
              </a:ext>
            </a:extLst>
          </p:cNvPr>
          <p:cNvSpPr txBox="1">
            <a:spLocks noChangeArrowheads="1"/>
          </p:cNvSpPr>
          <p:nvPr/>
        </p:nvSpPr>
        <p:spPr bwMode="auto">
          <a:xfrm>
            <a:off x="985838" y="6110288"/>
            <a:ext cx="71723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SOURCE:  https://ourworldindata.org/trade-and-globalization</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082DB126-D3CB-49C3-D70B-AF6F9CDD35E9}"/>
              </a:ext>
            </a:extLst>
          </p:cNvPr>
          <p:cNvSpPr>
            <a:spLocks noGrp="1" noChangeArrowheads="1"/>
          </p:cNvSpPr>
          <p:nvPr>
            <p:ph type="title"/>
          </p:nvPr>
        </p:nvSpPr>
        <p:spPr/>
        <p:txBody>
          <a:bodyPr/>
          <a:lstStyle/>
          <a:p>
            <a:pPr eaLnBrk="1" hangingPunct="1">
              <a:defRPr/>
            </a:pPr>
            <a:r>
              <a:rPr lang="en-US" altLang="x-none" sz="3600" dirty="0">
                <a:solidFill>
                  <a:srgbClr val="FFFF00"/>
                </a:solidFill>
                <a:ea typeface="ＭＳ Ｐゴシック" charset="-128"/>
              </a:rPr>
              <a:t>Little</a:t>
            </a:r>
            <a:r>
              <a:rPr lang="ja-JP" altLang="en-US" sz="3600">
                <a:solidFill>
                  <a:srgbClr val="FFFF00"/>
                </a:solidFill>
                <a:ea typeface="ＭＳ Ｐゴシック" charset="-128"/>
              </a:rPr>
              <a:t>’</a:t>
            </a:r>
            <a:r>
              <a:rPr lang="en-US" altLang="ja-JP" sz="3600" dirty="0">
                <a:solidFill>
                  <a:srgbClr val="FFFF00"/>
                </a:solidFill>
                <a:ea typeface="ＭＳ Ｐゴシック" charset="-128"/>
              </a:rPr>
              <a:t>s </a:t>
            </a:r>
            <a:r>
              <a:rPr lang="ja-JP" altLang="en-US" sz="3600">
                <a:solidFill>
                  <a:srgbClr val="FFFF00"/>
                </a:solidFill>
                <a:ea typeface="ＭＳ Ｐゴシック" charset="-128"/>
              </a:rPr>
              <a:t>“</a:t>
            </a:r>
            <a:r>
              <a:rPr lang="en-US" altLang="ja-JP" sz="3600" dirty="0">
                <a:solidFill>
                  <a:srgbClr val="FFFF00"/>
                </a:solidFill>
                <a:ea typeface="ＭＳ Ｐゴシック" charset="-128"/>
              </a:rPr>
              <a:t>Three Key Discoveries</a:t>
            </a:r>
            <a:r>
              <a:rPr lang="ja-JP" altLang="en-US" sz="3600">
                <a:solidFill>
                  <a:srgbClr val="FFFF00"/>
                </a:solidFill>
                <a:ea typeface="ＭＳ Ｐゴシック" charset="-128"/>
              </a:rPr>
              <a:t>”</a:t>
            </a:r>
            <a:r>
              <a:rPr lang="en-US" altLang="ja-JP" sz="3600" dirty="0">
                <a:solidFill>
                  <a:srgbClr val="FFFF00"/>
                </a:solidFill>
                <a:ea typeface="ＭＳ Ｐゴシック" charset="-128"/>
              </a:rPr>
              <a:t> (by Neoliberals) in the 1960s and ‘70s</a:t>
            </a:r>
            <a:endParaRPr lang="en-US" altLang="x-none" sz="3600" dirty="0">
              <a:ea typeface="ＭＳ Ｐゴシック" charset="-128"/>
            </a:endParaRPr>
          </a:p>
        </p:txBody>
      </p:sp>
      <p:sp>
        <p:nvSpPr>
          <p:cNvPr id="367619" name="Rectangle 3">
            <a:extLst>
              <a:ext uri="{FF2B5EF4-FFF2-40B4-BE49-F238E27FC236}">
                <a16:creationId xmlns:a16="http://schemas.microsoft.com/office/drawing/2014/main" id="{6772173F-3DF2-238B-58BA-CBF25766B9E5}"/>
              </a:ext>
            </a:extLst>
          </p:cNvPr>
          <p:cNvSpPr>
            <a:spLocks noGrp="1" noChangeArrowheads="1"/>
          </p:cNvSpPr>
          <p:nvPr>
            <p:ph type="body" idx="1"/>
          </p:nvPr>
        </p:nvSpPr>
        <p:spPr/>
        <p:txBody>
          <a:bodyPr/>
          <a:lstStyle/>
          <a:p>
            <a:pPr marL="609600" indent="-609600" eaLnBrk="1" hangingPunct="1">
              <a:buFont typeface="Wingdings" charset="2"/>
              <a:buNone/>
              <a:defRPr/>
            </a:pPr>
            <a:endParaRPr lang="en-US" altLang="x-none" dirty="0">
              <a:ea typeface="ＭＳ Ｐゴシック" charset="-128"/>
            </a:endParaRPr>
          </a:p>
          <a:p>
            <a:pPr marL="609600" indent="-609600" eaLnBrk="1" hangingPunct="1">
              <a:buFont typeface="Wingdings" charset="2"/>
              <a:buNone/>
              <a:defRPr/>
            </a:pPr>
            <a:r>
              <a:rPr lang="en-US" altLang="x-none" dirty="0">
                <a:ea typeface="ＭＳ Ｐゴシック" charset="-128"/>
              </a:rPr>
              <a:t>1.	State fragmentation</a:t>
            </a:r>
          </a:p>
          <a:p>
            <a:pPr marL="609600" indent="-609600" eaLnBrk="1" hangingPunct="1">
              <a:buFont typeface="Wingdings" charset="2"/>
              <a:buNone/>
              <a:defRPr/>
            </a:pPr>
            <a:endParaRPr lang="en-US" altLang="x-none" dirty="0">
              <a:ea typeface="ＭＳ Ｐゴシック" charset="-128"/>
            </a:endParaRPr>
          </a:p>
          <a:p>
            <a:pPr marL="609600" indent="-609600" eaLnBrk="1" hangingPunct="1">
              <a:buFont typeface="Wingdings" charset="2"/>
              <a:buNone/>
              <a:defRPr/>
            </a:pPr>
            <a:r>
              <a:rPr lang="en-US" altLang="x-none" dirty="0">
                <a:ea typeface="ＭＳ Ｐゴシック" charset="-128"/>
              </a:rPr>
              <a:t>2.	Transnationalism</a:t>
            </a:r>
          </a:p>
          <a:p>
            <a:pPr marL="609600" indent="-609600" eaLnBrk="1" hangingPunct="1">
              <a:buFont typeface="Wingdings" charset="2"/>
              <a:buNone/>
              <a:defRPr/>
            </a:pPr>
            <a:endParaRPr lang="en-US" altLang="x-none" dirty="0">
              <a:ea typeface="ＭＳ Ｐゴシック" charset="-128"/>
            </a:endParaRPr>
          </a:p>
          <a:p>
            <a:pPr marL="609600" indent="-609600" eaLnBrk="1" hangingPunct="1">
              <a:buFont typeface="Wingdings" charset="2"/>
              <a:buNone/>
              <a:defRPr/>
            </a:pPr>
            <a:r>
              <a:rPr lang="en-US" altLang="x-none" dirty="0">
                <a:ea typeface="ＭＳ Ｐゴシック" charset="-128"/>
              </a:rPr>
              <a:t>3.	Interdependence</a:t>
            </a:r>
          </a:p>
        </p:txBody>
      </p:sp>
      <p:pic>
        <p:nvPicPr>
          <p:cNvPr id="66563" name="Picture 4" descr="Little, Richard">
            <a:extLst>
              <a:ext uri="{FF2B5EF4-FFF2-40B4-BE49-F238E27FC236}">
                <a16:creationId xmlns:a16="http://schemas.microsoft.com/office/drawing/2014/main" id="{E9090C19-81C0-A592-9E4D-5BA5F500F7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2286000"/>
            <a:ext cx="30480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D6F5D435-A166-8AD0-0208-43E490FE724B}"/>
              </a:ext>
            </a:extLst>
          </p:cNvPr>
          <p:cNvSpPr>
            <a:spLocks noGrp="1" noChangeArrowheads="1"/>
          </p:cNvSpPr>
          <p:nvPr>
            <p:ph type="title"/>
          </p:nvPr>
        </p:nvSpPr>
        <p:spPr/>
        <p:txBody>
          <a:bodyPr/>
          <a:lstStyle/>
          <a:p>
            <a:pPr eaLnBrk="1" hangingPunct="1">
              <a:defRPr/>
            </a:pPr>
            <a:r>
              <a:rPr lang="en-US" altLang="x-none" sz="3600" dirty="0">
                <a:solidFill>
                  <a:srgbClr val="FFFF00"/>
                </a:solidFill>
                <a:ea typeface="ＭＳ Ｐゴシック" charset="-128"/>
              </a:rPr>
              <a:t>Little</a:t>
            </a:r>
            <a:r>
              <a:rPr lang="ja-JP" altLang="en-US" sz="3600">
                <a:solidFill>
                  <a:srgbClr val="FFFF00"/>
                </a:solidFill>
                <a:ea typeface="ＭＳ Ｐゴシック" charset="-128"/>
              </a:rPr>
              <a:t>’</a:t>
            </a:r>
            <a:r>
              <a:rPr lang="en-US" altLang="ja-JP" sz="3600" dirty="0">
                <a:solidFill>
                  <a:srgbClr val="FFFF00"/>
                </a:solidFill>
                <a:ea typeface="ＭＳ Ｐゴシック" charset="-128"/>
              </a:rPr>
              <a:t>s </a:t>
            </a:r>
            <a:r>
              <a:rPr lang="ja-JP" altLang="en-US" sz="3600">
                <a:solidFill>
                  <a:srgbClr val="FFFF00"/>
                </a:solidFill>
                <a:ea typeface="ＭＳ Ｐゴシック" charset="-128"/>
              </a:rPr>
              <a:t>“</a:t>
            </a:r>
            <a:r>
              <a:rPr lang="en-US" altLang="ja-JP" sz="3600" dirty="0">
                <a:solidFill>
                  <a:srgbClr val="FFFF00"/>
                </a:solidFill>
                <a:ea typeface="ＭＳ Ｐゴシック" charset="-128"/>
              </a:rPr>
              <a:t>Three Key Discoveries</a:t>
            </a:r>
            <a:r>
              <a:rPr lang="ja-JP" altLang="en-US" sz="3600">
                <a:solidFill>
                  <a:srgbClr val="FFFF00"/>
                </a:solidFill>
                <a:ea typeface="ＭＳ Ｐゴシック" charset="-128"/>
              </a:rPr>
              <a:t>”</a:t>
            </a:r>
            <a:r>
              <a:rPr lang="en-US" altLang="ja-JP" sz="3600" dirty="0">
                <a:solidFill>
                  <a:srgbClr val="FFFF00"/>
                </a:solidFill>
                <a:ea typeface="ＭＳ Ｐゴシック" charset="-128"/>
              </a:rPr>
              <a:t> (by Neoliberals) in the 1960s and ‘70s</a:t>
            </a:r>
            <a:endParaRPr lang="en-US" altLang="x-none" sz="3600" dirty="0">
              <a:ea typeface="ＭＳ Ｐゴシック" charset="-128"/>
            </a:endParaRPr>
          </a:p>
        </p:txBody>
      </p:sp>
      <p:sp>
        <p:nvSpPr>
          <p:cNvPr id="367619" name="Rectangle 3">
            <a:extLst>
              <a:ext uri="{FF2B5EF4-FFF2-40B4-BE49-F238E27FC236}">
                <a16:creationId xmlns:a16="http://schemas.microsoft.com/office/drawing/2014/main" id="{635F30E9-2702-BFED-E122-ED878765056F}"/>
              </a:ext>
            </a:extLst>
          </p:cNvPr>
          <p:cNvSpPr>
            <a:spLocks noGrp="1" noChangeArrowheads="1"/>
          </p:cNvSpPr>
          <p:nvPr>
            <p:ph type="body" idx="1"/>
          </p:nvPr>
        </p:nvSpPr>
        <p:spPr/>
        <p:txBody>
          <a:bodyPr/>
          <a:lstStyle/>
          <a:p>
            <a:pPr marL="609600" indent="-609600" eaLnBrk="1" hangingPunct="1">
              <a:buFont typeface="Wingdings" charset="2"/>
              <a:buNone/>
              <a:defRPr/>
            </a:pPr>
            <a:endParaRPr lang="en-US" altLang="x-none" dirty="0">
              <a:ea typeface="ＭＳ Ｐゴシック" charset="-128"/>
            </a:endParaRPr>
          </a:p>
          <a:p>
            <a:pPr marL="609600" indent="-609600" eaLnBrk="1" hangingPunct="1">
              <a:buFont typeface="Wingdings" charset="2"/>
              <a:buNone/>
              <a:defRPr/>
            </a:pPr>
            <a:r>
              <a:rPr lang="en-US" altLang="x-none" dirty="0">
                <a:ea typeface="ＭＳ Ｐゴシック" charset="-128"/>
              </a:rPr>
              <a:t>1.	State fragmentation</a:t>
            </a:r>
          </a:p>
          <a:p>
            <a:pPr marL="609600" indent="-609600" eaLnBrk="1" hangingPunct="1">
              <a:buFont typeface="Wingdings" charset="2"/>
              <a:buNone/>
              <a:defRPr/>
            </a:pPr>
            <a:endParaRPr lang="en-US" altLang="x-none" dirty="0">
              <a:ea typeface="ＭＳ Ｐゴシック" charset="-128"/>
            </a:endParaRPr>
          </a:p>
          <a:p>
            <a:pPr marL="609600" indent="-609600" eaLnBrk="1" hangingPunct="1">
              <a:buFont typeface="Wingdings" charset="2"/>
              <a:buNone/>
              <a:defRPr/>
            </a:pPr>
            <a:r>
              <a:rPr lang="en-US" altLang="x-none" dirty="0">
                <a:ea typeface="ＭＳ Ｐゴシック" charset="-128"/>
              </a:rPr>
              <a:t>2.	Transnationalism</a:t>
            </a:r>
          </a:p>
          <a:p>
            <a:pPr marL="609600" indent="-609600" eaLnBrk="1" hangingPunct="1">
              <a:buFont typeface="Wingdings" charset="2"/>
              <a:buNone/>
              <a:defRPr/>
            </a:pPr>
            <a:endParaRPr lang="en-US" altLang="x-none" dirty="0">
              <a:ea typeface="ＭＳ Ｐゴシック" charset="-128"/>
            </a:endParaRPr>
          </a:p>
          <a:p>
            <a:pPr marL="609600" indent="-609600" eaLnBrk="1" hangingPunct="1">
              <a:buFont typeface="Wingdings" charset="2"/>
              <a:buNone/>
              <a:defRPr/>
            </a:pPr>
            <a:r>
              <a:rPr lang="en-US" altLang="x-none" dirty="0">
                <a:ea typeface="ＭＳ Ｐゴシック" charset="-128"/>
              </a:rPr>
              <a:t>3.	Interdependence:  Its discovery demonstrated the inadequacy of the Realist assumption that states are </a:t>
            </a:r>
            <a:r>
              <a:rPr lang="en-US" altLang="x-none" i="1" dirty="0">
                <a:ea typeface="ＭＳ Ｐゴシック" charset="-128"/>
              </a:rPr>
              <a:t>autonomous</a:t>
            </a:r>
            <a:r>
              <a:rPr lang="en-US" altLang="x-none" dirty="0">
                <a:ea typeface="ＭＳ Ｐゴシック" charset="-128"/>
              </a:rPr>
              <a:t> actors in an anarchic world</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CB7B4-1CED-A7BF-3AF5-68C2CCA088D2}"/>
              </a:ext>
            </a:extLst>
          </p:cNvPr>
          <p:cNvSpPr>
            <a:spLocks noGrp="1"/>
          </p:cNvSpPr>
          <p:nvPr>
            <p:ph type="title"/>
          </p:nvPr>
        </p:nvSpPr>
        <p:spPr/>
        <p:txBody>
          <a:bodyPr/>
          <a:lstStyle/>
          <a:p>
            <a:pPr>
              <a:defRPr/>
            </a:pPr>
            <a:endParaRPr lang="en-US"/>
          </a:p>
        </p:txBody>
      </p:sp>
      <p:pic>
        <p:nvPicPr>
          <p:cNvPr id="70658" name="Content Placeholder 4">
            <a:extLst>
              <a:ext uri="{FF2B5EF4-FFF2-40B4-BE49-F238E27FC236}">
                <a16:creationId xmlns:a16="http://schemas.microsoft.com/office/drawing/2014/main" id="{4DA32692-FC5C-91EC-A12C-BE8C12225C9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85838" y="609600"/>
            <a:ext cx="7172325" cy="5062538"/>
          </a:xfrm>
        </p:spPr>
      </p:pic>
      <p:sp>
        <p:nvSpPr>
          <p:cNvPr id="70659" name="TextBox 5">
            <a:extLst>
              <a:ext uri="{FF2B5EF4-FFF2-40B4-BE49-F238E27FC236}">
                <a16:creationId xmlns:a16="http://schemas.microsoft.com/office/drawing/2014/main" id="{25D98B9A-2B68-8687-B39D-D190353BCF34}"/>
              </a:ext>
            </a:extLst>
          </p:cNvPr>
          <p:cNvSpPr txBox="1">
            <a:spLocks noChangeArrowheads="1"/>
          </p:cNvSpPr>
          <p:nvPr/>
        </p:nvSpPr>
        <p:spPr bwMode="auto">
          <a:xfrm>
            <a:off x="985838" y="6110288"/>
            <a:ext cx="71723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SOURCE:  https://ourworldindata.org/trade-and-globalization</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26B4C-3BC5-8387-6304-4F26B6D29548}"/>
              </a:ext>
            </a:extLst>
          </p:cNvPr>
          <p:cNvSpPr>
            <a:spLocks noGrp="1"/>
          </p:cNvSpPr>
          <p:nvPr>
            <p:ph type="title"/>
          </p:nvPr>
        </p:nvSpPr>
        <p:spPr/>
        <p:txBody>
          <a:bodyPr/>
          <a:lstStyle/>
          <a:p>
            <a:pPr>
              <a:defRPr/>
            </a:pPr>
            <a:endParaRPr lang="en-US"/>
          </a:p>
        </p:txBody>
      </p:sp>
      <p:pic>
        <p:nvPicPr>
          <p:cNvPr id="71682" name="Content Placeholder 4">
            <a:extLst>
              <a:ext uri="{FF2B5EF4-FFF2-40B4-BE49-F238E27FC236}">
                <a16:creationId xmlns:a16="http://schemas.microsoft.com/office/drawing/2014/main" id="{9A0EB275-6FA3-534C-136D-2B2FD5DE8AD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85838" y="609600"/>
            <a:ext cx="7172325" cy="5062538"/>
          </a:xfrm>
        </p:spPr>
      </p:pic>
      <p:sp>
        <p:nvSpPr>
          <p:cNvPr id="71683" name="TextBox 5">
            <a:extLst>
              <a:ext uri="{FF2B5EF4-FFF2-40B4-BE49-F238E27FC236}">
                <a16:creationId xmlns:a16="http://schemas.microsoft.com/office/drawing/2014/main" id="{AD052942-C4B9-81C6-9399-3ADFFCB791DB}"/>
              </a:ext>
            </a:extLst>
          </p:cNvPr>
          <p:cNvSpPr txBox="1">
            <a:spLocks noChangeArrowheads="1"/>
          </p:cNvSpPr>
          <p:nvPr/>
        </p:nvSpPr>
        <p:spPr bwMode="auto">
          <a:xfrm>
            <a:off x="985838" y="6110288"/>
            <a:ext cx="71723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SOURCE:  https://ourworldindata.org/trade-and-globalization</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CD07F-BE5A-F946-EEEF-CF4EB60D1D12}"/>
              </a:ext>
            </a:extLst>
          </p:cNvPr>
          <p:cNvSpPr>
            <a:spLocks noGrp="1"/>
          </p:cNvSpPr>
          <p:nvPr>
            <p:ph type="title"/>
          </p:nvPr>
        </p:nvSpPr>
        <p:spPr>
          <a:xfrm>
            <a:off x="457200" y="152400"/>
            <a:ext cx="8229600" cy="788988"/>
          </a:xfrm>
        </p:spPr>
        <p:txBody>
          <a:bodyPr/>
          <a:lstStyle/>
          <a:p>
            <a:pPr>
              <a:defRPr/>
            </a:pPr>
            <a:r>
              <a:rPr lang="en-US" altLang="en-US" sz="2800" dirty="0">
                <a:solidFill>
                  <a:schemeClr val="tx1"/>
                </a:solidFill>
                <a:ea typeface="ＭＳ Ｐゴシック" panose="020B0600070205080204" pitchFamily="34" charset="-128"/>
              </a:rPr>
              <a:t>U.S. GDP growth and oil prices</a:t>
            </a:r>
          </a:p>
        </p:txBody>
      </p:sp>
      <p:pic>
        <p:nvPicPr>
          <p:cNvPr id="72706" name="Content Placeholder 3" descr="Oil GDP.gif">
            <a:extLst>
              <a:ext uri="{FF2B5EF4-FFF2-40B4-BE49-F238E27FC236}">
                <a16:creationId xmlns:a16="http://schemas.microsoft.com/office/drawing/2014/main" id="{6DACD6F9-0643-7C7D-8E62-6DC13CAABE9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2225" r="-12225"/>
          <a:stretch>
            <a:fillRect/>
          </a:stretch>
        </p:blipFill>
        <p:spPr>
          <a:xfrm>
            <a:off x="342900" y="1295400"/>
            <a:ext cx="8458200" cy="4656138"/>
          </a:xfr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688AB-C1F9-270E-4E3B-7971F84A7350}"/>
              </a:ext>
            </a:extLst>
          </p:cNvPr>
          <p:cNvSpPr>
            <a:spLocks noGrp="1"/>
          </p:cNvSpPr>
          <p:nvPr>
            <p:ph type="title"/>
          </p:nvPr>
        </p:nvSpPr>
        <p:spPr/>
        <p:txBody>
          <a:bodyPr/>
          <a:lstStyle/>
          <a:p>
            <a:pPr>
              <a:defRPr/>
            </a:pPr>
            <a:endParaRPr lang="en-US" dirty="0"/>
          </a:p>
        </p:txBody>
      </p:sp>
      <p:pic>
        <p:nvPicPr>
          <p:cNvPr id="73730" name="Content Placeholder 4">
            <a:extLst>
              <a:ext uri="{FF2B5EF4-FFF2-40B4-BE49-F238E27FC236}">
                <a16:creationId xmlns:a16="http://schemas.microsoft.com/office/drawing/2014/main" id="{852AE3CE-0E6C-67E1-954C-F1DA9CD0490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36700" y="277813"/>
            <a:ext cx="6070600" cy="6072187"/>
          </a:xfr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46FB59C2-733F-058A-B38A-4820EA18DF70}"/>
              </a:ext>
            </a:extLst>
          </p:cNvPr>
          <p:cNvSpPr>
            <a:spLocks noGrp="1" noChangeArrowheads="1"/>
          </p:cNvSpPr>
          <p:nvPr>
            <p:ph type="title"/>
          </p:nvPr>
        </p:nvSpPr>
        <p:spPr/>
        <p:txBody>
          <a:bodyPr/>
          <a:lstStyle/>
          <a:p>
            <a:pPr eaLnBrk="1" hangingPunct="1">
              <a:defRPr/>
            </a:pPr>
            <a:r>
              <a:rPr lang="en-US" altLang="x-none" sz="3600" dirty="0">
                <a:solidFill>
                  <a:srgbClr val="FFFF00"/>
                </a:solidFill>
                <a:ea typeface="ＭＳ Ｐゴシック" charset="-128"/>
              </a:rPr>
              <a:t>Little</a:t>
            </a:r>
            <a:r>
              <a:rPr lang="ja-JP" altLang="en-US" sz="3600">
                <a:solidFill>
                  <a:srgbClr val="FFFF00"/>
                </a:solidFill>
                <a:ea typeface="ＭＳ Ｐゴシック" charset="-128"/>
              </a:rPr>
              <a:t>’</a:t>
            </a:r>
            <a:r>
              <a:rPr lang="en-US" altLang="ja-JP" sz="3600" dirty="0">
                <a:solidFill>
                  <a:srgbClr val="FFFF00"/>
                </a:solidFill>
                <a:ea typeface="ＭＳ Ｐゴシック" charset="-128"/>
              </a:rPr>
              <a:t>s </a:t>
            </a:r>
            <a:r>
              <a:rPr lang="ja-JP" altLang="en-US" sz="3600">
                <a:solidFill>
                  <a:srgbClr val="FFFF00"/>
                </a:solidFill>
                <a:ea typeface="ＭＳ Ｐゴシック" charset="-128"/>
              </a:rPr>
              <a:t>“</a:t>
            </a:r>
            <a:r>
              <a:rPr lang="en-US" altLang="ja-JP" sz="3600" dirty="0">
                <a:solidFill>
                  <a:srgbClr val="FFFF00"/>
                </a:solidFill>
                <a:ea typeface="ＭＳ Ｐゴシック" charset="-128"/>
              </a:rPr>
              <a:t>Three Key Discoveries</a:t>
            </a:r>
            <a:r>
              <a:rPr lang="ja-JP" altLang="en-US" sz="3600">
                <a:solidFill>
                  <a:srgbClr val="FFFF00"/>
                </a:solidFill>
                <a:ea typeface="ＭＳ Ｐゴシック" charset="-128"/>
              </a:rPr>
              <a:t>”</a:t>
            </a:r>
            <a:r>
              <a:rPr lang="en-US" altLang="ja-JP" sz="3600" dirty="0">
                <a:solidFill>
                  <a:srgbClr val="FFFF00"/>
                </a:solidFill>
                <a:ea typeface="ＭＳ Ｐゴシック" charset="-128"/>
              </a:rPr>
              <a:t> (by Neoliberals) in the 1960s and ‘70s</a:t>
            </a:r>
            <a:endParaRPr lang="en-US" altLang="x-none" sz="3600" dirty="0">
              <a:ea typeface="ＭＳ Ｐゴシック" charset="-128"/>
            </a:endParaRPr>
          </a:p>
        </p:txBody>
      </p:sp>
      <p:sp>
        <p:nvSpPr>
          <p:cNvPr id="367619" name="Rectangle 3">
            <a:extLst>
              <a:ext uri="{FF2B5EF4-FFF2-40B4-BE49-F238E27FC236}">
                <a16:creationId xmlns:a16="http://schemas.microsoft.com/office/drawing/2014/main" id="{A90C36B5-B884-4764-6A68-F84BBF9B2CE9}"/>
              </a:ext>
            </a:extLst>
          </p:cNvPr>
          <p:cNvSpPr>
            <a:spLocks noGrp="1" noChangeArrowheads="1"/>
          </p:cNvSpPr>
          <p:nvPr>
            <p:ph type="body" idx="1"/>
          </p:nvPr>
        </p:nvSpPr>
        <p:spPr/>
        <p:txBody>
          <a:bodyPr/>
          <a:lstStyle/>
          <a:p>
            <a:pPr marL="609600" indent="-609600" eaLnBrk="1" hangingPunct="1">
              <a:buFont typeface="Wingdings" charset="2"/>
              <a:buNone/>
              <a:defRPr/>
            </a:pPr>
            <a:r>
              <a:rPr lang="en-US" altLang="x-none" dirty="0">
                <a:ea typeface="ＭＳ Ｐゴシック" charset="-128"/>
              </a:rPr>
              <a:t>…</a:t>
            </a:r>
          </a:p>
          <a:p>
            <a:pPr marL="609600" indent="-609600" eaLnBrk="1" hangingPunct="1">
              <a:buFont typeface="Wingdings" charset="2"/>
              <a:buNone/>
              <a:defRPr/>
            </a:pPr>
            <a:r>
              <a:rPr lang="en-US" altLang="x-none" dirty="0">
                <a:ea typeface="ＭＳ Ｐゴシック" charset="-128"/>
              </a:rPr>
              <a:t>3.	Interdependence:</a:t>
            </a:r>
          </a:p>
          <a:p>
            <a:pPr marL="609600" indent="-609600" eaLnBrk="1" hangingPunct="1">
              <a:buFont typeface="Wingdings" charset="2"/>
              <a:buNone/>
              <a:defRPr/>
            </a:pPr>
            <a:endParaRPr lang="en-US" altLang="x-none" sz="1800" dirty="0">
              <a:ea typeface="ＭＳ Ｐゴシック" charset="-128"/>
            </a:endParaRPr>
          </a:p>
          <a:p>
            <a:pPr marL="609600" indent="-609600" eaLnBrk="1" hangingPunct="1">
              <a:buFont typeface="Wingdings" charset="2"/>
              <a:buNone/>
              <a:defRPr/>
            </a:pPr>
            <a:r>
              <a:rPr lang="en-US" altLang="x-none" dirty="0">
                <a:ea typeface="ＭＳ Ｐゴシック" charset="-128"/>
              </a:rPr>
              <a:t>	Neoliberals also developed the concept of the </a:t>
            </a:r>
            <a:r>
              <a:rPr lang="ja-JP" altLang="en-US">
                <a:ea typeface="ＭＳ Ｐゴシック" charset="-128"/>
              </a:rPr>
              <a:t>“</a:t>
            </a:r>
            <a:r>
              <a:rPr lang="en-US" altLang="ja-JP" dirty="0">
                <a:ea typeface="ＭＳ Ｐゴシック" charset="-128"/>
              </a:rPr>
              <a:t>global commons,</a:t>
            </a:r>
            <a:r>
              <a:rPr lang="ja-JP" altLang="en-US">
                <a:ea typeface="ＭＳ Ｐゴシック" charset="-128"/>
              </a:rPr>
              <a:t>”</a:t>
            </a:r>
            <a:r>
              <a:rPr lang="en-US" altLang="ja-JP" dirty="0">
                <a:ea typeface="ＭＳ Ｐゴシック" charset="-128"/>
              </a:rPr>
              <a:t> defined as </a:t>
            </a:r>
            <a:r>
              <a:rPr lang="ja-JP" altLang="en-US">
                <a:ea typeface="ＭＳ Ｐゴシック" charset="-128"/>
              </a:rPr>
              <a:t>“</a:t>
            </a:r>
            <a:r>
              <a:rPr lang="en-US" altLang="ja-JP" dirty="0">
                <a:ea typeface="ＭＳ Ｐゴシック" charset="-128"/>
              </a:rPr>
              <a:t>natural assets outside national jurisdiction such as the atmosphere, oceans, outer space, and the Antarctic.</a:t>
            </a:r>
            <a:r>
              <a:rPr lang="ja-JP" altLang="en-US">
                <a:ea typeface="ＭＳ Ｐゴシック" charset="-128"/>
              </a:rPr>
              <a:t>”</a:t>
            </a:r>
            <a:endParaRPr lang="en-US" altLang="ja-JP" dirty="0">
              <a:ea typeface="ＭＳ Ｐゴシック" charset="-128"/>
            </a:endParaRPr>
          </a:p>
          <a:p>
            <a:pPr marL="609600" indent="-609600" eaLnBrk="1" hangingPunct="1">
              <a:buFont typeface="Wingdings" charset="2"/>
              <a:buNone/>
              <a:defRPr/>
            </a:pPr>
            <a:endParaRPr lang="en-US" altLang="x-none" dirty="0">
              <a:ea typeface="ＭＳ Ｐゴシック" charset="-128"/>
            </a:endParaRPr>
          </a:p>
          <a:p>
            <a:pPr marL="609600" indent="-609600" eaLnBrk="1" hangingPunct="1">
              <a:buFont typeface="Wingdings" charset="2"/>
              <a:buNone/>
              <a:defRPr/>
            </a:pPr>
            <a:endParaRPr lang="en-US" altLang="x-none" dirty="0">
              <a:ea typeface="ＭＳ Ｐゴシック" charset="-128"/>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8CDA7-B6A9-398B-D958-2BEBA876B3E0}"/>
              </a:ext>
            </a:extLst>
          </p:cNvPr>
          <p:cNvSpPr>
            <a:spLocks noGrp="1"/>
          </p:cNvSpPr>
          <p:nvPr>
            <p:ph type="title"/>
          </p:nvPr>
        </p:nvSpPr>
        <p:spPr/>
        <p:txBody>
          <a:bodyPr/>
          <a:lstStyle/>
          <a:p>
            <a:pPr eaLnBrk="1" hangingPunct="1">
              <a:defRPr/>
            </a:pPr>
            <a:endParaRPr lang="en-US" altLang="en-US" dirty="0">
              <a:ea typeface="ＭＳ Ｐゴシック" panose="020B0600070205080204" pitchFamily="34" charset="-128"/>
            </a:endParaRPr>
          </a:p>
        </p:txBody>
      </p:sp>
      <p:pic>
        <p:nvPicPr>
          <p:cNvPr id="76802" name="Content Placeholder 6" descr="world-map-political.jpg">
            <a:extLst>
              <a:ext uri="{FF2B5EF4-FFF2-40B4-BE49-F238E27FC236}">
                <a16:creationId xmlns:a16="http://schemas.microsoft.com/office/drawing/2014/main" id="{20B11E15-67C8-75E6-0769-C45A1DF2C2F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685800"/>
            <a:ext cx="9161463" cy="5394325"/>
          </a:xfr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a:extLst>
              <a:ext uri="{FF2B5EF4-FFF2-40B4-BE49-F238E27FC236}">
                <a16:creationId xmlns:a16="http://schemas.microsoft.com/office/drawing/2014/main" id="{E10426A6-20DD-8A71-13FC-4BA0285A566B}"/>
              </a:ext>
            </a:extLst>
          </p:cNvPr>
          <p:cNvSpPr>
            <a:spLocks noGrp="1" noChangeArrowheads="1"/>
          </p:cNvSpPr>
          <p:nvPr>
            <p:ph type="title"/>
          </p:nvPr>
        </p:nvSpPr>
        <p:spPr/>
        <p:txBody>
          <a:bodyPr/>
          <a:lstStyle/>
          <a:p>
            <a:pPr eaLnBrk="1" hangingPunct="1">
              <a:defRPr/>
            </a:pPr>
            <a:endParaRPr lang="en-US" altLang="en-US" dirty="0">
              <a:ea typeface="ＭＳ Ｐゴシック" panose="020B0600070205080204" pitchFamily="34" charset="-128"/>
            </a:endParaRPr>
          </a:p>
        </p:txBody>
      </p:sp>
      <p:sp>
        <p:nvSpPr>
          <p:cNvPr id="380931" name="Rectangle 3">
            <a:extLst>
              <a:ext uri="{FF2B5EF4-FFF2-40B4-BE49-F238E27FC236}">
                <a16:creationId xmlns:a16="http://schemas.microsoft.com/office/drawing/2014/main" id="{377CB005-A620-449C-9DA0-1CD88937265E}"/>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77827" name="Picture 4">
            <a:extLst>
              <a:ext uri="{FF2B5EF4-FFF2-40B4-BE49-F238E27FC236}">
                <a16:creationId xmlns:a16="http://schemas.microsoft.com/office/drawing/2014/main" id="{42CA5DE4-C396-7347-7008-EE4D6E7169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75" y="609600"/>
            <a:ext cx="9094788"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6DBFC-3EEE-EAB3-4A12-5D039F517B04}"/>
              </a:ext>
            </a:extLst>
          </p:cNvPr>
          <p:cNvSpPr>
            <a:spLocks noGrp="1"/>
          </p:cNvSpPr>
          <p:nvPr>
            <p:ph type="title"/>
          </p:nvPr>
        </p:nvSpPr>
        <p:spPr>
          <a:xfrm>
            <a:off x="428625" y="152400"/>
            <a:ext cx="8229600" cy="527050"/>
          </a:xfrm>
        </p:spPr>
        <p:txBody>
          <a:bodyPr/>
          <a:lstStyle/>
          <a:p>
            <a:pPr eaLnBrk="1" hangingPunct="1">
              <a:defRPr/>
            </a:pPr>
            <a:r>
              <a:rPr lang="en-US" altLang="en-US" sz="3200" dirty="0">
                <a:solidFill>
                  <a:schemeClr val="tx1"/>
                </a:solidFill>
                <a:ea typeface="ＭＳ Ｐゴシック" panose="020B0600070205080204" pitchFamily="34" charset="-128"/>
              </a:rPr>
              <a:t>Arctic sea ice, 2018</a:t>
            </a:r>
          </a:p>
        </p:txBody>
      </p:sp>
      <p:pic>
        <p:nvPicPr>
          <p:cNvPr id="79874" name="Content Placeholder 3">
            <a:extLst>
              <a:ext uri="{FF2B5EF4-FFF2-40B4-BE49-F238E27FC236}">
                <a16:creationId xmlns:a16="http://schemas.microsoft.com/office/drawing/2014/main" id="{ABDB6E24-D256-D17A-1E30-D1BFDCB1BE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804863"/>
            <a:ext cx="8174038" cy="6053137"/>
          </a:xfr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95E54-6ACD-5769-4068-C0F48265B452}"/>
              </a:ext>
            </a:extLst>
          </p:cNvPr>
          <p:cNvSpPr>
            <a:spLocks noGrp="1"/>
          </p:cNvSpPr>
          <p:nvPr>
            <p:ph type="title"/>
          </p:nvPr>
        </p:nvSpPr>
        <p:spPr/>
        <p:txBody>
          <a:bodyPr/>
          <a:lstStyle/>
          <a:p>
            <a:pPr eaLnBrk="1" hangingPunct="1">
              <a:defRPr/>
            </a:pPr>
            <a:endParaRPr lang="en-US" altLang="en-US" dirty="0">
              <a:ea typeface="ＭＳ Ｐゴシック" panose="020B0600070205080204" pitchFamily="34" charset="-128"/>
            </a:endParaRPr>
          </a:p>
        </p:txBody>
      </p:sp>
      <p:pic>
        <p:nvPicPr>
          <p:cNvPr id="80898" name="Content Placeholder 3" descr="Geosynchronous orbital belt 2.jpg">
            <a:extLst>
              <a:ext uri="{FF2B5EF4-FFF2-40B4-BE49-F238E27FC236}">
                <a16:creationId xmlns:a16="http://schemas.microsoft.com/office/drawing/2014/main" id="{18895892-7521-DB05-FD11-074537481C1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00200" y="228600"/>
            <a:ext cx="5935663" cy="6400800"/>
          </a:xfr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05C8A-DBC8-E399-6695-E3A2814B3611}"/>
              </a:ext>
            </a:extLst>
          </p:cNvPr>
          <p:cNvSpPr>
            <a:spLocks noGrp="1"/>
          </p:cNvSpPr>
          <p:nvPr>
            <p:ph type="title"/>
          </p:nvPr>
        </p:nvSpPr>
        <p:spPr/>
        <p:txBody>
          <a:bodyPr/>
          <a:lstStyle/>
          <a:p>
            <a:pPr>
              <a:defRPr/>
            </a:pPr>
            <a:endParaRPr lang="en-US"/>
          </a:p>
        </p:txBody>
      </p:sp>
      <p:pic>
        <p:nvPicPr>
          <p:cNvPr id="81922" name="Content Placeholder 4">
            <a:extLst>
              <a:ext uri="{FF2B5EF4-FFF2-40B4-BE49-F238E27FC236}">
                <a16:creationId xmlns:a16="http://schemas.microsoft.com/office/drawing/2014/main" id="{0472D6F1-3807-A501-3B15-943900ED7DD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08000" y="990600"/>
            <a:ext cx="8128000" cy="4216400"/>
          </a:xfrm>
        </p:spPr>
      </p:pic>
      <p:sp>
        <p:nvSpPr>
          <p:cNvPr id="81923" name="TextBox 5">
            <a:extLst>
              <a:ext uri="{FF2B5EF4-FFF2-40B4-BE49-F238E27FC236}">
                <a16:creationId xmlns:a16="http://schemas.microsoft.com/office/drawing/2014/main" id="{C4E57696-2FEE-C396-F573-562D367361C7}"/>
              </a:ext>
            </a:extLst>
          </p:cNvPr>
          <p:cNvSpPr txBox="1">
            <a:spLocks noChangeArrowheads="1"/>
          </p:cNvSpPr>
          <p:nvPr/>
        </p:nvSpPr>
        <p:spPr bwMode="auto">
          <a:xfrm>
            <a:off x="508000" y="5791200"/>
            <a:ext cx="8128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200"/>
              <a:t>SOURCE:  Center for Global Commons, University of Tokyo (https://cgc.ifi.u-tokyo.ac.jp/en/research-en/gcsi-en/)</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2A273-3BA7-9239-DF76-31582E1BC5A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EE96ED9-9FA1-91E2-FD54-67A123F210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4368" y="791368"/>
            <a:ext cx="5275263" cy="5275263"/>
          </a:xfrm>
        </p:spPr>
      </p:pic>
    </p:spTree>
    <p:extLst>
      <p:ext uri="{BB962C8B-B14F-4D97-AF65-F5344CB8AC3E}">
        <p14:creationId xmlns:p14="http://schemas.microsoft.com/office/powerpoint/2010/main" val="3929706870"/>
      </p:ext>
    </p:extLst>
  </p:cSld>
  <p:clrMapOvr>
    <a:masterClrMapping/>
  </p:clrMapOvr>
</p:sld>
</file>

<file path=ppt/theme/theme1.xml><?xml version="1.0" encoding="utf-8"?>
<a:theme xmlns:a="http://schemas.openxmlformats.org/drawingml/2006/main" name="Orbit">
  <a:themeElements>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fontScheme name="Orbit">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Orbit</Template>
  <TotalTime>13227</TotalTime>
  <Words>5865</Words>
  <Application>Microsoft Macintosh PowerPoint</Application>
  <PresentationFormat>On-screen Show (4:3)</PresentationFormat>
  <Paragraphs>413</Paragraphs>
  <Slides>84</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84</vt:i4>
      </vt:variant>
    </vt:vector>
  </HeadingPairs>
  <TitlesOfParts>
    <vt:vector size="88" baseType="lpstr">
      <vt:lpstr>ＭＳ Ｐゴシック</vt:lpstr>
      <vt:lpstr>Arial</vt:lpstr>
      <vt:lpstr>Wingdings</vt:lpstr>
      <vt:lpstr>Orbit</vt:lpstr>
      <vt:lpstr>PIA 3121  15 September 2026</vt:lpstr>
      <vt:lpstr>PIA 3121 Schedule</vt:lpstr>
      <vt:lpstr>Thomas Hobbes, Leviathan (1651)</vt:lpstr>
      <vt:lpstr>Hobbes’s Leviathan (1651)</vt:lpstr>
      <vt:lpstr>Hobbes’s Leviathan (1651)</vt:lpstr>
      <vt:lpstr>Hobbes’s Leviathan (1651)</vt:lpstr>
      <vt:lpstr>Hobbes’s Leviathan (1651)</vt:lpstr>
      <vt:lpstr>John Locke, early Liberal optimist Two Treatises of Government (1689)</vt:lpstr>
      <vt:lpstr>Locke’s Two Treatises of Government (1689)</vt:lpstr>
      <vt:lpstr>Locke’s Two Treatises of Government (1689)</vt:lpstr>
      <vt:lpstr>Locke’s Two Treatises of Government (1689)</vt:lpstr>
      <vt:lpstr>Locke’s Key Contributions to the Study of IR</vt:lpstr>
      <vt:lpstr>Locke’s Key Contributions to the Study of IR</vt:lpstr>
      <vt:lpstr>Locke’s Key Contributions to the Study of IR</vt:lpstr>
      <vt:lpstr>Locke’s Key Contributions to the Study of IR</vt:lpstr>
      <vt:lpstr>Locke’s Key Contributions to the Study of IR</vt:lpstr>
      <vt:lpstr>Locke’s Key Contributions to the Study of IR</vt:lpstr>
      <vt:lpstr>Locke and the International Jurists (Grotius, Pufendorf)</vt:lpstr>
      <vt:lpstr>Locke and the International Jurists (Grotius, Pufendorf)</vt:lpstr>
      <vt:lpstr>Locke and the International Jurists (Grotius, Pufendorf)</vt:lpstr>
      <vt:lpstr>Locke and the International Jurists (Grotius, Pufendorf)</vt:lpstr>
      <vt:lpstr>Locke and the International Jurists (Grotius, Pufendorf)</vt:lpstr>
      <vt:lpstr>Locke and the International Jurists (Grotius, Pufendorf)</vt:lpstr>
      <vt:lpstr>Kant’s Key Contributions to the Study of IR</vt:lpstr>
      <vt:lpstr>Kant’s Key Contributions to the Study of IR</vt:lpstr>
      <vt:lpstr>Kant’s Key Contributions to the Study of IR</vt:lpstr>
      <vt:lpstr>Kant’s Key Contributions to the Study of IR</vt:lpstr>
      <vt:lpstr>Kant’s Key Contributions to the Study of IR</vt:lpstr>
      <vt:lpstr>Kant’s Key Contributions to the Study of IR</vt:lpstr>
      <vt:lpstr>The Intellectual Path from Locke to Kant</vt:lpstr>
      <vt:lpstr>The Intellectual Path from Locke to Kant</vt:lpstr>
      <vt:lpstr>The Intellectual Path from Locke to Kant</vt:lpstr>
      <vt:lpstr>The Intellectual Path from Locke to Kant</vt:lpstr>
      <vt:lpstr>The Intellectual Path from Locke to Kant</vt:lpstr>
      <vt:lpstr>The Intellectual Path from Locke to Kant</vt:lpstr>
      <vt:lpstr>The Contributions of Adam Smith and David Ricardo to Liberal IR Theory</vt:lpstr>
      <vt:lpstr>The Contributions of Adam Smith and David Ricardo to Liberal IR Theory</vt:lpstr>
      <vt:lpstr>The Contributions of Adam Smith and David Ricardo to Liberal IR Theory</vt:lpstr>
      <vt:lpstr>The Contributions of Adam Smith and David Ricardo to Liberal IR Theory</vt:lpstr>
      <vt:lpstr>The Contributions of Adam Smith and David Ricardo to Liberal IR Theory</vt:lpstr>
      <vt:lpstr>The Contributions of Adam Smith and David Ricardo to Liberal IR Theory</vt:lpstr>
      <vt:lpstr>Why the liberal search for a permanent solution to warfare wasn’t just an empty academic exercise</vt:lpstr>
      <vt:lpstr>How people died during wars when liberal IR was taking shape</vt:lpstr>
      <vt:lpstr>How people died during wars when liberal IR was taking shape</vt:lpstr>
      <vt:lpstr>How people died during wars when liberal IR was taking shape</vt:lpstr>
      <vt:lpstr>How people died during wars when liberal IR was taking shape</vt:lpstr>
      <vt:lpstr>How people died during wars when liberal IR was taking shape</vt:lpstr>
      <vt:lpstr>How people died during wars when liberal IR was taking shape</vt:lpstr>
      <vt:lpstr>The Long Peace of the European 19th Century (1815-1914):  A Liberal Peace?  Nope.</vt:lpstr>
      <vt:lpstr>The Long Peace of the European 19th Century (1815-1914):  A Liberal Peace?  Nope.</vt:lpstr>
      <vt:lpstr>The Long Peace of the European 19th Century (1815-1914):  A Liberal Peace?  Nope.</vt:lpstr>
      <vt:lpstr>The Long Peace of the European 19th Century (1815-1914):  A Liberal Peace?  Nope.</vt:lpstr>
      <vt:lpstr>The Long Peace of the European 19th Century (1815-1914):  A Liberal Peace?  Nope.</vt:lpstr>
      <vt:lpstr>20th/21st Century Western IR Theory</vt:lpstr>
      <vt:lpstr>Little’s “Three Key Discoveries” (by Neoliberals) in the 1960s and ‘70s</vt:lpstr>
      <vt:lpstr>PowerPoint Presentation</vt:lpstr>
      <vt:lpstr>PowerPoint Presentation</vt:lpstr>
      <vt:lpstr>Little’s “Three Key Discoveries” (by Neoliberals) in the 1960s and ‘70s</vt:lpstr>
      <vt:lpstr>Little’s “Three Key Discoveries” (by Neoliberals) in the 1960s and ‘70s</vt:lpstr>
      <vt:lpstr>PowerPoint Presentation</vt:lpstr>
      <vt:lpstr>Little’s “Three Key Discoveries” (by Neoliberals) in the 1960s and ‘70s</vt:lpstr>
      <vt:lpstr>U.S. Government</vt:lpstr>
      <vt:lpstr>A key multi-part question</vt:lpstr>
      <vt:lpstr>A key multi-part question</vt:lpstr>
      <vt:lpstr>A key multi-part question</vt:lpstr>
      <vt:lpstr>Little’s “Three Key Discoveries” (by Neoliberals) in the 1960s and ‘70s</vt:lpstr>
      <vt:lpstr>Little’s “Three Key Discoveries” (by Neoliberals) in the 1960s and ‘70s</vt:lpstr>
      <vt:lpstr>PowerPoint Presentation</vt:lpstr>
      <vt:lpstr>PowerPoint Presentation</vt:lpstr>
      <vt:lpstr>International Telephone Calls, 1940-1970</vt:lpstr>
      <vt:lpstr>PowerPoint Presentation</vt:lpstr>
      <vt:lpstr>Little’s “Three Key Discoveries” (by Neoliberals) in the 1960s and ‘70s</vt:lpstr>
      <vt:lpstr>Little’s “Three Key Discoveries” (by Neoliberals) in the 1960s and ‘70s</vt:lpstr>
      <vt:lpstr>PowerPoint Presentation</vt:lpstr>
      <vt:lpstr>PowerPoint Presentation</vt:lpstr>
      <vt:lpstr>U.S. GDP growth and oil prices</vt:lpstr>
      <vt:lpstr>PowerPoint Presentation</vt:lpstr>
      <vt:lpstr>Little’s “Three Key Discoveries” (by Neoliberals) in the 1960s and ‘70s</vt:lpstr>
      <vt:lpstr>PowerPoint Presentation</vt:lpstr>
      <vt:lpstr>PowerPoint Presentation</vt:lpstr>
      <vt:lpstr>Arctic sea ice, 2018</vt:lpstr>
      <vt:lpstr>PowerPoint Presentation</vt:lpstr>
      <vt:lpstr>PowerPoint Presentation</vt:lpstr>
      <vt:lpstr>PowerPoint Presentation</vt:lpstr>
    </vt:vector>
  </TitlesOfParts>
  <Company>SIR@USC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 210  12 September 2006</dc:title>
  <dc:creator>Daniel C. Lynch</dc:creator>
  <cp:lastModifiedBy>Daniel Lynch</cp:lastModifiedBy>
  <cp:revision>184</cp:revision>
  <cp:lastPrinted>1601-01-01T00:00:00Z</cp:lastPrinted>
  <dcterms:created xsi:type="dcterms:W3CDTF">2009-10-20T16:16:02Z</dcterms:created>
  <dcterms:modified xsi:type="dcterms:W3CDTF">2026-09-15T04:21:41Z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7</vt:i4>
  </property>
</Properties>
</file>