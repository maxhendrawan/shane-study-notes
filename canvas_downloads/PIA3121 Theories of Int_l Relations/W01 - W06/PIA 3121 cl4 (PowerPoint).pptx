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75"/>
  </p:notesMasterIdLst>
  <p:handoutMasterIdLst>
    <p:handoutMasterId r:id="rId76"/>
  </p:handoutMasterIdLst>
  <p:sldIdLst>
    <p:sldId id="256" r:id="rId2"/>
    <p:sldId id="688" r:id="rId3"/>
    <p:sldId id="715" r:id="rId4"/>
    <p:sldId id="461" r:id="rId5"/>
    <p:sldId id="463" r:id="rId6"/>
    <p:sldId id="669" r:id="rId7"/>
    <p:sldId id="670" r:id="rId8"/>
    <p:sldId id="662" r:id="rId9"/>
    <p:sldId id="671" r:id="rId10"/>
    <p:sldId id="635" r:id="rId11"/>
    <p:sldId id="672" r:id="rId12"/>
    <p:sldId id="610" r:id="rId13"/>
    <p:sldId id="573" r:id="rId14"/>
    <p:sldId id="634" r:id="rId15"/>
    <p:sldId id="576" r:id="rId16"/>
    <p:sldId id="579" r:id="rId17"/>
    <p:sldId id="449" r:id="rId18"/>
    <p:sldId id="623" r:id="rId19"/>
    <p:sldId id="450" r:id="rId20"/>
    <p:sldId id="679" r:id="rId21"/>
    <p:sldId id="680" r:id="rId22"/>
    <p:sldId id="663" r:id="rId23"/>
    <p:sldId id="664" r:id="rId24"/>
    <p:sldId id="665" r:id="rId25"/>
    <p:sldId id="666" r:id="rId26"/>
    <p:sldId id="667" r:id="rId27"/>
    <p:sldId id="709" r:id="rId28"/>
    <p:sldId id="710" r:id="rId29"/>
    <p:sldId id="612" r:id="rId30"/>
    <p:sldId id="668" r:id="rId31"/>
    <p:sldId id="681" r:id="rId32"/>
    <p:sldId id="682" r:id="rId33"/>
    <p:sldId id="683" r:id="rId34"/>
    <p:sldId id="684" r:id="rId35"/>
    <p:sldId id="685" r:id="rId36"/>
    <p:sldId id="625" r:id="rId37"/>
    <p:sldId id="674" r:id="rId38"/>
    <p:sldId id="675" r:id="rId39"/>
    <p:sldId id="676" r:id="rId40"/>
    <p:sldId id="677" r:id="rId41"/>
    <p:sldId id="678" r:id="rId42"/>
    <p:sldId id="673" r:id="rId43"/>
    <p:sldId id="650" r:id="rId44"/>
    <p:sldId id="659" r:id="rId45"/>
    <p:sldId id="686" r:id="rId46"/>
    <p:sldId id="628" r:id="rId47"/>
    <p:sldId id="477" r:id="rId48"/>
    <p:sldId id="478" r:id="rId49"/>
    <p:sldId id="480" r:id="rId50"/>
    <p:sldId id="481" r:id="rId51"/>
    <p:sldId id="484" r:id="rId52"/>
    <p:sldId id="485" r:id="rId53"/>
    <p:sldId id="486" r:id="rId54"/>
    <p:sldId id="505" r:id="rId55"/>
    <p:sldId id="509" r:id="rId56"/>
    <p:sldId id="511" r:id="rId57"/>
    <p:sldId id="512" r:id="rId58"/>
    <p:sldId id="513" r:id="rId59"/>
    <p:sldId id="514" r:id="rId60"/>
    <p:sldId id="660" r:id="rId61"/>
    <p:sldId id="661" r:id="rId62"/>
    <p:sldId id="640" r:id="rId63"/>
    <p:sldId id="641" r:id="rId64"/>
    <p:sldId id="642" r:id="rId65"/>
    <p:sldId id="643" r:id="rId66"/>
    <p:sldId id="644" r:id="rId67"/>
    <p:sldId id="704" r:id="rId68"/>
    <p:sldId id="705" r:id="rId69"/>
    <p:sldId id="706" r:id="rId70"/>
    <p:sldId id="502" r:id="rId71"/>
    <p:sldId id="707" r:id="rId72"/>
    <p:sldId id="473" r:id="rId73"/>
    <p:sldId id="474" r:id="rId7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36"/>
    <p:restoredTop sz="94168"/>
  </p:normalViewPr>
  <p:slideViewPr>
    <p:cSldViewPr>
      <p:cViewPr varScale="1">
        <p:scale>
          <a:sx n="115" d="100"/>
          <a:sy n="115" d="100"/>
        </p:scale>
        <p:origin x="208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A83438-8DEE-988E-02C9-FED07F8C7E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n-US" dirty="0"/>
          </a:p>
        </p:txBody>
      </p:sp>
      <p:sp>
        <p:nvSpPr>
          <p:cNvPr id="3" name="Date Placeholder 2">
            <a:extLst>
              <a:ext uri="{FF2B5EF4-FFF2-40B4-BE49-F238E27FC236}">
                <a16:creationId xmlns:a16="http://schemas.microsoft.com/office/drawing/2014/main" id="{C4F2ABDC-EEB7-FC34-E747-019C6FF4B6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33D656A3-011F-624E-9BA6-D3FC4E3A333D}" type="datetimeFigureOut">
              <a:rPr lang="en-US"/>
              <a:pPr>
                <a:defRPr/>
              </a:pPr>
              <a:t>9/21/26</a:t>
            </a:fld>
            <a:endParaRPr lang="en-US" dirty="0"/>
          </a:p>
        </p:txBody>
      </p:sp>
      <p:sp>
        <p:nvSpPr>
          <p:cNvPr id="4" name="Footer Placeholder 3">
            <a:extLst>
              <a:ext uri="{FF2B5EF4-FFF2-40B4-BE49-F238E27FC236}">
                <a16:creationId xmlns:a16="http://schemas.microsoft.com/office/drawing/2014/main" id="{078FE0EF-2705-8D5B-B8C7-6BD48C2EAE6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n-US" dirty="0"/>
          </a:p>
        </p:txBody>
      </p:sp>
      <p:sp>
        <p:nvSpPr>
          <p:cNvPr id="5" name="Slide Number Placeholder 4">
            <a:extLst>
              <a:ext uri="{FF2B5EF4-FFF2-40B4-BE49-F238E27FC236}">
                <a16:creationId xmlns:a16="http://schemas.microsoft.com/office/drawing/2014/main" id="{00FC9294-361B-A5EA-5710-479825EAD018}"/>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DA4683D-626F-BC42-8CE2-C5F41785E52D}"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6C27CE37-BB51-AFD6-0FEB-D637ADD8355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Arial" panose="020B0604020202020204" pitchFamily="34" charset="0"/>
              </a:defRPr>
            </a:lvl1pPr>
          </a:lstStyle>
          <a:p>
            <a:pPr>
              <a:defRPr/>
            </a:pPr>
            <a:endParaRPr lang="en-US" altLang="en-US" dirty="0"/>
          </a:p>
        </p:txBody>
      </p:sp>
      <p:sp>
        <p:nvSpPr>
          <p:cNvPr id="363523" name="Rectangle 3">
            <a:extLst>
              <a:ext uri="{FF2B5EF4-FFF2-40B4-BE49-F238E27FC236}">
                <a16:creationId xmlns:a16="http://schemas.microsoft.com/office/drawing/2014/main" id="{3557100A-3AF2-F788-2EA6-B084CDD5F89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cs typeface="Arial" panose="020B0604020202020204" pitchFamily="34" charset="0"/>
              </a:defRPr>
            </a:lvl1pPr>
          </a:lstStyle>
          <a:p>
            <a:pPr>
              <a:defRPr/>
            </a:pPr>
            <a:endParaRPr lang="en-US" altLang="en-US" dirty="0"/>
          </a:p>
        </p:txBody>
      </p:sp>
      <p:sp>
        <p:nvSpPr>
          <p:cNvPr id="13316" name="Rectangle 4">
            <a:extLst>
              <a:ext uri="{FF2B5EF4-FFF2-40B4-BE49-F238E27FC236}">
                <a16:creationId xmlns:a16="http://schemas.microsoft.com/office/drawing/2014/main" id="{FACC5D24-0918-1308-9920-271880619C5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3525" name="Rectangle 5">
            <a:extLst>
              <a:ext uri="{FF2B5EF4-FFF2-40B4-BE49-F238E27FC236}">
                <a16:creationId xmlns:a16="http://schemas.microsoft.com/office/drawing/2014/main" id="{54F2897C-89F6-1563-4F08-D6F187DA813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3526" name="Rectangle 6">
            <a:extLst>
              <a:ext uri="{FF2B5EF4-FFF2-40B4-BE49-F238E27FC236}">
                <a16:creationId xmlns:a16="http://schemas.microsoft.com/office/drawing/2014/main" id="{BDBA9AC1-2B53-8C93-3E80-B4B1C13995C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cs typeface="Arial" panose="020B0604020202020204" pitchFamily="34" charset="0"/>
              </a:defRPr>
            </a:lvl1pPr>
          </a:lstStyle>
          <a:p>
            <a:pPr>
              <a:defRPr/>
            </a:pPr>
            <a:endParaRPr lang="en-US" altLang="en-US" dirty="0"/>
          </a:p>
        </p:txBody>
      </p:sp>
      <p:sp>
        <p:nvSpPr>
          <p:cNvPr id="363527" name="Rectangle 7">
            <a:extLst>
              <a:ext uri="{FF2B5EF4-FFF2-40B4-BE49-F238E27FC236}">
                <a16:creationId xmlns:a16="http://schemas.microsoft.com/office/drawing/2014/main" id="{B11CDBC5-31BF-5542-4DE8-D64C3FE5BAF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081A612-DF82-C04D-BC4B-050AC4668BF3}"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CD06413D-2EF5-2A49-B157-983A96F82D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2A8B0F8B-7D69-2244-889A-EFD915085B0B}" type="slidenum">
              <a:rPr lang="en-US" altLang="en-US" smtClean="0"/>
              <a:pPr>
                <a:spcBef>
                  <a:spcPct val="0"/>
                </a:spcBef>
              </a:pPr>
              <a:t>1</a:t>
            </a:fld>
            <a:endParaRPr lang="en-US" altLang="en-US" dirty="0"/>
          </a:p>
        </p:txBody>
      </p:sp>
      <p:sp>
        <p:nvSpPr>
          <p:cNvPr id="16386" name="Rectangle 2">
            <a:extLst>
              <a:ext uri="{FF2B5EF4-FFF2-40B4-BE49-F238E27FC236}">
                <a16:creationId xmlns:a16="http://schemas.microsoft.com/office/drawing/2014/main" id="{EB40DE4F-53E5-3889-5DD3-ED3C1EB3284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49CE2EEC-1E8B-F9D3-0C53-FDC79E9669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C08F7383-8C12-8579-E069-1E332E0C81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C339438-735F-AA4A-965C-734AF9BF8541}" type="slidenum">
              <a:rPr lang="en-US" altLang="en-US" smtClean="0"/>
              <a:pPr>
                <a:spcBef>
                  <a:spcPct val="0"/>
                </a:spcBef>
              </a:pPr>
              <a:t>5</a:t>
            </a:fld>
            <a:endParaRPr lang="en-US" altLang="en-US" dirty="0"/>
          </a:p>
        </p:txBody>
      </p:sp>
      <p:sp>
        <p:nvSpPr>
          <p:cNvPr id="112642" name="Rectangle 2">
            <a:extLst>
              <a:ext uri="{FF2B5EF4-FFF2-40B4-BE49-F238E27FC236}">
                <a16:creationId xmlns:a16="http://schemas.microsoft.com/office/drawing/2014/main" id="{94E2685A-EA96-297A-6682-D41EB66C8938}"/>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E2608DCE-7F29-8186-AD35-664A29CDA5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701334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343CF867-014B-FCFD-B7F0-3DAA768681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EEC55F0-B8D7-5443-AEEB-4E08660402F4}" type="slidenum">
              <a:rPr lang="en-US" altLang="en-US" smtClean="0"/>
              <a:pPr>
                <a:spcBef>
                  <a:spcPct val="0"/>
                </a:spcBef>
              </a:pPr>
              <a:t>6</a:t>
            </a:fld>
            <a:endParaRPr lang="en-US" altLang="en-US" dirty="0"/>
          </a:p>
        </p:txBody>
      </p:sp>
      <p:sp>
        <p:nvSpPr>
          <p:cNvPr id="114690" name="Rectangle 2">
            <a:extLst>
              <a:ext uri="{FF2B5EF4-FFF2-40B4-BE49-F238E27FC236}">
                <a16:creationId xmlns:a16="http://schemas.microsoft.com/office/drawing/2014/main" id="{2C17D724-6FC7-06DB-4BA7-E9CD98F14578}"/>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252224AB-777C-2954-C5DA-76503AEF3C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008792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A491DEB0-E50E-B4A7-45D6-7676A86479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4CBF5E0-7502-7A47-A612-22220C965D6F}" type="slidenum">
              <a:rPr lang="en-US" altLang="en-US" smtClean="0"/>
              <a:pPr>
                <a:spcBef>
                  <a:spcPct val="0"/>
                </a:spcBef>
              </a:pPr>
              <a:t>12</a:t>
            </a:fld>
            <a:endParaRPr lang="en-US" altLang="en-US" dirty="0"/>
          </a:p>
        </p:txBody>
      </p:sp>
      <p:sp>
        <p:nvSpPr>
          <p:cNvPr id="90114" name="Rectangle 2">
            <a:extLst>
              <a:ext uri="{FF2B5EF4-FFF2-40B4-BE49-F238E27FC236}">
                <a16:creationId xmlns:a16="http://schemas.microsoft.com/office/drawing/2014/main" id="{53EA08C1-2205-424F-3A7B-3ABED1F78E84}"/>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3EA55B47-79E3-D2A4-4822-47CE19F34B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73495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38188E86-3DD3-7C5D-D1DC-21FA322A26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9B9C14C-A577-1D4E-B32A-EE4C01EA1C95}" type="slidenum">
              <a:rPr lang="en-US" altLang="en-US" smtClean="0"/>
              <a:pPr>
                <a:spcBef>
                  <a:spcPct val="0"/>
                </a:spcBef>
              </a:pPr>
              <a:t>13</a:t>
            </a:fld>
            <a:endParaRPr lang="en-US" altLang="en-US" dirty="0"/>
          </a:p>
        </p:txBody>
      </p:sp>
      <p:sp>
        <p:nvSpPr>
          <p:cNvPr id="83970" name="Rectangle 2">
            <a:extLst>
              <a:ext uri="{FF2B5EF4-FFF2-40B4-BE49-F238E27FC236}">
                <a16:creationId xmlns:a16="http://schemas.microsoft.com/office/drawing/2014/main" id="{E59C7400-C328-A006-48EC-F802E2B17C5D}"/>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94B3FBA7-48F7-4278-6C86-04C54D5250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94500990-A880-2B6D-EA35-DBC18EDD71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3E3828CB-02B3-394F-A208-35F99A2DC797}" type="slidenum">
              <a:rPr lang="en-US" altLang="en-US" smtClean="0"/>
              <a:pPr>
                <a:spcBef>
                  <a:spcPct val="0"/>
                </a:spcBef>
              </a:pPr>
              <a:t>14</a:t>
            </a:fld>
            <a:endParaRPr lang="en-US" altLang="en-US" dirty="0"/>
          </a:p>
        </p:txBody>
      </p:sp>
      <p:sp>
        <p:nvSpPr>
          <p:cNvPr id="86018" name="Rectangle 2">
            <a:extLst>
              <a:ext uri="{FF2B5EF4-FFF2-40B4-BE49-F238E27FC236}">
                <a16:creationId xmlns:a16="http://schemas.microsoft.com/office/drawing/2014/main" id="{DC9E6499-CF03-49F0-6AF5-8FD27C3D515C}"/>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7B33AEEE-92D1-6C41-781E-EC469E3B1B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52762BDF-428D-20AB-8FB2-914EF4F853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BFD25A73-58D3-C34D-8A80-82429C2DA8D9}" type="slidenum">
              <a:rPr lang="en-US" altLang="en-US" smtClean="0"/>
              <a:pPr>
                <a:spcBef>
                  <a:spcPct val="0"/>
                </a:spcBef>
              </a:pPr>
              <a:t>15</a:t>
            </a:fld>
            <a:endParaRPr lang="en-US" altLang="en-US" dirty="0"/>
          </a:p>
        </p:txBody>
      </p:sp>
      <p:sp>
        <p:nvSpPr>
          <p:cNvPr id="88066" name="Rectangle 2">
            <a:extLst>
              <a:ext uri="{FF2B5EF4-FFF2-40B4-BE49-F238E27FC236}">
                <a16:creationId xmlns:a16="http://schemas.microsoft.com/office/drawing/2014/main" id="{822DECD6-B11D-6EFB-63A0-9FF9F57FB68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6712FEC-2617-DE0A-92A7-7466407FB4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269C79A1-762D-58C9-1184-102E8FE70B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99910D11-656E-234D-AFB0-956E369F6320}" type="slidenum">
              <a:rPr lang="en-US" altLang="en-US" smtClean="0"/>
              <a:pPr>
                <a:spcBef>
                  <a:spcPct val="0"/>
                </a:spcBef>
              </a:pPr>
              <a:t>16</a:t>
            </a:fld>
            <a:endParaRPr lang="en-US" altLang="en-US" dirty="0"/>
          </a:p>
        </p:txBody>
      </p:sp>
      <p:sp>
        <p:nvSpPr>
          <p:cNvPr id="92162" name="Rectangle 2">
            <a:extLst>
              <a:ext uri="{FF2B5EF4-FFF2-40B4-BE49-F238E27FC236}">
                <a16:creationId xmlns:a16="http://schemas.microsoft.com/office/drawing/2014/main" id="{2765A64A-30BC-587E-906D-8AFD0F68B364}"/>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628B34CD-81A8-B4D1-1580-2578C0A553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46225F89-025D-4111-2292-F101E69FFA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B1FD11AD-D927-D64D-ADD9-D797551A6DEF}" type="slidenum">
              <a:rPr lang="en-US" altLang="en-US" smtClean="0"/>
              <a:pPr>
                <a:spcBef>
                  <a:spcPct val="0"/>
                </a:spcBef>
              </a:pPr>
              <a:t>18</a:t>
            </a:fld>
            <a:endParaRPr lang="en-US" altLang="en-US" dirty="0"/>
          </a:p>
        </p:txBody>
      </p:sp>
      <p:sp>
        <p:nvSpPr>
          <p:cNvPr id="95234" name="Rectangle 2">
            <a:extLst>
              <a:ext uri="{FF2B5EF4-FFF2-40B4-BE49-F238E27FC236}">
                <a16:creationId xmlns:a16="http://schemas.microsoft.com/office/drawing/2014/main" id="{F9BD4B5F-A8DE-081E-D9B9-F44840F2FFBA}"/>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5BE781BB-AB39-BB18-4A5E-93E537EBCF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a:extLst>
              <a:ext uri="{FF2B5EF4-FFF2-40B4-BE49-F238E27FC236}">
                <a16:creationId xmlns:a16="http://schemas.microsoft.com/office/drawing/2014/main" id="{C57F58B3-0B7B-56F3-9504-CEBBE786F81F}"/>
              </a:ext>
            </a:extLst>
          </p:cNvPr>
          <p:cNvSpPr>
            <a:spLocks noGrp="1" noRot="1" noChangeAspect="1" noChangeArrowheads="1" noTextEdit="1"/>
          </p:cNvSpPr>
          <p:nvPr>
            <p:ph type="sldImg"/>
          </p:nvPr>
        </p:nvSpPr>
        <p:spPr>
          <a:ln/>
        </p:spPr>
      </p:sp>
      <p:sp>
        <p:nvSpPr>
          <p:cNvPr id="100354" name="Notes Placeholder 2">
            <a:extLst>
              <a:ext uri="{FF2B5EF4-FFF2-40B4-BE49-F238E27FC236}">
                <a16:creationId xmlns:a16="http://schemas.microsoft.com/office/drawing/2014/main" id="{0B6016B2-A654-311D-E289-BCAD62547D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100355" name="Slide Number Placeholder 3">
            <a:extLst>
              <a:ext uri="{FF2B5EF4-FFF2-40B4-BE49-F238E27FC236}">
                <a16:creationId xmlns:a16="http://schemas.microsoft.com/office/drawing/2014/main" id="{7D75A5AC-08F6-A907-50A3-E93F6F0B8D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9DE12408-0C39-9646-B483-5E99D5F01A2E}" type="slidenum">
              <a:rPr lang="en-US" altLang="en-US" smtClean="0"/>
              <a:pPr>
                <a:spcBef>
                  <a:spcPct val="0"/>
                </a:spcBef>
              </a:pPr>
              <a:t>22</a:t>
            </a:fld>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80B599AA-D18F-96AB-1C83-18A2E79010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B1A28A7-77D9-EB46-9967-D2C44B3DDD9C}" type="slidenum">
              <a:rPr lang="en-US" altLang="en-US" smtClean="0"/>
              <a:pPr>
                <a:spcBef>
                  <a:spcPct val="0"/>
                </a:spcBef>
              </a:pPr>
              <a:t>29</a:t>
            </a:fld>
            <a:endParaRPr lang="en-US" altLang="en-US" dirty="0"/>
          </a:p>
        </p:txBody>
      </p:sp>
      <p:sp>
        <p:nvSpPr>
          <p:cNvPr id="106498" name="Rectangle 2">
            <a:extLst>
              <a:ext uri="{FF2B5EF4-FFF2-40B4-BE49-F238E27FC236}">
                <a16:creationId xmlns:a16="http://schemas.microsoft.com/office/drawing/2014/main" id="{6EEACAC5-5FDE-2B6F-7C50-C6E41747F29C}"/>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0F52E220-7E63-9FF7-E561-8B17C06735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2F87CBC4-BAE1-1DB8-5E3A-4FE033780E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787EC5B-64B1-1C48-BFB5-301D41416DD9}" type="slidenum">
              <a:rPr lang="en-US" altLang="en-US" smtClean="0"/>
              <a:pPr>
                <a:spcBef>
                  <a:spcPct val="0"/>
                </a:spcBef>
              </a:pPr>
              <a:t>48</a:t>
            </a:fld>
            <a:endParaRPr lang="en-US" altLang="en-US" dirty="0"/>
          </a:p>
        </p:txBody>
      </p:sp>
      <p:sp>
        <p:nvSpPr>
          <p:cNvPr id="37890" name="Rectangle 2">
            <a:extLst>
              <a:ext uri="{FF2B5EF4-FFF2-40B4-BE49-F238E27FC236}">
                <a16:creationId xmlns:a16="http://schemas.microsoft.com/office/drawing/2014/main" id="{309412C5-62B3-681C-2AF6-3CD8FB585224}"/>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E30EDEB4-B516-FBBB-F9C4-39CBB5679C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52B2891F-334B-60BF-78C6-4E5031FF0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DA1342A-8C2B-7045-BE7D-4C2E3A2351AB}" type="slidenum">
              <a:rPr lang="en-US" altLang="en-US" smtClean="0"/>
              <a:pPr>
                <a:spcBef>
                  <a:spcPct val="0"/>
                </a:spcBef>
              </a:pPr>
              <a:t>50</a:t>
            </a:fld>
            <a:endParaRPr lang="en-US" altLang="en-US" dirty="0"/>
          </a:p>
        </p:txBody>
      </p:sp>
      <p:sp>
        <p:nvSpPr>
          <p:cNvPr id="40962" name="Rectangle 2">
            <a:extLst>
              <a:ext uri="{FF2B5EF4-FFF2-40B4-BE49-F238E27FC236}">
                <a16:creationId xmlns:a16="http://schemas.microsoft.com/office/drawing/2014/main" id="{0F98C515-F640-7518-35D9-BFC96956080A}"/>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44448A59-2600-688F-6C68-1F41B47A4B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E5016E47-EBCE-C558-753E-ACF9E3D517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5B4181E2-490F-CF4E-809F-805814014478}" type="slidenum">
              <a:rPr lang="en-US" altLang="en-US" smtClean="0"/>
              <a:pPr>
                <a:spcBef>
                  <a:spcPct val="0"/>
                </a:spcBef>
              </a:pPr>
              <a:t>51</a:t>
            </a:fld>
            <a:endParaRPr lang="en-US" altLang="en-US" dirty="0"/>
          </a:p>
        </p:txBody>
      </p:sp>
      <p:sp>
        <p:nvSpPr>
          <p:cNvPr id="46082" name="Rectangle 2">
            <a:extLst>
              <a:ext uri="{FF2B5EF4-FFF2-40B4-BE49-F238E27FC236}">
                <a16:creationId xmlns:a16="http://schemas.microsoft.com/office/drawing/2014/main" id="{BE2E998B-56E7-CA31-3A49-51C0196EF751}"/>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E2B7C917-B018-51B6-9E38-8D499DA9FA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a:extLst>
              <a:ext uri="{FF2B5EF4-FFF2-40B4-BE49-F238E27FC236}">
                <a16:creationId xmlns:a16="http://schemas.microsoft.com/office/drawing/2014/main" id="{853C6566-C5F1-AB40-E1CF-39A048542B2E}"/>
              </a:ext>
            </a:extLst>
          </p:cNvPr>
          <p:cNvSpPr>
            <a:spLocks noGrp="1" noRot="1" noChangeAspect="1" noChangeArrowheads="1" noTextEdit="1"/>
          </p:cNvSpPr>
          <p:nvPr>
            <p:ph type="sldImg"/>
          </p:nvPr>
        </p:nvSpPr>
        <p:spPr>
          <a:ln/>
        </p:spPr>
      </p:sp>
      <p:sp>
        <p:nvSpPr>
          <p:cNvPr id="58370" name="Notes Placeholder 2">
            <a:extLst>
              <a:ext uri="{FF2B5EF4-FFF2-40B4-BE49-F238E27FC236}">
                <a16:creationId xmlns:a16="http://schemas.microsoft.com/office/drawing/2014/main" id="{750BDB40-1414-476B-BCBF-9FCA6B0A011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58371" name="Slide Number Placeholder 3">
            <a:extLst>
              <a:ext uri="{FF2B5EF4-FFF2-40B4-BE49-F238E27FC236}">
                <a16:creationId xmlns:a16="http://schemas.microsoft.com/office/drawing/2014/main" id="{BB62C83B-8E34-C4F6-768F-91C9D4635EF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B65D4CB-7C93-E24C-B83E-12303C2438A5}" type="slidenum">
              <a:rPr lang="en-US" altLang="en-US" smtClean="0"/>
              <a:pPr>
                <a:spcBef>
                  <a:spcPct val="0"/>
                </a:spcBef>
              </a:pPr>
              <a:t>62</a:t>
            </a:fld>
            <a:endParaRPr lang="en-US" altLang="en-US" dirty="0"/>
          </a:p>
        </p:txBody>
      </p:sp>
    </p:spTree>
    <p:extLst>
      <p:ext uri="{BB962C8B-B14F-4D97-AF65-F5344CB8AC3E}">
        <p14:creationId xmlns:p14="http://schemas.microsoft.com/office/powerpoint/2010/main" val="2970582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a:extLst>
              <a:ext uri="{FF2B5EF4-FFF2-40B4-BE49-F238E27FC236}">
                <a16:creationId xmlns:a16="http://schemas.microsoft.com/office/drawing/2014/main" id="{12F28D14-73EA-BBEC-B139-C6F27927E980}"/>
              </a:ext>
            </a:extLst>
          </p:cNvPr>
          <p:cNvSpPr>
            <a:spLocks noGrp="1" noRot="1" noChangeAspect="1" noChangeArrowheads="1" noTextEdit="1"/>
          </p:cNvSpPr>
          <p:nvPr>
            <p:ph type="sldImg"/>
          </p:nvPr>
        </p:nvSpPr>
        <p:spPr>
          <a:ln/>
        </p:spPr>
      </p:sp>
      <p:sp>
        <p:nvSpPr>
          <p:cNvPr id="60418" name="Notes Placeholder 2">
            <a:extLst>
              <a:ext uri="{FF2B5EF4-FFF2-40B4-BE49-F238E27FC236}">
                <a16:creationId xmlns:a16="http://schemas.microsoft.com/office/drawing/2014/main" id="{043E47F2-6131-3272-5A61-C9FF7BCCC86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60419" name="Slide Number Placeholder 3">
            <a:extLst>
              <a:ext uri="{FF2B5EF4-FFF2-40B4-BE49-F238E27FC236}">
                <a16:creationId xmlns:a16="http://schemas.microsoft.com/office/drawing/2014/main" id="{CE784A6D-E384-E0DC-B148-E1B7F41226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87A761C-0CD2-9A41-8697-C0B96AEDD2BE}" type="slidenum">
              <a:rPr lang="en-US" altLang="en-US" smtClean="0"/>
              <a:pPr>
                <a:spcBef>
                  <a:spcPct val="0"/>
                </a:spcBef>
              </a:pPr>
              <a:t>63</a:t>
            </a:fld>
            <a:endParaRPr lang="en-US" altLang="en-US" dirty="0"/>
          </a:p>
        </p:txBody>
      </p:sp>
    </p:spTree>
    <p:extLst>
      <p:ext uri="{BB962C8B-B14F-4D97-AF65-F5344CB8AC3E}">
        <p14:creationId xmlns:p14="http://schemas.microsoft.com/office/powerpoint/2010/main" val="2281137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a:extLst>
              <a:ext uri="{FF2B5EF4-FFF2-40B4-BE49-F238E27FC236}">
                <a16:creationId xmlns:a16="http://schemas.microsoft.com/office/drawing/2014/main" id="{99AB322B-C1FD-F6F8-226F-C09F19BB9745}"/>
              </a:ext>
            </a:extLst>
          </p:cNvPr>
          <p:cNvSpPr>
            <a:spLocks noGrp="1" noRot="1" noChangeAspect="1" noChangeArrowheads="1" noTextEdit="1"/>
          </p:cNvSpPr>
          <p:nvPr>
            <p:ph type="sldImg"/>
          </p:nvPr>
        </p:nvSpPr>
        <p:spPr>
          <a:ln/>
        </p:spPr>
      </p:sp>
      <p:sp>
        <p:nvSpPr>
          <p:cNvPr id="62466" name="Notes Placeholder 2">
            <a:extLst>
              <a:ext uri="{FF2B5EF4-FFF2-40B4-BE49-F238E27FC236}">
                <a16:creationId xmlns:a16="http://schemas.microsoft.com/office/drawing/2014/main" id="{8D18E412-9FF7-0F08-F8E3-082734DB70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62467" name="Slide Number Placeholder 3">
            <a:extLst>
              <a:ext uri="{FF2B5EF4-FFF2-40B4-BE49-F238E27FC236}">
                <a16:creationId xmlns:a16="http://schemas.microsoft.com/office/drawing/2014/main" id="{37222BAE-2D93-FA12-FD51-27FD02BF0A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5C1F6954-E357-1F4B-A0E0-7B8365F8B9E3}" type="slidenum">
              <a:rPr lang="en-US" altLang="en-US" smtClean="0"/>
              <a:pPr>
                <a:spcBef>
                  <a:spcPct val="0"/>
                </a:spcBef>
              </a:pPr>
              <a:t>64</a:t>
            </a:fld>
            <a:endParaRPr lang="en-US" altLang="en-US" dirty="0"/>
          </a:p>
        </p:txBody>
      </p:sp>
    </p:spTree>
    <p:extLst>
      <p:ext uri="{BB962C8B-B14F-4D97-AF65-F5344CB8AC3E}">
        <p14:creationId xmlns:p14="http://schemas.microsoft.com/office/powerpoint/2010/main" val="3845913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a:extLst>
              <a:ext uri="{FF2B5EF4-FFF2-40B4-BE49-F238E27FC236}">
                <a16:creationId xmlns:a16="http://schemas.microsoft.com/office/drawing/2014/main" id="{E3E10261-06CE-63EF-6B7F-F8ADD98A9B1C}"/>
              </a:ext>
            </a:extLst>
          </p:cNvPr>
          <p:cNvSpPr>
            <a:spLocks noGrp="1" noRot="1" noChangeAspect="1" noChangeArrowheads="1" noTextEdit="1"/>
          </p:cNvSpPr>
          <p:nvPr>
            <p:ph type="sldImg"/>
          </p:nvPr>
        </p:nvSpPr>
        <p:spPr>
          <a:ln/>
        </p:spPr>
      </p:sp>
      <p:sp>
        <p:nvSpPr>
          <p:cNvPr id="64514" name="Notes Placeholder 2">
            <a:extLst>
              <a:ext uri="{FF2B5EF4-FFF2-40B4-BE49-F238E27FC236}">
                <a16:creationId xmlns:a16="http://schemas.microsoft.com/office/drawing/2014/main" id="{72E5A6D7-8F46-1756-7737-602770F439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64515" name="Slide Number Placeholder 3">
            <a:extLst>
              <a:ext uri="{FF2B5EF4-FFF2-40B4-BE49-F238E27FC236}">
                <a16:creationId xmlns:a16="http://schemas.microsoft.com/office/drawing/2014/main" id="{272CB4FE-EB42-13CA-DD69-C14BEAD676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E280A56-2CC4-E448-B798-067909FD3C22}" type="slidenum">
              <a:rPr lang="en-US" altLang="en-US" smtClean="0"/>
              <a:pPr>
                <a:spcBef>
                  <a:spcPct val="0"/>
                </a:spcBef>
              </a:pPr>
              <a:t>65</a:t>
            </a:fld>
            <a:endParaRPr lang="en-US" altLang="en-US" dirty="0"/>
          </a:p>
        </p:txBody>
      </p:sp>
    </p:spTree>
    <p:extLst>
      <p:ext uri="{BB962C8B-B14F-4D97-AF65-F5344CB8AC3E}">
        <p14:creationId xmlns:p14="http://schemas.microsoft.com/office/powerpoint/2010/main" val="1644774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a:extLst>
              <a:ext uri="{FF2B5EF4-FFF2-40B4-BE49-F238E27FC236}">
                <a16:creationId xmlns:a16="http://schemas.microsoft.com/office/drawing/2014/main" id="{5F834F02-87F5-B79D-5E69-EB951F02CE4A}"/>
              </a:ext>
            </a:extLst>
          </p:cNvPr>
          <p:cNvSpPr>
            <a:spLocks noGrp="1" noRot="1" noChangeAspect="1" noChangeArrowheads="1" noTextEdit="1"/>
          </p:cNvSpPr>
          <p:nvPr>
            <p:ph type="sldImg"/>
          </p:nvPr>
        </p:nvSpPr>
        <p:spPr>
          <a:ln/>
        </p:spPr>
      </p:sp>
      <p:sp>
        <p:nvSpPr>
          <p:cNvPr id="66562" name="Notes Placeholder 2">
            <a:extLst>
              <a:ext uri="{FF2B5EF4-FFF2-40B4-BE49-F238E27FC236}">
                <a16:creationId xmlns:a16="http://schemas.microsoft.com/office/drawing/2014/main" id="{98F4F1D9-387C-FE8E-93C8-6E85616063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66563" name="Slide Number Placeholder 3">
            <a:extLst>
              <a:ext uri="{FF2B5EF4-FFF2-40B4-BE49-F238E27FC236}">
                <a16:creationId xmlns:a16="http://schemas.microsoft.com/office/drawing/2014/main" id="{5A853FAB-3290-99C6-4B65-81AA89F0B9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17877B3-E423-0542-B71F-5C674C5DF6EA}" type="slidenum">
              <a:rPr lang="en-US" altLang="en-US" smtClean="0"/>
              <a:pPr>
                <a:spcBef>
                  <a:spcPct val="0"/>
                </a:spcBef>
              </a:pPr>
              <a:t>66</a:t>
            </a:fld>
            <a:endParaRPr lang="en-US" altLang="en-US" dirty="0"/>
          </a:p>
        </p:txBody>
      </p:sp>
    </p:spTree>
    <p:extLst>
      <p:ext uri="{BB962C8B-B14F-4D97-AF65-F5344CB8AC3E}">
        <p14:creationId xmlns:p14="http://schemas.microsoft.com/office/powerpoint/2010/main" val="1089857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4D2DFF7-40BB-E6A8-114B-D945441A688C}"/>
              </a:ext>
            </a:extLst>
          </p:cNvPr>
          <p:cNvGrpSpPr>
            <a:grpSpLocks/>
          </p:cNvGrpSpPr>
          <p:nvPr/>
        </p:nvGrpSpPr>
        <p:grpSpPr bwMode="auto">
          <a:xfrm>
            <a:off x="0" y="3902075"/>
            <a:ext cx="3400425" cy="2949575"/>
            <a:chOff x="0" y="2458"/>
            <a:chExt cx="2142" cy="1858"/>
          </a:xfrm>
        </p:grpSpPr>
        <p:sp>
          <p:nvSpPr>
            <p:cNvPr id="3" name="Freeform 3">
              <a:extLst>
                <a:ext uri="{FF2B5EF4-FFF2-40B4-BE49-F238E27FC236}">
                  <a16:creationId xmlns:a16="http://schemas.microsoft.com/office/drawing/2014/main" id="{EC7769C7-68C8-E19E-CFC4-2C0B5EC3FB97}"/>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4" name="Freeform 4">
              <a:extLst>
                <a:ext uri="{FF2B5EF4-FFF2-40B4-BE49-F238E27FC236}">
                  <a16:creationId xmlns:a16="http://schemas.microsoft.com/office/drawing/2014/main" id="{EBEEA17D-7F32-A037-45C6-F2491EEA06EE}"/>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5" name="Freeform 5">
              <a:extLst>
                <a:ext uri="{FF2B5EF4-FFF2-40B4-BE49-F238E27FC236}">
                  <a16:creationId xmlns:a16="http://schemas.microsoft.com/office/drawing/2014/main" id="{D407B05F-F9C8-6449-4AA6-D0B88C902158}"/>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6" name="Freeform 6">
              <a:extLst>
                <a:ext uri="{FF2B5EF4-FFF2-40B4-BE49-F238E27FC236}">
                  <a16:creationId xmlns:a16="http://schemas.microsoft.com/office/drawing/2014/main" id="{C266829B-3F2B-DF21-77D7-B30163BF482B}"/>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7" name="Oval 7">
              <a:extLst>
                <a:ext uri="{FF2B5EF4-FFF2-40B4-BE49-F238E27FC236}">
                  <a16:creationId xmlns:a16="http://schemas.microsoft.com/office/drawing/2014/main" id="{D8570E5C-2C7B-4EEE-E064-FBC3E46F324E}"/>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8" name="Oval 8">
              <a:extLst>
                <a:ext uri="{FF2B5EF4-FFF2-40B4-BE49-F238E27FC236}">
                  <a16:creationId xmlns:a16="http://schemas.microsoft.com/office/drawing/2014/main" id="{B90EE71C-F950-9B5B-B97C-1CD4847E7E2F}"/>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9" name="Oval 9">
              <a:extLst>
                <a:ext uri="{FF2B5EF4-FFF2-40B4-BE49-F238E27FC236}">
                  <a16:creationId xmlns:a16="http://schemas.microsoft.com/office/drawing/2014/main" id="{013358F8-70F5-A0AC-B490-05C400F3C005}"/>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8954" name="Rectangle 10"/>
          <p:cNvSpPr>
            <a:spLocks noGrp="1" noChangeArrowheads="1"/>
          </p:cNvSpPr>
          <p:nvPr>
            <p:ph type="ctrTitle" sz="quarter"/>
          </p:nvPr>
        </p:nvSpPr>
        <p:spPr>
          <a:xfrm>
            <a:off x="685800" y="1873250"/>
            <a:ext cx="7772400" cy="1555750"/>
          </a:xfrm>
        </p:spPr>
        <p:txBody>
          <a:bodyPr/>
          <a:lstStyle>
            <a:lvl1pPr>
              <a:defRPr sz="4800"/>
            </a:lvl1pPr>
          </a:lstStyle>
          <a:p>
            <a:r>
              <a:rPr lang="en-US"/>
              <a:t>Click to edit Master title style</a:t>
            </a:r>
          </a:p>
        </p:txBody>
      </p:sp>
      <p:sp>
        <p:nvSpPr>
          <p:cNvPr id="338955"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0" name="Rectangle 12">
            <a:extLst>
              <a:ext uri="{FF2B5EF4-FFF2-40B4-BE49-F238E27FC236}">
                <a16:creationId xmlns:a16="http://schemas.microsoft.com/office/drawing/2014/main" id="{E9A94FA8-6705-9B8E-93F1-2B98F9152B6A}"/>
              </a:ext>
            </a:extLst>
          </p:cNvPr>
          <p:cNvSpPr>
            <a:spLocks noGrp="1" noChangeArrowheads="1"/>
          </p:cNvSpPr>
          <p:nvPr>
            <p:ph type="dt" sz="quarter" idx="10"/>
          </p:nvPr>
        </p:nvSpPr>
        <p:spPr/>
        <p:txBody>
          <a:bodyPr/>
          <a:lstStyle>
            <a:lvl1pPr>
              <a:defRPr/>
            </a:lvl1pPr>
          </a:lstStyle>
          <a:p>
            <a:pPr>
              <a:defRPr/>
            </a:pPr>
            <a:endParaRPr lang="en-US" altLang="en-US" dirty="0"/>
          </a:p>
        </p:txBody>
      </p:sp>
      <p:sp>
        <p:nvSpPr>
          <p:cNvPr id="11" name="Rectangle 13">
            <a:extLst>
              <a:ext uri="{FF2B5EF4-FFF2-40B4-BE49-F238E27FC236}">
                <a16:creationId xmlns:a16="http://schemas.microsoft.com/office/drawing/2014/main" id="{7609CEB0-5C7D-B759-46DD-F4E83B2BA726}"/>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12" name="Rectangle 14">
            <a:extLst>
              <a:ext uri="{FF2B5EF4-FFF2-40B4-BE49-F238E27FC236}">
                <a16:creationId xmlns:a16="http://schemas.microsoft.com/office/drawing/2014/main" id="{AE08BEBA-AA53-4C33-F2A9-FEE2848E920A}"/>
              </a:ext>
            </a:extLst>
          </p:cNvPr>
          <p:cNvSpPr>
            <a:spLocks noGrp="1" noChangeArrowheads="1"/>
          </p:cNvSpPr>
          <p:nvPr>
            <p:ph type="sldNum" sz="quarter" idx="12"/>
          </p:nvPr>
        </p:nvSpPr>
        <p:spPr/>
        <p:txBody>
          <a:bodyPr/>
          <a:lstStyle>
            <a:lvl1pPr>
              <a:defRPr/>
            </a:lvl1pPr>
          </a:lstStyle>
          <a:p>
            <a:pPr>
              <a:defRPr/>
            </a:pPr>
            <a:fld id="{6650EDE1-7129-4B4C-B963-CE599FC82739}" type="slidenum">
              <a:rPr lang="en-US" altLang="en-US"/>
              <a:pPr>
                <a:defRPr/>
              </a:pPr>
              <a:t>‹#›</a:t>
            </a:fld>
            <a:endParaRPr lang="en-US" altLang="en-US" dirty="0"/>
          </a:p>
        </p:txBody>
      </p:sp>
    </p:spTree>
    <p:extLst>
      <p:ext uri="{BB962C8B-B14F-4D97-AF65-F5344CB8AC3E}">
        <p14:creationId xmlns:p14="http://schemas.microsoft.com/office/powerpoint/2010/main" val="1943890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97E396FA-37C9-6A33-98C8-D3CF36F79971}"/>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5" name="Rectangle 13">
            <a:extLst>
              <a:ext uri="{FF2B5EF4-FFF2-40B4-BE49-F238E27FC236}">
                <a16:creationId xmlns:a16="http://schemas.microsoft.com/office/drawing/2014/main" id="{B3A16396-77D9-8424-EF38-F19095D0CB5B}"/>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6" name="Rectangle 14">
            <a:extLst>
              <a:ext uri="{FF2B5EF4-FFF2-40B4-BE49-F238E27FC236}">
                <a16:creationId xmlns:a16="http://schemas.microsoft.com/office/drawing/2014/main" id="{6C071F35-0F9F-16B7-534C-D001BEEE8202}"/>
              </a:ext>
            </a:extLst>
          </p:cNvPr>
          <p:cNvSpPr>
            <a:spLocks noGrp="1" noChangeArrowheads="1"/>
          </p:cNvSpPr>
          <p:nvPr>
            <p:ph type="sldNum" sz="quarter" idx="12"/>
          </p:nvPr>
        </p:nvSpPr>
        <p:spPr/>
        <p:txBody>
          <a:bodyPr/>
          <a:lstStyle>
            <a:lvl1pPr>
              <a:defRPr/>
            </a:lvl1pPr>
          </a:lstStyle>
          <a:p>
            <a:pPr>
              <a:defRPr/>
            </a:pPr>
            <a:fld id="{DF7A94A0-6EC3-4446-ADF3-B6197D74A043}" type="slidenum">
              <a:rPr lang="en-US" altLang="en-US"/>
              <a:pPr>
                <a:defRPr/>
              </a:pPr>
              <a:t>‹#›</a:t>
            </a:fld>
            <a:endParaRPr lang="en-US" altLang="en-US" dirty="0"/>
          </a:p>
        </p:txBody>
      </p:sp>
    </p:spTree>
    <p:extLst>
      <p:ext uri="{BB962C8B-B14F-4D97-AF65-F5344CB8AC3E}">
        <p14:creationId xmlns:p14="http://schemas.microsoft.com/office/powerpoint/2010/main" val="268852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a:extLst>
              <a:ext uri="{FF2B5EF4-FFF2-40B4-BE49-F238E27FC236}">
                <a16:creationId xmlns:a16="http://schemas.microsoft.com/office/drawing/2014/main" id="{39718A82-C84B-B67F-81F5-B1EF7E9AF337}"/>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5" name="Rectangle 13">
            <a:extLst>
              <a:ext uri="{FF2B5EF4-FFF2-40B4-BE49-F238E27FC236}">
                <a16:creationId xmlns:a16="http://schemas.microsoft.com/office/drawing/2014/main" id="{9542A77F-EC52-AF97-06B6-523863E8FEDC}"/>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6" name="Rectangle 14">
            <a:extLst>
              <a:ext uri="{FF2B5EF4-FFF2-40B4-BE49-F238E27FC236}">
                <a16:creationId xmlns:a16="http://schemas.microsoft.com/office/drawing/2014/main" id="{6ED38E7B-E5F6-3662-E704-85E9FD1268C7}"/>
              </a:ext>
            </a:extLst>
          </p:cNvPr>
          <p:cNvSpPr>
            <a:spLocks noGrp="1" noChangeArrowheads="1"/>
          </p:cNvSpPr>
          <p:nvPr>
            <p:ph type="sldNum" sz="quarter" idx="12"/>
          </p:nvPr>
        </p:nvSpPr>
        <p:spPr/>
        <p:txBody>
          <a:bodyPr/>
          <a:lstStyle>
            <a:lvl1pPr>
              <a:defRPr/>
            </a:lvl1pPr>
          </a:lstStyle>
          <a:p>
            <a:pPr>
              <a:defRPr/>
            </a:pPr>
            <a:fld id="{415386B3-42D0-7C41-9B23-5596333C478D}" type="slidenum">
              <a:rPr lang="en-US" altLang="en-US"/>
              <a:pPr>
                <a:defRPr/>
              </a:pPr>
              <a:t>‹#›</a:t>
            </a:fld>
            <a:endParaRPr lang="en-US" altLang="en-US" dirty="0"/>
          </a:p>
        </p:txBody>
      </p:sp>
    </p:spTree>
    <p:extLst>
      <p:ext uri="{BB962C8B-B14F-4D97-AF65-F5344CB8AC3E}">
        <p14:creationId xmlns:p14="http://schemas.microsoft.com/office/powerpoint/2010/main" val="1405896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D8D0C14B-C809-848B-A58C-E4806819414D}"/>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6" name="Rectangle 13">
            <a:extLst>
              <a:ext uri="{FF2B5EF4-FFF2-40B4-BE49-F238E27FC236}">
                <a16:creationId xmlns:a16="http://schemas.microsoft.com/office/drawing/2014/main" id="{60714FEB-DEDF-16D9-7C55-44B29D44500C}"/>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7" name="Rectangle 14">
            <a:extLst>
              <a:ext uri="{FF2B5EF4-FFF2-40B4-BE49-F238E27FC236}">
                <a16:creationId xmlns:a16="http://schemas.microsoft.com/office/drawing/2014/main" id="{9D29A1C9-FC71-722A-1B78-21F5B2ADBE26}"/>
              </a:ext>
            </a:extLst>
          </p:cNvPr>
          <p:cNvSpPr>
            <a:spLocks noGrp="1" noChangeArrowheads="1"/>
          </p:cNvSpPr>
          <p:nvPr>
            <p:ph type="sldNum" sz="quarter" idx="12"/>
          </p:nvPr>
        </p:nvSpPr>
        <p:spPr/>
        <p:txBody>
          <a:bodyPr/>
          <a:lstStyle>
            <a:lvl1pPr>
              <a:defRPr/>
            </a:lvl1pPr>
          </a:lstStyle>
          <a:p>
            <a:pPr>
              <a:defRPr/>
            </a:pPr>
            <a:fld id="{45222BC0-54CE-4740-BD13-08963893AD5D}" type="slidenum">
              <a:rPr lang="en-US" altLang="en-US"/>
              <a:pPr>
                <a:defRPr/>
              </a:pPr>
              <a:t>‹#›</a:t>
            </a:fld>
            <a:endParaRPr lang="en-US" altLang="en-US" dirty="0"/>
          </a:p>
        </p:txBody>
      </p:sp>
    </p:spTree>
    <p:extLst>
      <p:ext uri="{BB962C8B-B14F-4D97-AF65-F5344CB8AC3E}">
        <p14:creationId xmlns:p14="http://schemas.microsoft.com/office/powerpoint/2010/main" val="4148152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EEC6A8B7-78C4-9E54-037C-1D2C027DC2F5}"/>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8" name="Rectangle 13">
            <a:extLst>
              <a:ext uri="{FF2B5EF4-FFF2-40B4-BE49-F238E27FC236}">
                <a16:creationId xmlns:a16="http://schemas.microsoft.com/office/drawing/2014/main" id="{DFEFA9DD-378B-B547-853D-FF89FE8F66F7}"/>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9" name="Rectangle 14">
            <a:extLst>
              <a:ext uri="{FF2B5EF4-FFF2-40B4-BE49-F238E27FC236}">
                <a16:creationId xmlns:a16="http://schemas.microsoft.com/office/drawing/2014/main" id="{60302FC9-62D5-7425-222F-F35BD78FBF06}"/>
              </a:ext>
            </a:extLst>
          </p:cNvPr>
          <p:cNvSpPr>
            <a:spLocks noGrp="1" noChangeArrowheads="1"/>
          </p:cNvSpPr>
          <p:nvPr>
            <p:ph type="sldNum" sz="quarter" idx="12"/>
          </p:nvPr>
        </p:nvSpPr>
        <p:spPr/>
        <p:txBody>
          <a:bodyPr/>
          <a:lstStyle>
            <a:lvl1pPr>
              <a:defRPr/>
            </a:lvl1pPr>
          </a:lstStyle>
          <a:p>
            <a:pPr>
              <a:defRPr/>
            </a:pPr>
            <a:fld id="{F6A020A7-CE59-CC4C-84B4-173AA5457021}" type="slidenum">
              <a:rPr lang="en-US" altLang="en-US"/>
              <a:pPr>
                <a:defRPr/>
              </a:pPr>
              <a:t>‹#›</a:t>
            </a:fld>
            <a:endParaRPr lang="en-US" altLang="en-US" dirty="0"/>
          </a:p>
        </p:txBody>
      </p:sp>
    </p:spTree>
    <p:extLst>
      <p:ext uri="{BB962C8B-B14F-4D97-AF65-F5344CB8AC3E}">
        <p14:creationId xmlns:p14="http://schemas.microsoft.com/office/powerpoint/2010/main" val="720675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a:extLst>
              <a:ext uri="{FF2B5EF4-FFF2-40B4-BE49-F238E27FC236}">
                <a16:creationId xmlns:a16="http://schemas.microsoft.com/office/drawing/2014/main" id="{E6598C95-DF9A-9163-941E-D43426678ABB}"/>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4" name="Rectangle 13">
            <a:extLst>
              <a:ext uri="{FF2B5EF4-FFF2-40B4-BE49-F238E27FC236}">
                <a16:creationId xmlns:a16="http://schemas.microsoft.com/office/drawing/2014/main" id="{3A608219-5DDB-AD55-7A07-1F25AD2301CF}"/>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5" name="Rectangle 14">
            <a:extLst>
              <a:ext uri="{FF2B5EF4-FFF2-40B4-BE49-F238E27FC236}">
                <a16:creationId xmlns:a16="http://schemas.microsoft.com/office/drawing/2014/main" id="{642C8B22-A986-96F9-86AC-738E81450610}"/>
              </a:ext>
            </a:extLst>
          </p:cNvPr>
          <p:cNvSpPr>
            <a:spLocks noGrp="1" noChangeArrowheads="1"/>
          </p:cNvSpPr>
          <p:nvPr>
            <p:ph type="sldNum" sz="quarter" idx="12"/>
          </p:nvPr>
        </p:nvSpPr>
        <p:spPr/>
        <p:txBody>
          <a:bodyPr/>
          <a:lstStyle>
            <a:lvl1pPr>
              <a:defRPr/>
            </a:lvl1pPr>
          </a:lstStyle>
          <a:p>
            <a:pPr>
              <a:defRPr/>
            </a:pPr>
            <a:fld id="{9205DD20-FF0D-E243-9507-212F7594CE3C}" type="slidenum">
              <a:rPr lang="en-US" altLang="en-US"/>
              <a:pPr>
                <a:defRPr/>
              </a:pPr>
              <a:t>‹#›</a:t>
            </a:fld>
            <a:endParaRPr lang="en-US" altLang="en-US" dirty="0"/>
          </a:p>
        </p:txBody>
      </p:sp>
    </p:spTree>
    <p:extLst>
      <p:ext uri="{BB962C8B-B14F-4D97-AF65-F5344CB8AC3E}">
        <p14:creationId xmlns:p14="http://schemas.microsoft.com/office/powerpoint/2010/main" val="3027500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CD3329F3-A29A-2E4B-333D-CF6A9A873A77}"/>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3" name="Rectangle 13">
            <a:extLst>
              <a:ext uri="{FF2B5EF4-FFF2-40B4-BE49-F238E27FC236}">
                <a16:creationId xmlns:a16="http://schemas.microsoft.com/office/drawing/2014/main" id="{18EC3047-E485-0B32-3D07-956145FC1A44}"/>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4" name="Rectangle 14">
            <a:extLst>
              <a:ext uri="{FF2B5EF4-FFF2-40B4-BE49-F238E27FC236}">
                <a16:creationId xmlns:a16="http://schemas.microsoft.com/office/drawing/2014/main" id="{6A1120CB-6058-071D-E4CC-73B7436E2E44}"/>
              </a:ext>
            </a:extLst>
          </p:cNvPr>
          <p:cNvSpPr>
            <a:spLocks noGrp="1" noChangeArrowheads="1"/>
          </p:cNvSpPr>
          <p:nvPr>
            <p:ph type="sldNum" sz="quarter" idx="12"/>
          </p:nvPr>
        </p:nvSpPr>
        <p:spPr/>
        <p:txBody>
          <a:bodyPr/>
          <a:lstStyle>
            <a:lvl1pPr>
              <a:defRPr/>
            </a:lvl1pPr>
          </a:lstStyle>
          <a:p>
            <a:pPr>
              <a:defRPr/>
            </a:pPr>
            <a:fld id="{645A9E12-C099-1144-9CCB-17391C811AB9}" type="slidenum">
              <a:rPr lang="en-US" altLang="en-US"/>
              <a:pPr>
                <a:defRPr/>
              </a:pPr>
              <a:t>‹#›</a:t>
            </a:fld>
            <a:endParaRPr lang="en-US" altLang="en-US" dirty="0"/>
          </a:p>
        </p:txBody>
      </p:sp>
    </p:spTree>
    <p:extLst>
      <p:ext uri="{BB962C8B-B14F-4D97-AF65-F5344CB8AC3E}">
        <p14:creationId xmlns:p14="http://schemas.microsoft.com/office/powerpoint/2010/main" val="336064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1781EDF2-7EF8-E737-A0C7-0CC7D9253E00}"/>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6" name="Rectangle 13">
            <a:extLst>
              <a:ext uri="{FF2B5EF4-FFF2-40B4-BE49-F238E27FC236}">
                <a16:creationId xmlns:a16="http://schemas.microsoft.com/office/drawing/2014/main" id="{38637645-F741-8420-F1D5-4269E9CA8A79}"/>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7" name="Rectangle 14">
            <a:extLst>
              <a:ext uri="{FF2B5EF4-FFF2-40B4-BE49-F238E27FC236}">
                <a16:creationId xmlns:a16="http://schemas.microsoft.com/office/drawing/2014/main" id="{505773A5-60A5-B93B-726C-A42CEF83A98F}"/>
              </a:ext>
            </a:extLst>
          </p:cNvPr>
          <p:cNvSpPr>
            <a:spLocks noGrp="1" noChangeArrowheads="1"/>
          </p:cNvSpPr>
          <p:nvPr>
            <p:ph type="sldNum" sz="quarter" idx="12"/>
          </p:nvPr>
        </p:nvSpPr>
        <p:spPr/>
        <p:txBody>
          <a:bodyPr/>
          <a:lstStyle>
            <a:lvl1pPr>
              <a:defRPr/>
            </a:lvl1pPr>
          </a:lstStyle>
          <a:p>
            <a:pPr>
              <a:defRPr/>
            </a:pPr>
            <a:fld id="{2B4746C1-1A40-8B46-B659-4D4A38C2732F}" type="slidenum">
              <a:rPr lang="en-US" altLang="en-US"/>
              <a:pPr>
                <a:defRPr/>
              </a:pPr>
              <a:t>‹#›</a:t>
            </a:fld>
            <a:endParaRPr lang="en-US" altLang="en-US" dirty="0"/>
          </a:p>
        </p:txBody>
      </p:sp>
    </p:spTree>
    <p:extLst>
      <p:ext uri="{BB962C8B-B14F-4D97-AF65-F5344CB8AC3E}">
        <p14:creationId xmlns:p14="http://schemas.microsoft.com/office/powerpoint/2010/main" val="3061984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ABC7ED64-ACDB-61B4-6BEE-DB551C19E1E1}"/>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6" name="Rectangle 13">
            <a:extLst>
              <a:ext uri="{FF2B5EF4-FFF2-40B4-BE49-F238E27FC236}">
                <a16:creationId xmlns:a16="http://schemas.microsoft.com/office/drawing/2014/main" id="{122F6688-B5CA-2793-B1F9-30D9CCF1EEB2}"/>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7" name="Rectangle 14">
            <a:extLst>
              <a:ext uri="{FF2B5EF4-FFF2-40B4-BE49-F238E27FC236}">
                <a16:creationId xmlns:a16="http://schemas.microsoft.com/office/drawing/2014/main" id="{190BEF8C-61D7-490B-D992-2CD50135DF78}"/>
              </a:ext>
            </a:extLst>
          </p:cNvPr>
          <p:cNvSpPr>
            <a:spLocks noGrp="1" noChangeArrowheads="1"/>
          </p:cNvSpPr>
          <p:nvPr>
            <p:ph type="sldNum" sz="quarter" idx="12"/>
          </p:nvPr>
        </p:nvSpPr>
        <p:spPr/>
        <p:txBody>
          <a:bodyPr/>
          <a:lstStyle>
            <a:lvl1pPr>
              <a:defRPr/>
            </a:lvl1pPr>
          </a:lstStyle>
          <a:p>
            <a:pPr>
              <a:defRPr/>
            </a:pPr>
            <a:fld id="{80800604-D619-104F-A773-000D3EC96CFD}" type="slidenum">
              <a:rPr lang="en-US" altLang="en-US"/>
              <a:pPr>
                <a:defRPr/>
              </a:pPr>
              <a:t>‹#›</a:t>
            </a:fld>
            <a:endParaRPr lang="en-US" altLang="en-US" dirty="0"/>
          </a:p>
        </p:txBody>
      </p:sp>
    </p:spTree>
    <p:extLst>
      <p:ext uri="{BB962C8B-B14F-4D97-AF65-F5344CB8AC3E}">
        <p14:creationId xmlns:p14="http://schemas.microsoft.com/office/powerpoint/2010/main" val="1359260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B2F41B4F-6C19-70B6-0878-EF8609A742C7}"/>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5" name="Rectangle 13">
            <a:extLst>
              <a:ext uri="{FF2B5EF4-FFF2-40B4-BE49-F238E27FC236}">
                <a16:creationId xmlns:a16="http://schemas.microsoft.com/office/drawing/2014/main" id="{5C3361F5-947A-4F73-F6C3-7B16F9D8F39A}"/>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6" name="Rectangle 14">
            <a:extLst>
              <a:ext uri="{FF2B5EF4-FFF2-40B4-BE49-F238E27FC236}">
                <a16:creationId xmlns:a16="http://schemas.microsoft.com/office/drawing/2014/main" id="{67ABB20C-F74C-207F-A4B1-BF1AF96C0C77}"/>
              </a:ext>
            </a:extLst>
          </p:cNvPr>
          <p:cNvSpPr>
            <a:spLocks noGrp="1" noChangeArrowheads="1"/>
          </p:cNvSpPr>
          <p:nvPr>
            <p:ph type="sldNum" sz="quarter" idx="12"/>
          </p:nvPr>
        </p:nvSpPr>
        <p:spPr/>
        <p:txBody>
          <a:bodyPr/>
          <a:lstStyle>
            <a:lvl1pPr>
              <a:defRPr/>
            </a:lvl1pPr>
          </a:lstStyle>
          <a:p>
            <a:pPr>
              <a:defRPr/>
            </a:pPr>
            <a:fld id="{FDE50BA9-02B3-2A43-8333-FF4169DA503E}" type="slidenum">
              <a:rPr lang="en-US" altLang="en-US"/>
              <a:pPr>
                <a:defRPr/>
              </a:pPr>
              <a:t>‹#›</a:t>
            </a:fld>
            <a:endParaRPr lang="en-US" altLang="en-US" dirty="0"/>
          </a:p>
        </p:txBody>
      </p:sp>
    </p:spTree>
    <p:extLst>
      <p:ext uri="{BB962C8B-B14F-4D97-AF65-F5344CB8AC3E}">
        <p14:creationId xmlns:p14="http://schemas.microsoft.com/office/powerpoint/2010/main" val="1721072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DF12FD8C-20D3-03CF-7CE1-FB14473CB93E}"/>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5" name="Rectangle 13">
            <a:extLst>
              <a:ext uri="{FF2B5EF4-FFF2-40B4-BE49-F238E27FC236}">
                <a16:creationId xmlns:a16="http://schemas.microsoft.com/office/drawing/2014/main" id="{92381717-AD4D-D54A-B649-96A9029CDA85}"/>
              </a:ext>
            </a:extLst>
          </p:cNvPr>
          <p:cNvSpPr>
            <a:spLocks noGrp="1" noChangeArrowheads="1"/>
          </p:cNvSpPr>
          <p:nvPr>
            <p:ph type="ftr" sz="quarter" idx="11"/>
          </p:nvPr>
        </p:nvSpPr>
        <p:spPr/>
        <p:txBody>
          <a:bodyPr/>
          <a:lstStyle>
            <a:lvl1pPr>
              <a:defRPr/>
            </a:lvl1pPr>
          </a:lstStyle>
          <a:p>
            <a:pPr>
              <a:defRPr/>
            </a:pPr>
            <a:endParaRPr lang="en-US" altLang="en-US" dirty="0"/>
          </a:p>
        </p:txBody>
      </p:sp>
      <p:sp>
        <p:nvSpPr>
          <p:cNvPr id="6" name="Rectangle 14">
            <a:extLst>
              <a:ext uri="{FF2B5EF4-FFF2-40B4-BE49-F238E27FC236}">
                <a16:creationId xmlns:a16="http://schemas.microsoft.com/office/drawing/2014/main" id="{8DBEBD84-5E64-D966-82B5-7697A3227EDA}"/>
              </a:ext>
            </a:extLst>
          </p:cNvPr>
          <p:cNvSpPr>
            <a:spLocks noGrp="1" noChangeArrowheads="1"/>
          </p:cNvSpPr>
          <p:nvPr>
            <p:ph type="sldNum" sz="quarter" idx="12"/>
          </p:nvPr>
        </p:nvSpPr>
        <p:spPr/>
        <p:txBody>
          <a:bodyPr/>
          <a:lstStyle>
            <a:lvl1pPr>
              <a:defRPr/>
            </a:lvl1pPr>
          </a:lstStyle>
          <a:p>
            <a:pPr>
              <a:defRPr/>
            </a:pPr>
            <a:fld id="{C6AC60A9-0AEE-9A48-83A8-316201C02DEE}" type="slidenum">
              <a:rPr lang="en-US" altLang="en-US"/>
              <a:pPr>
                <a:defRPr/>
              </a:pPr>
              <a:t>‹#›</a:t>
            </a:fld>
            <a:endParaRPr lang="en-US" altLang="en-US" dirty="0"/>
          </a:p>
        </p:txBody>
      </p:sp>
    </p:spTree>
    <p:extLst>
      <p:ext uri="{BB962C8B-B14F-4D97-AF65-F5344CB8AC3E}">
        <p14:creationId xmlns:p14="http://schemas.microsoft.com/office/powerpoint/2010/main" val="502145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07320082-FED1-B437-3DF7-5D046A666829}"/>
              </a:ext>
            </a:extLst>
          </p:cNvPr>
          <p:cNvGrpSpPr>
            <a:grpSpLocks/>
          </p:cNvGrpSpPr>
          <p:nvPr/>
        </p:nvGrpSpPr>
        <p:grpSpPr bwMode="auto">
          <a:xfrm>
            <a:off x="0" y="3902075"/>
            <a:ext cx="3400425" cy="2949575"/>
            <a:chOff x="0" y="2458"/>
            <a:chExt cx="2142" cy="1858"/>
          </a:xfrm>
        </p:grpSpPr>
        <p:sp>
          <p:nvSpPr>
            <p:cNvPr id="337923" name="Freeform 3">
              <a:extLst>
                <a:ext uri="{FF2B5EF4-FFF2-40B4-BE49-F238E27FC236}">
                  <a16:creationId xmlns:a16="http://schemas.microsoft.com/office/drawing/2014/main" id="{9B814EC3-B7A6-B553-2D78-EBFF540128EE}"/>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4" name="Freeform 4">
              <a:extLst>
                <a:ext uri="{FF2B5EF4-FFF2-40B4-BE49-F238E27FC236}">
                  <a16:creationId xmlns:a16="http://schemas.microsoft.com/office/drawing/2014/main" id="{113E5D14-2D4F-6FDC-CCDA-6767E2FA657D}"/>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5" name="Freeform 5">
              <a:extLst>
                <a:ext uri="{FF2B5EF4-FFF2-40B4-BE49-F238E27FC236}">
                  <a16:creationId xmlns:a16="http://schemas.microsoft.com/office/drawing/2014/main" id="{CB9E0BD7-BDB5-F146-374E-4584A592DDD5}"/>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6" name="Freeform 6">
              <a:extLst>
                <a:ext uri="{FF2B5EF4-FFF2-40B4-BE49-F238E27FC236}">
                  <a16:creationId xmlns:a16="http://schemas.microsoft.com/office/drawing/2014/main" id="{83C47455-E721-286E-886C-5462227223D8}"/>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1036" name="Oval 7">
              <a:extLst>
                <a:ext uri="{FF2B5EF4-FFF2-40B4-BE49-F238E27FC236}">
                  <a16:creationId xmlns:a16="http://schemas.microsoft.com/office/drawing/2014/main" id="{CED9C512-7ED5-27D8-3DD8-5F78BBB76AE2}"/>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7" name="Oval 8">
              <a:extLst>
                <a:ext uri="{FF2B5EF4-FFF2-40B4-BE49-F238E27FC236}">
                  <a16:creationId xmlns:a16="http://schemas.microsoft.com/office/drawing/2014/main" id="{6FF96FA1-BDAD-CA8D-887F-4016F23D1615}"/>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8" name="Oval 9">
              <a:extLst>
                <a:ext uri="{FF2B5EF4-FFF2-40B4-BE49-F238E27FC236}">
                  <a16:creationId xmlns:a16="http://schemas.microsoft.com/office/drawing/2014/main" id="{A2BF66EF-A911-9AFC-5847-E52228416FFC}"/>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7930" name="Rectangle 10">
            <a:extLst>
              <a:ext uri="{FF2B5EF4-FFF2-40B4-BE49-F238E27FC236}">
                <a16:creationId xmlns:a16="http://schemas.microsoft.com/office/drawing/2014/main" id="{D7BDC220-B743-03B7-F853-EB57DF49E965}"/>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337931" name="Rectangle 11">
            <a:extLst>
              <a:ext uri="{FF2B5EF4-FFF2-40B4-BE49-F238E27FC236}">
                <a16:creationId xmlns:a16="http://schemas.microsoft.com/office/drawing/2014/main" id="{3B7F9FF5-68E7-B8DA-404F-F738132D4EE9}"/>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7932" name="Rectangle 12">
            <a:extLst>
              <a:ext uri="{FF2B5EF4-FFF2-40B4-BE49-F238E27FC236}">
                <a16:creationId xmlns:a16="http://schemas.microsoft.com/office/drawing/2014/main" id="{5E25F304-C7F5-E236-9A52-5197A2AEFEEB}"/>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10199"/>
                  </a:outerShdw>
                </a:effectLst>
              </a:defRPr>
            </a:lvl1pPr>
          </a:lstStyle>
          <a:p>
            <a:pPr>
              <a:defRPr/>
            </a:pPr>
            <a:endParaRPr lang="en-US" altLang="en-US" dirty="0"/>
          </a:p>
        </p:txBody>
      </p:sp>
      <p:sp>
        <p:nvSpPr>
          <p:cNvPr id="337933" name="Rectangle 13">
            <a:extLst>
              <a:ext uri="{FF2B5EF4-FFF2-40B4-BE49-F238E27FC236}">
                <a16:creationId xmlns:a16="http://schemas.microsoft.com/office/drawing/2014/main" id="{1A264752-3368-24D4-C348-F2321E6A916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10199"/>
                  </a:outerShdw>
                </a:effectLst>
              </a:defRPr>
            </a:lvl1pPr>
          </a:lstStyle>
          <a:p>
            <a:pPr>
              <a:defRPr/>
            </a:pPr>
            <a:endParaRPr lang="en-US" altLang="en-US" dirty="0"/>
          </a:p>
        </p:txBody>
      </p:sp>
      <p:sp>
        <p:nvSpPr>
          <p:cNvPr id="337934" name="Rectangle 14">
            <a:extLst>
              <a:ext uri="{FF2B5EF4-FFF2-40B4-BE49-F238E27FC236}">
                <a16:creationId xmlns:a16="http://schemas.microsoft.com/office/drawing/2014/main" id="{D023DE3E-A988-7126-BB46-5530BA69A4A0}"/>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10199"/>
                  </a:outerShdw>
                </a:effectLst>
              </a:defRPr>
            </a:lvl1pPr>
          </a:lstStyle>
          <a:p>
            <a:pPr>
              <a:defRPr/>
            </a:pPr>
            <a:fld id="{09C52707-3711-1142-A54E-1F7433AD403C}" type="slidenum">
              <a:rPr lang="en-US" altLang="en-US"/>
              <a:pPr>
                <a:defRPr/>
              </a:pPr>
              <a:t>‹#›</a:t>
            </a:fld>
            <a:endParaRPr lang="en-US" altLang="en-US" dirty="0"/>
          </a:p>
        </p:txBody>
      </p:sp>
    </p:spTree>
  </p:cSld>
  <p:clrMap bg1="dk2" tx1="lt1" bg2="dk1" tx2="lt2" accent1="accent1" accent2="accent2" accent3="accent3" accent4="accent4" accent5="accent5" accent6="accent6" hlink="hlink" folHlink="folHlink"/>
  <p:sldLayoutIdLst>
    <p:sldLayoutId id="2147484226" r:id="rId1"/>
    <p:sldLayoutId id="2147484227" r:id="rId2"/>
    <p:sldLayoutId id="2147484228" r:id="rId3"/>
    <p:sldLayoutId id="2147484229" r:id="rId4"/>
    <p:sldLayoutId id="2147484230" r:id="rId5"/>
    <p:sldLayoutId id="2147484231" r:id="rId6"/>
    <p:sldLayoutId id="2147484232" r:id="rId7"/>
    <p:sldLayoutId id="2147484233" r:id="rId8"/>
    <p:sldLayoutId id="2147484234" r:id="rId9"/>
    <p:sldLayoutId id="2147484235" r:id="rId10"/>
    <p:sldLayoutId id="2147484236"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ＭＳ Ｐゴシック" charset="0"/>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l"/>
        <a:defRPr sz="3200">
          <a:solidFill>
            <a:schemeClr val="tx1"/>
          </a:solidFill>
          <a:effectLst>
            <a:outerShdw blurRad="38100" dist="38100" dir="2700000" algn="tl">
              <a:srgbClr val="010199"/>
            </a:outerShdw>
          </a:effectLst>
          <a:latin typeface="+mn-lt"/>
          <a:ea typeface="ＭＳ Ｐゴシック" charset="0"/>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10199"/>
            </a:outerShdw>
          </a:effectLst>
          <a:latin typeface="+mn-lt"/>
          <a:ea typeface="Arial" pitchFamily="-65" charset="0"/>
          <a:cs typeface="+mn-cs"/>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400">
          <a:solidFill>
            <a:schemeClr val="tx1"/>
          </a:solidFill>
          <a:effectLst>
            <a:outerShdw blurRad="38100" dist="38100" dir="2700000" algn="tl">
              <a:srgbClr val="010199"/>
            </a:outerShdw>
          </a:effectLst>
          <a:latin typeface="+mn-lt"/>
          <a:ea typeface="Arial" pitchFamily="-65" charset="0"/>
          <a:cs typeface="+mn-cs"/>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BA5BF0D6-A4F7-042E-B2E0-CB652F218B09}"/>
              </a:ext>
            </a:extLst>
          </p:cNvPr>
          <p:cNvSpPr>
            <a:spLocks noGrp="1" noChangeArrowheads="1"/>
          </p:cNvSpPr>
          <p:nvPr>
            <p:ph type="ctrTitle"/>
          </p:nvPr>
        </p:nvSpPr>
        <p:spPr>
          <a:xfrm>
            <a:off x="685800" y="990600"/>
            <a:ext cx="7772400" cy="1905000"/>
          </a:xfrm>
        </p:spPr>
        <p:txBody>
          <a:bodyPr/>
          <a:lstStyle/>
          <a:p>
            <a:pPr eaLnBrk="1" hangingPunct="1">
              <a:defRPr/>
            </a:pPr>
            <a:r>
              <a:rPr lang="en-US" altLang="x-none" dirty="0">
                <a:solidFill>
                  <a:srgbClr val="FFFF00"/>
                </a:solidFill>
                <a:ea typeface="ＭＳ Ｐゴシック" charset="-128"/>
              </a:rPr>
              <a:t>PIA 3121</a:t>
            </a:r>
            <a:br>
              <a:rPr lang="en-US" altLang="x-none" dirty="0">
                <a:ea typeface="ＭＳ Ｐゴシック" charset="-128"/>
              </a:rPr>
            </a:br>
            <a:br>
              <a:rPr lang="en-US" altLang="x-none" sz="2800" dirty="0">
                <a:ea typeface="ＭＳ Ｐゴシック" charset="-128"/>
              </a:rPr>
            </a:br>
            <a:r>
              <a:rPr lang="en-US" altLang="x-none" sz="2400" dirty="0">
                <a:ea typeface="ＭＳ Ｐゴシック" charset="-128"/>
              </a:rPr>
              <a:t>22 September 2026</a:t>
            </a:r>
          </a:p>
        </p:txBody>
      </p:sp>
      <p:sp>
        <p:nvSpPr>
          <p:cNvPr id="362499" name="Rectangle 3">
            <a:extLst>
              <a:ext uri="{FF2B5EF4-FFF2-40B4-BE49-F238E27FC236}">
                <a16:creationId xmlns:a16="http://schemas.microsoft.com/office/drawing/2014/main" id="{B18D9063-88E4-9E17-1930-E82D0618B80B}"/>
              </a:ext>
            </a:extLst>
          </p:cNvPr>
          <p:cNvSpPr>
            <a:spLocks noGrp="1" noChangeArrowheads="1"/>
          </p:cNvSpPr>
          <p:nvPr>
            <p:ph type="subTitle" idx="1"/>
          </p:nvPr>
        </p:nvSpPr>
        <p:spPr>
          <a:xfrm>
            <a:off x="228600" y="3276600"/>
            <a:ext cx="8686800" cy="1752600"/>
          </a:xfrm>
        </p:spPr>
        <p:txBody>
          <a:bodyPr/>
          <a:lstStyle/>
          <a:p>
            <a:pPr eaLnBrk="1" hangingPunct="1">
              <a:buFont typeface="Wingdings" charset="2"/>
              <a:buNone/>
              <a:defRPr/>
            </a:pPr>
            <a:r>
              <a:rPr lang="en-US" altLang="x-none" sz="4000" dirty="0">
                <a:ea typeface="ＭＳ Ｐゴシック" charset="-128"/>
              </a:rPr>
              <a:t>Neo-Neo Debate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sz="3600" u="sng" dirty="0">
                <a:solidFill>
                  <a:schemeClr val="tx1"/>
                </a:solidFill>
              </a:rPr>
              <a:t>PIA 3121 Schedule</a:t>
            </a:r>
          </a:p>
        </p:txBody>
      </p:sp>
      <p:sp>
        <p:nvSpPr>
          <p:cNvPr id="3" name="Content Placeholder 2"/>
          <p:cNvSpPr>
            <a:spLocks noGrp="1"/>
          </p:cNvSpPr>
          <p:nvPr>
            <p:ph idx="1"/>
          </p:nvPr>
        </p:nvSpPr>
        <p:spPr>
          <a:xfrm>
            <a:off x="445265" y="1447800"/>
            <a:ext cx="8229600" cy="4713287"/>
          </a:xfrm>
        </p:spPr>
        <p:txBody>
          <a:bodyPr/>
          <a:lstStyle/>
          <a:p>
            <a:pPr marL="0" indent="0" eaLnBrk="1" fontAlgn="auto" hangingPunct="1">
              <a:spcBef>
                <a:spcPts val="0"/>
              </a:spcBef>
              <a:spcAft>
                <a:spcPts val="0"/>
              </a:spcAft>
              <a:buClrTx/>
              <a:buSzTx/>
              <a:buNone/>
              <a:defRPr/>
            </a:pPr>
            <a:r>
              <a:rPr lang="en-US" sz="1800" dirty="0">
                <a:solidFill>
                  <a:srgbClr val="FFFF00"/>
                </a:solidFill>
              </a:rPr>
              <a:t>1 Sept:		</a:t>
            </a:r>
            <a:r>
              <a:rPr lang="en-US" sz="1800" dirty="0"/>
              <a:t>Tools of Analysis / Foundational Concepts</a:t>
            </a:r>
            <a:endParaRPr lang="en-US" sz="1800" dirty="0">
              <a:solidFill>
                <a:srgbClr val="FFFF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8 Sept</a:t>
            </a:r>
            <a:r>
              <a:rPr lang="en-US" sz="1800" dirty="0"/>
              <a:t>:		Realism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15 Sept</a:t>
            </a:r>
            <a:r>
              <a:rPr lang="en-US" sz="1800" dirty="0"/>
              <a:t>:		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22 Sept</a:t>
            </a:r>
            <a:r>
              <a:rPr lang="en-US" sz="1800" dirty="0"/>
              <a:t>:		Neorealism and Neoliberalism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29 Sept:</a:t>
            </a:r>
            <a:r>
              <a:rPr lang="en-US" sz="1800" dirty="0"/>
              <a:t>		Economic Structuralism and Globalization</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6 Oct</a:t>
            </a:r>
            <a:r>
              <a:rPr lang="en-US" sz="1800" dirty="0"/>
              <a:t>:		Constructivism</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indent="0" eaLnBrk="1" fontAlgn="auto" hangingPunct="1">
              <a:spcBef>
                <a:spcPts val="0"/>
              </a:spcBef>
              <a:spcAft>
                <a:spcPts val="0"/>
              </a:spcAft>
              <a:buClrTx/>
              <a:buSzTx/>
              <a:buNone/>
              <a:defRPr/>
            </a:pPr>
            <a:r>
              <a:rPr lang="en-US" sz="1800" dirty="0">
                <a:solidFill>
                  <a:srgbClr val="FFFF00"/>
                </a:solidFill>
              </a:rPr>
              <a:t>13 Oct</a:t>
            </a:r>
            <a:r>
              <a:rPr lang="en-US" sz="1800" dirty="0"/>
              <a:t>:		MIDTERM QUIZ</a:t>
            </a:r>
          </a:p>
          <a:p>
            <a:pPr marL="0" indent="0" eaLnBrk="1" fontAlgn="auto" hangingPunct="1">
              <a:spcBef>
                <a:spcPts val="0"/>
              </a:spcBef>
              <a:spcAft>
                <a:spcPts val="0"/>
              </a:spcAft>
              <a:buClrTx/>
              <a:buSzTx/>
              <a:buNone/>
              <a:defRPr/>
            </a:pPr>
            <a:endParaRPr lang="en-US" sz="1800" dirty="0"/>
          </a:p>
          <a:p>
            <a:pPr marL="0" indent="0" eaLnBrk="1" fontAlgn="auto" hangingPunct="1">
              <a:spcBef>
                <a:spcPts val="0"/>
              </a:spcBef>
              <a:spcAft>
                <a:spcPts val="0"/>
              </a:spcAft>
              <a:buClrTx/>
              <a:buSzTx/>
              <a:buNone/>
              <a:defRPr/>
            </a:pPr>
            <a:r>
              <a:rPr lang="en-US" sz="1800" dirty="0">
                <a:solidFill>
                  <a:srgbClr val="FFFF00"/>
                </a:solidFill>
              </a:rPr>
              <a:t>20 Oct</a:t>
            </a:r>
            <a:r>
              <a:rPr lang="en-US" sz="1800" dirty="0"/>
              <a:t>:		Ontological Security Theory</a:t>
            </a:r>
          </a:p>
          <a:p>
            <a:pPr marL="0" indent="0" eaLnBrk="1" fontAlgn="auto" hangingPunct="1">
              <a:spcBef>
                <a:spcPts val="0"/>
              </a:spcBef>
              <a:spcAft>
                <a:spcPts val="0"/>
              </a:spcAft>
              <a:buClrTx/>
              <a:buSzTx/>
              <a:buNone/>
              <a:defRPr/>
            </a:pPr>
            <a:r>
              <a:rPr lang="en-US" sz="1800" dirty="0">
                <a:solidFill>
                  <a:srgbClr val="FFFF00"/>
                </a:solidFill>
              </a:rPr>
              <a:t>27 Oct</a:t>
            </a:r>
            <a:r>
              <a:rPr lang="en-US" sz="1800" dirty="0"/>
              <a:t>:		The English School</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3 Nov</a:t>
            </a:r>
            <a:r>
              <a:rPr lang="en-US" sz="1800" dirty="0"/>
              <a:t>:		Democratization / Global Culture / Revolution</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10 Nov</a:t>
            </a:r>
            <a:r>
              <a:rPr lang="en-US" sz="1800" dirty="0"/>
              <a:t>:		Critical Theory / Gender in IR / Global Civil Society</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17 Nov</a:t>
            </a:r>
            <a:r>
              <a:rPr lang="en-US" sz="1800" dirty="0"/>
              <a:t>:		Chaos and Complexity in IR / Existential Risks</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24 Nov</a:t>
            </a:r>
            <a:r>
              <a:rPr lang="en-US" sz="1800" dirty="0"/>
              <a:t>:		FINAL QUIZ DUE / Discussion of Group Projects</a:t>
            </a:r>
            <a:endParaRPr lang="en-US" sz="1400" dirty="0"/>
          </a:p>
          <a:p>
            <a:pPr marL="0" indent="0" eaLnBrk="1" fontAlgn="auto" hangingPunct="1">
              <a:spcBef>
                <a:spcPts val="0"/>
              </a:spcBef>
              <a:spcAft>
                <a:spcPts val="0"/>
              </a:spcAft>
              <a:buClrTx/>
              <a:buSzTx/>
              <a:buNone/>
              <a:defRPr/>
            </a:pPr>
            <a:endParaRPr lang="en-US" sz="1400" dirty="0"/>
          </a:p>
          <a:p>
            <a:pPr marL="0" indent="0" eaLnBrk="1" fontAlgn="auto" hangingPunct="1">
              <a:spcBef>
                <a:spcPts val="0"/>
              </a:spcBef>
              <a:spcAft>
                <a:spcPts val="0"/>
              </a:spcAft>
              <a:buClrTx/>
              <a:buSzTx/>
              <a:buNone/>
              <a:defRPr/>
            </a:pPr>
            <a:r>
              <a:rPr lang="en-US" sz="1800" dirty="0">
                <a:solidFill>
                  <a:srgbClr val="FFFF00"/>
                </a:solidFill>
              </a:rPr>
              <a:t>8 Dec</a:t>
            </a:r>
            <a:r>
              <a:rPr lang="en-US" sz="1800" dirty="0"/>
              <a:t>:		GROUP PAPER PROJECT DUE</a:t>
            </a:r>
            <a:endParaRPr lang="en-US" sz="1800" dirty="0">
              <a:solidFill>
                <a:srgbClr val="FFFF00"/>
              </a:solidFill>
            </a:endParaRPr>
          </a:p>
        </p:txBody>
      </p:sp>
    </p:spTree>
    <p:extLst>
      <p:ext uri="{BB962C8B-B14F-4D97-AF65-F5344CB8AC3E}">
        <p14:creationId xmlns:p14="http://schemas.microsoft.com/office/powerpoint/2010/main" val="1935469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313D-9A25-6A34-027E-3D7BF2AB1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0E0FF-CC83-AC91-AA08-F6BBB5D45B2B}"/>
              </a:ext>
            </a:extLst>
          </p:cNvPr>
          <p:cNvSpPr>
            <a:spLocks noGrp="1"/>
          </p:cNvSpPr>
          <p:nvPr>
            <p:ph type="title"/>
          </p:nvPr>
        </p:nvSpPr>
        <p:spPr>
          <a:xfrm>
            <a:off x="457200" y="277813"/>
            <a:ext cx="8229600" cy="484187"/>
          </a:xfrm>
        </p:spPr>
        <p:txBody>
          <a:bodyPr/>
          <a:lstStyle/>
          <a:p>
            <a:pPr>
              <a:defRPr/>
            </a:pPr>
            <a:r>
              <a:rPr lang="en-US" sz="2800" dirty="0">
                <a:solidFill>
                  <a:schemeClr val="tx1"/>
                </a:solidFill>
              </a:rPr>
              <a:t>How could globalization have happened </a:t>
            </a:r>
            <a:br>
              <a:rPr lang="en-US" sz="2800" dirty="0">
                <a:solidFill>
                  <a:schemeClr val="tx1"/>
                </a:solidFill>
              </a:rPr>
            </a:br>
            <a:r>
              <a:rPr lang="en-US" sz="2800" dirty="0">
                <a:solidFill>
                  <a:schemeClr val="tx1"/>
                </a:solidFill>
              </a:rPr>
              <a:t>under anarchy?</a:t>
            </a:r>
          </a:p>
        </p:txBody>
      </p:sp>
      <p:pic>
        <p:nvPicPr>
          <p:cNvPr id="97282" name="Content Placeholder 4">
            <a:extLst>
              <a:ext uri="{FF2B5EF4-FFF2-40B4-BE49-F238E27FC236}">
                <a16:creationId xmlns:a16="http://schemas.microsoft.com/office/drawing/2014/main" id="{E406F1EB-A314-9009-DECB-1E08668326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5837" y="1295400"/>
            <a:ext cx="7172325" cy="5062538"/>
          </a:xfrm>
        </p:spPr>
      </p:pic>
    </p:spTree>
    <p:extLst>
      <p:ext uri="{BB962C8B-B14F-4D97-AF65-F5344CB8AC3E}">
        <p14:creationId xmlns:p14="http://schemas.microsoft.com/office/powerpoint/2010/main" val="3752555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3BF70-D909-F362-7410-AD386F87EE0A}"/>
              </a:ext>
            </a:extLst>
          </p:cNvPr>
          <p:cNvSpPr>
            <a:spLocks noGrp="1"/>
          </p:cNvSpPr>
          <p:nvPr>
            <p:ph type="title"/>
          </p:nvPr>
        </p:nvSpPr>
        <p:spPr>
          <a:xfrm>
            <a:off x="0" y="381000"/>
            <a:ext cx="9144000" cy="484188"/>
          </a:xfrm>
        </p:spPr>
        <p:txBody>
          <a:bodyPr/>
          <a:lstStyle/>
          <a:p>
            <a:pPr>
              <a:defRPr/>
            </a:pPr>
            <a:r>
              <a:rPr lang="en-US" altLang="x-none" sz="3600" dirty="0">
                <a:solidFill>
                  <a:schemeClr val="tx1"/>
                </a:solidFill>
                <a:ea typeface="ＭＳ Ｐゴシック" charset="-128"/>
              </a:rPr>
              <a:t>The post-WWII international trade regime</a:t>
            </a:r>
            <a:br>
              <a:rPr lang="en-US" altLang="x-none" sz="3600" dirty="0">
                <a:solidFill>
                  <a:schemeClr val="tx1"/>
                </a:solidFill>
                <a:ea typeface="ＭＳ Ｐゴシック" charset="-128"/>
              </a:rPr>
            </a:br>
            <a:r>
              <a:rPr lang="en-US" altLang="x-none" sz="3600" dirty="0">
                <a:solidFill>
                  <a:schemeClr val="tx1"/>
                </a:solidFill>
                <a:ea typeface="ＭＳ Ｐゴシック" charset="-128"/>
              </a:rPr>
              <a:t>originated in Bretton Woods, NH</a:t>
            </a:r>
          </a:p>
        </p:txBody>
      </p:sp>
      <p:pic>
        <p:nvPicPr>
          <p:cNvPr id="110594" name="Content Placeholder 3" descr="Bretton Woods, New Hampshire.jpg">
            <a:extLst>
              <a:ext uri="{FF2B5EF4-FFF2-40B4-BE49-F238E27FC236}">
                <a16:creationId xmlns:a16="http://schemas.microsoft.com/office/drawing/2014/main" id="{B6161AF1-D063-2F69-4718-89F2B49873F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355725"/>
            <a:ext cx="8229600" cy="5481638"/>
          </a:xfrm>
        </p:spPr>
      </p:pic>
    </p:spTree>
    <p:extLst>
      <p:ext uri="{BB962C8B-B14F-4D97-AF65-F5344CB8AC3E}">
        <p14:creationId xmlns:p14="http://schemas.microsoft.com/office/powerpoint/2010/main" val="3982786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a:extLst>
              <a:ext uri="{FF2B5EF4-FFF2-40B4-BE49-F238E27FC236}">
                <a16:creationId xmlns:a16="http://schemas.microsoft.com/office/drawing/2014/main" id="{D1AB1C03-BEDB-D4E1-8872-59C55201204D}"/>
              </a:ext>
            </a:extLst>
          </p:cNvPr>
          <p:cNvSpPr>
            <a:spLocks noGrp="1" noChangeArrowheads="1"/>
          </p:cNvSpPr>
          <p:nvPr>
            <p:ph type="title"/>
          </p:nvPr>
        </p:nvSpPr>
        <p:spPr>
          <a:xfrm>
            <a:off x="457200" y="76200"/>
            <a:ext cx="8229600" cy="1143000"/>
          </a:xfrm>
        </p:spPr>
        <p:txBody>
          <a:bodyPr/>
          <a:lstStyle/>
          <a:p>
            <a:pPr eaLnBrk="1" hangingPunct="1">
              <a:defRPr/>
            </a:pPr>
            <a:r>
              <a:rPr lang="en-US" altLang="x-none" sz="3600" dirty="0">
                <a:solidFill>
                  <a:schemeClr val="tx1"/>
                </a:solidFill>
                <a:ea typeface="ＭＳ Ｐゴシック" charset="-128"/>
              </a:rPr>
              <a:t>History being made at Bretton Woods (July 1944)</a:t>
            </a:r>
          </a:p>
        </p:txBody>
      </p:sp>
      <p:sp>
        <p:nvSpPr>
          <p:cNvPr id="423939" name="Rectangle 3">
            <a:extLst>
              <a:ext uri="{FF2B5EF4-FFF2-40B4-BE49-F238E27FC236}">
                <a16:creationId xmlns:a16="http://schemas.microsoft.com/office/drawing/2014/main" id="{4E2D3AA3-0F57-6A68-BF09-0163A607F8B8}"/>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111619" name="Picture 5" descr="Bretton Woods (conference 1)">
            <a:extLst>
              <a:ext uri="{FF2B5EF4-FFF2-40B4-BE49-F238E27FC236}">
                <a16:creationId xmlns:a16="http://schemas.microsoft.com/office/drawing/2014/main" id="{DCD0C94D-92DB-B939-E6C4-DBFF9DA4CC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00200"/>
            <a:ext cx="4572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0" name="Picture 6" descr="Bretton Woods (conference 2)">
            <a:extLst>
              <a:ext uri="{FF2B5EF4-FFF2-40B4-BE49-F238E27FC236}">
                <a16:creationId xmlns:a16="http://schemas.microsoft.com/office/drawing/2014/main" id="{AC5196A6-B4FF-4B78-B011-D95216F875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494088"/>
            <a:ext cx="4572000" cy="336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2126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a:extLst>
              <a:ext uri="{FF2B5EF4-FFF2-40B4-BE49-F238E27FC236}">
                <a16:creationId xmlns:a16="http://schemas.microsoft.com/office/drawing/2014/main" id="{FF8A9D0E-3DC0-D6FF-853F-E176F6B3DF37}"/>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428035" name="Rectangle 3">
            <a:extLst>
              <a:ext uri="{FF2B5EF4-FFF2-40B4-BE49-F238E27FC236}">
                <a16:creationId xmlns:a16="http://schemas.microsoft.com/office/drawing/2014/main" id="{1047A405-29C8-B507-99A0-FF23F1E41F3D}"/>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113667" name="Picture 4">
            <a:extLst>
              <a:ext uri="{FF2B5EF4-FFF2-40B4-BE49-F238E27FC236}">
                <a16:creationId xmlns:a16="http://schemas.microsoft.com/office/drawing/2014/main" id="{48800B40-C3FC-7AC6-8572-BC3E076A1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 y="265113"/>
            <a:ext cx="8039100" cy="581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TextBox 1">
            <a:extLst>
              <a:ext uri="{FF2B5EF4-FFF2-40B4-BE49-F238E27FC236}">
                <a16:creationId xmlns:a16="http://schemas.microsoft.com/office/drawing/2014/main" id="{DF746781-9B35-B369-FC34-5C5DE303F0C7}"/>
              </a:ext>
            </a:extLst>
          </p:cNvPr>
          <p:cNvSpPr txBox="1">
            <a:spLocks noChangeArrowheads="1"/>
          </p:cNvSpPr>
          <p:nvPr/>
        </p:nvSpPr>
        <p:spPr bwMode="auto">
          <a:xfrm>
            <a:off x="552450" y="6313488"/>
            <a:ext cx="80391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400" dirty="0"/>
              <a:t>SOURCE:  https://tradevistas.org/gatt-rounds-who-what-when/</a:t>
            </a:r>
          </a:p>
        </p:txBody>
      </p:sp>
    </p:spTree>
    <p:extLst>
      <p:ext uri="{BB962C8B-B14F-4D97-AF65-F5344CB8AC3E}">
        <p14:creationId xmlns:p14="http://schemas.microsoft.com/office/powerpoint/2010/main" val="3351830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C3B3-A7EC-C8B3-01BF-06892808D6CA}"/>
              </a:ext>
            </a:extLst>
          </p:cNvPr>
          <p:cNvSpPr>
            <a:spLocks noGrp="1"/>
          </p:cNvSpPr>
          <p:nvPr>
            <p:ph type="title"/>
          </p:nvPr>
        </p:nvSpPr>
        <p:spPr/>
        <p:txBody>
          <a:bodyPr/>
          <a:lstStyle/>
          <a:p>
            <a:pPr>
              <a:defRPr/>
            </a:pPr>
            <a:endParaRPr lang="en-US" dirty="0"/>
          </a:p>
        </p:txBody>
      </p:sp>
      <p:pic>
        <p:nvPicPr>
          <p:cNvPr id="115714" name="Content Placeholder 3">
            <a:extLst>
              <a:ext uri="{FF2B5EF4-FFF2-40B4-BE49-F238E27FC236}">
                <a16:creationId xmlns:a16="http://schemas.microsoft.com/office/drawing/2014/main" id="{C4DF4B4F-DE48-6C6E-22E2-78F23AEDB6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50913" y="609600"/>
            <a:ext cx="7204075" cy="5160963"/>
          </a:xfrm>
        </p:spPr>
      </p:pic>
      <p:sp>
        <p:nvSpPr>
          <p:cNvPr id="115715" name="TextBox 4">
            <a:extLst>
              <a:ext uri="{FF2B5EF4-FFF2-40B4-BE49-F238E27FC236}">
                <a16:creationId xmlns:a16="http://schemas.microsoft.com/office/drawing/2014/main" id="{A50F290E-0056-0FF9-F72E-04499A63F771}"/>
              </a:ext>
            </a:extLst>
          </p:cNvPr>
          <p:cNvSpPr txBox="1">
            <a:spLocks noChangeArrowheads="1"/>
          </p:cNvSpPr>
          <p:nvPr/>
        </p:nvSpPr>
        <p:spPr bwMode="auto">
          <a:xfrm>
            <a:off x="950913" y="6096000"/>
            <a:ext cx="7204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400" dirty="0"/>
              <a:t>SOURCE:  https://www.princeton.edu/~pkrugman/GATT.pdf</a:t>
            </a:r>
          </a:p>
        </p:txBody>
      </p:sp>
    </p:spTree>
    <p:extLst>
      <p:ext uri="{BB962C8B-B14F-4D97-AF65-F5344CB8AC3E}">
        <p14:creationId xmlns:p14="http://schemas.microsoft.com/office/powerpoint/2010/main" val="462411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5E73-9405-3C57-8917-560C97A4E38C}"/>
              </a:ext>
            </a:extLst>
          </p:cNvPr>
          <p:cNvSpPr>
            <a:spLocks noGrp="1"/>
          </p:cNvSpPr>
          <p:nvPr>
            <p:ph type="title"/>
          </p:nvPr>
        </p:nvSpPr>
        <p:spPr>
          <a:xfrm>
            <a:off x="457200" y="277813"/>
            <a:ext cx="8229600" cy="788987"/>
          </a:xfrm>
        </p:spPr>
        <p:txBody>
          <a:bodyPr/>
          <a:lstStyle/>
          <a:p>
            <a:pPr>
              <a:defRPr/>
            </a:pPr>
            <a:r>
              <a:rPr lang="en-US" sz="2800" dirty="0">
                <a:solidFill>
                  <a:schemeClr val="tx1"/>
                </a:solidFill>
              </a:rPr>
              <a:t>The Growth of World Trade</a:t>
            </a:r>
          </a:p>
        </p:txBody>
      </p:sp>
      <p:pic>
        <p:nvPicPr>
          <p:cNvPr id="112642" name="Content Placeholder 4">
            <a:extLst>
              <a:ext uri="{FF2B5EF4-FFF2-40B4-BE49-F238E27FC236}">
                <a16:creationId xmlns:a16="http://schemas.microsoft.com/office/drawing/2014/main" id="{1F09A5C7-EE82-6040-ADF1-DD6DF1D3A0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72966" y="1524000"/>
            <a:ext cx="8448841" cy="3962400"/>
          </a:xfrm>
          <a:solidFill>
            <a:schemeClr val="tx1"/>
          </a:solidFill>
        </p:spPr>
      </p:pic>
    </p:spTree>
    <p:extLst>
      <p:ext uri="{BB962C8B-B14F-4D97-AF65-F5344CB8AC3E}">
        <p14:creationId xmlns:p14="http://schemas.microsoft.com/office/powerpoint/2010/main" val="1071677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A8CF5-D686-1116-770D-5B84CD2EEDDB}"/>
              </a:ext>
            </a:extLst>
          </p:cNvPr>
          <p:cNvSpPr>
            <a:spLocks noGrp="1"/>
          </p:cNvSpPr>
          <p:nvPr>
            <p:ph type="title"/>
          </p:nvPr>
        </p:nvSpPr>
        <p:spPr/>
        <p:txBody>
          <a:bodyPr/>
          <a:lstStyle/>
          <a:p>
            <a:pPr>
              <a:defRPr/>
            </a:pPr>
            <a:endParaRPr lang="en-US" dirty="0"/>
          </a:p>
        </p:txBody>
      </p:sp>
      <p:pic>
        <p:nvPicPr>
          <p:cNvPr id="116738" name="Content Placeholder 3">
            <a:extLst>
              <a:ext uri="{FF2B5EF4-FFF2-40B4-BE49-F238E27FC236}">
                <a16:creationId xmlns:a16="http://schemas.microsoft.com/office/drawing/2014/main" id="{3AD9526D-1DF0-1392-EE48-F1A118D735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533400"/>
            <a:ext cx="8305800" cy="5407025"/>
          </a:xfrm>
        </p:spPr>
      </p:pic>
    </p:spTree>
    <p:extLst>
      <p:ext uri="{BB962C8B-B14F-4D97-AF65-F5344CB8AC3E}">
        <p14:creationId xmlns:p14="http://schemas.microsoft.com/office/powerpoint/2010/main" val="1540747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E9A9C-414C-BC25-67C7-1DC487B551A8}"/>
              </a:ext>
            </a:extLst>
          </p:cNvPr>
          <p:cNvSpPr>
            <a:spLocks noGrp="1"/>
          </p:cNvSpPr>
          <p:nvPr>
            <p:ph type="title"/>
          </p:nvPr>
        </p:nvSpPr>
        <p:spPr>
          <a:xfrm>
            <a:off x="457200" y="277813"/>
            <a:ext cx="8229600" cy="484187"/>
          </a:xfrm>
        </p:spPr>
        <p:txBody>
          <a:bodyPr/>
          <a:lstStyle/>
          <a:p>
            <a:pPr>
              <a:defRPr/>
            </a:pPr>
            <a:r>
              <a:rPr lang="en-US" sz="2800" dirty="0">
                <a:solidFill>
                  <a:schemeClr val="tx1"/>
                </a:solidFill>
              </a:rPr>
              <a:t>So how could all of this happen under anarchy?</a:t>
            </a:r>
          </a:p>
        </p:txBody>
      </p:sp>
      <p:pic>
        <p:nvPicPr>
          <p:cNvPr id="97282" name="Content Placeholder 4">
            <a:extLst>
              <a:ext uri="{FF2B5EF4-FFF2-40B4-BE49-F238E27FC236}">
                <a16:creationId xmlns:a16="http://schemas.microsoft.com/office/drawing/2014/main" id="{30FED7D6-A522-D2D9-7305-91207DC691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5838" y="1219200"/>
            <a:ext cx="7172325" cy="5062538"/>
          </a:xfrm>
        </p:spPr>
      </p:pic>
    </p:spTree>
    <p:extLst>
      <p:ext uri="{BB962C8B-B14F-4D97-AF65-F5344CB8AC3E}">
        <p14:creationId xmlns:p14="http://schemas.microsoft.com/office/powerpoint/2010/main" val="4006243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18D1D-8060-6F06-234C-61C947201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1FCBD-484F-7E75-EFE9-9BF0857E8296}"/>
              </a:ext>
            </a:extLst>
          </p:cNvPr>
          <p:cNvSpPr>
            <a:spLocks noGrp="1"/>
          </p:cNvSpPr>
          <p:nvPr>
            <p:ph type="title"/>
          </p:nvPr>
        </p:nvSpPr>
        <p:spPr>
          <a:xfrm>
            <a:off x="457200" y="277813"/>
            <a:ext cx="8229600" cy="484187"/>
          </a:xfrm>
        </p:spPr>
        <p:txBody>
          <a:bodyPr/>
          <a:lstStyle/>
          <a:p>
            <a:pPr>
              <a:defRPr/>
            </a:pPr>
            <a:r>
              <a:rPr lang="en-US" sz="2800" dirty="0">
                <a:solidFill>
                  <a:schemeClr val="tx1"/>
                </a:solidFill>
              </a:rPr>
              <a:t>Diplomacy, founded on the Neoliberal theory that </a:t>
            </a:r>
            <a:r>
              <a:rPr lang="en-US" sz="2800" i="1" u="sng" dirty="0">
                <a:solidFill>
                  <a:schemeClr val="tx1"/>
                </a:solidFill>
              </a:rPr>
              <a:t>IR</a:t>
            </a:r>
            <a:r>
              <a:rPr lang="en-US" sz="2800" u="sng" dirty="0">
                <a:solidFill>
                  <a:schemeClr val="tx1"/>
                </a:solidFill>
              </a:rPr>
              <a:t> </a:t>
            </a:r>
            <a:r>
              <a:rPr lang="en-US" sz="2800" i="1" u="sng" dirty="0">
                <a:solidFill>
                  <a:schemeClr val="tx1"/>
                </a:solidFill>
              </a:rPr>
              <a:t>Realists are wrong</a:t>
            </a:r>
          </a:p>
        </p:txBody>
      </p:sp>
      <p:pic>
        <p:nvPicPr>
          <p:cNvPr id="97282" name="Content Placeholder 4">
            <a:extLst>
              <a:ext uri="{FF2B5EF4-FFF2-40B4-BE49-F238E27FC236}">
                <a16:creationId xmlns:a16="http://schemas.microsoft.com/office/drawing/2014/main" id="{0003945F-5234-1DB9-ECE7-75C35B9EE3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5838" y="1219200"/>
            <a:ext cx="7172325" cy="5062538"/>
          </a:xfrm>
        </p:spPr>
      </p:pic>
    </p:spTree>
    <p:extLst>
      <p:ext uri="{BB962C8B-B14F-4D97-AF65-F5344CB8AC3E}">
        <p14:creationId xmlns:p14="http://schemas.microsoft.com/office/powerpoint/2010/main" val="3838452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a:extLst>
              <a:ext uri="{FF2B5EF4-FFF2-40B4-BE49-F238E27FC236}">
                <a16:creationId xmlns:a16="http://schemas.microsoft.com/office/drawing/2014/main" id="{C2ABB059-F88D-D9B2-3B18-0F46A22F60A8}"/>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1067011" name="Rectangle 3">
            <a:extLst>
              <a:ext uri="{FF2B5EF4-FFF2-40B4-BE49-F238E27FC236}">
                <a16:creationId xmlns:a16="http://schemas.microsoft.com/office/drawing/2014/main" id="{5C3CF2F5-48A0-0643-A00B-7CC0F13C1EAD}"/>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89091" name="Picture 4" descr="Levels of analysis">
            <a:extLst>
              <a:ext uri="{FF2B5EF4-FFF2-40B4-BE49-F238E27FC236}">
                <a16:creationId xmlns:a16="http://schemas.microsoft.com/office/drawing/2014/main" id="{9003786B-1430-5BE6-78C7-1E83BA6902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88"/>
            <a:ext cx="6856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2" name="TextBox 1">
            <a:extLst>
              <a:ext uri="{FF2B5EF4-FFF2-40B4-BE49-F238E27FC236}">
                <a16:creationId xmlns:a16="http://schemas.microsoft.com/office/drawing/2014/main" id="{76E71356-6CC6-9CD8-7328-14D319048008}"/>
              </a:ext>
            </a:extLst>
          </p:cNvPr>
          <p:cNvSpPr txBox="1">
            <a:spLocks noChangeArrowheads="1"/>
          </p:cNvSpPr>
          <p:nvPr/>
        </p:nvSpPr>
        <p:spPr bwMode="auto">
          <a:xfrm>
            <a:off x="3389313" y="873125"/>
            <a:ext cx="2362200"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b="1" dirty="0">
                <a:solidFill>
                  <a:schemeClr val="bg1"/>
                </a:solidFill>
              </a:rPr>
              <a:t>ANARCHY!</a:t>
            </a:r>
          </a:p>
        </p:txBody>
      </p:sp>
    </p:spTree>
    <p:extLst>
      <p:ext uri="{BB962C8B-B14F-4D97-AF65-F5344CB8AC3E}">
        <p14:creationId xmlns:p14="http://schemas.microsoft.com/office/powerpoint/2010/main" val="1309539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CD6F96C9-1D7F-32E4-4F00-ABD3A78111CA}"/>
              </a:ext>
            </a:extLst>
          </p:cNvPr>
          <p:cNvSpPr>
            <a:spLocks noGrp="1" noChangeArrowheads="1"/>
          </p:cNvSpPr>
          <p:nvPr>
            <p:ph type="title"/>
          </p:nvPr>
        </p:nvSpPr>
        <p:spPr/>
        <p:txBody>
          <a:bodyPr/>
          <a:lstStyle/>
          <a:p>
            <a:pPr eaLnBrk="1" hangingPunct="1">
              <a:defRPr/>
            </a:pPr>
            <a:r>
              <a:rPr lang="en-US" altLang="x-none" sz="3200" dirty="0">
                <a:solidFill>
                  <a:srgbClr val="FFFF00"/>
                </a:solidFill>
                <a:ea typeface="ＭＳ Ｐゴシック" charset="-128"/>
              </a:rPr>
              <a:t>Moravcsik</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Three Hard Core Assumptions</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of Liberal IR Theory</a:t>
            </a:r>
            <a:endParaRPr lang="en-US" altLang="x-none" sz="3200" dirty="0">
              <a:solidFill>
                <a:srgbClr val="FFFF00"/>
              </a:solidFill>
              <a:ea typeface="ＭＳ Ｐゴシック" charset="-128"/>
            </a:endParaRPr>
          </a:p>
        </p:txBody>
      </p:sp>
      <p:sp>
        <p:nvSpPr>
          <p:cNvPr id="382979" name="Rectangle 3">
            <a:extLst>
              <a:ext uri="{FF2B5EF4-FFF2-40B4-BE49-F238E27FC236}">
                <a16:creationId xmlns:a16="http://schemas.microsoft.com/office/drawing/2014/main" id="{DEAB402D-0EA7-2737-C1C1-548202ED876A}"/>
              </a:ext>
            </a:extLst>
          </p:cNvPr>
          <p:cNvSpPr>
            <a:spLocks noGrp="1" noChangeArrowheads="1"/>
          </p:cNvSpPr>
          <p:nvPr>
            <p:ph type="body" idx="1"/>
          </p:nvPr>
        </p:nvSpPr>
        <p:spPr/>
        <p:txBody>
          <a:bodyPr/>
          <a:lstStyle/>
          <a:p>
            <a:pPr marL="609600" indent="-609600" eaLnBrk="1" hangingPunct="1">
              <a:lnSpc>
                <a:spcPct val="90000"/>
              </a:lnSpc>
              <a:buFont typeface="Wingdings" charset="0"/>
              <a:buNone/>
              <a:defRPr/>
            </a:pPr>
            <a:endParaRPr lang="en-US" sz="2800" dirty="0"/>
          </a:p>
          <a:p>
            <a:pPr marL="609600" indent="-609600" eaLnBrk="1" hangingPunct="1">
              <a:lnSpc>
                <a:spcPct val="90000"/>
              </a:lnSpc>
              <a:buFont typeface="Wingdings" charset="0"/>
              <a:buNone/>
              <a:defRPr/>
            </a:pPr>
            <a:endParaRPr lang="en-US" sz="2800" dirty="0"/>
          </a:p>
          <a:p>
            <a:pPr marL="609600" indent="-609600" eaLnBrk="1" hangingPunct="1">
              <a:lnSpc>
                <a:spcPct val="90000"/>
              </a:lnSpc>
              <a:buFont typeface="Wingdings" charset="0"/>
              <a:buNone/>
              <a:defRPr/>
            </a:pP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1A8797DA-EFD3-117F-B283-AAC3AC552BA8}"/>
              </a:ext>
            </a:extLst>
          </p:cNvPr>
          <p:cNvSpPr>
            <a:spLocks noGrp="1" noChangeArrowheads="1"/>
          </p:cNvSpPr>
          <p:nvPr>
            <p:ph type="title"/>
          </p:nvPr>
        </p:nvSpPr>
        <p:spPr/>
        <p:txBody>
          <a:bodyPr/>
          <a:lstStyle/>
          <a:p>
            <a:pPr eaLnBrk="1" hangingPunct="1">
              <a:defRPr/>
            </a:pPr>
            <a:r>
              <a:rPr lang="en-US" altLang="x-none" sz="3200" dirty="0">
                <a:solidFill>
                  <a:srgbClr val="FFFF00"/>
                </a:solidFill>
                <a:ea typeface="ＭＳ Ｐゴシック" charset="-128"/>
              </a:rPr>
              <a:t>Moravcsik</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Three Hard Core Assumptions</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of Liberal IR Theory</a:t>
            </a:r>
            <a:endParaRPr lang="en-US" altLang="x-none" sz="3200" dirty="0">
              <a:solidFill>
                <a:srgbClr val="FFFF00"/>
              </a:solidFill>
              <a:ea typeface="ＭＳ Ｐゴシック" charset="-128"/>
            </a:endParaRPr>
          </a:p>
        </p:txBody>
      </p:sp>
      <p:sp>
        <p:nvSpPr>
          <p:cNvPr id="382979" name="Rectangle 3">
            <a:extLst>
              <a:ext uri="{FF2B5EF4-FFF2-40B4-BE49-F238E27FC236}">
                <a16:creationId xmlns:a16="http://schemas.microsoft.com/office/drawing/2014/main" id="{971BBCD7-109C-5A1C-3B38-4CD31FFD1291}"/>
              </a:ext>
            </a:extLst>
          </p:cNvPr>
          <p:cNvSpPr>
            <a:spLocks noGrp="1" noChangeArrowheads="1"/>
          </p:cNvSpPr>
          <p:nvPr>
            <p:ph type="body" idx="1"/>
          </p:nvPr>
        </p:nvSpPr>
        <p:spPr/>
        <p:txBody>
          <a:bodyPr/>
          <a:lstStyle/>
          <a:p>
            <a:pPr marL="609600" indent="-609600" eaLnBrk="1" hangingPunct="1">
              <a:lnSpc>
                <a:spcPct val="90000"/>
              </a:lnSpc>
              <a:buFont typeface="Wingdings" charset="0"/>
              <a:buNone/>
              <a:defRPr/>
            </a:pPr>
            <a:endParaRPr lang="en-US" sz="2800" dirty="0"/>
          </a:p>
          <a:p>
            <a:pPr marL="609600" indent="-609600" eaLnBrk="1" hangingPunct="1">
              <a:lnSpc>
                <a:spcPct val="90000"/>
              </a:lnSpc>
              <a:buFont typeface="Wingdings" charset="0"/>
              <a:buNone/>
              <a:defRPr/>
            </a:pPr>
            <a:r>
              <a:rPr lang="en-US" sz="2800" dirty="0"/>
              <a:t>1.	The fundamental actors in international politics are individuals and groups, not states.</a:t>
            </a:r>
          </a:p>
          <a:p>
            <a:pPr marL="609600" indent="-609600" eaLnBrk="1" hangingPunct="1">
              <a:lnSpc>
                <a:spcPct val="90000"/>
              </a:lnSpc>
              <a:buFont typeface="Wingdings" charset="0"/>
              <a:buNone/>
              <a:defRPr/>
            </a:pPr>
            <a:endParaRPr lang="en-US" sz="2800" dirty="0"/>
          </a:p>
          <a:p>
            <a:pPr marL="609600" indent="-609600" eaLnBrk="1" hangingPunct="1">
              <a:lnSpc>
                <a:spcPct val="90000"/>
              </a:lnSpc>
              <a:buFont typeface="Wingdings" charset="0"/>
              <a:buNone/>
              <a:defRPr/>
            </a:pP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6E3636F2-5719-33D4-3F67-4F9CB651344B}"/>
              </a:ext>
            </a:extLst>
          </p:cNvPr>
          <p:cNvSpPr>
            <a:spLocks noGrp="1" noChangeArrowheads="1"/>
          </p:cNvSpPr>
          <p:nvPr>
            <p:ph type="title"/>
          </p:nvPr>
        </p:nvSpPr>
        <p:spPr/>
        <p:txBody>
          <a:bodyPr/>
          <a:lstStyle/>
          <a:p>
            <a:pPr eaLnBrk="1" hangingPunct="1">
              <a:defRPr/>
            </a:pPr>
            <a:r>
              <a:rPr lang="en-US" altLang="x-none" sz="3200" dirty="0">
                <a:solidFill>
                  <a:srgbClr val="FFFF00"/>
                </a:solidFill>
                <a:ea typeface="ＭＳ Ｐゴシック" charset="-128"/>
              </a:rPr>
              <a:t>Moravcsik</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Three Hard Core Assumptions</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of Liberal IR Theory</a:t>
            </a:r>
            <a:endParaRPr lang="en-US" altLang="x-none" sz="3200" dirty="0">
              <a:solidFill>
                <a:srgbClr val="FFFF00"/>
              </a:solidFill>
              <a:ea typeface="ＭＳ Ｐゴシック" charset="-128"/>
            </a:endParaRPr>
          </a:p>
        </p:txBody>
      </p:sp>
      <p:sp>
        <p:nvSpPr>
          <p:cNvPr id="382979" name="Rectangle 3">
            <a:extLst>
              <a:ext uri="{FF2B5EF4-FFF2-40B4-BE49-F238E27FC236}">
                <a16:creationId xmlns:a16="http://schemas.microsoft.com/office/drawing/2014/main" id="{066554EF-E296-7638-91EE-B1DCC1545852}"/>
              </a:ext>
            </a:extLst>
          </p:cNvPr>
          <p:cNvSpPr>
            <a:spLocks noGrp="1" noChangeArrowheads="1"/>
          </p:cNvSpPr>
          <p:nvPr>
            <p:ph type="body" idx="1"/>
          </p:nvPr>
        </p:nvSpPr>
        <p:spPr/>
        <p:txBody>
          <a:bodyPr/>
          <a:lstStyle/>
          <a:p>
            <a:pPr marL="609600" indent="-609600" eaLnBrk="1" hangingPunct="1">
              <a:lnSpc>
                <a:spcPct val="90000"/>
              </a:lnSpc>
              <a:buFont typeface="Wingdings" charset="2"/>
              <a:buNone/>
              <a:defRPr/>
            </a:pPr>
            <a:endParaRPr lang="en-US" altLang="x-none" sz="2800" dirty="0">
              <a:ea typeface="ＭＳ Ｐゴシック" charset="-128"/>
            </a:endParaRPr>
          </a:p>
          <a:p>
            <a:pPr marL="609600" indent="-609600" eaLnBrk="1" hangingPunct="1">
              <a:lnSpc>
                <a:spcPct val="90000"/>
              </a:lnSpc>
              <a:buFont typeface="Wingdings" charset="2"/>
              <a:buNone/>
              <a:defRPr/>
            </a:pPr>
            <a:r>
              <a:rPr lang="en-US" altLang="x-none" sz="2800" dirty="0">
                <a:ea typeface="ＭＳ Ｐゴシック" charset="-128"/>
              </a:rPr>
              <a:t>1.	The fundamental actors in international politics are individuals and groups, not states.</a:t>
            </a:r>
          </a:p>
          <a:p>
            <a:pPr marL="609600" indent="-609600" eaLnBrk="1" hangingPunct="1">
              <a:lnSpc>
                <a:spcPct val="90000"/>
              </a:lnSpc>
              <a:buFont typeface="Wingdings" charset="2"/>
              <a:buNone/>
              <a:defRPr/>
            </a:pPr>
            <a:endParaRPr lang="en-US" altLang="x-none" sz="2800" dirty="0">
              <a:ea typeface="ＭＳ Ｐゴシック" charset="-128"/>
            </a:endParaRPr>
          </a:p>
          <a:p>
            <a:pPr marL="609600" indent="-609600" eaLnBrk="1" hangingPunct="1">
              <a:lnSpc>
                <a:spcPct val="90000"/>
              </a:lnSpc>
              <a:buFont typeface="Wingdings" charset="2"/>
              <a:buNone/>
              <a:defRPr/>
            </a:pPr>
            <a:r>
              <a:rPr lang="en-US" altLang="x-none" sz="2800" dirty="0">
                <a:ea typeface="ＭＳ Ｐゴシック" charset="-128"/>
              </a:rPr>
              <a:t>2.	States represent only a subset of domestic society, not a presumed </a:t>
            </a:r>
            <a:r>
              <a:rPr lang="ja-JP" altLang="en-US" sz="2800">
                <a:ea typeface="ＭＳ Ｐゴシック" charset="-128"/>
              </a:rPr>
              <a:t>“</a:t>
            </a:r>
            <a:r>
              <a:rPr lang="en-US" altLang="ja-JP" sz="2800" dirty="0">
                <a:ea typeface="ＭＳ Ｐゴシック" charset="-128"/>
              </a:rPr>
              <a:t>national interest.</a:t>
            </a:r>
            <a:r>
              <a:rPr lang="ja-JP" altLang="en-US" sz="2800">
                <a:ea typeface="ＭＳ Ｐゴシック" charset="-128"/>
              </a:rPr>
              <a:t>”</a:t>
            </a:r>
            <a:endParaRPr lang="en-US" altLang="ja-JP" sz="2800" dirty="0">
              <a:ea typeface="ＭＳ Ｐゴシック" charset="-128"/>
            </a:endParaRPr>
          </a:p>
          <a:p>
            <a:pPr marL="609600" indent="-609600" eaLnBrk="1" hangingPunct="1">
              <a:lnSpc>
                <a:spcPct val="90000"/>
              </a:lnSpc>
              <a:buFont typeface="Wingdings" charset="2"/>
              <a:buNone/>
              <a:defRPr/>
            </a:pPr>
            <a:endParaRPr lang="en-US" altLang="x-none" sz="2800" dirty="0">
              <a:ea typeface="ＭＳ Ｐゴシック" charset="-128"/>
            </a:endParaRPr>
          </a:p>
          <a:p>
            <a:pPr marL="609600" indent="-609600" eaLnBrk="1" hangingPunct="1">
              <a:lnSpc>
                <a:spcPct val="90000"/>
              </a:lnSpc>
              <a:buFont typeface="Wingdings" charset="2"/>
              <a:buNone/>
              <a:defRPr/>
            </a:pPr>
            <a:endParaRPr lang="en-US" altLang="x-none" sz="2800" dirty="0">
              <a:ea typeface="ＭＳ Ｐゴシック"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AB7AE846-F3B0-98B6-616B-2DD07A340DEE}"/>
              </a:ext>
            </a:extLst>
          </p:cNvPr>
          <p:cNvSpPr>
            <a:spLocks noGrp="1" noChangeArrowheads="1"/>
          </p:cNvSpPr>
          <p:nvPr>
            <p:ph type="title"/>
          </p:nvPr>
        </p:nvSpPr>
        <p:spPr/>
        <p:txBody>
          <a:bodyPr/>
          <a:lstStyle/>
          <a:p>
            <a:pPr eaLnBrk="1" hangingPunct="1">
              <a:defRPr/>
            </a:pPr>
            <a:r>
              <a:rPr lang="en-US" altLang="x-none" sz="3200" dirty="0">
                <a:solidFill>
                  <a:srgbClr val="FFFF00"/>
                </a:solidFill>
                <a:ea typeface="ＭＳ Ｐゴシック" charset="-128"/>
              </a:rPr>
              <a:t>Moravcsik</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Three Hard Core Assumptions</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of Liberal IR Theory</a:t>
            </a:r>
            <a:endParaRPr lang="en-US" altLang="x-none" sz="3200" dirty="0">
              <a:solidFill>
                <a:srgbClr val="FFFF00"/>
              </a:solidFill>
              <a:ea typeface="ＭＳ Ｐゴシック" charset="-128"/>
            </a:endParaRPr>
          </a:p>
        </p:txBody>
      </p:sp>
      <p:sp>
        <p:nvSpPr>
          <p:cNvPr id="382979" name="Rectangle 3">
            <a:extLst>
              <a:ext uri="{FF2B5EF4-FFF2-40B4-BE49-F238E27FC236}">
                <a16:creationId xmlns:a16="http://schemas.microsoft.com/office/drawing/2014/main" id="{E091A945-C002-2B66-455E-D4AFB5B00DEA}"/>
              </a:ext>
            </a:extLst>
          </p:cNvPr>
          <p:cNvSpPr>
            <a:spLocks noGrp="1" noChangeArrowheads="1"/>
          </p:cNvSpPr>
          <p:nvPr>
            <p:ph type="body" idx="1"/>
          </p:nvPr>
        </p:nvSpPr>
        <p:spPr/>
        <p:txBody>
          <a:bodyPr/>
          <a:lstStyle/>
          <a:p>
            <a:pPr marL="609600" indent="-609600" eaLnBrk="1" hangingPunct="1">
              <a:lnSpc>
                <a:spcPct val="90000"/>
              </a:lnSpc>
              <a:buFont typeface="Wingdings" charset="2"/>
              <a:buNone/>
              <a:defRPr/>
            </a:pPr>
            <a:endParaRPr lang="en-US" altLang="x-none" sz="2800" dirty="0">
              <a:ea typeface="ＭＳ Ｐゴシック" charset="-128"/>
            </a:endParaRPr>
          </a:p>
          <a:p>
            <a:pPr marL="609600" indent="-609600" eaLnBrk="1" hangingPunct="1">
              <a:lnSpc>
                <a:spcPct val="90000"/>
              </a:lnSpc>
              <a:buFont typeface="Wingdings" charset="2"/>
              <a:buNone/>
              <a:defRPr/>
            </a:pPr>
            <a:r>
              <a:rPr lang="en-US" altLang="x-none" sz="2800" dirty="0">
                <a:ea typeface="ＭＳ Ｐゴシック" charset="-128"/>
              </a:rPr>
              <a:t>1.	The fundamental actors in international politics are individuals and groups, not states.</a:t>
            </a:r>
          </a:p>
          <a:p>
            <a:pPr marL="609600" indent="-609600" eaLnBrk="1" hangingPunct="1">
              <a:lnSpc>
                <a:spcPct val="90000"/>
              </a:lnSpc>
              <a:buFont typeface="Wingdings" charset="2"/>
              <a:buNone/>
              <a:defRPr/>
            </a:pPr>
            <a:endParaRPr lang="en-US" altLang="x-none" sz="2800" dirty="0">
              <a:ea typeface="ＭＳ Ｐゴシック" charset="-128"/>
            </a:endParaRPr>
          </a:p>
          <a:p>
            <a:pPr marL="609600" indent="-609600" eaLnBrk="1" hangingPunct="1">
              <a:lnSpc>
                <a:spcPct val="90000"/>
              </a:lnSpc>
              <a:buFont typeface="Wingdings" charset="2"/>
              <a:buNone/>
              <a:defRPr/>
            </a:pPr>
            <a:r>
              <a:rPr lang="en-US" altLang="x-none" sz="2800" dirty="0">
                <a:ea typeface="ＭＳ Ｐゴシック" charset="-128"/>
              </a:rPr>
              <a:t>2.	States represent only a subset of domestic society, not a presumed </a:t>
            </a:r>
            <a:r>
              <a:rPr lang="ja-JP" altLang="en-US" sz="2800">
                <a:ea typeface="ＭＳ Ｐゴシック" charset="-128"/>
              </a:rPr>
              <a:t>“</a:t>
            </a:r>
            <a:r>
              <a:rPr lang="en-US" altLang="ja-JP" sz="2800" dirty="0">
                <a:ea typeface="ＭＳ Ｐゴシック" charset="-128"/>
              </a:rPr>
              <a:t>national interest.</a:t>
            </a:r>
            <a:r>
              <a:rPr lang="ja-JP" altLang="en-US" sz="2800">
                <a:ea typeface="ＭＳ Ｐゴシック" charset="-128"/>
              </a:rPr>
              <a:t>”</a:t>
            </a:r>
            <a:endParaRPr lang="en-US" altLang="ja-JP" sz="2800" dirty="0">
              <a:ea typeface="ＭＳ Ｐゴシック" charset="-128"/>
            </a:endParaRPr>
          </a:p>
          <a:p>
            <a:pPr marL="609600" indent="-609600" eaLnBrk="1" hangingPunct="1">
              <a:lnSpc>
                <a:spcPct val="90000"/>
              </a:lnSpc>
              <a:buFont typeface="Wingdings" charset="2"/>
              <a:buNone/>
              <a:defRPr/>
            </a:pPr>
            <a:endParaRPr lang="en-US" altLang="x-none" sz="2800" dirty="0">
              <a:ea typeface="ＭＳ Ｐゴシック" charset="-128"/>
            </a:endParaRPr>
          </a:p>
          <a:p>
            <a:pPr marL="609600" indent="-609600" eaLnBrk="1" hangingPunct="1">
              <a:lnSpc>
                <a:spcPct val="90000"/>
              </a:lnSpc>
              <a:buFont typeface="Wingdings" charset="2"/>
              <a:buNone/>
              <a:defRPr/>
            </a:pPr>
            <a:r>
              <a:rPr lang="en-US" altLang="x-none" sz="2800" dirty="0">
                <a:ea typeface="ＭＳ Ｐゴシック" charset="-128"/>
              </a:rPr>
              <a:t>3.	Combined societal pressures </a:t>
            </a:r>
            <a:r>
              <a:rPr lang="en-US" altLang="x-none" sz="2800" i="1" dirty="0">
                <a:ea typeface="ＭＳ Ｐゴシック" charset="-128"/>
              </a:rPr>
              <a:t>determine</a:t>
            </a:r>
            <a:r>
              <a:rPr lang="en-US" altLang="x-none" sz="2800" dirty="0">
                <a:ea typeface="ＭＳ Ｐゴシック" charset="-128"/>
              </a:rPr>
              <a:t> </a:t>
            </a:r>
            <a:r>
              <a:rPr lang="ja-JP" altLang="en-US" sz="2800">
                <a:ea typeface="ＭＳ Ｐゴシック" charset="-128"/>
              </a:rPr>
              <a:t>“</a:t>
            </a:r>
            <a:r>
              <a:rPr lang="en-US" altLang="ja-JP" sz="2800" dirty="0">
                <a:ea typeface="ＭＳ Ｐゴシック" charset="-128"/>
              </a:rPr>
              <a:t>state preferences,</a:t>
            </a:r>
            <a:r>
              <a:rPr lang="ja-JP" altLang="en-US" sz="2800">
                <a:ea typeface="ＭＳ Ｐゴシック" charset="-128"/>
              </a:rPr>
              <a:t>”</a:t>
            </a:r>
            <a:r>
              <a:rPr lang="en-US" altLang="ja-JP" sz="2800" dirty="0">
                <a:ea typeface="ＭＳ Ｐゴシック" charset="-128"/>
              </a:rPr>
              <a:t> which in turn shape the state’s international behavior.</a:t>
            </a:r>
            <a:endParaRPr lang="en-US" altLang="x-none" sz="2800" dirty="0">
              <a:ea typeface="ＭＳ Ｐゴシック"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D5FCE-6542-1CA0-0891-C62354F4FC53}"/>
              </a:ext>
            </a:extLst>
          </p:cNvPr>
          <p:cNvSpPr>
            <a:spLocks noGrp="1"/>
          </p:cNvSpPr>
          <p:nvPr>
            <p:ph type="title"/>
          </p:nvPr>
        </p:nvSpPr>
        <p:spPr>
          <a:xfrm>
            <a:off x="0" y="304800"/>
            <a:ext cx="9144000" cy="1139825"/>
          </a:xfrm>
        </p:spPr>
        <p:txBody>
          <a:bodyPr/>
          <a:lstStyle/>
          <a:p>
            <a:pPr eaLnBrk="1" hangingPunct="1">
              <a:defRPr/>
            </a:pPr>
            <a:r>
              <a:rPr lang="en-US" altLang="x-none" sz="2800" dirty="0">
                <a:solidFill>
                  <a:srgbClr val="FFFF00"/>
                </a:solidFill>
                <a:effectLst>
                  <a:outerShdw blurRad="38100" dist="38100" dir="2700000" algn="tl">
                    <a:srgbClr val="010199"/>
                  </a:outerShdw>
                </a:effectLst>
                <a:ea typeface="ＭＳ Ｐゴシック" charset="-128"/>
              </a:rPr>
              <a:t>Keohane and Nye</a:t>
            </a:r>
            <a:r>
              <a:rPr lang="ja-JP" altLang="en-US" sz="2800">
                <a:solidFill>
                  <a:srgbClr val="FFFF00"/>
                </a:solidFill>
                <a:effectLst>
                  <a:outerShdw blurRad="38100" dist="38100" dir="2700000" algn="tl">
                    <a:srgbClr val="010199"/>
                  </a:outerShdw>
                </a:effectLst>
                <a:ea typeface="ＭＳ Ｐゴシック" charset="-128"/>
              </a:rPr>
              <a:t>’</a:t>
            </a:r>
            <a:r>
              <a:rPr lang="en-US" altLang="ja-JP" sz="2800" dirty="0">
                <a:solidFill>
                  <a:srgbClr val="FFFF00"/>
                </a:solidFill>
                <a:effectLst>
                  <a:outerShdw blurRad="38100" dist="38100" dir="2700000" algn="tl">
                    <a:srgbClr val="010199"/>
                  </a:outerShdw>
                </a:effectLst>
                <a:ea typeface="ＭＳ Ｐゴシック" charset="-128"/>
              </a:rPr>
              <a:t>s </a:t>
            </a:r>
            <a:r>
              <a:rPr lang="ja-JP" altLang="en-US" sz="2800">
                <a:solidFill>
                  <a:srgbClr val="FFFF00"/>
                </a:solidFill>
                <a:effectLst>
                  <a:outerShdw blurRad="38100" dist="38100" dir="2700000" algn="tl">
                    <a:srgbClr val="010199"/>
                  </a:outerShdw>
                </a:effectLst>
                <a:ea typeface="ＭＳ Ｐゴシック" charset="-128"/>
              </a:rPr>
              <a:t>“</a:t>
            </a:r>
            <a:r>
              <a:rPr lang="en-US" altLang="ja-JP" sz="2800" dirty="0">
                <a:solidFill>
                  <a:srgbClr val="FFFF00"/>
                </a:solidFill>
                <a:effectLst>
                  <a:outerShdw blurRad="38100" dist="38100" dir="2700000" algn="tl">
                    <a:srgbClr val="010199"/>
                  </a:outerShdw>
                </a:effectLst>
                <a:ea typeface="ＭＳ Ｐゴシック" charset="-128"/>
              </a:rPr>
              <a:t>complex (policy) interdependence</a:t>
            </a:r>
            <a:r>
              <a:rPr lang="ja-JP" altLang="en-US" sz="2800">
                <a:solidFill>
                  <a:srgbClr val="FFFF00"/>
                </a:solidFill>
                <a:effectLst>
                  <a:outerShdw blurRad="38100" dist="38100" dir="2700000" algn="tl">
                    <a:srgbClr val="010199"/>
                  </a:outerShdw>
                </a:effectLst>
                <a:ea typeface="ＭＳ Ｐゴシック" charset="-128"/>
              </a:rPr>
              <a:t>”</a:t>
            </a:r>
            <a:r>
              <a:rPr lang="en-US" altLang="ja-JP" sz="2800" dirty="0">
                <a:solidFill>
                  <a:srgbClr val="FFFF00"/>
                </a:solidFill>
                <a:effectLst>
                  <a:outerShdw blurRad="38100" dist="38100" dir="2700000" algn="tl">
                    <a:srgbClr val="010199"/>
                  </a:outerShdw>
                </a:effectLst>
                <a:ea typeface="ＭＳ Ｐゴシック" charset="-128"/>
              </a:rPr>
              <a:t> finally convinced </a:t>
            </a:r>
            <a:r>
              <a:rPr lang="en-US" altLang="ja-JP" sz="2800" i="1" dirty="0">
                <a:solidFill>
                  <a:srgbClr val="FFFF00"/>
                </a:solidFill>
                <a:effectLst>
                  <a:outerShdw blurRad="38100" dist="38100" dir="2700000" algn="tl">
                    <a:srgbClr val="010199"/>
                  </a:outerShdw>
                </a:effectLst>
                <a:ea typeface="ＭＳ Ｐゴシック" charset="-128"/>
              </a:rPr>
              <a:t>most </a:t>
            </a:r>
            <a:r>
              <a:rPr lang="en-US" altLang="ja-JP" sz="2800" dirty="0">
                <a:solidFill>
                  <a:srgbClr val="FFFF00"/>
                </a:solidFill>
                <a:effectLst>
                  <a:outerShdw blurRad="38100" dist="38100" dir="2700000" algn="tl">
                    <a:srgbClr val="010199"/>
                  </a:outerShdw>
                </a:effectLst>
                <a:ea typeface="ＭＳ Ｐゴシック" charset="-128"/>
              </a:rPr>
              <a:t>Neorealists they had to engage the Neoliberals and show respect</a:t>
            </a:r>
            <a:endParaRPr lang="en-US" altLang="x-none" sz="2800" dirty="0">
              <a:solidFill>
                <a:srgbClr val="FFFF00"/>
              </a:solidFill>
              <a:effectLst>
                <a:outerShdw blurRad="38100" dist="38100" dir="2700000" algn="tl">
                  <a:srgbClr val="010199"/>
                </a:outerShdw>
              </a:effectLst>
              <a:ea typeface="ＭＳ Ｐゴシック" charset="-128"/>
            </a:endParaRPr>
          </a:p>
        </p:txBody>
      </p:sp>
      <p:sp>
        <p:nvSpPr>
          <p:cNvPr id="3" name="Content Placeholder 2">
            <a:extLst>
              <a:ext uri="{FF2B5EF4-FFF2-40B4-BE49-F238E27FC236}">
                <a16:creationId xmlns:a16="http://schemas.microsoft.com/office/drawing/2014/main" id="{6512101B-7D5E-18B3-48DE-8CF231067F4C}"/>
              </a:ext>
            </a:extLst>
          </p:cNvPr>
          <p:cNvSpPr>
            <a:spLocks noGrp="1"/>
          </p:cNvSpPr>
          <p:nvPr>
            <p:ph idx="1"/>
          </p:nvPr>
        </p:nvSpPr>
        <p:spPr>
          <a:xfrm>
            <a:off x="4114800" y="1600200"/>
            <a:ext cx="4572000" cy="4530725"/>
          </a:xfrm>
        </p:spPr>
        <p:txBody>
          <a:bodyPr/>
          <a:lstStyle/>
          <a:p>
            <a:pPr eaLnBrk="1" hangingPunct="1">
              <a:buFont typeface="Wingdings" charset="2"/>
              <a:buNone/>
              <a:defRPr/>
            </a:pPr>
            <a:endParaRPr lang="en-US" altLang="x-none" dirty="0">
              <a:ea typeface="ＭＳ Ｐゴシック" charset="-128"/>
            </a:endParaRPr>
          </a:p>
          <a:p>
            <a:pPr eaLnBrk="1" hangingPunct="1">
              <a:buFont typeface="Wingdings" charset="2"/>
              <a:buNone/>
              <a:defRPr/>
            </a:pPr>
            <a:endParaRPr lang="en-US" altLang="x-none" sz="1200" dirty="0">
              <a:ea typeface="ＭＳ Ｐゴシック" charset="-128"/>
            </a:endParaRPr>
          </a:p>
          <a:p>
            <a:pPr eaLnBrk="1" hangingPunct="1">
              <a:buFont typeface="Wingdings" charset="2"/>
              <a:buNone/>
              <a:defRPr/>
            </a:pPr>
            <a:r>
              <a:rPr lang="en-US" altLang="x-none" sz="2000" dirty="0">
                <a:ea typeface="ＭＳ Ｐゴシック" charset="-128"/>
              </a:rPr>
              <a:t>	</a:t>
            </a:r>
            <a:r>
              <a:rPr lang="ja-JP" altLang="en-US" sz="2400">
                <a:ea typeface="ＭＳ Ｐゴシック" charset="-128"/>
              </a:rPr>
              <a:t>“</a:t>
            </a:r>
            <a:r>
              <a:rPr lang="en-US" altLang="ja-JP" sz="2400" dirty="0">
                <a:ea typeface="ＭＳ Ｐゴシック" charset="-128"/>
              </a:rPr>
              <a:t>Complex</a:t>
            </a:r>
            <a:r>
              <a:rPr lang="ja-JP" altLang="en-US" sz="2400">
                <a:ea typeface="ＭＳ Ｐゴシック" charset="-128"/>
              </a:rPr>
              <a:t>”</a:t>
            </a:r>
            <a:r>
              <a:rPr lang="en-US" altLang="ja-JP" sz="2400" dirty="0">
                <a:ea typeface="ＭＳ Ｐゴシック" charset="-128"/>
              </a:rPr>
              <a:t> or </a:t>
            </a:r>
            <a:r>
              <a:rPr lang="ja-JP" altLang="en-US" sz="2400">
                <a:ea typeface="ＭＳ Ｐゴシック" charset="-128"/>
              </a:rPr>
              <a:t>“</a:t>
            </a:r>
            <a:r>
              <a:rPr lang="en-US" altLang="ja-JP" sz="2400" dirty="0">
                <a:ea typeface="ＭＳ Ｐゴシック" charset="-128"/>
              </a:rPr>
              <a:t>policy</a:t>
            </a:r>
            <a:r>
              <a:rPr lang="ja-JP" altLang="en-US" sz="2400">
                <a:ea typeface="ＭＳ Ｐゴシック" charset="-128"/>
              </a:rPr>
              <a:t>”</a:t>
            </a:r>
            <a:r>
              <a:rPr lang="en-US" altLang="ja-JP" sz="2400" dirty="0">
                <a:ea typeface="ＭＳ Ｐゴシック" charset="-128"/>
              </a:rPr>
              <a:t> interdependence refers to the set of costs and benefits created for specific groups in Country B when </a:t>
            </a:r>
            <a:r>
              <a:rPr lang="en-US" altLang="ja-JP" sz="2400" dirty="0">
                <a:solidFill>
                  <a:srgbClr val="92D050"/>
                </a:solidFill>
                <a:ea typeface="ＭＳ Ｐゴシック" charset="-128"/>
              </a:rPr>
              <a:t>dominant</a:t>
            </a:r>
            <a:r>
              <a:rPr lang="en-US" altLang="ja-JP" sz="2400" dirty="0">
                <a:ea typeface="ＭＳ Ｐゴシック" charset="-128"/>
              </a:rPr>
              <a:t> groups in Country A try to realize their preferences and values in the international realm by influencing their state</a:t>
            </a:r>
            <a:r>
              <a:rPr lang="ja-JP" altLang="en-US" sz="2400">
                <a:ea typeface="ＭＳ Ｐゴシック" charset="-128"/>
              </a:rPr>
              <a:t>’</a:t>
            </a:r>
            <a:r>
              <a:rPr lang="en-US" altLang="ja-JP" sz="2400" dirty="0">
                <a:ea typeface="ＭＳ Ｐゴシック" charset="-128"/>
              </a:rPr>
              <a:t>s foreign policy. (</a:t>
            </a:r>
            <a:r>
              <a:rPr lang="en-US" altLang="ja-JP" sz="2400" dirty="0">
                <a:highlight>
                  <a:srgbClr val="0000FF"/>
                </a:highlight>
                <a:ea typeface="ＭＳ Ｐゴシック" charset="-128"/>
              </a:rPr>
              <a:t>1977</a:t>
            </a:r>
            <a:r>
              <a:rPr lang="en-US" altLang="ja-JP" sz="2400" dirty="0">
                <a:ea typeface="ＭＳ Ｐゴシック" charset="-128"/>
              </a:rPr>
              <a:t>)</a:t>
            </a:r>
            <a:endParaRPr lang="en-US" altLang="x-none" sz="2400" dirty="0">
              <a:ea typeface="ＭＳ Ｐゴシック" charset="-128"/>
            </a:endParaRPr>
          </a:p>
        </p:txBody>
      </p:sp>
      <p:pic>
        <p:nvPicPr>
          <p:cNvPr id="93187" name="Picture 6" descr="Keohane 2.jpg">
            <a:extLst>
              <a:ext uri="{FF2B5EF4-FFF2-40B4-BE49-F238E27FC236}">
                <a16:creationId xmlns:a16="http://schemas.microsoft.com/office/drawing/2014/main" id="{2A95336B-76D4-1B7D-36C5-774FBC86E4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14600"/>
            <a:ext cx="160655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Picture 7" descr="Nye, Joseph.bmp">
            <a:extLst>
              <a:ext uri="{FF2B5EF4-FFF2-40B4-BE49-F238E27FC236}">
                <a16:creationId xmlns:a16="http://schemas.microsoft.com/office/drawing/2014/main" id="{96600FD0-CA72-F0F9-1CA8-E61011CC6F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514600"/>
            <a:ext cx="163195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a:extLst>
              <a:ext uri="{FF2B5EF4-FFF2-40B4-BE49-F238E27FC236}">
                <a16:creationId xmlns:a16="http://schemas.microsoft.com/office/drawing/2014/main" id="{50D3491D-E136-9C76-8006-CCC31EAD0D83}"/>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390147" name="Rectangle 3">
            <a:extLst>
              <a:ext uri="{FF2B5EF4-FFF2-40B4-BE49-F238E27FC236}">
                <a16:creationId xmlns:a16="http://schemas.microsoft.com/office/drawing/2014/main" id="{582650E1-870F-C1B6-FDF7-24FD89F75E8C}"/>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94211" name="Picture 4" descr="Policy Interdependence">
            <a:extLst>
              <a:ext uri="{FF2B5EF4-FFF2-40B4-BE49-F238E27FC236}">
                <a16:creationId xmlns:a16="http://schemas.microsoft.com/office/drawing/2014/main" id="{9BF66902-78C6-CE38-5F6B-D660714667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71438"/>
            <a:ext cx="5703888" cy="678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C8D28-D7C9-5EB3-3183-951191731897}"/>
              </a:ext>
            </a:extLst>
          </p:cNvPr>
          <p:cNvSpPr>
            <a:spLocks noGrp="1"/>
          </p:cNvSpPr>
          <p:nvPr>
            <p:ph type="title"/>
          </p:nvPr>
        </p:nvSpPr>
        <p:spPr>
          <a:xfrm>
            <a:off x="457200" y="0"/>
            <a:ext cx="8229600" cy="1066800"/>
          </a:xfrm>
        </p:spPr>
        <p:txBody>
          <a:bodyPr/>
          <a:lstStyle/>
          <a:p>
            <a:pPr>
              <a:defRPr/>
            </a:pPr>
            <a:r>
              <a:rPr lang="en-US" altLang="x-none" sz="2800" dirty="0">
                <a:solidFill>
                  <a:srgbClr val="FFFFFF"/>
                </a:solidFill>
                <a:effectLst>
                  <a:outerShdw blurRad="38100" dist="38100" dir="2700000" algn="tl">
                    <a:srgbClr val="010199"/>
                  </a:outerShdw>
                </a:effectLst>
                <a:ea typeface="ＭＳ Ｐゴシック" charset="-128"/>
              </a:rPr>
              <a:t>Neorealist Kenneth Waltz doesn’t budge…</a:t>
            </a:r>
          </a:p>
        </p:txBody>
      </p:sp>
      <p:pic>
        <p:nvPicPr>
          <p:cNvPr id="96258" name="Picture 2" descr="C:\Users\Dan Lynch\AppData\Local\Microsoft\Windows\Temporary Internet Files\Low\Content.IE5\6DXXL154\P1010022[1].jpg">
            <a:extLst>
              <a:ext uri="{FF2B5EF4-FFF2-40B4-BE49-F238E27FC236}">
                <a16:creationId xmlns:a16="http://schemas.microsoft.com/office/drawing/2014/main" id="{8A60762E-4D61-D8A4-39CA-2FD5A08122BE}"/>
              </a:ext>
            </a:extLst>
          </p:cNvPr>
          <p:cNvPicPr>
            <a:picLocks noGrp="1" noChangeAspect="1" noChangeArrowheads="1"/>
          </p:cNvPicPr>
          <p:nvPr>
            <p:ph idx="1"/>
          </p:nvPr>
        </p:nvPicPr>
        <p:blipFill>
          <a:blip r:embed="rId2">
            <a:lum bright="8000" contrast="24000"/>
            <a:extLst>
              <a:ext uri="{28A0092B-C50C-407E-A947-70E740481C1C}">
                <a14:useLocalDpi xmlns:a14="http://schemas.microsoft.com/office/drawing/2010/main" val="0"/>
              </a:ext>
            </a:extLst>
          </a:blip>
          <a:srcRect/>
          <a:stretch>
            <a:fillRect/>
          </a:stretch>
        </p:blipFill>
        <p:spPr>
          <a:xfrm>
            <a:off x="990600" y="1219200"/>
            <a:ext cx="7070725" cy="5303838"/>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209C0-D72C-EFAA-6FDA-BAC6A7C5B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DC803-3386-6153-167A-B621A410237B}"/>
              </a:ext>
            </a:extLst>
          </p:cNvPr>
          <p:cNvSpPr>
            <a:spLocks noGrp="1"/>
          </p:cNvSpPr>
          <p:nvPr>
            <p:ph type="title"/>
          </p:nvPr>
        </p:nvSpPr>
        <p:spPr>
          <a:xfrm>
            <a:off x="457200" y="277813"/>
            <a:ext cx="8229600" cy="788987"/>
          </a:xfrm>
        </p:spPr>
        <p:txBody>
          <a:bodyPr/>
          <a:lstStyle/>
          <a:p>
            <a:pPr>
              <a:defRPr/>
            </a:pPr>
            <a:r>
              <a:rPr lang="en-US" sz="2800" dirty="0">
                <a:solidFill>
                  <a:schemeClr val="tx1"/>
                </a:solidFill>
              </a:rPr>
              <a:t>But this has to be explained…</a:t>
            </a:r>
          </a:p>
        </p:txBody>
      </p:sp>
      <p:pic>
        <p:nvPicPr>
          <p:cNvPr id="112642" name="Content Placeholder 4">
            <a:extLst>
              <a:ext uri="{FF2B5EF4-FFF2-40B4-BE49-F238E27FC236}">
                <a16:creationId xmlns:a16="http://schemas.microsoft.com/office/drawing/2014/main" id="{88BFF8BD-712F-B834-1C0E-F9467DF053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72966" y="1524000"/>
            <a:ext cx="8448841" cy="3962400"/>
          </a:xfrm>
          <a:solidFill>
            <a:schemeClr val="tx1"/>
          </a:solidFill>
        </p:spPr>
      </p:pic>
    </p:spTree>
    <p:extLst>
      <p:ext uri="{BB962C8B-B14F-4D97-AF65-F5344CB8AC3E}">
        <p14:creationId xmlns:p14="http://schemas.microsoft.com/office/powerpoint/2010/main" val="1800676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51F47-FD21-BB02-72FE-34EDD2DE8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2E700-6EEF-FC46-72E7-9FF47E2AB58B}"/>
              </a:ext>
            </a:extLst>
          </p:cNvPr>
          <p:cNvSpPr>
            <a:spLocks noGrp="1"/>
          </p:cNvSpPr>
          <p:nvPr>
            <p:ph type="title"/>
          </p:nvPr>
        </p:nvSpPr>
        <p:spPr>
          <a:xfrm>
            <a:off x="457200" y="277813"/>
            <a:ext cx="8229600" cy="788987"/>
          </a:xfrm>
        </p:spPr>
        <p:txBody>
          <a:bodyPr/>
          <a:lstStyle/>
          <a:p>
            <a:pPr>
              <a:defRPr/>
            </a:pPr>
            <a:r>
              <a:rPr lang="en-US" sz="2800" dirty="0">
                <a:solidFill>
                  <a:schemeClr val="tx1"/>
                </a:solidFill>
              </a:rPr>
              <a:t>…because it’s IMPORTANT</a:t>
            </a:r>
            <a:endParaRPr lang="en-US" sz="2800" dirty="0"/>
          </a:p>
        </p:txBody>
      </p:sp>
      <p:pic>
        <p:nvPicPr>
          <p:cNvPr id="116738" name="Content Placeholder 3">
            <a:extLst>
              <a:ext uri="{FF2B5EF4-FFF2-40B4-BE49-F238E27FC236}">
                <a16:creationId xmlns:a16="http://schemas.microsoft.com/office/drawing/2014/main" id="{EA424841-253C-865C-BB52-4295A1D194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76300" y="1371600"/>
            <a:ext cx="7391400" cy="4811756"/>
          </a:xfrm>
        </p:spPr>
      </p:pic>
    </p:spTree>
    <p:extLst>
      <p:ext uri="{BB962C8B-B14F-4D97-AF65-F5344CB8AC3E}">
        <p14:creationId xmlns:p14="http://schemas.microsoft.com/office/powerpoint/2010/main" val="4249589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29" name="Title 1">
            <a:extLst>
              <a:ext uri="{FF2B5EF4-FFF2-40B4-BE49-F238E27FC236}">
                <a16:creationId xmlns:a16="http://schemas.microsoft.com/office/drawing/2014/main" id="{0B93AF2D-C301-E1A2-2016-2AACD0E994B2}"/>
              </a:ext>
            </a:extLst>
          </p:cNvPr>
          <p:cNvPicPr>
            <a:picLocks noGrp="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0" y="0"/>
            <a:ext cx="9144000" cy="1346200"/>
          </a:xfrm>
        </p:spPr>
      </p:pic>
      <p:pic>
        <p:nvPicPr>
          <p:cNvPr id="99330" name="Content Placeholder 3" descr="Stephen Krasner 2.jpg">
            <a:extLst>
              <a:ext uri="{FF2B5EF4-FFF2-40B4-BE49-F238E27FC236}">
                <a16:creationId xmlns:a16="http://schemas.microsoft.com/office/drawing/2014/main" id="{67FD7252-22DA-7B06-67D0-DB649DF8970F}"/>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0" y="1600200"/>
            <a:ext cx="6884988" cy="4572000"/>
          </a:xfrm>
        </p:spPr>
      </p:pic>
      <p:pic>
        <p:nvPicPr>
          <p:cNvPr id="99331" name="Content Placeholder 3" descr="International Regimes (book cover).jpg">
            <a:extLst>
              <a:ext uri="{FF2B5EF4-FFF2-40B4-BE49-F238E27FC236}">
                <a16:creationId xmlns:a16="http://schemas.microsoft.com/office/drawing/2014/main" id="{A6987F77-6221-F3A6-F79E-796B6A9460D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207250" y="3154363"/>
            <a:ext cx="1936750"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E74F5-4376-D271-FD6F-1D7C23849B3E}"/>
              </a:ext>
            </a:extLst>
          </p:cNvPr>
          <p:cNvSpPr>
            <a:spLocks noGrp="1"/>
          </p:cNvSpPr>
          <p:nvPr>
            <p:ph type="title"/>
          </p:nvPr>
        </p:nvSpPr>
        <p:spPr>
          <a:xfrm>
            <a:off x="0" y="0"/>
            <a:ext cx="9144000" cy="838200"/>
          </a:xfrm>
        </p:spPr>
        <p:txBody>
          <a:bodyPr/>
          <a:lstStyle/>
          <a:p>
            <a:pPr>
              <a:defRPr/>
            </a:pPr>
            <a:r>
              <a:rPr lang="en-US" altLang="x-none" sz="3200" b="1" dirty="0">
                <a:solidFill>
                  <a:srgbClr val="FFFFFF"/>
                </a:solidFill>
                <a:effectLst>
                  <a:outerShdw blurRad="38100" dist="38100" dir="2700000" algn="tl">
                    <a:srgbClr val="010199"/>
                  </a:outerShdw>
                </a:effectLst>
                <a:ea typeface="ＭＳ Ｐゴシック" charset="-128"/>
              </a:rPr>
              <a:t>Krasner of Stanford’</a:t>
            </a:r>
            <a:r>
              <a:rPr lang="en-US" altLang="ja-JP" sz="3200" b="1" dirty="0">
                <a:solidFill>
                  <a:srgbClr val="FFFFFF"/>
                </a:solidFill>
                <a:effectLst>
                  <a:outerShdw blurRad="38100" dist="38100" dir="2700000" algn="tl">
                    <a:srgbClr val="010199"/>
                  </a:outerShdw>
                </a:effectLst>
                <a:ea typeface="ＭＳ Ｐゴシック" charset="-128"/>
              </a:rPr>
              <a:t>s</a:t>
            </a:r>
            <a:br>
              <a:rPr lang="en-US" altLang="ja-JP" sz="3200" b="1" dirty="0">
                <a:solidFill>
                  <a:srgbClr val="FFFFFF"/>
                </a:solidFill>
                <a:effectLst>
                  <a:outerShdw blurRad="38100" dist="38100" dir="2700000" algn="tl">
                    <a:srgbClr val="010199"/>
                  </a:outerShdw>
                </a:effectLst>
                <a:ea typeface="ＭＳ Ｐゴシック" charset="-128"/>
              </a:rPr>
            </a:br>
            <a:r>
              <a:rPr lang="en-US" altLang="ja-JP" sz="3200" b="1" dirty="0">
                <a:solidFill>
                  <a:srgbClr val="FFFFFF"/>
                </a:solidFill>
                <a:effectLst>
                  <a:outerShdw blurRad="38100" dist="38100" dir="2700000" algn="tl">
                    <a:srgbClr val="010199"/>
                  </a:outerShdw>
                </a:effectLst>
                <a:ea typeface="ＭＳ Ｐゴシック" charset="-128"/>
              </a:rPr>
              <a:t>“International Regimes</a:t>
            </a:r>
            <a:r>
              <a:rPr lang="ja-JP" altLang="en-US" sz="3200" b="1">
                <a:solidFill>
                  <a:srgbClr val="FFFFFF"/>
                </a:solidFill>
                <a:effectLst>
                  <a:outerShdw blurRad="38100" dist="38100" dir="2700000" algn="tl">
                    <a:srgbClr val="010199"/>
                  </a:outerShdw>
                </a:effectLst>
                <a:ea typeface="ＭＳ Ｐゴシック" charset="-128"/>
              </a:rPr>
              <a:t>”</a:t>
            </a:r>
            <a:endParaRPr lang="en-US" altLang="x-none" sz="3200" b="1" dirty="0">
              <a:solidFill>
                <a:srgbClr val="FFFFFF"/>
              </a:solidFill>
              <a:effectLst>
                <a:outerShdw blurRad="38100" dist="38100" dir="2700000" algn="tl">
                  <a:srgbClr val="010199"/>
                </a:outerShdw>
              </a:effectLst>
              <a:ea typeface="ＭＳ Ｐゴシック" charset="-128"/>
            </a:endParaRPr>
          </a:p>
        </p:txBody>
      </p:sp>
      <p:pic>
        <p:nvPicPr>
          <p:cNvPr id="101378" name="Content Placeholder 3" descr="Stephen Krasner 2.jpg">
            <a:extLst>
              <a:ext uri="{FF2B5EF4-FFF2-40B4-BE49-F238E27FC236}">
                <a16:creationId xmlns:a16="http://schemas.microsoft.com/office/drawing/2014/main" id="{655656A1-9199-30C8-FAFC-156B1B56EB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143000"/>
            <a:ext cx="4957763" cy="3292475"/>
          </a:xfrm>
        </p:spPr>
      </p:pic>
      <p:sp>
        <p:nvSpPr>
          <p:cNvPr id="101379" name="TextBox 4">
            <a:extLst>
              <a:ext uri="{FF2B5EF4-FFF2-40B4-BE49-F238E27FC236}">
                <a16:creationId xmlns:a16="http://schemas.microsoft.com/office/drawing/2014/main" id="{8FC7F90A-03FB-3844-6394-A4BDD61FFEE3}"/>
              </a:ext>
            </a:extLst>
          </p:cNvPr>
          <p:cNvSpPr txBox="1">
            <a:spLocks noChangeArrowheads="1"/>
          </p:cNvSpPr>
          <p:nvPr/>
        </p:nvSpPr>
        <p:spPr bwMode="auto">
          <a:xfrm>
            <a:off x="228600" y="4800600"/>
            <a:ext cx="8686800"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80000"/>
              </a:lnSpc>
              <a:spcBef>
                <a:spcPct val="0"/>
              </a:spcBef>
              <a:buClrTx/>
              <a:buSzTx/>
              <a:buFontTx/>
              <a:buNone/>
            </a:pPr>
            <a:r>
              <a:rPr lang="en-US" altLang="en-US" sz="2800" dirty="0"/>
              <a:t>International regimes are </a:t>
            </a:r>
            <a:r>
              <a:rPr lang="en-US" altLang="en-US" sz="2800" i="1" dirty="0"/>
              <a:t>principles, norms, rules, and decision-making procedures </a:t>
            </a:r>
            <a:r>
              <a:rPr lang="en-US" altLang="en-US" sz="2800" dirty="0"/>
              <a:t>around which state expectations converge in a given issue-area.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11CEC-4CF5-4CC1-F3BD-C40D19241A4D}"/>
              </a:ext>
            </a:extLst>
          </p:cNvPr>
          <p:cNvSpPr>
            <a:spLocks noGrp="1"/>
          </p:cNvSpPr>
          <p:nvPr>
            <p:ph type="title"/>
          </p:nvPr>
        </p:nvSpPr>
        <p:spPr>
          <a:xfrm>
            <a:off x="0" y="0"/>
            <a:ext cx="9144000" cy="838200"/>
          </a:xfrm>
        </p:spPr>
        <p:txBody>
          <a:bodyPr/>
          <a:lstStyle/>
          <a:p>
            <a:pPr>
              <a:defRPr/>
            </a:pPr>
            <a:r>
              <a:rPr lang="en-US" altLang="x-none" sz="3200" b="1" dirty="0">
                <a:solidFill>
                  <a:srgbClr val="FFFFFF"/>
                </a:solidFill>
                <a:effectLst>
                  <a:outerShdw blurRad="38100" dist="38100" dir="2700000" algn="tl">
                    <a:srgbClr val="010199"/>
                  </a:outerShdw>
                </a:effectLst>
                <a:ea typeface="ＭＳ Ｐゴシック" charset="-128"/>
              </a:rPr>
              <a:t>Krasner of Stanford’</a:t>
            </a:r>
            <a:r>
              <a:rPr lang="en-US" altLang="ja-JP" sz="3200" b="1" dirty="0">
                <a:solidFill>
                  <a:srgbClr val="FFFFFF"/>
                </a:solidFill>
                <a:effectLst>
                  <a:outerShdw blurRad="38100" dist="38100" dir="2700000" algn="tl">
                    <a:srgbClr val="010199"/>
                  </a:outerShdw>
                </a:effectLst>
                <a:ea typeface="ＭＳ Ｐゴシック" charset="-128"/>
              </a:rPr>
              <a:t>s</a:t>
            </a:r>
            <a:br>
              <a:rPr lang="en-US" altLang="ja-JP" sz="3200" b="1" dirty="0">
                <a:solidFill>
                  <a:srgbClr val="FFFFFF"/>
                </a:solidFill>
                <a:effectLst>
                  <a:outerShdw blurRad="38100" dist="38100" dir="2700000" algn="tl">
                    <a:srgbClr val="010199"/>
                  </a:outerShdw>
                </a:effectLst>
                <a:ea typeface="ＭＳ Ｐゴシック" charset="-128"/>
              </a:rPr>
            </a:br>
            <a:r>
              <a:rPr lang="en-US" altLang="ja-JP" sz="3200" b="1" dirty="0">
                <a:solidFill>
                  <a:srgbClr val="FFFFFF"/>
                </a:solidFill>
                <a:effectLst>
                  <a:outerShdw blurRad="38100" dist="38100" dir="2700000" algn="tl">
                    <a:srgbClr val="010199"/>
                  </a:outerShdw>
                </a:effectLst>
                <a:ea typeface="ＭＳ Ｐゴシック" charset="-128"/>
              </a:rPr>
              <a:t>“International Regimes</a:t>
            </a:r>
            <a:r>
              <a:rPr lang="ja-JP" altLang="en-US" sz="3200" b="1">
                <a:solidFill>
                  <a:srgbClr val="FFFFFF"/>
                </a:solidFill>
                <a:effectLst>
                  <a:outerShdw blurRad="38100" dist="38100" dir="2700000" algn="tl">
                    <a:srgbClr val="010199"/>
                  </a:outerShdw>
                </a:effectLst>
                <a:ea typeface="ＭＳ Ｐゴシック" charset="-128"/>
              </a:rPr>
              <a:t>”</a:t>
            </a:r>
            <a:endParaRPr lang="en-US" altLang="x-none" sz="3200" dirty="0">
              <a:ea typeface="ＭＳ Ｐゴシック" charset="-128"/>
            </a:endParaRPr>
          </a:p>
        </p:txBody>
      </p:sp>
      <p:pic>
        <p:nvPicPr>
          <p:cNvPr id="102402" name="Content Placeholder 3" descr="Stephen Krasner 2.jpg">
            <a:extLst>
              <a:ext uri="{FF2B5EF4-FFF2-40B4-BE49-F238E27FC236}">
                <a16:creationId xmlns:a16="http://schemas.microsoft.com/office/drawing/2014/main" id="{527905AB-A3A7-1008-063D-A6D2F692EB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143000"/>
            <a:ext cx="4957763" cy="3292475"/>
          </a:xfrm>
        </p:spPr>
      </p:pic>
      <p:sp>
        <p:nvSpPr>
          <p:cNvPr id="102403" name="TextBox 4">
            <a:extLst>
              <a:ext uri="{FF2B5EF4-FFF2-40B4-BE49-F238E27FC236}">
                <a16:creationId xmlns:a16="http://schemas.microsoft.com/office/drawing/2014/main" id="{C7A6B95A-A3C4-AE10-A118-A93BC2587E1A}"/>
              </a:ext>
            </a:extLst>
          </p:cNvPr>
          <p:cNvSpPr txBox="1">
            <a:spLocks noChangeArrowheads="1"/>
          </p:cNvSpPr>
          <p:nvPr/>
        </p:nvSpPr>
        <p:spPr bwMode="auto">
          <a:xfrm>
            <a:off x="228600" y="4800600"/>
            <a:ext cx="8686800"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80000"/>
              </a:lnSpc>
              <a:spcBef>
                <a:spcPct val="0"/>
              </a:spcBef>
              <a:buClrTx/>
              <a:buSzTx/>
              <a:buFontTx/>
              <a:buNone/>
            </a:pPr>
            <a:r>
              <a:rPr lang="en-US" altLang="en-US" sz="2800" dirty="0"/>
              <a:t>Regimes are more enduring than mere </a:t>
            </a:r>
            <a:r>
              <a:rPr lang="en-US" altLang="en-US" sz="2800" i="1" dirty="0"/>
              <a:t>temporary arrangements </a:t>
            </a:r>
            <a:r>
              <a:rPr lang="en-US" altLang="en-US" sz="2800" dirty="0"/>
              <a:t>that change with every shift in power or interests. </a:t>
            </a:r>
            <a:endParaRPr lang="en-US" altLang="en-US" sz="2800" i="1" dirty="0">
              <a:solidFill>
                <a:srgbClr val="FFFF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4835-6096-5868-2C9A-0A10A71F9211}"/>
              </a:ext>
            </a:extLst>
          </p:cNvPr>
          <p:cNvSpPr>
            <a:spLocks noGrp="1"/>
          </p:cNvSpPr>
          <p:nvPr>
            <p:ph type="title"/>
          </p:nvPr>
        </p:nvSpPr>
        <p:spPr>
          <a:xfrm>
            <a:off x="0" y="0"/>
            <a:ext cx="9144000" cy="838200"/>
          </a:xfrm>
        </p:spPr>
        <p:txBody>
          <a:bodyPr/>
          <a:lstStyle/>
          <a:p>
            <a:pPr>
              <a:defRPr/>
            </a:pPr>
            <a:r>
              <a:rPr lang="en-US" altLang="x-none" sz="3200" b="1" dirty="0">
                <a:solidFill>
                  <a:srgbClr val="FFFFFF"/>
                </a:solidFill>
                <a:effectLst>
                  <a:outerShdw blurRad="38100" dist="38100" dir="2700000" algn="tl">
                    <a:srgbClr val="010199"/>
                  </a:outerShdw>
                </a:effectLst>
                <a:ea typeface="ＭＳ Ｐゴシック" charset="-128"/>
              </a:rPr>
              <a:t>Krasner of Stanford’</a:t>
            </a:r>
            <a:r>
              <a:rPr lang="en-US" altLang="ja-JP" sz="3200" b="1" dirty="0">
                <a:solidFill>
                  <a:srgbClr val="FFFFFF"/>
                </a:solidFill>
                <a:effectLst>
                  <a:outerShdw blurRad="38100" dist="38100" dir="2700000" algn="tl">
                    <a:srgbClr val="010199"/>
                  </a:outerShdw>
                </a:effectLst>
                <a:ea typeface="ＭＳ Ｐゴシック" charset="-128"/>
              </a:rPr>
              <a:t>s</a:t>
            </a:r>
            <a:br>
              <a:rPr lang="en-US" altLang="ja-JP" sz="3200" b="1" dirty="0">
                <a:solidFill>
                  <a:srgbClr val="FFFFFF"/>
                </a:solidFill>
                <a:effectLst>
                  <a:outerShdw blurRad="38100" dist="38100" dir="2700000" algn="tl">
                    <a:srgbClr val="010199"/>
                  </a:outerShdw>
                </a:effectLst>
                <a:ea typeface="ＭＳ Ｐゴシック" charset="-128"/>
              </a:rPr>
            </a:br>
            <a:r>
              <a:rPr lang="en-US" altLang="ja-JP" sz="3200" b="1" dirty="0">
                <a:solidFill>
                  <a:srgbClr val="FFFFFF"/>
                </a:solidFill>
                <a:effectLst>
                  <a:outerShdw blurRad="38100" dist="38100" dir="2700000" algn="tl">
                    <a:srgbClr val="010199"/>
                  </a:outerShdw>
                </a:effectLst>
                <a:ea typeface="ＭＳ Ｐゴシック" charset="-128"/>
              </a:rPr>
              <a:t>“International Regimes</a:t>
            </a:r>
            <a:r>
              <a:rPr lang="ja-JP" altLang="en-US" sz="3200" b="1">
                <a:solidFill>
                  <a:srgbClr val="FFFFFF"/>
                </a:solidFill>
                <a:effectLst>
                  <a:outerShdw blurRad="38100" dist="38100" dir="2700000" algn="tl">
                    <a:srgbClr val="010199"/>
                  </a:outerShdw>
                </a:effectLst>
                <a:ea typeface="ＭＳ Ｐゴシック" charset="-128"/>
              </a:rPr>
              <a:t>”</a:t>
            </a:r>
            <a:endParaRPr lang="en-US" altLang="x-none" sz="3200" dirty="0">
              <a:ea typeface="ＭＳ Ｐゴシック" charset="-128"/>
            </a:endParaRPr>
          </a:p>
        </p:txBody>
      </p:sp>
      <p:pic>
        <p:nvPicPr>
          <p:cNvPr id="103426" name="Content Placeholder 3" descr="Stephen Krasner 2.jpg">
            <a:extLst>
              <a:ext uri="{FF2B5EF4-FFF2-40B4-BE49-F238E27FC236}">
                <a16:creationId xmlns:a16="http://schemas.microsoft.com/office/drawing/2014/main" id="{0F101288-7198-0B44-0895-B9336C9451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143000"/>
            <a:ext cx="4957763" cy="3292475"/>
          </a:xfrm>
        </p:spPr>
      </p:pic>
      <p:sp>
        <p:nvSpPr>
          <p:cNvPr id="103427" name="TextBox 4">
            <a:extLst>
              <a:ext uri="{FF2B5EF4-FFF2-40B4-BE49-F238E27FC236}">
                <a16:creationId xmlns:a16="http://schemas.microsoft.com/office/drawing/2014/main" id="{2C723633-F232-22E8-399E-02CD38CC10FB}"/>
              </a:ext>
            </a:extLst>
          </p:cNvPr>
          <p:cNvSpPr txBox="1">
            <a:spLocks noChangeArrowheads="1"/>
          </p:cNvSpPr>
          <p:nvPr/>
        </p:nvSpPr>
        <p:spPr bwMode="auto">
          <a:xfrm>
            <a:off x="228600" y="4800600"/>
            <a:ext cx="8686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80000"/>
              </a:lnSpc>
              <a:spcBef>
                <a:spcPct val="0"/>
              </a:spcBef>
              <a:buClrTx/>
              <a:buSzTx/>
              <a:buFontTx/>
              <a:buNone/>
            </a:pPr>
            <a:r>
              <a:rPr lang="en-US" altLang="en-US" sz="2800" dirty="0"/>
              <a:t>Regimes are more enduring than mere </a:t>
            </a:r>
            <a:r>
              <a:rPr lang="en-US" altLang="en-US" sz="2800" i="1" dirty="0"/>
              <a:t>temporary arrangements </a:t>
            </a:r>
            <a:r>
              <a:rPr lang="en-US" altLang="en-US" sz="2800" dirty="0"/>
              <a:t>that change with every shift in power or interests.  </a:t>
            </a:r>
            <a:r>
              <a:rPr lang="en-US" altLang="en-US" sz="2800" i="1" dirty="0">
                <a:solidFill>
                  <a:srgbClr val="FFFF00"/>
                </a:solidFill>
              </a:rPr>
              <a:t>So how does this mark Krasner off as not quite your traditional Realist?</a:t>
            </a:r>
          </a:p>
          <a:p>
            <a:pPr eaLnBrk="1" hangingPunct="1">
              <a:lnSpc>
                <a:spcPct val="80000"/>
              </a:lnSpc>
              <a:spcBef>
                <a:spcPct val="0"/>
              </a:spcBef>
              <a:buClrTx/>
              <a:buSzTx/>
              <a:buFontTx/>
              <a:buNone/>
            </a:pPr>
            <a:endParaRPr lang="en-US" altLang="en-US" sz="1600" dirty="0">
              <a:solidFill>
                <a:srgbClr val="FFFF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C9BB4-D73B-2F0E-9B64-8B55EBC6E59D}"/>
              </a:ext>
            </a:extLst>
          </p:cNvPr>
          <p:cNvSpPr>
            <a:spLocks noGrp="1"/>
          </p:cNvSpPr>
          <p:nvPr>
            <p:ph type="title"/>
          </p:nvPr>
        </p:nvSpPr>
        <p:spPr>
          <a:xfrm>
            <a:off x="0" y="0"/>
            <a:ext cx="9144000" cy="838200"/>
          </a:xfrm>
        </p:spPr>
        <p:txBody>
          <a:bodyPr/>
          <a:lstStyle/>
          <a:p>
            <a:pPr>
              <a:defRPr/>
            </a:pPr>
            <a:r>
              <a:rPr lang="en-US" altLang="x-none" sz="3200" b="1" dirty="0">
                <a:solidFill>
                  <a:srgbClr val="FFFFFF"/>
                </a:solidFill>
                <a:effectLst>
                  <a:outerShdw blurRad="38100" dist="38100" dir="2700000" algn="tl">
                    <a:srgbClr val="010199"/>
                  </a:outerShdw>
                </a:effectLst>
                <a:ea typeface="ＭＳ Ｐゴシック" charset="-128"/>
              </a:rPr>
              <a:t>Krasner of Stanford’</a:t>
            </a:r>
            <a:r>
              <a:rPr lang="en-US" altLang="ja-JP" sz="3200" b="1" dirty="0">
                <a:solidFill>
                  <a:srgbClr val="FFFFFF"/>
                </a:solidFill>
                <a:effectLst>
                  <a:outerShdw blurRad="38100" dist="38100" dir="2700000" algn="tl">
                    <a:srgbClr val="010199"/>
                  </a:outerShdw>
                </a:effectLst>
                <a:ea typeface="ＭＳ Ｐゴシック" charset="-128"/>
              </a:rPr>
              <a:t>s</a:t>
            </a:r>
            <a:br>
              <a:rPr lang="en-US" altLang="ja-JP" sz="3200" b="1" dirty="0">
                <a:solidFill>
                  <a:srgbClr val="FFFFFF"/>
                </a:solidFill>
                <a:effectLst>
                  <a:outerShdw blurRad="38100" dist="38100" dir="2700000" algn="tl">
                    <a:srgbClr val="010199"/>
                  </a:outerShdw>
                </a:effectLst>
                <a:ea typeface="ＭＳ Ｐゴシック" charset="-128"/>
              </a:rPr>
            </a:br>
            <a:r>
              <a:rPr lang="en-US" altLang="ja-JP" sz="3200" b="1" dirty="0">
                <a:solidFill>
                  <a:srgbClr val="FFFFFF"/>
                </a:solidFill>
                <a:effectLst>
                  <a:outerShdw blurRad="38100" dist="38100" dir="2700000" algn="tl">
                    <a:srgbClr val="010199"/>
                  </a:outerShdw>
                </a:effectLst>
                <a:ea typeface="ＭＳ Ｐゴシック" charset="-128"/>
              </a:rPr>
              <a:t>“International Regimes</a:t>
            </a:r>
            <a:r>
              <a:rPr lang="ja-JP" altLang="en-US" sz="3200" b="1">
                <a:solidFill>
                  <a:srgbClr val="FFFFFF"/>
                </a:solidFill>
                <a:effectLst>
                  <a:outerShdw blurRad="38100" dist="38100" dir="2700000" algn="tl">
                    <a:srgbClr val="010199"/>
                  </a:outerShdw>
                </a:effectLst>
                <a:ea typeface="ＭＳ Ｐゴシック" charset="-128"/>
              </a:rPr>
              <a:t>”</a:t>
            </a:r>
            <a:endParaRPr lang="en-US" altLang="x-none" sz="3200" dirty="0">
              <a:ea typeface="ＭＳ Ｐゴシック" charset="-128"/>
            </a:endParaRPr>
          </a:p>
        </p:txBody>
      </p:sp>
      <p:pic>
        <p:nvPicPr>
          <p:cNvPr id="104450" name="Content Placeholder 3" descr="Stephen Krasner 2.jpg">
            <a:extLst>
              <a:ext uri="{FF2B5EF4-FFF2-40B4-BE49-F238E27FC236}">
                <a16:creationId xmlns:a16="http://schemas.microsoft.com/office/drawing/2014/main" id="{CD4C9F6D-A210-88F6-C4C9-71A00003CD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143000"/>
            <a:ext cx="4957763" cy="3292475"/>
          </a:xfrm>
        </p:spPr>
      </p:pic>
      <p:sp>
        <p:nvSpPr>
          <p:cNvPr id="104451" name="TextBox 4">
            <a:extLst>
              <a:ext uri="{FF2B5EF4-FFF2-40B4-BE49-F238E27FC236}">
                <a16:creationId xmlns:a16="http://schemas.microsoft.com/office/drawing/2014/main" id="{1F09614B-CF91-CBD2-88BA-E35FBF07803F}"/>
              </a:ext>
            </a:extLst>
          </p:cNvPr>
          <p:cNvSpPr txBox="1">
            <a:spLocks noChangeArrowheads="1"/>
          </p:cNvSpPr>
          <p:nvPr/>
        </p:nvSpPr>
        <p:spPr bwMode="auto">
          <a:xfrm>
            <a:off x="228600" y="4800600"/>
            <a:ext cx="8686800"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80000"/>
              </a:lnSpc>
              <a:spcBef>
                <a:spcPct val="0"/>
              </a:spcBef>
              <a:buClrTx/>
              <a:buSzTx/>
              <a:buFontTx/>
              <a:buNone/>
            </a:pPr>
            <a:r>
              <a:rPr lang="en-US" altLang="en-US" sz="2800" dirty="0"/>
              <a:t>Regimes are more enduring than mere </a:t>
            </a:r>
            <a:r>
              <a:rPr lang="en-US" altLang="en-US" sz="2800" i="1" dirty="0"/>
              <a:t>temporary arrangements </a:t>
            </a:r>
            <a:r>
              <a:rPr lang="en-US" altLang="en-US" sz="2800" dirty="0"/>
              <a:t>that change with every shift in power or interests.  </a:t>
            </a:r>
            <a:r>
              <a:rPr lang="en-US" altLang="en-US" sz="2800" i="1" dirty="0">
                <a:solidFill>
                  <a:srgbClr val="FFFF00"/>
                </a:solidFill>
              </a:rPr>
              <a:t>So how does this mark Krasner off as not quite your traditional Realist?</a:t>
            </a:r>
          </a:p>
          <a:p>
            <a:pPr eaLnBrk="1" hangingPunct="1">
              <a:lnSpc>
                <a:spcPct val="80000"/>
              </a:lnSpc>
              <a:spcBef>
                <a:spcPct val="0"/>
              </a:spcBef>
              <a:buClrTx/>
              <a:buSzTx/>
              <a:buFontTx/>
              <a:buNone/>
            </a:pPr>
            <a:endParaRPr lang="en-US" altLang="en-US" sz="1600" dirty="0">
              <a:solidFill>
                <a:srgbClr val="FFFF00"/>
              </a:solidFill>
            </a:endParaRPr>
          </a:p>
          <a:p>
            <a:pPr eaLnBrk="1" hangingPunct="1">
              <a:lnSpc>
                <a:spcPct val="80000"/>
              </a:lnSpc>
              <a:spcBef>
                <a:spcPct val="0"/>
              </a:spcBef>
              <a:buClrTx/>
              <a:buSzTx/>
              <a:buFontTx/>
              <a:buNone/>
            </a:pPr>
            <a:r>
              <a:rPr lang="en-US" altLang="en-US" sz="2800" dirty="0">
                <a:solidFill>
                  <a:srgbClr val="FFFF00"/>
                </a:solidFill>
                <a:highlight>
                  <a:srgbClr val="0000FF"/>
                </a:highlight>
              </a:rPr>
              <a:t>STATES ARE CONSTRAINED.  ANARCHY IS LESS!</a:t>
            </a:r>
            <a:endParaRPr lang="en-US" altLang="en-US" sz="2800" i="1" dirty="0">
              <a:solidFill>
                <a:srgbClr val="FFFF00"/>
              </a:solidFill>
              <a:highlight>
                <a:srgbClr val="0000FF"/>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5D70-6427-80DF-95AE-A42BA19B5E70}"/>
              </a:ext>
            </a:extLst>
          </p:cNvPr>
          <p:cNvSpPr>
            <a:spLocks noGrp="1"/>
          </p:cNvSpPr>
          <p:nvPr>
            <p:ph type="title"/>
          </p:nvPr>
        </p:nvSpPr>
        <p:spPr>
          <a:xfrm>
            <a:off x="457200" y="277813"/>
            <a:ext cx="8229600" cy="636587"/>
          </a:xfrm>
        </p:spPr>
        <p:txBody>
          <a:bodyPr/>
          <a:lstStyle/>
          <a:p>
            <a:r>
              <a:rPr lang="en-US" sz="2800" dirty="0">
                <a:solidFill>
                  <a:schemeClr val="tx1"/>
                </a:solidFill>
              </a:rPr>
              <a:t>Influential Regimes of the 21</a:t>
            </a:r>
            <a:r>
              <a:rPr lang="en-US" sz="2800" baseline="30000" dirty="0">
                <a:solidFill>
                  <a:schemeClr val="tx1"/>
                </a:solidFill>
              </a:rPr>
              <a:t>st</a:t>
            </a:r>
            <a:r>
              <a:rPr lang="en-US" sz="2800" dirty="0">
                <a:solidFill>
                  <a:schemeClr val="tx1"/>
                </a:solidFill>
              </a:rPr>
              <a:t> Century (1 of 2)</a:t>
            </a:r>
          </a:p>
        </p:txBody>
      </p:sp>
      <p:sp>
        <p:nvSpPr>
          <p:cNvPr id="3" name="Content Placeholder 2">
            <a:extLst>
              <a:ext uri="{FF2B5EF4-FFF2-40B4-BE49-F238E27FC236}">
                <a16:creationId xmlns:a16="http://schemas.microsoft.com/office/drawing/2014/main" id="{AC2B3767-5893-D335-A20A-B98D33974BF9}"/>
              </a:ext>
            </a:extLst>
          </p:cNvPr>
          <p:cNvSpPr>
            <a:spLocks noGrp="1"/>
          </p:cNvSpPr>
          <p:nvPr>
            <p:ph idx="1"/>
          </p:nvPr>
        </p:nvSpPr>
        <p:spPr/>
        <p:txBody>
          <a:bodyPr/>
          <a:lstStyle/>
          <a:p>
            <a:pPr marL="0" indent="0">
              <a:buNone/>
            </a:pPr>
            <a:r>
              <a:rPr lang="en-US" sz="1800" u="sng" dirty="0">
                <a:highlight>
                  <a:srgbClr val="008000"/>
                </a:highlight>
              </a:rPr>
              <a:t>World Trade Organization (WTO</a:t>
            </a:r>
            <a:r>
              <a:rPr lang="en-US" sz="1800" dirty="0">
                <a:highlight>
                  <a:srgbClr val="008000"/>
                </a:highlight>
              </a:rPr>
              <a:t>):  </a:t>
            </a:r>
            <a:r>
              <a:rPr lang="en-US" sz="1800" dirty="0"/>
              <a:t>The cornerstone regime providing rules and dispute settlement for over 98% of global trade.</a:t>
            </a:r>
          </a:p>
          <a:p>
            <a:pPr marL="0" indent="0">
              <a:buNone/>
            </a:pPr>
            <a:endParaRPr lang="en-US" sz="1800" dirty="0"/>
          </a:p>
          <a:p>
            <a:pPr marL="0" indent="0">
              <a:buNone/>
            </a:pPr>
            <a:r>
              <a:rPr lang="en-US" sz="1800" u="sng" dirty="0">
                <a:highlight>
                  <a:srgbClr val="0000FF"/>
                </a:highlight>
              </a:rPr>
              <a:t>Paris Agreement (UNFCCC</a:t>
            </a:r>
            <a:r>
              <a:rPr lang="en-US" sz="1800" dirty="0">
                <a:highlight>
                  <a:srgbClr val="0000FF"/>
                </a:highlight>
              </a:rPr>
              <a:t>):  </a:t>
            </a:r>
            <a:r>
              <a:rPr lang="en-US" sz="1800" dirty="0"/>
              <a:t>The principal global regime to combat climate change by having nations set their own emission reduction targets.</a:t>
            </a:r>
          </a:p>
          <a:p>
            <a:pPr marL="0" indent="0">
              <a:buNone/>
            </a:pPr>
            <a:endParaRPr lang="en-US" sz="1800" dirty="0"/>
          </a:p>
          <a:p>
            <a:pPr marL="0" indent="0">
              <a:buNone/>
            </a:pPr>
            <a:r>
              <a:rPr lang="en-US" sz="1800" u="sng" dirty="0">
                <a:highlight>
                  <a:srgbClr val="800000"/>
                </a:highlight>
              </a:rPr>
              <a:t>Nuclear Non-Proliferation Treaty (NPT</a:t>
            </a:r>
            <a:r>
              <a:rPr lang="en-US" sz="1800" dirty="0">
                <a:highlight>
                  <a:srgbClr val="800000"/>
                </a:highlight>
              </a:rPr>
              <a:t>):  </a:t>
            </a:r>
            <a:r>
              <a:rPr lang="en-US" sz="1800" dirty="0"/>
              <a:t>The critical security regime aimed at preventing the spread of nuclear weapons and promoting disarmament.</a:t>
            </a:r>
          </a:p>
          <a:p>
            <a:pPr marL="0" indent="0">
              <a:buNone/>
            </a:pPr>
            <a:endParaRPr lang="en-US" sz="1800" dirty="0"/>
          </a:p>
          <a:p>
            <a:pPr marL="0" indent="0">
              <a:buNone/>
            </a:pPr>
            <a:r>
              <a:rPr lang="en-US" sz="1800" u="sng" dirty="0">
                <a:highlight>
                  <a:srgbClr val="008080"/>
                </a:highlight>
              </a:rPr>
              <a:t>International Monetary Fund (IMF</a:t>
            </a:r>
            <a:r>
              <a:rPr lang="en-US" sz="1800" dirty="0">
                <a:highlight>
                  <a:srgbClr val="008080"/>
                </a:highlight>
              </a:rPr>
              <a:t>): </a:t>
            </a:r>
            <a:r>
              <a:rPr lang="en-US" sz="1800" dirty="0"/>
              <a:t>The world's lender of last resort, providing emergency loans and surveillance to ensure global financial stability.</a:t>
            </a:r>
          </a:p>
          <a:p>
            <a:pPr marL="0" indent="0">
              <a:buNone/>
            </a:pPr>
            <a:endParaRPr lang="en-US" sz="1800" dirty="0"/>
          </a:p>
          <a:p>
            <a:pPr marL="0" indent="0">
              <a:buNone/>
            </a:pPr>
            <a:r>
              <a:rPr lang="en-US" sz="1800" u="sng" dirty="0">
                <a:highlight>
                  <a:srgbClr val="800080"/>
                </a:highlight>
              </a:rPr>
              <a:t>International Criminal Court (ICC</a:t>
            </a:r>
            <a:r>
              <a:rPr lang="en-US" sz="1800" dirty="0">
                <a:highlight>
                  <a:srgbClr val="800080"/>
                </a:highlight>
              </a:rPr>
              <a:t>):</a:t>
            </a:r>
            <a:r>
              <a:rPr lang="en-US" sz="1800" dirty="0"/>
              <a:t> The permanent court that prosecutes individuals for genocide, war crimes, and crimes against humanity.</a:t>
            </a:r>
          </a:p>
        </p:txBody>
      </p:sp>
    </p:spTree>
    <p:extLst>
      <p:ext uri="{BB962C8B-B14F-4D97-AF65-F5344CB8AC3E}">
        <p14:creationId xmlns:p14="http://schemas.microsoft.com/office/powerpoint/2010/main" val="1531884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6C95B-14E0-0AF2-C971-DB48D2AA2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9F505-ED2A-D95C-2FB7-68427DAC76A5}"/>
              </a:ext>
            </a:extLst>
          </p:cNvPr>
          <p:cNvSpPr>
            <a:spLocks noGrp="1"/>
          </p:cNvSpPr>
          <p:nvPr>
            <p:ph type="title"/>
          </p:nvPr>
        </p:nvSpPr>
        <p:spPr>
          <a:xfrm>
            <a:off x="457200" y="277813"/>
            <a:ext cx="8229600" cy="636587"/>
          </a:xfrm>
        </p:spPr>
        <p:txBody>
          <a:bodyPr/>
          <a:lstStyle/>
          <a:p>
            <a:r>
              <a:rPr lang="en-US" sz="2800" dirty="0">
                <a:solidFill>
                  <a:schemeClr val="tx1"/>
                </a:solidFill>
              </a:rPr>
              <a:t>Influential Regimes of the 21</a:t>
            </a:r>
            <a:r>
              <a:rPr lang="en-US" sz="2800" baseline="30000" dirty="0">
                <a:solidFill>
                  <a:schemeClr val="tx1"/>
                </a:solidFill>
              </a:rPr>
              <a:t>st</a:t>
            </a:r>
            <a:r>
              <a:rPr lang="en-US" sz="2800" dirty="0">
                <a:solidFill>
                  <a:schemeClr val="tx1"/>
                </a:solidFill>
              </a:rPr>
              <a:t> Century (2 of 2)</a:t>
            </a:r>
          </a:p>
        </p:txBody>
      </p:sp>
      <p:sp>
        <p:nvSpPr>
          <p:cNvPr id="3" name="Content Placeholder 2">
            <a:extLst>
              <a:ext uri="{FF2B5EF4-FFF2-40B4-BE49-F238E27FC236}">
                <a16:creationId xmlns:a16="http://schemas.microsoft.com/office/drawing/2014/main" id="{A75E3C17-8B35-382A-FD26-999829813483}"/>
              </a:ext>
            </a:extLst>
          </p:cNvPr>
          <p:cNvSpPr>
            <a:spLocks noGrp="1"/>
          </p:cNvSpPr>
          <p:nvPr>
            <p:ph idx="1"/>
          </p:nvPr>
        </p:nvSpPr>
        <p:spPr/>
        <p:txBody>
          <a:bodyPr/>
          <a:lstStyle/>
          <a:p>
            <a:pPr marL="0" indent="0">
              <a:buNone/>
            </a:pPr>
            <a:r>
              <a:rPr lang="en-US" sz="1800" u="sng" dirty="0">
                <a:highlight>
                  <a:srgbClr val="008000"/>
                </a:highlight>
              </a:rPr>
              <a:t>The G20 (Group of Twenty)</a:t>
            </a:r>
            <a:r>
              <a:rPr lang="en-US" sz="1800" dirty="0">
                <a:highlight>
                  <a:srgbClr val="008000"/>
                </a:highlight>
              </a:rPr>
              <a:t>:  </a:t>
            </a:r>
            <a:r>
              <a:rPr lang="en-US" sz="1800" dirty="0"/>
              <a:t>The primary forum for the world's largest economies to coordinate policy on major global economic issues.</a:t>
            </a:r>
          </a:p>
          <a:p>
            <a:pPr marL="0" indent="0">
              <a:buNone/>
            </a:pPr>
            <a:endParaRPr lang="en-US" sz="1800" dirty="0"/>
          </a:p>
          <a:p>
            <a:pPr marL="0" indent="0">
              <a:buNone/>
            </a:pPr>
            <a:r>
              <a:rPr lang="en-US" sz="1800" u="sng" dirty="0">
                <a:highlight>
                  <a:srgbClr val="0000FF"/>
                </a:highlight>
              </a:rPr>
              <a:t>The Basel Accords (Basel III)</a:t>
            </a:r>
            <a:r>
              <a:rPr lang="en-US" sz="1800" dirty="0">
                <a:highlight>
                  <a:srgbClr val="0000FF"/>
                </a:highlight>
              </a:rPr>
              <a:t>: </a:t>
            </a:r>
            <a:r>
              <a:rPr lang="en-US" sz="1800" dirty="0"/>
              <a:t> The regime that sets global standards for banking regulation to ensure the stability of the international financial system.</a:t>
            </a:r>
          </a:p>
          <a:p>
            <a:pPr marL="0" indent="0">
              <a:buNone/>
            </a:pPr>
            <a:endParaRPr lang="en-US" sz="1800" dirty="0"/>
          </a:p>
          <a:p>
            <a:pPr marL="0" indent="0">
              <a:buNone/>
            </a:pPr>
            <a:r>
              <a:rPr lang="en-US" sz="1800" u="sng" dirty="0">
                <a:highlight>
                  <a:srgbClr val="800000"/>
                </a:highlight>
              </a:rPr>
              <a:t>The Kimberley Process (KPCS</a:t>
            </a:r>
            <a:r>
              <a:rPr lang="en-US" sz="1800" dirty="0">
                <a:highlight>
                  <a:srgbClr val="800000"/>
                </a:highlight>
              </a:rPr>
              <a:t>):  </a:t>
            </a:r>
            <a:r>
              <a:rPr lang="en-US" sz="1800" dirty="0"/>
              <a:t>A certification scheme designed to stop the trade of "conflict diamonds" used to fund civil wars.</a:t>
            </a:r>
          </a:p>
          <a:p>
            <a:pPr marL="0" indent="0">
              <a:buNone/>
            </a:pPr>
            <a:endParaRPr lang="en-US" sz="1800" dirty="0"/>
          </a:p>
          <a:p>
            <a:pPr marL="0" indent="0">
              <a:buNone/>
            </a:pPr>
            <a:r>
              <a:rPr lang="en-US" sz="1800" u="sng" dirty="0">
                <a:highlight>
                  <a:srgbClr val="008080"/>
                </a:highlight>
              </a:rPr>
              <a:t>Counter-Terrorism Regime (UNSC 1373</a:t>
            </a:r>
            <a:r>
              <a:rPr lang="en-US" sz="1800" dirty="0">
                <a:highlight>
                  <a:srgbClr val="008080"/>
                </a:highlight>
              </a:rPr>
              <a:t>): </a:t>
            </a:r>
            <a:r>
              <a:rPr lang="en-US" sz="1800" dirty="0"/>
              <a:t> A binding UN Security Council regime requiring all states to take comprehensive measures to combat terrorism.</a:t>
            </a:r>
          </a:p>
          <a:p>
            <a:pPr marL="0" indent="0">
              <a:buNone/>
            </a:pPr>
            <a:endParaRPr lang="en-US" sz="1800" dirty="0"/>
          </a:p>
          <a:p>
            <a:pPr marL="0" indent="0">
              <a:buNone/>
            </a:pPr>
            <a:r>
              <a:rPr lang="en-US" sz="1800" u="sng" dirty="0">
                <a:highlight>
                  <a:srgbClr val="800080"/>
                </a:highlight>
              </a:rPr>
              <a:t>The Association of Southeast Asian Nations (ASEAN)</a:t>
            </a:r>
            <a:r>
              <a:rPr lang="en-US" sz="1800" dirty="0">
                <a:highlight>
                  <a:srgbClr val="800080"/>
                </a:highlight>
              </a:rPr>
              <a:t>:  </a:t>
            </a:r>
            <a:r>
              <a:rPr lang="en-US" sz="1800" dirty="0"/>
              <a:t>The key regional organization that serves as the central diplomatic hub for managing security in the Asia-Pacific.</a:t>
            </a:r>
          </a:p>
        </p:txBody>
      </p:sp>
    </p:spTree>
    <p:extLst>
      <p:ext uri="{BB962C8B-B14F-4D97-AF65-F5344CB8AC3E}">
        <p14:creationId xmlns:p14="http://schemas.microsoft.com/office/powerpoint/2010/main" val="35845241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a:extLst>
              <a:ext uri="{FF2B5EF4-FFF2-40B4-BE49-F238E27FC236}">
                <a16:creationId xmlns:a16="http://schemas.microsoft.com/office/drawing/2014/main" id="{8E21E47B-55FB-68C0-2695-E2E616CEE5D9}"/>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1067011" name="Rectangle 3">
            <a:extLst>
              <a:ext uri="{FF2B5EF4-FFF2-40B4-BE49-F238E27FC236}">
                <a16:creationId xmlns:a16="http://schemas.microsoft.com/office/drawing/2014/main" id="{BA57B364-DA74-1F39-A07A-B990F83AC41D}"/>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105475" name="Picture 4" descr="Levels of analysis">
            <a:extLst>
              <a:ext uri="{FF2B5EF4-FFF2-40B4-BE49-F238E27FC236}">
                <a16:creationId xmlns:a16="http://schemas.microsoft.com/office/drawing/2014/main" id="{831BD7F3-E813-7F5E-84D6-31EE5DB26C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88"/>
            <a:ext cx="6856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6" name="TextBox 1">
            <a:extLst>
              <a:ext uri="{FF2B5EF4-FFF2-40B4-BE49-F238E27FC236}">
                <a16:creationId xmlns:a16="http://schemas.microsoft.com/office/drawing/2014/main" id="{317CDF92-D404-DE04-8D42-82A5A4EB3998}"/>
              </a:ext>
            </a:extLst>
          </p:cNvPr>
          <p:cNvSpPr txBox="1">
            <a:spLocks noChangeArrowheads="1"/>
          </p:cNvSpPr>
          <p:nvPr/>
        </p:nvSpPr>
        <p:spPr bwMode="auto">
          <a:xfrm>
            <a:off x="3276600" y="873125"/>
            <a:ext cx="2590800"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b="1" dirty="0">
                <a:solidFill>
                  <a:schemeClr val="bg1"/>
                </a:solidFill>
              </a:rPr>
              <a:t>ANARCHY?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3888A-6C91-BD01-F473-1AFAC7AF4A8C}"/>
              </a:ext>
            </a:extLst>
          </p:cNvPr>
          <p:cNvSpPr>
            <a:spLocks noGrp="1"/>
          </p:cNvSpPr>
          <p:nvPr>
            <p:ph type="title"/>
          </p:nvPr>
        </p:nvSpPr>
        <p:spPr>
          <a:xfrm>
            <a:off x="0" y="0"/>
            <a:ext cx="9144000" cy="838200"/>
          </a:xfrm>
        </p:spPr>
        <p:txBody>
          <a:bodyPr/>
          <a:lstStyle/>
          <a:p>
            <a:pPr>
              <a:defRPr/>
            </a:pPr>
            <a:r>
              <a:rPr lang="en-US" altLang="x-none" sz="3200" b="1" dirty="0">
                <a:solidFill>
                  <a:srgbClr val="FFFFFF"/>
                </a:solidFill>
                <a:effectLst>
                  <a:outerShdw blurRad="38100" dist="38100" dir="2700000" algn="tl">
                    <a:srgbClr val="010199"/>
                  </a:outerShdw>
                </a:effectLst>
                <a:ea typeface="ＭＳ Ｐゴシック" charset="-128"/>
              </a:rPr>
              <a:t>Krasner of Stanford’</a:t>
            </a:r>
            <a:r>
              <a:rPr lang="en-US" altLang="ja-JP" sz="3200" b="1" dirty="0">
                <a:solidFill>
                  <a:srgbClr val="FFFFFF"/>
                </a:solidFill>
                <a:effectLst>
                  <a:outerShdw blurRad="38100" dist="38100" dir="2700000" algn="tl">
                    <a:srgbClr val="010199"/>
                  </a:outerShdw>
                </a:effectLst>
                <a:ea typeface="ＭＳ Ｐゴシック" charset="-128"/>
              </a:rPr>
              <a:t>s</a:t>
            </a:r>
            <a:br>
              <a:rPr lang="en-US" altLang="ja-JP" sz="3200" b="1" dirty="0">
                <a:solidFill>
                  <a:srgbClr val="FFFFFF"/>
                </a:solidFill>
                <a:effectLst>
                  <a:outerShdw blurRad="38100" dist="38100" dir="2700000" algn="tl">
                    <a:srgbClr val="010199"/>
                  </a:outerShdw>
                </a:effectLst>
                <a:ea typeface="ＭＳ Ｐゴシック" charset="-128"/>
              </a:rPr>
            </a:br>
            <a:r>
              <a:rPr lang="en-US" altLang="ja-JP" sz="3200" b="1" dirty="0">
                <a:solidFill>
                  <a:srgbClr val="FFFFFF"/>
                </a:solidFill>
                <a:effectLst>
                  <a:outerShdw blurRad="38100" dist="38100" dir="2700000" algn="tl">
                    <a:srgbClr val="010199"/>
                  </a:outerShdw>
                </a:effectLst>
                <a:ea typeface="ＭＳ Ｐゴシック" charset="-128"/>
              </a:rPr>
              <a:t>“International Regimes</a:t>
            </a:r>
            <a:r>
              <a:rPr lang="ja-JP" altLang="en-US" sz="3200" b="1">
                <a:solidFill>
                  <a:srgbClr val="FFFFFF"/>
                </a:solidFill>
                <a:effectLst>
                  <a:outerShdw blurRad="38100" dist="38100" dir="2700000" algn="tl">
                    <a:srgbClr val="010199"/>
                  </a:outerShdw>
                </a:effectLst>
                <a:ea typeface="ＭＳ Ｐゴシック" charset="-128"/>
              </a:rPr>
              <a:t>”</a:t>
            </a:r>
            <a:endParaRPr lang="en-US" altLang="x-none" sz="3200" dirty="0">
              <a:ea typeface="ＭＳ Ｐゴシック" charset="-128"/>
            </a:endParaRPr>
          </a:p>
        </p:txBody>
      </p:sp>
      <p:pic>
        <p:nvPicPr>
          <p:cNvPr id="107522" name="Content Placeholder 3" descr="Stephen Krasner 2.jpg">
            <a:extLst>
              <a:ext uri="{FF2B5EF4-FFF2-40B4-BE49-F238E27FC236}">
                <a16:creationId xmlns:a16="http://schemas.microsoft.com/office/drawing/2014/main" id="{0F536FE1-A5FA-DD7A-2C35-B8D82877E39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143000"/>
            <a:ext cx="4957763" cy="3292475"/>
          </a:xfrm>
        </p:spPr>
      </p:pic>
      <p:sp>
        <p:nvSpPr>
          <p:cNvPr id="107523" name="TextBox 4">
            <a:extLst>
              <a:ext uri="{FF2B5EF4-FFF2-40B4-BE49-F238E27FC236}">
                <a16:creationId xmlns:a16="http://schemas.microsoft.com/office/drawing/2014/main" id="{86C9C1FA-4195-6170-9B04-9C9371BFFD9D}"/>
              </a:ext>
            </a:extLst>
          </p:cNvPr>
          <p:cNvSpPr txBox="1">
            <a:spLocks noChangeArrowheads="1"/>
          </p:cNvSpPr>
          <p:nvPr/>
        </p:nvSpPr>
        <p:spPr bwMode="auto">
          <a:xfrm>
            <a:off x="228600" y="4800600"/>
            <a:ext cx="8686800"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lnSpc>
                <a:spcPct val="80000"/>
              </a:lnSpc>
              <a:spcBef>
                <a:spcPct val="0"/>
              </a:spcBef>
              <a:buClrTx/>
              <a:buSzTx/>
              <a:buFontTx/>
              <a:buNone/>
            </a:pPr>
            <a:r>
              <a:rPr lang="en-US" altLang="en-US" sz="2800" dirty="0"/>
              <a:t>Regimes are also different from </a:t>
            </a:r>
            <a:r>
              <a:rPr lang="en-US" altLang="en-US" sz="2800" i="1" dirty="0"/>
              <a:t>agreements</a:t>
            </a:r>
            <a:r>
              <a:rPr lang="en-US" altLang="en-US" sz="2800" dirty="0"/>
              <a:t>, which are ad hoc, sometimes one-shot arrangements.  </a:t>
            </a:r>
            <a:r>
              <a:rPr lang="en-US" altLang="en-US" sz="2800" dirty="0">
                <a:highlight>
                  <a:srgbClr val="808000"/>
                </a:highlight>
              </a:rPr>
              <a:t>A key purpose of regimes is to </a:t>
            </a:r>
            <a:r>
              <a:rPr lang="en-US" altLang="en-US" sz="2800" i="1" dirty="0">
                <a:highlight>
                  <a:srgbClr val="808000"/>
                </a:highlight>
              </a:rPr>
              <a:t>facilitate</a:t>
            </a:r>
            <a:r>
              <a:rPr lang="en-US" altLang="en-US" sz="2800" dirty="0">
                <a:highlight>
                  <a:srgbClr val="808000"/>
                </a:highlight>
              </a:rPr>
              <a:t> agreements</a:t>
            </a:r>
            <a:r>
              <a:rPr lang="en-US" altLang="en-US" sz="2800"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9B478-193B-F72F-A43D-D63F5659C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CF951-3E3E-A8AE-D19E-0F3DD65D9E84}"/>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How Regimes Facilitate Agreements</a:t>
            </a:r>
          </a:p>
        </p:txBody>
      </p:sp>
      <p:sp>
        <p:nvSpPr>
          <p:cNvPr id="4" name="Content Placeholder 3">
            <a:extLst>
              <a:ext uri="{FF2B5EF4-FFF2-40B4-BE49-F238E27FC236}">
                <a16:creationId xmlns:a16="http://schemas.microsoft.com/office/drawing/2014/main" id="{16F33E13-1E6E-D8E3-90C0-CBEC7C69635E}"/>
              </a:ext>
            </a:extLst>
          </p:cNvPr>
          <p:cNvSpPr>
            <a:spLocks noGrp="1"/>
          </p:cNvSpPr>
          <p:nvPr>
            <p:ph idx="1"/>
          </p:nvPr>
        </p:nvSpPr>
        <p:spPr>
          <a:xfrm>
            <a:off x="457200" y="838200"/>
            <a:ext cx="8229600" cy="4759325"/>
          </a:xfrm>
        </p:spPr>
        <p:txBody>
          <a:bodyPr/>
          <a:lstStyle/>
          <a:p>
            <a:pPr marL="0" indent="0">
              <a:buNone/>
            </a:pPr>
            <a:endParaRPr lang="en-US" sz="1600" dirty="0"/>
          </a:p>
          <a:p>
            <a:pPr marL="0" indent="0">
              <a:buNone/>
            </a:pPr>
            <a:endParaRPr lang="en-US" sz="1600" dirty="0"/>
          </a:p>
        </p:txBody>
      </p:sp>
    </p:spTree>
    <p:extLst>
      <p:ext uri="{BB962C8B-B14F-4D97-AF65-F5344CB8AC3E}">
        <p14:creationId xmlns:p14="http://schemas.microsoft.com/office/powerpoint/2010/main" val="2612623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FC422-4A3F-ECEF-3C63-4481227B7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26BE7-8DAD-3AD0-6325-7B8A02DFCF1B}"/>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How Regimes Facilitate Agreements</a:t>
            </a:r>
          </a:p>
        </p:txBody>
      </p:sp>
      <p:sp>
        <p:nvSpPr>
          <p:cNvPr id="4" name="Content Placeholder 3">
            <a:extLst>
              <a:ext uri="{FF2B5EF4-FFF2-40B4-BE49-F238E27FC236}">
                <a16:creationId xmlns:a16="http://schemas.microsoft.com/office/drawing/2014/main" id="{5E39FEE5-9299-3E95-9A90-D3217404E559}"/>
              </a:ext>
            </a:extLst>
          </p:cNvPr>
          <p:cNvSpPr>
            <a:spLocks noGrp="1"/>
          </p:cNvSpPr>
          <p:nvPr>
            <p:ph idx="1"/>
          </p:nvPr>
        </p:nvSpPr>
        <p:spPr>
          <a:xfrm>
            <a:off x="457200" y="838200"/>
            <a:ext cx="8229600" cy="4759325"/>
          </a:xfrm>
        </p:spPr>
        <p:txBody>
          <a:bodyPr/>
          <a:lstStyle/>
          <a:p>
            <a:pPr marL="0" indent="0">
              <a:buNone/>
            </a:pPr>
            <a:endParaRPr lang="en-US" sz="1600" dirty="0"/>
          </a:p>
          <a:p>
            <a:pPr marL="0" indent="0">
              <a:buNone/>
            </a:pPr>
            <a:r>
              <a:rPr lang="en-US" sz="1600" dirty="0"/>
              <a:t>1.	</a:t>
            </a:r>
            <a:r>
              <a:rPr lang="en-US" sz="1600" u="sng" dirty="0"/>
              <a:t>Increase Transparency and Provide Information</a:t>
            </a:r>
            <a:r>
              <a:rPr lang="en-US" sz="1600" dirty="0"/>
              <a:t>:  Regimes create systems for monitoring, reporting, and data sharing.  This allows states to observe each other's behavior and intentions more clearly, which reduces the fear, suspicion, and misperception that fuel the security dilemma.</a:t>
            </a:r>
          </a:p>
          <a:p>
            <a:pPr marL="0" indent="0">
              <a:buNone/>
            </a:pPr>
            <a:endParaRPr lang="en-US" sz="1600" dirty="0"/>
          </a:p>
        </p:txBody>
      </p:sp>
    </p:spTree>
    <p:extLst>
      <p:ext uri="{BB962C8B-B14F-4D97-AF65-F5344CB8AC3E}">
        <p14:creationId xmlns:p14="http://schemas.microsoft.com/office/powerpoint/2010/main" val="2005733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42A74-336F-3055-2481-CA93E6DF4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D7893-76EA-B321-1D5F-16DF63747D3D}"/>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How Regimes Facilitate Agreements</a:t>
            </a:r>
          </a:p>
        </p:txBody>
      </p:sp>
      <p:sp>
        <p:nvSpPr>
          <p:cNvPr id="4" name="Content Placeholder 3">
            <a:extLst>
              <a:ext uri="{FF2B5EF4-FFF2-40B4-BE49-F238E27FC236}">
                <a16:creationId xmlns:a16="http://schemas.microsoft.com/office/drawing/2014/main" id="{AEF6F53E-BC85-D32D-D638-AA4EB074026F}"/>
              </a:ext>
            </a:extLst>
          </p:cNvPr>
          <p:cNvSpPr>
            <a:spLocks noGrp="1"/>
          </p:cNvSpPr>
          <p:nvPr>
            <p:ph idx="1"/>
          </p:nvPr>
        </p:nvSpPr>
        <p:spPr>
          <a:xfrm>
            <a:off x="457200" y="838200"/>
            <a:ext cx="8229600" cy="4759325"/>
          </a:xfrm>
        </p:spPr>
        <p:txBody>
          <a:bodyPr/>
          <a:lstStyle/>
          <a:p>
            <a:pPr marL="0" indent="0">
              <a:buNone/>
            </a:pPr>
            <a:endParaRPr lang="en-US" sz="1600" dirty="0"/>
          </a:p>
          <a:p>
            <a:pPr marL="0" indent="0">
              <a:buNone/>
            </a:pPr>
            <a:r>
              <a:rPr lang="en-US" sz="1600" dirty="0"/>
              <a:t>1.	</a:t>
            </a:r>
            <a:r>
              <a:rPr lang="en-US" sz="1600" u="sng" dirty="0"/>
              <a:t>Increase Transparency and Provide Information</a:t>
            </a:r>
            <a:r>
              <a:rPr lang="en-US" sz="1600" dirty="0"/>
              <a:t>:  Regimes create systems for monitoring, reporting, and data sharing.  This allows states to observe each other's behavior and intentions more clearly, which reduces the fear, suspicion, and misperception that fuel the security dilemma.</a:t>
            </a:r>
          </a:p>
          <a:p>
            <a:pPr marL="0" indent="0">
              <a:buNone/>
            </a:pPr>
            <a:endParaRPr lang="en-US" sz="1600" dirty="0"/>
          </a:p>
          <a:p>
            <a:pPr marL="0" indent="0">
              <a:buNone/>
            </a:pPr>
            <a:r>
              <a:rPr lang="en-US" sz="1600" dirty="0"/>
              <a:t>2.	</a:t>
            </a:r>
            <a:r>
              <a:rPr lang="en-US" sz="1600" u="sng" dirty="0"/>
              <a:t>Lower the Transaction Costs of Agreement</a:t>
            </a:r>
            <a:r>
              <a:rPr lang="en-US" sz="1600" dirty="0"/>
              <a:t>:  By providing established forums, legal frameworks, and negotiation procedures (e.g., the WTO), regimes make it significantly easier and cheaper for states to make deals, resolve disputes, and manage complex issues without starting from scratch each time.</a:t>
            </a:r>
          </a:p>
          <a:p>
            <a:pPr marL="0" indent="0">
              <a:buNone/>
            </a:pPr>
            <a:endParaRPr lang="en-US" sz="1600" dirty="0"/>
          </a:p>
        </p:txBody>
      </p:sp>
    </p:spTree>
    <p:extLst>
      <p:ext uri="{BB962C8B-B14F-4D97-AF65-F5344CB8AC3E}">
        <p14:creationId xmlns:p14="http://schemas.microsoft.com/office/powerpoint/2010/main" val="420096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32BB7-E990-2E15-0B66-2B60A81D8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9B5C4-5A85-9953-BDE0-492B276FDF6A}"/>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How Regimes Facilitate Agreements</a:t>
            </a:r>
          </a:p>
        </p:txBody>
      </p:sp>
      <p:sp>
        <p:nvSpPr>
          <p:cNvPr id="4" name="Content Placeholder 3">
            <a:extLst>
              <a:ext uri="{FF2B5EF4-FFF2-40B4-BE49-F238E27FC236}">
                <a16:creationId xmlns:a16="http://schemas.microsoft.com/office/drawing/2014/main" id="{B52B4578-0A5A-9835-0345-243950760306}"/>
              </a:ext>
            </a:extLst>
          </p:cNvPr>
          <p:cNvSpPr>
            <a:spLocks noGrp="1"/>
          </p:cNvSpPr>
          <p:nvPr>
            <p:ph idx="1"/>
          </p:nvPr>
        </p:nvSpPr>
        <p:spPr>
          <a:xfrm>
            <a:off x="457200" y="838200"/>
            <a:ext cx="8229600" cy="4759325"/>
          </a:xfrm>
        </p:spPr>
        <p:txBody>
          <a:bodyPr/>
          <a:lstStyle/>
          <a:p>
            <a:pPr marL="0" indent="0">
              <a:buNone/>
            </a:pPr>
            <a:endParaRPr lang="en-US" sz="1600" dirty="0"/>
          </a:p>
          <a:p>
            <a:pPr marL="0" indent="0">
              <a:buNone/>
            </a:pPr>
            <a:r>
              <a:rPr lang="en-US" sz="1600" dirty="0"/>
              <a:t>1.	</a:t>
            </a:r>
            <a:r>
              <a:rPr lang="en-US" sz="1600" u="sng" dirty="0"/>
              <a:t>Increase Transparency and Provide Information</a:t>
            </a:r>
            <a:r>
              <a:rPr lang="en-US" sz="1600" dirty="0"/>
              <a:t>:  Regimes create systems for monitoring, reporting, and data sharing.  This allows states to observe each other's behavior and intentions more clearly, which reduces the fear, suspicion, and misperception that fuel the security dilemma.</a:t>
            </a:r>
          </a:p>
          <a:p>
            <a:pPr marL="0" indent="0">
              <a:buNone/>
            </a:pPr>
            <a:endParaRPr lang="en-US" sz="1600" dirty="0"/>
          </a:p>
          <a:p>
            <a:pPr marL="0" indent="0">
              <a:buNone/>
            </a:pPr>
            <a:r>
              <a:rPr lang="en-US" sz="1600" dirty="0"/>
              <a:t>2.	</a:t>
            </a:r>
            <a:r>
              <a:rPr lang="en-US" sz="1600" u="sng" dirty="0"/>
              <a:t>Lower the Transaction Costs of Agreement</a:t>
            </a:r>
            <a:r>
              <a:rPr lang="en-US" sz="1600" dirty="0"/>
              <a:t>:  By providing established forums, legal frameworks, and negotiation procedures (e.g., the WTO), regimes make it significantly easier and cheaper for states to make deals, resolve disputes, and manage complex issues without starting from scratch each time.</a:t>
            </a:r>
          </a:p>
          <a:p>
            <a:pPr marL="0" indent="0">
              <a:buNone/>
            </a:pPr>
            <a:endParaRPr lang="en-US" sz="1600" dirty="0"/>
          </a:p>
          <a:p>
            <a:pPr marL="0" indent="0">
              <a:buNone/>
            </a:pPr>
            <a:r>
              <a:rPr lang="en-US" sz="1600" dirty="0"/>
              <a:t>3.	</a:t>
            </a:r>
            <a:r>
              <a:rPr lang="en-US" sz="1600" u="sng" dirty="0"/>
              <a:t>Lengthen the “Shadow of the Future”</a:t>
            </a:r>
            <a:r>
              <a:rPr lang="en-US" sz="1600" dirty="0"/>
              <a:t>:  Regimes institutionalize interaction, making it clear to states that they will be dealing with each other repeatedly for the long term.  This powerful incentive discourages short-term cheating in favor of building a reputation for reliability to secure future cooperation.</a:t>
            </a:r>
          </a:p>
          <a:p>
            <a:pPr marL="0" indent="0">
              <a:buNone/>
            </a:pPr>
            <a:endParaRPr lang="en-US" sz="1600" dirty="0"/>
          </a:p>
        </p:txBody>
      </p:sp>
    </p:spTree>
    <p:extLst>
      <p:ext uri="{BB962C8B-B14F-4D97-AF65-F5344CB8AC3E}">
        <p14:creationId xmlns:p14="http://schemas.microsoft.com/office/powerpoint/2010/main" val="1491059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1398-FA25-1128-3119-77A172272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EDDE2-4AE2-42B1-A31A-A270757FE8B8}"/>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How Regimes Facilitate Agreements</a:t>
            </a:r>
          </a:p>
        </p:txBody>
      </p:sp>
      <p:sp>
        <p:nvSpPr>
          <p:cNvPr id="4" name="Content Placeholder 3">
            <a:extLst>
              <a:ext uri="{FF2B5EF4-FFF2-40B4-BE49-F238E27FC236}">
                <a16:creationId xmlns:a16="http://schemas.microsoft.com/office/drawing/2014/main" id="{A15CA5D7-717F-1429-2BC1-231F4F777ACA}"/>
              </a:ext>
            </a:extLst>
          </p:cNvPr>
          <p:cNvSpPr>
            <a:spLocks noGrp="1"/>
          </p:cNvSpPr>
          <p:nvPr>
            <p:ph idx="1"/>
          </p:nvPr>
        </p:nvSpPr>
        <p:spPr>
          <a:xfrm>
            <a:off x="457200" y="838200"/>
            <a:ext cx="8229600" cy="4759325"/>
          </a:xfrm>
        </p:spPr>
        <p:txBody>
          <a:bodyPr/>
          <a:lstStyle/>
          <a:p>
            <a:pPr marL="0" indent="0">
              <a:buNone/>
            </a:pPr>
            <a:endParaRPr lang="en-US" sz="1600" dirty="0"/>
          </a:p>
          <a:p>
            <a:pPr marL="0" indent="0">
              <a:buNone/>
            </a:pPr>
            <a:r>
              <a:rPr lang="en-US" sz="1600" dirty="0"/>
              <a:t>1.	</a:t>
            </a:r>
            <a:r>
              <a:rPr lang="en-US" sz="1600" u="sng" dirty="0"/>
              <a:t>Increase Transparency and Provide Information</a:t>
            </a:r>
            <a:r>
              <a:rPr lang="en-US" sz="1600" dirty="0"/>
              <a:t>:  Regimes create systems for monitoring, reporting, and data sharing.  This allows states to observe each other's behavior and intentions more clearly, which reduces the fear, suspicion, and misperception that fuel the security dilemma.</a:t>
            </a:r>
          </a:p>
          <a:p>
            <a:pPr marL="0" indent="0">
              <a:buNone/>
            </a:pPr>
            <a:endParaRPr lang="en-US" sz="1600" dirty="0"/>
          </a:p>
          <a:p>
            <a:pPr marL="0" indent="0">
              <a:buNone/>
            </a:pPr>
            <a:r>
              <a:rPr lang="en-US" sz="1600" dirty="0"/>
              <a:t>2.	</a:t>
            </a:r>
            <a:r>
              <a:rPr lang="en-US" sz="1600" u="sng" dirty="0"/>
              <a:t>Lower the Transaction Costs of Agreement</a:t>
            </a:r>
            <a:r>
              <a:rPr lang="en-US" sz="1600" dirty="0"/>
              <a:t>:  By providing established forums, legal frameworks, and negotiation procedures (e.g., the WTO), regimes make it significantly easier and cheaper for states to make deals, resolve disputes, and manage complex issues without starting from scratch each time.</a:t>
            </a:r>
          </a:p>
          <a:p>
            <a:pPr marL="0" indent="0">
              <a:buNone/>
            </a:pPr>
            <a:endParaRPr lang="en-US" sz="1600" dirty="0"/>
          </a:p>
          <a:p>
            <a:pPr marL="0" indent="0">
              <a:buNone/>
            </a:pPr>
            <a:r>
              <a:rPr lang="en-US" sz="1600" dirty="0"/>
              <a:t>3.	</a:t>
            </a:r>
            <a:r>
              <a:rPr lang="en-US" sz="1600" u="sng" dirty="0"/>
              <a:t>Lengthen the “Shadow of the Future”</a:t>
            </a:r>
            <a:r>
              <a:rPr lang="en-US" sz="1600" dirty="0"/>
              <a:t>:  Regimes institutionalize interaction, making it clear to states that they will be dealing with each other repeatedly for the long term.  This powerful incentive discourages short-term cheating in favor of building a reputation for reliability to secure future cooperation.</a:t>
            </a:r>
          </a:p>
          <a:p>
            <a:pPr marL="0" indent="0">
              <a:buNone/>
            </a:pPr>
            <a:endParaRPr lang="en-US" sz="1600" dirty="0"/>
          </a:p>
          <a:p>
            <a:pPr marL="0" indent="0">
              <a:buNone/>
            </a:pPr>
            <a:r>
              <a:rPr lang="en-US" sz="1600" dirty="0"/>
              <a:t>4.	</a:t>
            </a:r>
            <a:r>
              <a:rPr lang="en-US" sz="1600" u="sng" dirty="0"/>
              <a:t>Define Cheating and Facilitate Reciprocity</a:t>
            </a:r>
            <a:r>
              <a:rPr lang="en-US" sz="1600" dirty="0"/>
              <a:t>:  Regimes create clear </a:t>
            </a:r>
            <a:r>
              <a:rPr lang="en-US" sz="1600" i="1" dirty="0"/>
              <a:t>standards</a:t>
            </a:r>
            <a:r>
              <a:rPr lang="en-US" sz="1600" dirty="0"/>
              <a:t> of behavior and rules, explicitly defining what constitutes a violation (cheating).  This makes it easier to identify non-compliance and allows states to respond with targeted, reciprocal actions (sanctions, etc.) rather than escalating to broader conflict.</a:t>
            </a:r>
          </a:p>
        </p:txBody>
      </p:sp>
    </p:spTree>
    <p:extLst>
      <p:ext uri="{BB962C8B-B14F-4D97-AF65-F5344CB8AC3E}">
        <p14:creationId xmlns:p14="http://schemas.microsoft.com/office/powerpoint/2010/main" val="2065369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116C4-07B4-ED25-09FF-0BD135CF823D}"/>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Hegemonic Stability Theory</a:t>
            </a:r>
          </a:p>
        </p:txBody>
      </p:sp>
      <p:sp>
        <p:nvSpPr>
          <p:cNvPr id="4" name="Content Placeholder 3">
            <a:extLst>
              <a:ext uri="{FF2B5EF4-FFF2-40B4-BE49-F238E27FC236}">
                <a16:creationId xmlns:a16="http://schemas.microsoft.com/office/drawing/2014/main" id="{014995E5-7364-10A1-8A7F-B2DF04C10A65}"/>
              </a:ext>
            </a:extLst>
          </p:cNvPr>
          <p:cNvSpPr>
            <a:spLocks noGrp="1"/>
          </p:cNvSpPr>
          <p:nvPr>
            <p:ph idx="1"/>
          </p:nvPr>
        </p:nvSpPr>
        <p:spPr>
          <a:xfrm>
            <a:off x="457200" y="838200"/>
            <a:ext cx="8229600" cy="4759325"/>
          </a:xfrm>
        </p:spPr>
        <p:txBody>
          <a:bodyPr/>
          <a:lstStyle/>
          <a:p>
            <a:pPr marL="0" indent="0">
              <a:buNone/>
            </a:pP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1065E-D263-04BF-884C-25E13ACDC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F6C10-BD80-1264-84A2-5A45C89C23B2}"/>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Hegemonic Stability Theory</a:t>
            </a:r>
          </a:p>
        </p:txBody>
      </p:sp>
      <p:sp>
        <p:nvSpPr>
          <p:cNvPr id="4" name="Content Placeholder 3">
            <a:extLst>
              <a:ext uri="{FF2B5EF4-FFF2-40B4-BE49-F238E27FC236}">
                <a16:creationId xmlns:a16="http://schemas.microsoft.com/office/drawing/2014/main" id="{77EEB56B-3241-0C51-77A4-270084FC7B29}"/>
              </a:ext>
            </a:extLst>
          </p:cNvPr>
          <p:cNvSpPr>
            <a:spLocks noGrp="1"/>
          </p:cNvSpPr>
          <p:nvPr>
            <p:ph idx="1"/>
          </p:nvPr>
        </p:nvSpPr>
        <p:spPr>
          <a:xfrm>
            <a:off x="457200" y="838200"/>
            <a:ext cx="8229600" cy="4759325"/>
          </a:xfrm>
        </p:spPr>
        <p:txBody>
          <a:bodyPr/>
          <a:lstStyle/>
          <a:p>
            <a:pPr marL="0" indent="0">
              <a:buNone/>
            </a:pPr>
            <a:r>
              <a:rPr lang="en-US" sz="1600" dirty="0"/>
              <a:t>1.	</a:t>
            </a:r>
            <a:r>
              <a:rPr lang="en-US" sz="1600" u="sng" dirty="0"/>
              <a:t>A Hegemon is Necessary for Order</a:t>
            </a:r>
            <a:r>
              <a:rPr lang="en-US" sz="1600" dirty="0"/>
              <a:t>:  A stable, open, and prosperous international system requires a single dominant state (a “hegemon”) with a preponderance of military and economic power.</a:t>
            </a:r>
            <a:endParaRPr lang="en-US" sz="1200" dirty="0"/>
          </a:p>
          <a:p>
            <a:pPr marL="0" indent="0">
              <a:buNone/>
            </a:pPr>
            <a:endParaRPr lang="en-US" sz="1200" dirty="0"/>
          </a:p>
        </p:txBody>
      </p:sp>
    </p:spTree>
    <p:extLst>
      <p:ext uri="{BB962C8B-B14F-4D97-AF65-F5344CB8AC3E}">
        <p14:creationId xmlns:p14="http://schemas.microsoft.com/office/powerpoint/2010/main" val="4275637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040A6-24BB-7836-FA39-7B94E3A0C0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E8476-D295-B1C3-18FB-4193BA491335}"/>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Hegemonic Stability Theory</a:t>
            </a:r>
          </a:p>
        </p:txBody>
      </p:sp>
      <p:sp>
        <p:nvSpPr>
          <p:cNvPr id="4" name="Content Placeholder 3">
            <a:extLst>
              <a:ext uri="{FF2B5EF4-FFF2-40B4-BE49-F238E27FC236}">
                <a16:creationId xmlns:a16="http://schemas.microsoft.com/office/drawing/2014/main" id="{5CA81F2A-3385-12D4-E0EB-6A0FD560A648}"/>
              </a:ext>
            </a:extLst>
          </p:cNvPr>
          <p:cNvSpPr>
            <a:spLocks noGrp="1"/>
          </p:cNvSpPr>
          <p:nvPr>
            <p:ph idx="1"/>
          </p:nvPr>
        </p:nvSpPr>
        <p:spPr>
          <a:xfrm>
            <a:off x="457200" y="838200"/>
            <a:ext cx="8229600" cy="4759325"/>
          </a:xfrm>
        </p:spPr>
        <p:txBody>
          <a:bodyPr/>
          <a:lstStyle/>
          <a:p>
            <a:pPr marL="0" indent="0">
              <a:buNone/>
            </a:pPr>
            <a:r>
              <a:rPr lang="en-US" sz="1600" dirty="0"/>
              <a:t>1.	</a:t>
            </a:r>
            <a:r>
              <a:rPr lang="en-US" sz="1600" u="sng" dirty="0"/>
              <a:t>A Hegemon is Necessary for Order</a:t>
            </a:r>
            <a:r>
              <a:rPr lang="en-US" sz="1600" dirty="0"/>
              <a:t>:  A stable, open, and prosperous international system requires a single dominant state (a “hegemon”) with a preponderance of military and economic power.</a:t>
            </a:r>
            <a:endParaRPr lang="en-US" sz="1200" dirty="0"/>
          </a:p>
          <a:p>
            <a:pPr marL="0" indent="0">
              <a:buNone/>
            </a:pPr>
            <a:endParaRPr lang="en-US" sz="1200" dirty="0"/>
          </a:p>
          <a:p>
            <a:pPr marL="0" indent="0">
              <a:buNone/>
            </a:pPr>
            <a:r>
              <a:rPr lang="en-US" sz="1600" dirty="0"/>
              <a:t>2.	</a:t>
            </a:r>
            <a:r>
              <a:rPr lang="en-US" sz="1600" u="sng" dirty="0"/>
              <a:t>Provision of Public Goods</a:t>
            </a:r>
            <a:r>
              <a:rPr lang="en-US" sz="1600" dirty="0"/>
              <a:t>:  The hegemon uses its power to provide collective goods that all states benefit from, such as a stable reserve currency (e.g., the British pound in the 19th century, the U.S. dollar post-WWII); military security and enforcement mechanisms (e.g., policing sea lanes to ensure freedom of navigation); a market of last resort to absorb surplus goods during economic downturns; and a source of credit and liquidity in financial crises.</a:t>
            </a:r>
            <a:endParaRPr lang="en-US" sz="1200" dirty="0"/>
          </a:p>
          <a:p>
            <a:pPr marL="0" indent="0">
              <a:buNone/>
            </a:pPr>
            <a:endParaRPr lang="en-US" sz="1200" dirty="0"/>
          </a:p>
        </p:txBody>
      </p:sp>
    </p:spTree>
    <p:extLst>
      <p:ext uri="{BB962C8B-B14F-4D97-AF65-F5344CB8AC3E}">
        <p14:creationId xmlns:p14="http://schemas.microsoft.com/office/powerpoint/2010/main" val="3398761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CC76-D645-E33B-CE2D-5EDF8369C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8F8AB-2C94-0AFA-4601-B6B3C85755AE}"/>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Hegemonic Stability Theory</a:t>
            </a:r>
          </a:p>
        </p:txBody>
      </p:sp>
      <p:sp>
        <p:nvSpPr>
          <p:cNvPr id="4" name="Content Placeholder 3">
            <a:extLst>
              <a:ext uri="{FF2B5EF4-FFF2-40B4-BE49-F238E27FC236}">
                <a16:creationId xmlns:a16="http://schemas.microsoft.com/office/drawing/2014/main" id="{71734F2D-2EC7-2DD6-21F4-4594C6FC3F1D}"/>
              </a:ext>
            </a:extLst>
          </p:cNvPr>
          <p:cNvSpPr>
            <a:spLocks noGrp="1"/>
          </p:cNvSpPr>
          <p:nvPr>
            <p:ph idx="1"/>
          </p:nvPr>
        </p:nvSpPr>
        <p:spPr>
          <a:xfrm>
            <a:off x="457200" y="838200"/>
            <a:ext cx="8229600" cy="4759325"/>
          </a:xfrm>
        </p:spPr>
        <p:txBody>
          <a:bodyPr/>
          <a:lstStyle/>
          <a:p>
            <a:pPr marL="0" indent="0">
              <a:buNone/>
            </a:pPr>
            <a:r>
              <a:rPr lang="en-US" sz="1600" dirty="0"/>
              <a:t>1.	</a:t>
            </a:r>
            <a:r>
              <a:rPr lang="en-US" sz="1600" u="sng" dirty="0"/>
              <a:t>A Hegemon is Necessary for Order</a:t>
            </a:r>
            <a:r>
              <a:rPr lang="en-US" sz="1600" dirty="0"/>
              <a:t>:  A stable, open, and prosperous international system requires a single dominant state (a “hegemon”) with a preponderance of military and economic power.</a:t>
            </a:r>
            <a:endParaRPr lang="en-US" sz="1200" dirty="0"/>
          </a:p>
          <a:p>
            <a:pPr marL="0" indent="0">
              <a:buNone/>
            </a:pPr>
            <a:endParaRPr lang="en-US" sz="1200" dirty="0"/>
          </a:p>
          <a:p>
            <a:pPr marL="0" indent="0">
              <a:buNone/>
            </a:pPr>
            <a:r>
              <a:rPr lang="en-US" sz="1600" dirty="0"/>
              <a:t>2.	</a:t>
            </a:r>
            <a:r>
              <a:rPr lang="en-US" sz="1600" u="sng" dirty="0"/>
              <a:t>Provision of Public Goods</a:t>
            </a:r>
            <a:r>
              <a:rPr lang="en-US" sz="1600" dirty="0"/>
              <a:t>:  The hegemon uses its power to provide collective goods that all states benefit from, such as a stable reserve currency (e.g., the British pound in the 19th century, the U.S. dollar post-WWII); military security and enforcement mechanisms (e.g., policing sea lanes to ensure freedom of navigation); a market of last resort to absorb surplus goods during economic downturns; and a source of credit and liquidity in financial crises.</a:t>
            </a:r>
            <a:endParaRPr lang="en-US" sz="1200" dirty="0"/>
          </a:p>
          <a:p>
            <a:pPr marL="0" indent="0">
              <a:buNone/>
            </a:pPr>
            <a:endParaRPr lang="en-US" sz="1200" dirty="0"/>
          </a:p>
          <a:p>
            <a:pPr marL="0" indent="0">
              <a:buNone/>
            </a:pPr>
            <a:r>
              <a:rPr lang="en-US" sz="1600" dirty="0"/>
              <a:t>3.	</a:t>
            </a:r>
            <a:r>
              <a:rPr lang="en-US" sz="1600" u="sng" dirty="0"/>
              <a:t>Solving the Free-Rider Problem</a:t>
            </a:r>
            <a:r>
              <a:rPr lang="en-US" sz="1600" dirty="0"/>
              <a:t>:  Without a hegemon to bear the costs of leadership and enforce the rules, smaller states would enjoy the benefits of an open system without contributing, leading to its eventual collapse.</a:t>
            </a:r>
            <a:endParaRPr lang="en-US" sz="1200" dirty="0"/>
          </a:p>
          <a:p>
            <a:pPr marL="0" indent="0">
              <a:buNone/>
            </a:pPr>
            <a:endParaRPr lang="en-US" sz="1200" dirty="0"/>
          </a:p>
        </p:txBody>
      </p:sp>
    </p:spTree>
    <p:extLst>
      <p:ext uri="{BB962C8B-B14F-4D97-AF65-F5344CB8AC3E}">
        <p14:creationId xmlns:p14="http://schemas.microsoft.com/office/powerpoint/2010/main" val="30725404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80BC-F752-A970-AD12-26ABCDFB9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14521-85B3-9BA9-DE09-4ACA4C690FB9}"/>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Hegemonic Stability Theory</a:t>
            </a:r>
          </a:p>
        </p:txBody>
      </p:sp>
      <p:sp>
        <p:nvSpPr>
          <p:cNvPr id="4" name="Content Placeholder 3">
            <a:extLst>
              <a:ext uri="{FF2B5EF4-FFF2-40B4-BE49-F238E27FC236}">
                <a16:creationId xmlns:a16="http://schemas.microsoft.com/office/drawing/2014/main" id="{DA705EB8-51A6-094A-0C88-948717362CC9}"/>
              </a:ext>
            </a:extLst>
          </p:cNvPr>
          <p:cNvSpPr>
            <a:spLocks noGrp="1"/>
          </p:cNvSpPr>
          <p:nvPr>
            <p:ph idx="1"/>
          </p:nvPr>
        </p:nvSpPr>
        <p:spPr>
          <a:xfrm>
            <a:off x="457200" y="838200"/>
            <a:ext cx="8229600" cy="4759325"/>
          </a:xfrm>
        </p:spPr>
        <p:txBody>
          <a:bodyPr/>
          <a:lstStyle/>
          <a:p>
            <a:pPr marL="0" indent="0">
              <a:buNone/>
            </a:pPr>
            <a:r>
              <a:rPr lang="en-US" sz="1600" dirty="0"/>
              <a:t>1.	</a:t>
            </a:r>
            <a:r>
              <a:rPr lang="en-US" sz="1600" u="sng" dirty="0"/>
              <a:t>A Hegemon is Necessary for Order</a:t>
            </a:r>
            <a:r>
              <a:rPr lang="en-US" sz="1600" dirty="0"/>
              <a:t>:  A stable, open, and prosperous international system requires a single dominant state (a “hegemon”) with a preponderance of military and economic power.</a:t>
            </a:r>
            <a:endParaRPr lang="en-US" sz="1200" dirty="0"/>
          </a:p>
          <a:p>
            <a:pPr marL="0" indent="0">
              <a:buNone/>
            </a:pPr>
            <a:endParaRPr lang="en-US" sz="1200" dirty="0"/>
          </a:p>
          <a:p>
            <a:pPr marL="0" indent="0">
              <a:buNone/>
            </a:pPr>
            <a:r>
              <a:rPr lang="en-US" sz="1600" dirty="0"/>
              <a:t>2.	</a:t>
            </a:r>
            <a:r>
              <a:rPr lang="en-US" sz="1600" u="sng" dirty="0"/>
              <a:t>Provision of Public Goods</a:t>
            </a:r>
            <a:r>
              <a:rPr lang="en-US" sz="1600" dirty="0"/>
              <a:t>:  The hegemon uses its power to provide collective goods that all states benefit from, such as a stable reserve currency (e.g., the British pound in the 19th century, the U.S. dollar post-WWII); military security and enforcement mechanisms (e.g., policing sea lanes to ensure freedom of navigation); a market of last resort to absorb surplus goods during economic downturns; and a source of credit and liquidity in financial crises.</a:t>
            </a:r>
            <a:endParaRPr lang="en-US" sz="1200" dirty="0"/>
          </a:p>
          <a:p>
            <a:pPr marL="0" indent="0">
              <a:buNone/>
            </a:pPr>
            <a:endParaRPr lang="en-US" sz="1200" dirty="0"/>
          </a:p>
          <a:p>
            <a:pPr marL="0" indent="0">
              <a:buNone/>
            </a:pPr>
            <a:r>
              <a:rPr lang="en-US" sz="1600" dirty="0"/>
              <a:t>3.	</a:t>
            </a:r>
            <a:r>
              <a:rPr lang="en-US" sz="1600" u="sng" dirty="0"/>
              <a:t>Solving the Free-Rider Problem</a:t>
            </a:r>
            <a:r>
              <a:rPr lang="en-US" sz="1600" dirty="0"/>
              <a:t>:  Without a hegemon to bear the costs of leadership and enforce the rules, smaller states would enjoy the benefits of an open system without contributing, leading to its eventual collapse.</a:t>
            </a:r>
            <a:endParaRPr lang="en-US" sz="1200" dirty="0"/>
          </a:p>
          <a:p>
            <a:pPr marL="0" indent="0">
              <a:buNone/>
            </a:pPr>
            <a:endParaRPr lang="en-US" sz="1200" dirty="0"/>
          </a:p>
          <a:p>
            <a:pPr marL="0" indent="0">
              <a:buNone/>
            </a:pPr>
            <a:r>
              <a:rPr lang="en-US" sz="1600" dirty="0"/>
              <a:t>4.	</a:t>
            </a:r>
            <a:r>
              <a:rPr lang="en-US" sz="1600" u="sng" dirty="0"/>
              <a:t>It's Not a Matter of Altruism</a:t>
            </a:r>
            <a:r>
              <a:rPr lang="en-US" sz="1600" dirty="0"/>
              <a:t>:  The reason the hegemon is </a:t>
            </a:r>
            <a:r>
              <a:rPr lang="en-US" sz="1600" i="1" dirty="0"/>
              <a:t>willing</a:t>
            </a:r>
            <a:r>
              <a:rPr lang="en-US" sz="1600" dirty="0"/>
              <a:t> to bear the costs of leadership is that it benefits disproportionately from the stable system it maintains.  Its dominant economic position on the technological frontier allows it to reap the greatest rewards from an open global system.</a:t>
            </a:r>
            <a:endParaRPr lang="en-US" sz="1200" dirty="0"/>
          </a:p>
          <a:p>
            <a:pPr marL="0" indent="0">
              <a:buNone/>
            </a:pPr>
            <a:endParaRPr lang="en-US" sz="1200" dirty="0"/>
          </a:p>
        </p:txBody>
      </p:sp>
    </p:spTree>
    <p:extLst>
      <p:ext uri="{BB962C8B-B14F-4D97-AF65-F5344CB8AC3E}">
        <p14:creationId xmlns:p14="http://schemas.microsoft.com/office/powerpoint/2010/main" val="42319878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FA1F-FCC7-D03C-F911-635EEAE13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E801B-D488-4820-9A60-F5C7E16B0B3B}"/>
              </a:ext>
            </a:extLst>
          </p:cNvPr>
          <p:cNvSpPr>
            <a:spLocks noGrp="1"/>
          </p:cNvSpPr>
          <p:nvPr>
            <p:ph type="title"/>
          </p:nvPr>
        </p:nvSpPr>
        <p:spPr>
          <a:xfrm>
            <a:off x="457200" y="0"/>
            <a:ext cx="8229600" cy="762000"/>
          </a:xfrm>
        </p:spPr>
        <p:txBody>
          <a:bodyPr/>
          <a:lstStyle/>
          <a:p>
            <a:pPr>
              <a:defRPr/>
            </a:pPr>
            <a:r>
              <a:rPr lang="en-US" altLang="x-none" sz="3200" dirty="0">
                <a:solidFill>
                  <a:srgbClr val="FFFF00"/>
                </a:solidFill>
                <a:ea typeface="ＭＳ Ｐゴシック" charset="-128"/>
              </a:rPr>
              <a:t>Hegemonic Stability Theory</a:t>
            </a:r>
          </a:p>
        </p:txBody>
      </p:sp>
      <p:sp>
        <p:nvSpPr>
          <p:cNvPr id="4" name="Content Placeholder 3">
            <a:extLst>
              <a:ext uri="{FF2B5EF4-FFF2-40B4-BE49-F238E27FC236}">
                <a16:creationId xmlns:a16="http://schemas.microsoft.com/office/drawing/2014/main" id="{FA5F6DC6-175E-2676-F3EF-A8E57DA994BA}"/>
              </a:ext>
            </a:extLst>
          </p:cNvPr>
          <p:cNvSpPr>
            <a:spLocks noGrp="1"/>
          </p:cNvSpPr>
          <p:nvPr>
            <p:ph idx="1"/>
          </p:nvPr>
        </p:nvSpPr>
        <p:spPr>
          <a:xfrm>
            <a:off x="457200" y="838200"/>
            <a:ext cx="8229600" cy="4759325"/>
          </a:xfrm>
        </p:spPr>
        <p:txBody>
          <a:bodyPr/>
          <a:lstStyle/>
          <a:p>
            <a:pPr marL="0" indent="0">
              <a:buNone/>
            </a:pPr>
            <a:r>
              <a:rPr lang="en-US" sz="1600" dirty="0"/>
              <a:t>1.	</a:t>
            </a:r>
            <a:r>
              <a:rPr lang="en-US" sz="1600" u="sng" dirty="0"/>
              <a:t>A Hegemon is Necessary for Order</a:t>
            </a:r>
            <a:r>
              <a:rPr lang="en-US" sz="1600" dirty="0"/>
              <a:t>:  A stable, open, and prosperous international system requires a single dominant state (a “hegemon”) with a preponderance of military and economic power.</a:t>
            </a:r>
            <a:endParaRPr lang="en-US" sz="1200" dirty="0"/>
          </a:p>
          <a:p>
            <a:pPr marL="0" indent="0">
              <a:buNone/>
            </a:pPr>
            <a:endParaRPr lang="en-US" sz="1200" dirty="0"/>
          </a:p>
          <a:p>
            <a:pPr marL="0" indent="0">
              <a:buNone/>
            </a:pPr>
            <a:r>
              <a:rPr lang="en-US" sz="1600" dirty="0"/>
              <a:t>2.	</a:t>
            </a:r>
            <a:r>
              <a:rPr lang="en-US" sz="1600" u="sng" dirty="0"/>
              <a:t>Provision of Public Goods</a:t>
            </a:r>
            <a:r>
              <a:rPr lang="en-US" sz="1600" dirty="0"/>
              <a:t>:  The hegemon uses its power to provide collective goods that all states benefit from, such as a stable reserve currency (e.g., the British pound in the 19th century, the U.S. dollar post-WWII); military security and enforcement mechanisms (e.g., policing sea lanes to ensure freedom of navigation); a market of last resort to absorb surplus goods during economic downturns; and a source of credit and liquidity in financial crises.</a:t>
            </a:r>
            <a:endParaRPr lang="en-US" sz="1200" dirty="0"/>
          </a:p>
          <a:p>
            <a:pPr marL="0" indent="0">
              <a:buNone/>
            </a:pPr>
            <a:endParaRPr lang="en-US" sz="1200" dirty="0"/>
          </a:p>
          <a:p>
            <a:pPr marL="0" indent="0">
              <a:buNone/>
            </a:pPr>
            <a:r>
              <a:rPr lang="en-US" sz="1600" dirty="0"/>
              <a:t>3.	</a:t>
            </a:r>
            <a:r>
              <a:rPr lang="en-US" sz="1600" u="sng" dirty="0"/>
              <a:t>Solving the Free-Rider Problem</a:t>
            </a:r>
            <a:r>
              <a:rPr lang="en-US" sz="1600" dirty="0"/>
              <a:t>:  Without a hegemon to bear the costs of leadership and enforce the rules, smaller states would enjoy the benefits of an open system without contributing, leading to its eventual collapse.</a:t>
            </a:r>
            <a:endParaRPr lang="en-US" sz="1200" dirty="0"/>
          </a:p>
          <a:p>
            <a:pPr marL="0" indent="0">
              <a:buNone/>
            </a:pPr>
            <a:endParaRPr lang="en-US" sz="1200" dirty="0"/>
          </a:p>
          <a:p>
            <a:pPr marL="0" indent="0">
              <a:buNone/>
            </a:pPr>
            <a:r>
              <a:rPr lang="en-US" sz="1600" dirty="0"/>
              <a:t>4.	</a:t>
            </a:r>
            <a:r>
              <a:rPr lang="en-US" sz="1600" u="sng" dirty="0"/>
              <a:t>It's Not a Matter of Altruism</a:t>
            </a:r>
            <a:r>
              <a:rPr lang="en-US" sz="1600" dirty="0"/>
              <a:t>:  The reason the hegemon is willing to bear the costs of leadership is that it benefits disproportionately from the stable system it maintains.  Its dominant economic position on the technological frontier allows it to reap the greatest rewards from an open global system.</a:t>
            </a:r>
            <a:endParaRPr lang="en-US" sz="1200" dirty="0"/>
          </a:p>
          <a:p>
            <a:pPr marL="0" indent="0">
              <a:buNone/>
            </a:pPr>
            <a:endParaRPr lang="en-US" sz="1200" dirty="0"/>
          </a:p>
          <a:p>
            <a:pPr marL="0" indent="0">
              <a:buNone/>
            </a:pPr>
            <a:r>
              <a:rPr lang="en-US" sz="1600" dirty="0"/>
              <a:t>5.	</a:t>
            </a:r>
            <a:r>
              <a:rPr lang="en-US" sz="1600" u="sng" dirty="0">
                <a:highlight>
                  <a:srgbClr val="FF0000"/>
                </a:highlight>
              </a:rPr>
              <a:t>Hegemonic Decline Leads to Instability</a:t>
            </a:r>
            <a:r>
              <a:rPr lang="en-US" sz="1600" dirty="0">
                <a:highlight>
                  <a:srgbClr val="800000"/>
                </a:highlight>
              </a:rPr>
              <a:t>:  When the hegemon's power declines, or it loses the will to lead, the international system is prone to becoming chaotic, protectionist, and conflict-ridden.</a:t>
            </a:r>
          </a:p>
        </p:txBody>
      </p:sp>
    </p:spTree>
    <p:extLst>
      <p:ext uri="{BB962C8B-B14F-4D97-AF65-F5344CB8AC3E}">
        <p14:creationId xmlns:p14="http://schemas.microsoft.com/office/powerpoint/2010/main" val="3813695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357EA-7B95-9D27-89E8-3C4EEFCCC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D6E4C-C82C-558F-17DB-492EEF254FFD}"/>
              </a:ext>
            </a:extLst>
          </p:cNvPr>
          <p:cNvSpPr>
            <a:spLocks noGrp="1"/>
          </p:cNvSpPr>
          <p:nvPr>
            <p:ph type="title"/>
          </p:nvPr>
        </p:nvSpPr>
        <p:spPr>
          <a:xfrm>
            <a:off x="457200" y="152400"/>
            <a:ext cx="8229600" cy="914400"/>
          </a:xfrm>
        </p:spPr>
        <p:txBody>
          <a:bodyPr/>
          <a:lstStyle/>
          <a:p>
            <a:pPr>
              <a:defRPr/>
            </a:pPr>
            <a:r>
              <a:rPr lang="en-US" altLang="x-none" sz="3600" dirty="0">
                <a:solidFill>
                  <a:srgbClr val="FFFF00"/>
                </a:solidFill>
                <a:ea typeface="ＭＳ Ｐゴシック" charset="-128"/>
              </a:rPr>
              <a:t>Hegemonic Stability Theory</a:t>
            </a:r>
          </a:p>
        </p:txBody>
      </p:sp>
      <p:pic>
        <p:nvPicPr>
          <p:cNvPr id="32770" name="Content Placeholder 3" descr="Hegemonic stability diagram.gif">
            <a:extLst>
              <a:ext uri="{FF2B5EF4-FFF2-40B4-BE49-F238E27FC236}">
                <a16:creationId xmlns:a16="http://schemas.microsoft.com/office/drawing/2014/main" id="{8A057B15-C36A-578A-C714-C36456FE7D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85172" y="1219200"/>
            <a:ext cx="6173655" cy="5257800"/>
          </a:xfrm>
        </p:spPr>
      </p:pic>
    </p:spTree>
    <p:extLst>
      <p:ext uri="{BB962C8B-B14F-4D97-AF65-F5344CB8AC3E}">
        <p14:creationId xmlns:p14="http://schemas.microsoft.com/office/powerpoint/2010/main" val="31927609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29FF6-5897-8877-D2CE-868EF537BD85}"/>
              </a:ext>
            </a:extLst>
          </p:cNvPr>
          <p:cNvSpPr>
            <a:spLocks noGrp="1"/>
          </p:cNvSpPr>
          <p:nvPr>
            <p:ph type="title"/>
          </p:nvPr>
        </p:nvSpPr>
        <p:spPr/>
        <p:txBody>
          <a:bodyPr/>
          <a:lstStyle/>
          <a:p>
            <a:pPr>
              <a:defRPr/>
            </a:pPr>
            <a:endParaRPr lang="en-US" dirty="0"/>
          </a:p>
        </p:txBody>
      </p:sp>
      <p:pic>
        <p:nvPicPr>
          <p:cNvPr id="30722" name="Content Placeholder 4">
            <a:extLst>
              <a:ext uri="{FF2B5EF4-FFF2-40B4-BE49-F238E27FC236}">
                <a16:creationId xmlns:a16="http://schemas.microsoft.com/office/drawing/2014/main" id="{2DDAF6B3-3C41-093D-4891-78EA26F1BB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847725"/>
            <a:ext cx="7721600" cy="5181600"/>
          </a:xfrm>
        </p:spPr>
      </p:pic>
    </p:spTree>
    <p:extLst>
      <p:ext uri="{BB962C8B-B14F-4D97-AF65-F5344CB8AC3E}">
        <p14:creationId xmlns:p14="http://schemas.microsoft.com/office/powerpoint/2010/main" val="3495900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D71FC-E213-A047-ECD3-8F0D80EE466D}"/>
              </a:ext>
            </a:extLst>
          </p:cNvPr>
          <p:cNvSpPr>
            <a:spLocks noGrp="1"/>
          </p:cNvSpPr>
          <p:nvPr>
            <p:ph type="title"/>
          </p:nvPr>
        </p:nvSpPr>
        <p:spPr/>
        <p:txBody>
          <a:bodyPr/>
          <a:lstStyle/>
          <a:p>
            <a:pPr>
              <a:defRPr/>
            </a:pPr>
            <a:endParaRPr lang="en-US" dirty="0"/>
          </a:p>
        </p:txBody>
      </p:sp>
      <p:pic>
        <p:nvPicPr>
          <p:cNvPr id="33794" name="Content Placeholder 4">
            <a:extLst>
              <a:ext uri="{FF2B5EF4-FFF2-40B4-BE49-F238E27FC236}">
                <a16:creationId xmlns:a16="http://schemas.microsoft.com/office/drawing/2014/main" id="{AA5DB5D0-7D70-A01F-6A2F-F96DAA5AAD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147763"/>
            <a:ext cx="7721600" cy="4581525"/>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051FB-A353-75C7-6403-7E3C8837385F}"/>
              </a:ext>
            </a:extLst>
          </p:cNvPr>
          <p:cNvSpPr>
            <a:spLocks noGrp="1"/>
          </p:cNvSpPr>
          <p:nvPr>
            <p:ph type="title"/>
          </p:nvPr>
        </p:nvSpPr>
        <p:spPr/>
        <p:txBody>
          <a:bodyPr/>
          <a:lstStyle/>
          <a:p>
            <a:endParaRPr lang="en-US" dirty="0"/>
          </a:p>
        </p:txBody>
      </p:sp>
      <p:pic>
        <p:nvPicPr>
          <p:cNvPr id="2050" name="Picture 2">
            <a:extLst>
              <a:ext uri="{FF2B5EF4-FFF2-40B4-BE49-F238E27FC236}">
                <a16:creationId xmlns:a16="http://schemas.microsoft.com/office/drawing/2014/main" id="{14D0DE41-D2E7-7A11-AF87-C5B0FF62DC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1200" y="52323"/>
            <a:ext cx="5181600" cy="6753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524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C5A50-89EE-1007-59E3-CB36E66F89E0}"/>
              </a:ext>
            </a:extLst>
          </p:cNvPr>
          <p:cNvSpPr>
            <a:spLocks noGrp="1"/>
          </p:cNvSpPr>
          <p:nvPr>
            <p:ph type="title"/>
          </p:nvPr>
        </p:nvSpPr>
        <p:spPr/>
        <p:txBody>
          <a:bodyPr/>
          <a:lstStyle/>
          <a:p>
            <a:pPr>
              <a:defRPr/>
            </a:pPr>
            <a:endParaRPr lang="en-US" dirty="0"/>
          </a:p>
        </p:txBody>
      </p:sp>
      <p:pic>
        <p:nvPicPr>
          <p:cNvPr id="34818" name="Content Placeholder 3">
            <a:extLst>
              <a:ext uri="{FF2B5EF4-FFF2-40B4-BE49-F238E27FC236}">
                <a16:creationId xmlns:a16="http://schemas.microsoft.com/office/drawing/2014/main" id="{E7D57787-8729-5294-8EFF-25FAFCD0E1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277813"/>
            <a:ext cx="7204075" cy="5160962"/>
          </a:xfrm>
        </p:spPr>
      </p:pic>
      <p:sp>
        <p:nvSpPr>
          <p:cNvPr id="34819" name="TextBox 4">
            <a:extLst>
              <a:ext uri="{FF2B5EF4-FFF2-40B4-BE49-F238E27FC236}">
                <a16:creationId xmlns:a16="http://schemas.microsoft.com/office/drawing/2014/main" id="{0D4BC396-5070-B13F-3D67-257431B29114}"/>
              </a:ext>
            </a:extLst>
          </p:cNvPr>
          <p:cNvSpPr txBox="1">
            <a:spLocks noChangeArrowheads="1"/>
          </p:cNvSpPr>
          <p:nvPr/>
        </p:nvSpPr>
        <p:spPr bwMode="auto">
          <a:xfrm>
            <a:off x="173038" y="55626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400" dirty="0"/>
              <a:t>Even when U.S. hegemony fades (Japanese and West German power surge),</a:t>
            </a:r>
          </a:p>
          <a:p>
            <a:pPr algn="ctr">
              <a:spcBef>
                <a:spcPct val="0"/>
              </a:spcBef>
              <a:buClrTx/>
              <a:buSzTx/>
              <a:buFontTx/>
              <a:buNone/>
            </a:pPr>
            <a:r>
              <a:rPr lang="en-US" altLang="en-US" sz="1400" dirty="0"/>
              <a:t>the world trade regime continued to function and even to advance until recently.</a:t>
            </a:r>
          </a:p>
          <a:p>
            <a:pPr algn="ctr">
              <a:spcBef>
                <a:spcPct val="0"/>
              </a:spcBef>
              <a:buClrTx/>
              <a:buSzTx/>
              <a:buFontTx/>
              <a:buNone/>
            </a:pPr>
            <a:endParaRPr lang="en-US" altLang="en-US" sz="1400" dirty="0"/>
          </a:p>
          <a:p>
            <a:pPr algn="ctr">
              <a:spcBef>
                <a:spcPct val="0"/>
              </a:spcBef>
              <a:buClrTx/>
              <a:buSzTx/>
              <a:buFontTx/>
              <a:buNone/>
            </a:pPr>
            <a:r>
              <a:rPr lang="en-US" altLang="en-US" sz="1400" u="sng" dirty="0">
                <a:highlight>
                  <a:srgbClr val="800080"/>
                </a:highlight>
              </a:rPr>
              <a:t>SO WHAT EXPLAINS THIS HIGH DEGREE OF STATE COOPERATION UNDER ANARCHY?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AC727-E42B-369E-2505-86208CFA3B1E}"/>
              </a:ext>
            </a:extLst>
          </p:cNvPr>
          <p:cNvSpPr>
            <a:spLocks noGrp="1"/>
          </p:cNvSpPr>
          <p:nvPr>
            <p:ph type="title"/>
          </p:nvPr>
        </p:nvSpPr>
        <p:spPr>
          <a:xfrm>
            <a:off x="457200" y="152400"/>
            <a:ext cx="8229600" cy="1066800"/>
          </a:xfrm>
        </p:spPr>
        <p:txBody>
          <a:bodyPr/>
          <a:lstStyle/>
          <a:p>
            <a:pPr>
              <a:defRPr/>
            </a:pPr>
            <a:r>
              <a:rPr lang="en-US" altLang="x-none" sz="4000" dirty="0">
                <a:solidFill>
                  <a:srgbClr val="FFFF00"/>
                </a:solidFill>
                <a:ea typeface="ＭＳ Ｐゴシック" charset="-128"/>
              </a:rPr>
              <a:t>The Prisoners</a:t>
            </a:r>
            <a:r>
              <a:rPr lang="ja-JP" altLang="en-US" sz="4000">
                <a:solidFill>
                  <a:srgbClr val="FFFF00"/>
                </a:solidFill>
                <a:ea typeface="ＭＳ Ｐゴシック" charset="-128"/>
              </a:rPr>
              <a:t>’</a:t>
            </a:r>
            <a:r>
              <a:rPr lang="en-US" altLang="ja-JP" sz="4000" dirty="0">
                <a:solidFill>
                  <a:srgbClr val="FFFF00"/>
                </a:solidFill>
                <a:ea typeface="ＭＳ Ｐゴシック" charset="-128"/>
              </a:rPr>
              <a:t> Dilemma</a:t>
            </a:r>
            <a:endParaRPr lang="en-US" altLang="x-none" sz="4000" dirty="0">
              <a:solidFill>
                <a:srgbClr val="FFFF00"/>
              </a:solidFill>
              <a:ea typeface="ＭＳ Ｐゴシック" charset="-128"/>
            </a:endParaRPr>
          </a:p>
        </p:txBody>
      </p:sp>
      <p:pic>
        <p:nvPicPr>
          <p:cNvPr id="35842" name="Content Placeholder 3" descr="PD c.jpg">
            <a:extLst>
              <a:ext uri="{FF2B5EF4-FFF2-40B4-BE49-F238E27FC236}">
                <a16:creationId xmlns:a16="http://schemas.microsoft.com/office/drawing/2014/main" id="{6363FD30-AED5-7B76-1164-5963127EFE0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486400" y="1447800"/>
            <a:ext cx="3170238" cy="4754563"/>
          </a:xfrm>
        </p:spPr>
      </p:pic>
      <p:pic>
        <p:nvPicPr>
          <p:cNvPr id="35843" name="Picture 4" descr="PD a.jpg">
            <a:extLst>
              <a:ext uri="{FF2B5EF4-FFF2-40B4-BE49-F238E27FC236}">
                <a16:creationId xmlns:a16="http://schemas.microsoft.com/office/drawing/2014/main" id="{DF722590-35DC-52E5-98C7-9F5581D5ABD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447800"/>
            <a:ext cx="3978275" cy="530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a:extLst>
              <a:ext uri="{FF2B5EF4-FFF2-40B4-BE49-F238E27FC236}">
                <a16:creationId xmlns:a16="http://schemas.microsoft.com/office/drawing/2014/main" id="{A6F09C32-AA11-E5AE-E315-55D133DFB721}"/>
              </a:ext>
            </a:extLst>
          </p:cNvPr>
          <p:cNvSpPr>
            <a:spLocks noGrp="1" noChangeArrowheads="1"/>
          </p:cNvSpPr>
          <p:nvPr>
            <p:ph type="title"/>
          </p:nvPr>
        </p:nvSpPr>
        <p:spPr>
          <a:xfrm>
            <a:off x="457200" y="277813"/>
            <a:ext cx="8229600" cy="941387"/>
          </a:xfrm>
        </p:spPr>
        <p:txBody>
          <a:bodyPr/>
          <a:lstStyle/>
          <a:p>
            <a:pPr eaLnBrk="1" hangingPunct="1">
              <a:defRPr/>
            </a:pPr>
            <a:r>
              <a:rPr lang="en-US" dirty="0">
                <a:solidFill>
                  <a:schemeClr val="tx1"/>
                </a:solidFill>
              </a:rPr>
              <a:t>The Prisoners’ Dilemma</a:t>
            </a:r>
          </a:p>
        </p:txBody>
      </p:sp>
      <p:sp>
        <p:nvSpPr>
          <p:cNvPr id="432141" name="Rectangle 13">
            <a:extLst>
              <a:ext uri="{FF2B5EF4-FFF2-40B4-BE49-F238E27FC236}">
                <a16:creationId xmlns:a16="http://schemas.microsoft.com/office/drawing/2014/main" id="{D087F26A-CC89-B1F8-D913-61FEB3E8E651}"/>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ea typeface="ＭＳ Ｐゴシック" panose="020B0600070205080204" pitchFamily="34" charset="-128"/>
            </a:endParaRPr>
          </a:p>
        </p:txBody>
      </p:sp>
      <p:pic>
        <p:nvPicPr>
          <p:cNvPr id="36867" name="Picture 14" descr="Scan10001">
            <a:extLst>
              <a:ext uri="{FF2B5EF4-FFF2-40B4-BE49-F238E27FC236}">
                <a16:creationId xmlns:a16="http://schemas.microsoft.com/office/drawing/2014/main" id="{CD5ECA87-DF0A-4040-348B-7233B82C9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524000"/>
            <a:ext cx="59626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631B1-FDF2-2B7D-2DF3-1B051841C372}"/>
              </a:ext>
            </a:extLst>
          </p:cNvPr>
          <p:cNvSpPr>
            <a:spLocks noGrp="1"/>
          </p:cNvSpPr>
          <p:nvPr>
            <p:ph type="title"/>
          </p:nvPr>
        </p:nvSpPr>
        <p:spPr>
          <a:xfrm>
            <a:off x="0" y="152400"/>
            <a:ext cx="9144000" cy="990600"/>
          </a:xfrm>
        </p:spPr>
        <p:txBody>
          <a:bodyPr/>
          <a:lstStyle/>
          <a:p>
            <a:pPr eaLnBrk="1" hangingPunct="1">
              <a:defRPr/>
            </a:pPr>
            <a:r>
              <a:rPr lang="en-US" altLang="x-none" sz="3200" dirty="0">
                <a:solidFill>
                  <a:srgbClr val="FFFF00"/>
                </a:solidFill>
                <a:ea typeface="ＭＳ Ｐゴシック" charset="-128"/>
              </a:rPr>
              <a:t>Can the security dilemma be modeled as a PD?</a:t>
            </a:r>
          </a:p>
        </p:txBody>
      </p:sp>
      <p:pic>
        <p:nvPicPr>
          <p:cNvPr id="38914" name="Content Placeholder 3" descr="Security dilemma.jpg">
            <a:extLst>
              <a:ext uri="{FF2B5EF4-FFF2-40B4-BE49-F238E27FC236}">
                <a16:creationId xmlns:a16="http://schemas.microsoft.com/office/drawing/2014/main" id="{7A826706-CD80-3CC1-A49F-2147154077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1600" y="1447800"/>
            <a:ext cx="6184900" cy="4572000"/>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a:extLst>
              <a:ext uri="{FF2B5EF4-FFF2-40B4-BE49-F238E27FC236}">
                <a16:creationId xmlns:a16="http://schemas.microsoft.com/office/drawing/2014/main" id="{1A29B1ED-E471-6BA8-07B6-F2215E7D5D5D}"/>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438275" name="Rectangle 3">
            <a:extLst>
              <a:ext uri="{FF2B5EF4-FFF2-40B4-BE49-F238E27FC236}">
                <a16:creationId xmlns:a16="http://schemas.microsoft.com/office/drawing/2014/main" id="{6F7AE259-AA38-BA05-918E-3106ED372B39}"/>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39939" name="Picture 4" descr="Scan10003">
            <a:extLst>
              <a:ext uri="{FF2B5EF4-FFF2-40B4-BE49-F238E27FC236}">
                <a16:creationId xmlns:a16="http://schemas.microsoft.com/office/drawing/2014/main" id="{C9D64ECD-B9CD-9CB6-1F04-29C57085A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9406" y="1143000"/>
            <a:ext cx="594518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a:extLst>
              <a:ext uri="{FF2B5EF4-FFF2-40B4-BE49-F238E27FC236}">
                <a16:creationId xmlns:a16="http://schemas.microsoft.com/office/drawing/2014/main" id="{B684F328-544D-0C23-D091-05CFB4A84E64}"/>
              </a:ext>
            </a:extLst>
          </p:cNvPr>
          <p:cNvSpPr>
            <a:spLocks noGrp="1" noChangeArrowheads="1"/>
          </p:cNvSpPr>
          <p:nvPr>
            <p:ph type="title"/>
          </p:nvPr>
        </p:nvSpPr>
        <p:spPr>
          <a:xfrm>
            <a:off x="457200" y="277813"/>
            <a:ext cx="8229600" cy="873125"/>
          </a:xfrm>
        </p:spPr>
        <p:txBody>
          <a:bodyPr/>
          <a:lstStyle/>
          <a:p>
            <a:pPr eaLnBrk="1" hangingPunct="1">
              <a:defRPr/>
            </a:pPr>
            <a:r>
              <a:rPr lang="en-US" altLang="en-US" sz="2400" dirty="0">
                <a:solidFill>
                  <a:srgbClr val="FFFF00"/>
                </a:solidFill>
                <a:ea typeface="ＭＳ Ｐゴシック" panose="020B0600070205080204" pitchFamily="34" charset="-128"/>
              </a:rPr>
              <a:t>!!~~&gt; </a:t>
            </a:r>
            <a:r>
              <a:rPr lang="en-US" altLang="en-US" sz="3200" dirty="0">
                <a:solidFill>
                  <a:schemeClr val="tx1"/>
                </a:solidFill>
                <a:highlight>
                  <a:srgbClr val="0000FF"/>
                </a:highlight>
                <a:ea typeface="ＭＳ Ｐゴシック" panose="020B0600070205080204" pitchFamily="34" charset="-128"/>
              </a:rPr>
              <a:t>C H I C K E N </a:t>
            </a:r>
            <a:r>
              <a:rPr lang="en-US" altLang="en-US" sz="2400" dirty="0">
                <a:solidFill>
                  <a:srgbClr val="FFFF00"/>
                </a:solidFill>
                <a:ea typeface="ＭＳ Ｐゴシック" panose="020B0600070205080204" pitchFamily="34" charset="-128"/>
              </a:rPr>
              <a:t>&lt;~~!!</a:t>
            </a:r>
          </a:p>
        </p:txBody>
      </p:sp>
      <p:sp>
        <p:nvSpPr>
          <p:cNvPr id="439299" name="Rectangle 3">
            <a:extLst>
              <a:ext uri="{FF2B5EF4-FFF2-40B4-BE49-F238E27FC236}">
                <a16:creationId xmlns:a16="http://schemas.microsoft.com/office/drawing/2014/main" id="{C1E243D7-34F6-24F5-E114-A88AA62644B5}"/>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45059" name="Picture 5" descr="Scan10005">
            <a:extLst>
              <a:ext uri="{FF2B5EF4-FFF2-40B4-BE49-F238E27FC236}">
                <a16:creationId xmlns:a16="http://schemas.microsoft.com/office/drawing/2014/main" id="{C2EB015C-A6D6-ADC2-5FD3-3BA6AC1FF1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788" y="1309688"/>
            <a:ext cx="594042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Box 1">
            <a:extLst>
              <a:ext uri="{FF2B5EF4-FFF2-40B4-BE49-F238E27FC236}">
                <a16:creationId xmlns:a16="http://schemas.microsoft.com/office/drawing/2014/main" id="{7D2F331A-5170-3BE2-BF36-3BF05D34CB43}"/>
              </a:ext>
            </a:extLst>
          </p:cNvPr>
          <p:cNvSpPr txBox="1">
            <a:spLocks noChangeArrowheads="1"/>
          </p:cNvSpPr>
          <p:nvPr/>
        </p:nvSpPr>
        <p:spPr bwMode="auto">
          <a:xfrm>
            <a:off x="1601788" y="6289675"/>
            <a:ext cx="5940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800" i="1" dirty="0">
                <a:highlight>
                  <a:srgbClr val="008080"/>
                </a:highlight>
              </a:rPr>
              <a:t>Imagine the U.S. as A and China as B</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49693-743D-8E4C-94A0-7A513F1E17E7}"/>
              </a:ext>
            </a:extLst>
          </p:cNvPr>
          <p:cNvSpPr>
            <a:spLocks noGrp="1"/>
          </p:cNvSpPr>
          <p:nvPr>
            <p:ph type="title"/>
          </p:nvPr>
        </p:nvSpPr>
        <p:spPr/>
        <p:txBody>
          <a:bodyPr/>
          <a:lstStyle/>
          <a:p>
            <a:pPr>
              <a:defRPr/>
            </a:pPr>
            <a:r>
              <a:rPr lang="en-US" altLang="x-none" sz="2800" dirty="0">
                <a:solidFill>
                  <a:srgbClr val="FFFF00"/>
                </a:solidFill>
                <a:ea typeface="ＭＳ Ｐゴシック" charset="-128"/>
              </a:rPr>
              <a:t>But someone didn’</a:t>
            </a:r>
            <a:r>
              <a:rPr lang="en-US" altLang="ja-JP" sz="2800" dirty="0">
                <a:solidFill>
                  <a:srgbClr val="FFFF00"/>
                </a:solidFill>
                <a:ea typeface="ＭＳ Ｐゴシック" charset="-128"/>
              </a:rPr>
              <a:t>t behave </a:t>
            </a:r>
            <a:r>
              <a:rPr lang="en-US" altLang="ja-JP" sz="2800" u="sng" dirty="0">
                <a:solidFill>
                  <a:srgbClr val="FFFF00"/>
                </a:solidFill>
                <a:ea typeface="ＭＳ Ｐゴシック" charset="-128"/>
              </a:rPr>
              <a:t>rationally</a:t>
            </a:r>
            <a:r>
              <a:rPr lang="en-US" altLang="ja-JP" sz="2800" dirty="0">
                <a:solidFill>
                  <a:srgbClr val="FFFF00"/>
                </a:solidFill>
                <a:ea typeface="ＭＳ Ｐゴシック" charset="-128"/>
              </a:rPr>
              <a:t> the night of</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July 13</a:t>
            </a:r>
            <a:r>
              <a:rPr lang="en-US" altLang="ja-JP" sz="2800" baseline="30000" dirty="0">
                <a:solidFill>
                  <a:srgbClr val="FFFF00"/>
                </a:solidFill>
                <a:ea typeface="ＭＳ Ｐゴシック" charset="-128"/>
              </a:rPr>
              <a:t>th</a:t>
            </a:r>
            <a:r>
              <a:rPr lang="en-US" altLang="ja-JP" sz="2800" dirty="0">
                <a:solidFill>
                  <a:srgbClr val="FFFF00"/>
                </a:solidFill>
                <a:ea typeface="ＭＳ Ｐゴシック" charset="-128"/>
              </a:rPr>
              <a:t>,1950 in Wichita, Kansas</a:t>
            </a:r>
            <a:endParaRPr lang="en-US" altLang="x-none" sz="2800" dirty="0">
              <a:solidFill>
                <a:srgbClr val="FFFF00"/>
              </a:solidFill>
              <a:ea typeface="ＭＳ Ｐゴシック" charset="-128"/>
            </a:endParaRPr>
          </a:p>
        </p:txBody>
      </p:sp>
      <p:pic>
        <p:nvPicPr>
          <p:cNvPr id="47106" name="Content Placeholder 3" descr="Chicken (result).jpg">
            <a:extLst>
              <a:ext uri="{FF2B5EF4-FFF2-40B4-BE49-F238E27FC236}">
                <a16:creationId xmlns:a16="http://schemas.microsoft.com/office/drawing/2014/main" id="{C6743056-801E-8FE7-B656-65EBAC617F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8234" r="-18234"/>
          <a:stretch>
            <a:fillRect/>
          </a:stretch>
        </p:blip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7B716-9043-3639-BE1F-55FB106D5DE5}"/>
              </a:ext>
            </a:extLst>
          </p:cNvPr>
          <p:cNvSpPr>
            <a:spLocks noGrp="1"/>
          </p:cNvSpPr>
          <p:nvPr>
            <p:ph type="title"/>
          </p:nvPr>
        </p:nvSpPr>
        <p:spPr/>
        <p:txBody>
          <a:bodyPr/>
          <a:lstStyle/>
          <a:p>
            <a:pPr>
              <a:defRPr/>
            </a:pPr>
            <a:r>
              <a:rPr lang="en-US" altLang="x-none" sz="3200" dirty="0">
                <a:solidFill>
                  <a:schemeClr val="tx1"/>
                </a:solidFill>
                <a:ea typeface="ＭＳ Ｐゴシック" charset="-128"/>
              </a:rPr>
              <a:t>How to prevent the car crashes of international relations?</a:t>
            </a:r>
          </a:p>
        </p:txBody>
      </p:sp>
      <p:pic>
        <p:nvPicPr>
          <p:cNvPr id="48130" name="Content Placeholder 3" descr="Car crash.jpg">
            <a:extLst>
              <a:ext uri="{FF2B5EF4-FFF2-40B4-BE49-F238E27FC236}">
                <a16:creationId xmlns:a16="http://schemas.microsoft.com/office/drawing/2014/main" id="{067D0601-DD6A-672A-8737-045E837415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7903" r="-7903"/>
          <a:stretch>
            <a:fillRect/>
          </a:stretch>
        </p:blipFill>
        <p:spPr>
          <a:xfrm>
            <a:off x="457200" y="1600200"/>
            <a:ext cx="8229600" cy="4572000"/>
          </a:xfrm>
        </p:spPr>
      </p:pic>
      <p:sp>
        <p:nvSpPr>
          <p:cNvPr id="48131" name="TextBox 4">
            <a:extLst>
              <a:ext uri="{FF2B5EF4-FFF2-40B4-BE49-F238E27FC236}">
                <a16:creationId xmlns:a16="http://schemas.microsoft.com/office/drawing/2014/main" id="{11C2AAE5-E555-EAD8-13F8-BF52BC7472DB}"/>
              </a:ext>
            </a:extLst>
          </p:cNvPr>
          <p:cNvSpPr txBox="1">
            <a:spLocks noChangeArrowheads="1"/>
          </p:cNvSpPr>
          <p:nvPr/>
        </p:nvSpPr>
        <p:spPr bwMode="auto">
          <a:xfrm>
            <a:off x="990600" y="5943600"/>
            <a:ext cx="7848600" cy="3698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DED1-4623-1789-8EB1-ED4DD06DBA37}"/>
              </a:ext>
            </a:extLst>
          </p:cNvPr>
          <p:cNvSpPr>
            <a:spLocks noGrp="1"/>
          </p:cNvSpPr>
          <p:nvPr>
            <p:ph type="title"/>
          </p:nvPr>
        </p:nvSpPr>
        <p:spPr>
          <a:xfrm>
            <a:off x="457200" y="277813"/>
            <a:ext cx="8229600" cy="788987"/>
          </a:xfrm>
        </p:spPr>
        <p:txBody>
          <a:bodyPr/>
          <a:lstStyle/>
          <a:p>
            <a:pPr>
              <a:defRPr/>
            </a:pPr>
            <a:endParaRPr lang="en-US" altLang="en-US" dirty="0">
              <a:solidFill>
                <a:srgbClr val="FFFF00"/>
              </a:solidFill>
              <a:ea typeface="ＭＳ Ｐゴシック" panose="020B0600070205080204" pitchFamily="34" charset="-128"/>
            </a:endParaRPr>
          </a:p>
        </p:txBody>
      </p:sp>
      <p:pic>
        <p:nvPicPr>
          <p:cNvPr id="49154" name="Content Placeholder 3" descr="cops-dunkin-donuts 2.jpg">
            <a:extLst>
              <a:ext uri="{FF2B5EF4-FFF2-40B4-BE49-F238E27FC236}">
                <a16:creationId xmlns:a16="http://schemas.microsoft.com/office/drawing/2014/main" id="{EE1205B9-9D22-E2AA-C940-0BF5254114F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5327" r="-15327"/>
          <a:stretch>
            <a:fillRect/>
          </a:stretch>
        </p:blipFill>
        <p:spPr>
          <a:xfrm>
            <a:off x="-152400" y="3581400"/>
            <a:ext cx="4983163" cy="2743200"/>
          </a:xfrm>
        </p:spPr>
      </p:pic>
      <p:pic>
        <p:nvPicPr>
          <p:cNvPr id="49155" name="Picture 4">
            <a:extLst>
              <a:ext uri="{FF2B5EF4-FFF2-40B4-BE49-F238E27FC236}">
                <a16:creationId xmlns:a16="http://schemas.microsoft.com/office/drawing/2014/main" id="{BD5064A3-EF5F-E2F6-3449-606CEDA60B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3581400"/>
            <a:ext cx="3519488"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6" name="Content Placeholder 3" descr="Hegemonic stability diagram.gif">
            <a:extLst>
              <a:ext uri="{FF2B5EF4-FFF2-40B4-BE49-F238E27FC236}">
                <a16:creationId xmlns:a16="http://schemas.microsoft.com/office/drawing/2014/main" id="{E7A00A30-12ED-B879-75CB-13C6E48FE73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381000"/>
            <a:ext cx="3221038"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A528B-28FF-6B39-952E-CF0E559E0E81}"/>
              </a:ext>
            </a:extLst>
          </p:cNvPr>
          <p:cNvSpPr>
            <a:spLocks noGrp="1"/>
          </p:cNvSpPr>
          <p:nvPr>
            <p:ph type="title"/>
          </p:nvPr>
        </p:nvSpPr>
        <p:spPr>
          <a:xfrm>
            <a:off x="457200" y="277813"/>
            <a:ext cx="8229600" cy="865187"/>
          </a:xfrm>
        </p:spPr>
        <p:txBody>
          <a:bodyPr/>
          <a:lstStyle/>
          <a:p>
            <a:pPr>
              <a:defRPr/>
            </a:pPr>
            <a:r>
              <a:rPr lang="en-US" altLang="x-none" sz="2800" dirty="0">
                <a:solidFill>
                  <a:schemeClr val="tx1"/>
                </a:solidFill>
                <a:ea typeface="ＭＳ Ｐゴシック" charset="-128"/>
              </a:rPr>
              <a:t>Iterated (multiple-round) Prisoners Dilemma:</a:t>
            </a:r>
            <a:br>
              <a:rPr lang="en-US" altLang="x-none" sz="2800" dirty="0">
                <a:solidFill>
                  <a:schemeClr val="tx1"/>
                </a:solidFill>
                <a:ea typeface="ＭＳ Ｐゴシック" charset="-128"/>
              </a:rPr>
            </a:br>
            <a:r>
              <a:rPr lang="en-US" altLang="x-none" sz="2800" dirty="0">
                <a:solidFill>
                  <a:schemeClr val="tx1"/>
                </a:solidFill>
                <a:ea typeface="ＭＳ Ｐゴシック" charset="-128"/>
              </a:rPr>
              <a:t>Suddenly </a:t>
            </a:r>
            <a:r>
              <a:rPr lang="en-US" altLang="x-none" sz="2800" dirty="0">
                <a:solidFill>
                  <a:srgbClr val="FFFF00"/>
                </a:solidFill>
                <a:ea typeface="ＭＳ Ｐゴシック" charset="-128"/>
              </a:rPr>
              <a:t>the shadow of the future </a:t>
            </a:r>
            <a:r>
              <a:rPr lang="en-US" altLang="x-none" sz="2800" dirty="0">
                <a:solidFill>
                  <a:schemeClr val="tx1"/>
                </a:solidFill>
                <a:ea typeface="ＭＳ Ｐゴシック" charset="-128"/>
              </a:rPr>
              <a:t>looms</a:t>
            </a:r>
          </a:p>
        </p:txBody>
      </p:sp>
      <p:pic>
        <p:nvPicPr>
          <p:cNvPr id="50178" name="Content Placeholder 3" descr="Iterated PD.jpg">
            <a:extLst>
              <a:ext uri="{FF2B5EF4-FFF2-40B4-BE49-F238E27FC236}">
                <a16:creationId xmlns:a16="http://schemas.microsoft.com/office/drawing/2014/main" id="{2674453F-36FD-C432-2931-5E6C66440F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3576" r="-23576"/>
          <a:stretch>
            <a:fillRect/>
          </a:stretch>
        </p:blipFill>
        <p:spPr>
          <a:xfrm>
            <a:off x="0" y="1600200"/>
            <a:ext cx="9134475" cy="5029200"/>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23149-8CDF-D7AD-19A3-21E66F6C240D}"/>
              </a:ext>
            </a:extLst>
          </p:cNvPr>
          <p:cNvSpPr>
            <a:spLocks noGrp="1"/>
          </p:cNvSpPr>
          <p:nvPr>
            <p:ph type="title"/>
          </p:nvPr>
        </p:nvSpPr>
        <p:spPr>
          <a:xfrm>
            <a:off x="228600" y="277813"/>
            <a:ext cx="8686800" cy="1139825"/>
          </a:xfrm>
        </p:spPr>
        <p:txBody>
          <a:bodyPr/>
          <a:lstStyle/>
          <a:p>
            <a:pPr>
              <a:defRPr/>
            </a:pPr>
            <a:r>
              <a:rPr lang="en-US" altLang="x-none" sz="3200" dirty="0">
                <a:solidFill>
                  <a:srgbClr val="FFFFFF"/>
                </a:solidFill>
                <a:effectLst>
                  <a:outerShdw blurRad="38100" dist="38100" dir="2700000" algn="tl">
                    <a:srgbClr val="010199"/>
                  </a:outerShdw>
                </a:effectLst>
                <a:ea typeface="ＭＳ Ｐゴシック" charset="-128"/>
              </a:rPr>
              <a:t>EVEN IN A HOBBESIAN WORLD, looking like a PD, </a:t>
            </a:r>
            <a:r>
              <a:rPr lang="en-US" altLang="x-none" sz="3200" dirty="0">
                <a:solidFill>
                  <a:srgbClr val="FFFF00"/>
                </a:solidFill>
                <a:ea typeface="ＭＳ Ｐゴシック" charset="-128"/>
              </a:rPr>
              <a:t>the best long-term strategy is: tit for tat</a:t>
            </a:r>
          </a:p>
        </p:txBody>
      </p:sp>
      <p:sp>
        <p:nvSpPr>
          <p:cNvPr id="3" name="Content Placeholder 2">
            <a:extLst>
              <a:ext uri="{FF2B5EF4-FFF2-40B4-BE49-F238E27FC236}">
                <a16:creationId xmlns:a16="http://schemas.microsoft.com/office/drawing/2014/main" id="{6A922A03-751F-A070-D5E6-6A45EC11B721}"/>
              </a:ext>
            </a:extLst>
          </p:cNvPr>
          <p:cNvSpPr>
            <a:spLocks noGrp="1"/>
          </p:cNvSpPr>
          <p:nvPr>
            <p:ph idx="1"/>
          </p:nvPr>
        </p:nvSpPr>
        <p:spPr/>
        <p:txBody>
          <a:bodyPr/>
          <a:lstStyle/>
          <a:p>
            <a:pPr>
              <a:buFont typeface="Wingdings" charset="0"/>
              <a:buNone/>
              <a:defRPr/>
            </a:pPr>
            <a:endParaRPr lang="en-US" sz="1800" dirty="0"/>
          </a:p>
          <a:p>
            <a:pPr>
              <a:buFont typeface="Wingdings" charset="0"/>
              <a:buNone/>
              <a:defRPr/>
            </a:pPr>
            <a:endParaRPr 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C9678-C54D-A473-8317-2D9EED3B460F}"/>
              </a:ext>
            </a:extLst>
          </p:cNvPr>
          <p:cNvSpPr>
            <a:spLocks noGrp="1"/>
          </p:cNvSpPr>
          <p:nvPr>
            <p:ph type="title"/>
          </p:nvPr>
        </p:nvSpPr>
        <p:spPr>
          <a:xfrm>
            <a:off x="228600" y="277813"/>
            <a:ext cx="8686800" cy="1139825"/>
          </a:xfrm>
        </p:spPr>
        <p:txBody>
          <a:bodyPr/>
          <a:lstStyle/>
          <a:p>
            <a:pPr>
              <a:defRPr/>
            </a:pPr>
            <a:r>
              <a:rPr lang="en-US" altLang="x-none" sz="3200" dirty="0">
                <a:solidFill>
                  <a:srgbClr val="FFFFFF"/>
                </a:solidFill>
                <a:effectLst>
                  <a:outerShdw blurRad="38100" dist="38100" dir="2700000" algn="tl">
                    <a:srgbClr val="010199"/>
                  </a:outerShdw>
                </a:effectLst>
                <a:ea typeface="ＭＳ Ｐゴシック" charset="-128"/>
              </a:rPr>
              <a:t>EVEN IN A HOBBESIAN WORLD, looking like a PD, </a:t>
            </a:r>
            <a:r>
              <a:rPr lang="en-US" altLang="x-none" sz="3200" dirty="0">
                <a:solidFill>
                  <a:srgbClr val="FFFF00"/>
                </a:solidFill>
                <a:ea typeface="ＭＳ Ｐゴシック" charset="-128"/>
              </a:rPr>
              <a:t>the best long-term strategy is: tit for tat</a:t>
            </a:r>
          </a:p>
        </p:txBody>
      </p:sp>
      <p:sp>
        <p:nvSpPr>
          <p:cNvPr id="3" name="Content Placeholder 2">
            <a:extLst>
              <a:ext uri="{FF2B5EF4-FFF2-40B4-BE49-F238E27FC236}">
                <a16:creationId xmlns:a16="http://schemas.microsoft.com/office/drawing/2014/main" id="{457F102F-B0BF-A90D-70D5-948433DA56D8}"/>
              </a:ext>
            </a:extLst>
          </p:cNvPr>
          <p:cNvSpPr>
            <a:spLocks noGrp="1"/>
          </p:cNvSpPr>
          <p:nvPr>
            <p:ph idx="1"/>
          </p:nvPr>
        </p:nvSpPr>
        <p:spPr/>
        <p:txBody>
          <a:bodyPr/>
          <a:lstStyle/>
          <a:p>
            <a:pPr>
              <a:buFont typeface="Wingdings" charset="2"/>
              <a:buNone/>
              <a:defRPr/>
            </a:pPr>
            <a:endParaRPr lang="en-US" altLang="x-none" sz="1800" dirty="0">
              <a:ea typeface="ＭＳ Ｐゴシック" charset="-128"/>
            </a:endParaRPr>
          </a:p>
          <a:p>
            <a:pPr>
              <a:buFont typeface="Wingdings" charset="2"/>
              <a:buNone/>
              <a:defRPr/>
            </a:pPr>
            <a:r>
              <a:rPr lang="en-US" altLang="x-none" sz="2800" dirty="0">
                <a:ea typeface="ＭＳ Ｐゴシック" charset="-128"/>
              </a:rPr>
              <a:t>1.		Always </a:t>
            </a:r>
            <a:r>
              <a:rPr lang="en-US" altLang="x-none" sz="2800" dirty="0">
                <a:solidFill>
                  <a:srgbClr val="00B050"/>
                </a:solidFill>
                <a:ea typeface="ＭＳ Ｐゴシック" charset="-128"/>
              </a:rPr>
              <a:t>cooperate</a:t>
            </a:r>
            <a:r>
              <a:rPr lang="en-US" altLang="x-none" sz="2800" dirty="0">
                <a:ea typeface="ＭＳ Ｐゴシック" charset="-128"/>
              </a:rPr>
              <a:t> with the other player at 	first; that is, don</a:t>
            </a:r>
            <a:r>
              <a:rPr lang="ja-JP" altLang="en-US" sz="2800">
                <a:ea typeface="ＭＳ Ｐゴシック" charset="-128"/>
              </a:rPr>
              <a:t>’</a:t>
            </a:r>
            <a:r>
              <a:rPr lang="en-US" altLang="ja-JP" sz="2800" dirty="0">
                <a:ea typeface="ＭＳ Ｐゴシック" charset="-128"/>
              </a:rPr>
              <a:t>t be the first one to </a:t>
            </a:r>
            <a:r>
              <a:rPr lang="en-US" altLang="ja-JP" sz="2800" dirty="0">
                <a:solidFill>
                  <a:srgbClr val="FFFF00"/>
                </a:solidFill>
                <a:ea typeface="ＭＳ Ｐゴシック" charset="-128"/>
              </a:rPr>
              <a:t>defect</a:t>
            </a:r>
            <a:r>
              <a:rPr lang="en-US" altLang="ja-JP" sz="2800" dirty="0">
                <a:ea typeface="ＭＳ Ｐゴシック" charset="-128"/>
              </a:rPr>
              <a:t>.</a:t>
            </a:r>
            <a:endParaRPr lang="en-US" altLang="x-none" sz="2800" dirty="0">
              <a:ea typeface="ＭＳ Ｐゴシック" charset="-128"/>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87B25-38E6-326D-C37A-4C99AF740C3E}"/>
              </a:ext>
            </a:extLst>
          </p:cNvPr>
          <p:cNvSpPr>
            <a:spLocks noGrp="1"/>
          </p:cNvSpPr>
          <p:nvPr>
            <p:ph type="title"/>
          </p:nvPr>
        </p:nvSpPr>
        <p:spPr>
          <a:xfrm>
            <a:off x="228600" y="277813"/>
            <a:ext cx="8686800" cy="1139825"/>
          </a:xfrm>
        </p:spPr>
        <p:txBody>
          <a:bodyPr/>
          <a:lstStyle/>
          <a:p>
            <a:pPr>
              <a:defRPr/>
            </a:pPr>
            <a:r>
              <a:rPr lang="en-US" altLang="x-none" sz="3200" dirty="0">
                <a:solidFill>
                  <a:srgbClr val="FFFFFF"/>
                </a:solidFill>
                <a:effectLst>
                  <a:outerShdw blurRad="38100" dist="38100" dir="2700000" algn="tl">
                    <a:srgbClr val="010199"/>
                  </a:outerShdw>
                </a:effectLst>
                <a:ea typeface="ＭＳ Ｐゴシック" charset="-128"/>
              </a:rPr>
              <a:t>EVEN IN A HOBBESIAN WORLD, looking like a PD, </a:t>
            </a:r>
            <a:r>
              <a:rPr lang="en-US" altLang="x-none" sz="3200" dirty="0">
                <a:solidFill>
                  <a:srgbClr val="FFFF00"/>
                </a:solidFill>
                <a:ea typeface="ＭＳ Ｐゴシック" charset="-128"/>
              </a:rPr>
              <a:t>the best long-term strategy is: tit for tat</a:t>
            </a:r>
          </a:p>
        </p:txBody>
      </p:sp>
      <p:sp>
        <p:nvSpPr>
          <p:cNvPr id="3" name="Content Placeholder 2">
            <a:extLst>
              <a:ext uri="{FF2B5EF4-FFF2-40B4-BE49-F238E27FC236}">
                <a16:creationId xmlns:a16="http://schemas.microsoft.com/office/drawing/2014/main" id="{CDDF56E6-75CE-18D9-BD96-BACAC50839D0}"/>
              </a:ext>
            </a:extLst>
          </p:cNvPr>
          <p:cNvSpPr>
            <a:spLocks noGrp="1"/>
          </p:cNvSpPr>
          <p:nvPr>
            <p:ph idx="1"/>
          </p:nvPr>
        </p:nvSpPr>
        <p:spPr/>
        <p:txBody>
          <a:bodyPr/>
          <a:lstStyle/>
          <a:p>
            <a:pPr>
              <a:buFont typeface="Wingdings" charset="2"/>
              <a:buNone/>
              <a:defRPr/>
            </a:pPr>
            <a:endParaRPr lang="en-US" altLang="x-none" sz="1800" dirty="0">
              <a:ea typeface="ＭＳ Ｐゴシック" charset="-128"/>
            </a:endParaRPr>
          </a:p>
          <a:p>
            <a:pPr>
              <a:buFont typeface="Wingdings" charset="2"/>
              <a:buNone/>
              <a:defRPr/>
            </a:pPr>
            <a:r>
              <a:rPr lang="en-US" altLang="x-none" sz="2800" dirty="0">
                <a:ea typeface="ＭＳ Ｐゴシック" charset="-128"/>
              </a:rPr>
              <a:t>1.		Always </a:t>
            </a:r>
            <a:r>
              <a:rPr lang="en-US" altLang="x-none" sz="2800" dirty="0">
                <a:solidFill>
                  <a:srgbClr val="00B050"/>
                </a:solidFill>
                <a:ea typeface="ＭＳ Ｐゴシック" charset="-128"/>
              </a:rPr>
              <a:t>cooperate</a:t>
            </a:r>
            <a:r>
              <a:rPr lang="en-US" altLang="x-none" sz="2800" dirty="0">
                <a:ea typeface="ＭＳ Ｐゴシック" charset="-128"/>
              </a:rPr>
              <a:t> with the other player at 	first; that is, don</a:t>
            </a:r>
            <a:r>
              <a:rPr lang="ja-JP" altLang="en-US" sz="2800">
                <a:ea typeface="ＭＳ Ｐゴシック" charset="-128"/>
              </a:rPr>
              <a:t>’</a:t>
            </a:r>
            <a:r>
              <a:rPr lang="en-US" altLang="ja-JP" sz="2800" dirty="0">
                <a:ea typeface="ＭＳ Ｐゴシック" charset="-128"/>
              </a:rPr>
              <a:t>t be the first one to </a:t>
            </a:r>
            <a:r>
              <a:rPr lang="en-US" altLang="ja-JP" sz="2800" dirty="0">
                <a:solidFill>
                  <a:srgbClr val="FFFF00"/>
                </a:solidFill>
                <a:ea typeface="ＭＳ Ｐゴシック" charset="-128"/>
              </a:rPr>
              <a:t>defect</a:t>
            </a:r>
            <a:r>
              <a:rPr lang="en-US" altLang="ja-JP" sz="2800" dirty="0">
                <a:ea typeface="ＭＳ Ｐゴシック" charset="-128"/>
              </a:rPr>
              <a:t>.</a:t>
            </a:r>
          </a:p>
          <a:p>
            <a:pPr>
              <a:buFont typeface="Wingdings" charset="2"/>
              <a:buNone/>
              <a:defRPr/>
            </a:pPr>
            <a:endParaRPr lang="en-US" altLang="x-none" sz="1800" dirty="0">
              <a:ea typeface="ＭＳ Ｐゴシック" charset="-128"/>
            </a:endParaRPr>
          </a:p>
          <a:p>
            <a:pPr>
              <a:buFont typeface="Wingdings" charset="2"/>
              <a:buNone/>
              <a:defRPr/>
            </a:pPr>
            <a:r>
              <a:rPr lang="en-US" altLang="x-none" sz="2800" dirty="0">
                <a:ea typeface="ＭＳ Ｐゴシック" charset="-128"/>
              </a:rPr>
              <a:t>2.		If the other player defects, retaliate 	immediately—but only once.  Don</a:t>
            </a:r>
            <a:r>
              <a:rPr lang="ja-JP" altLang="en-US" sz="2800">
                <a:ea typeface="ＭＳ Ｐゴシック" charset="-128"/>
              </a:rPr>
              <a:t>’</a:t>
            </a:r>
            <a:r>
              <a:rPr lang="en-US" altLang="ja-JP" sz="2800" dirty="0">
                <a:ea typeface="ＭＳ Ｐゴシック" charset="-128"/>
              </a:rPr>
              <a:t>t be 	vengeful.</a:t>
            </a:r>
            <a:endParaRPr lang="en-US" altLang="x-none" sz="2800" dirty="0">
              <a:ea typeface="ＭＳ Ｐゴシック" charset="-128"/>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D4A25-8940-9C7A-2B53-2ECAE54E0101}"/>
              </a:ext>
            </a:extLst>
          </p:cNvPr>
          <p:cNvSpPr>
            <a:spLocks noGrp="1"/>
          </p:cNvSpPr>
          <p:nvPr>
            <p:ph type="title"/>
          </p:nvPr>
        </p:nvSpPr>
        <p:spPr>
          <a:xfrm>
            <a:off x="228600" y="277813"/>
            <a:ext cx="8686800" cy="1139825"/>
          </a:xfrm>
        </p:spPr>
        <p:txBody>
          <a:bodyPr/>
          <a:lstStyle/>
          <a:p>
            <a:pPr>
              <a:defRPr/>
            </a:pPr>
            <a:r>
              <a:rPr lang="en-US" altLang="x-none" sz="3200" dirty="0">
                <a:solidFill>
                  <a:srgbClr val="FFFFFF"/>
                </a:solidFill>
                <a:effectLst>
                  <a:outerShdw blurRad="38100" dist="38100" dir="2700000" algn="tl">
                    <a:srgbClr val="010199"/>
                  </a:outerShdw>
                </a:effectLst>
                <a:ea typeface="ＭＳ Ｐゴシック" charset="-128"/>
              </a:rPr>
              <a:t>EVEN IN A HOBBESIAN WORLD, looking like a PD, </a:t>
            </a:r>
            <a:r>
              <a:rPr lang="en-US" altLang="x-none" sz="3200" dirty="0">
                <a:solidFill>
                  <a:srgbClr val="FFFF00"/>
                </a:solidFill>
                <a:ea typeface="ＭＳ Ｐゴシック" charset="-128"/>
              </a:rPr>
              <a:t>the best long-term strategy is: tit for tat</a:t>
            </a:r>
          </a:p>
        </p:txBody>
      </p:sp>
      <p:sp>
        <p:nvSpPr>
          <p:cNvPr id="3" name="Content Placeholder 2">
            <a:extLst>
              <a:ext uri="{FF2B5EF4-FFF2-40B4-BE49-F238E27FC236}">
                <a16:creationId xmlns:a16="http://schemas.microsoft.com/office/drawing/2014/main" id="{D7B7CCCB-70FA-81D4-E1F4-9BF4730463F1}"/>
              </a:ext>
            </a:extLst>
          </p:cNvPr>
          <p:cNvSpPr>
            <a:spLocks noGrp="1"/>
          </p:cNvSpPr>
          <p:nvPr>
            <p:ph idx="1"/>
          </p:nvPr>
        </p:nvSpPr>
        <p:spPr/>
        <p:txBody>
          <a:bodyPr/>
          <a:lstStyle/>
          <a:p>
            <a:pPr>
              <a:buFont typeface="Wingdings" charset="2"/>
              <a:buNone/>
              <a:defRPr/>
            </a:pPr>
            <a:endParaRPr lang="en-US" altLang="x-none" sz="1800" dirty="0">
              <a:ea typeface="ＭＳ Ｐゴシック" charset="-128"/>
            </a:endParaRPr>
          </a:p>
          <a:p>
            <a:pPr>
              <a:buFont typeface="Wingdings" charset="2"/>
              <a:buNone/>
              <a:defRPr/>
            </a:pPr>
            <a:r>
              <a:rPr lang="en-US" altLang="x-none" sz="2800" dirty="0">
                <a:ea typeface="ＭＳ Ｐゴシック" charset="-128"/>
              </a:rPr>
              <a:t>1.		Always </a:t>
            </a:r>
            <a:r>
              <a:rPr lang="en-US" altLang="x-none" sz="2800" dirty="0">
                <a:solidFill>
                  <a:srgbClr val="00B050"/>
                </a:solidFill>
                <a:ea typeface="ＭＳ Ｐゴシック" charset="-128"/>
              </a:rPr>
              <a:t>cooperate</a:t>
            </a:r>
            <a:r>
              <a:rPr lang="en-US" altLang="x-none" sz="2800" dirty="0">
                <a:ea typeface="ＭＳ Ｐゴシック" charset="-128"/>
              </a:rPr>
              <a:t> with the other player at 	first; that is, don</a:t>
            </a:r>
            <a:r>
              <a:rPr lang="ja-JP" altLang="en-US" sz="2800">
                <a:ea typeface="ＭＳ Ｐゴシック" charset="-128"/>
              </a:rPr>
              <a:t>’</a:t>
            </a:r>
            <a:r>
              <a:rPr lang="en-US" altLang="ja-JP" sz="2800" dirty="0">
                <a:ea typeface="ＭＳ Ｐゴシック" charset="-128"/>
              </a:rPr>
              <a:t>t be the first one to </a:t>
            </a:r>
            <a:r>
              <a:rPr lang="en-US" altLang="ja-JP" sz="2800" dirty="0">
                <a:solidFill>
                  <a:srgbClr val="FFFF00"/>
                </a:solidFill>
                <a:ea typeface="ＭＳ Ｐゴシック" charset="-128"/>
              </a:rPr>
              <a:t>defect</a:t>
            </a:r>
            <a:r>
              <a:rPr lang="en-US" altLang="ja-JP" sz="2800" dirty="0">
                <a:ea typeface="ＭＳ Ｐゴシック" charset="-128"/>
              </a:rPr>
              <a:t>.</a:t>
            </a:r>
          </a:p>
          <a:p>
            <a:pPr>
              <a:buFont typeface="Wingdings" charset="2"/>
              <a:buNone/>
              <a:defRPr/>
            </a:pPr>
            <a:endParaRPr lang="en-US" altLang="x-none" sz="1800" dirty="0">
              <a:ea typeface="ＭＳ Ｐゴシック" charset="-128"/>
            </a:endParaRPr>
          </a:p>
          <a:p>
            <a:pPr>
              <a:buFont typeface="Wingdings" charset="2"/>
              <a:buNone/>
              <a:defRPr/>
            </a:pPr>
            <a:r>
              <a:rPr lang="en-US" altLang="x-none" sz="2800" dirty="0">
                <a:ea typeface="ＭＳ Ｐゴシック" charset="-128"/>
              </a:rPr>
              <a:t>2.		If the other player defects, retaliate 	immediately—but only once.  Don</a:t>
            </a:r>
            <a:r>
              <a:rPr lang="ja-JP" altLang="en-US" sz="2800">
                <a:ea typeface="ＭＳ Ｐゴシック" charset="-128"/>
              </a:rPr>
              <a:t>’</a:t>
            </a:r>
            <a:r>
              <a:rPr lang="en-US" altLang="ja-JP" sz="2800" dirty="0">
                <a:ea typeface="ＭＳ Ｐゴシック" charset="-128"/>
              </a:rPr>
              <a:t>t be 	vengeful.</a:t>
            </a:r>
          </a:p>
          <a:p>
            <a:pPr>
              <a:buFont typeface="Wingdings" charset="2"/>
              <a:buNone/>
              <a:defRPr/>
            </a:pPr>
            <a:endParaRPr lang="en-US" altLang="x-none" sz="1800" dirty="0">
              <a:ea typeface="ＭＳ Ｐゴシック" charset="-128"/>
            </a:endParaRPr>
          </a:p>
          <a:p>
            <a:pPr>
              <a:buFont typeface="Wingdings" charset="2"/>
              <a:buNone/>
              <a:defRPr/>
            </a:pPr>
            <a:r>
              <a:rPr lang="en-US" altLang="x-none" sz="2800" dirty="0">
                <a:ea typeface="ＭＳ Ｐゴシック" charset="-128"/>
              </a:rPr>
              <a:t>3.		If the other player resumes cooperating, then 	resume cooperating.  But if s/he keeps 	defecting, then keep defecting.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14F6D-69BB-60BA-A082-8409E11F6FA0}"/>
              </a:ext>
            </a:extLst>
          </p:cNvPr>
          <p:cNvSpPr>
            <a:spLocks noGrp="1"/>
          </p:cNvSpPr>
          <p:nvPr>
            <p:ph type="title"/>
          </p:nvPr>
        </p:nvSpPr>
        <p:spPr>
          <a:xfrm>
            <a:off x="228600" y="277813"/>
            <a:ext cx="8686800" cy="1139825"/>
          </a:xfrm>
        </p:spPr>
        <p:txBody>
          <a:bodyPr/>
          <a:lstStyle/>
          <a:p>
            <a:pPr>
              <a:defRPr/>
            </a:pPr>
            <a:r>
              <a:rPr lang="en-US" altLang="x-none" sz="3200" dirty="0">
                <a:solidFill>
                  <a:srgbClr val="FFFFFF"/>
                </a:solidFill>
                <a:effectLst>
                  <a:outerShdw blurRad="38100" dist="38100" dir="2700000" algn="tl">
                    <a:srgbClr val="010199"/>
                  </a:outerShdw>
                </a:effectLst>
                <a:ea typeface="ＭＳ Ｐゴシック" charset="-128"/>
              </a:rPr>
              <a:t>The </a:t>
            </a:r>
            <a:r>
              <a:rPr lang="en-US" altLang="x-none" sz="3200" dirty="0">
                <a:solidFill>
                  <a:srgbClr val="FFFF00"/>
                </a:solidFill>
                <a:ea typeface="ＭＳ Ｐゴシック" charset="-128"/>
              </a:rPr>
              <a:t>2nd to WORST strategy </a:t>
            </a:r>
            <a:r>
              <a:rPr lang="en-US" altLang="x-none" sz="3200" dirty="0">
                <a:solidFill>
                  <a:schemeClr val="tx1"/>
                </a:solidFill>
                <a:ea typeface="ＭＳ Ｐゴシック" charset="-128"/>
              </a:rPr>
              <a:t>is</a:t>
            </a:r>
            <a:r>
              <a:rPr lang="en-US" altLang="x-none" sz="3200" dirty="0">
                <a:solidFill>
                  <a:srgbClr val="FFFF00"/>
                </a:solidFill>
                <a:ea typeface="ＭＳ Ｐゴシック" charset="-128"/>
              </a:rPr>
              <a:t>:</a:t>
            </a:r>
          </a:p>
        </p:txBody>
      </p:sp>
      <p:sp>
        <p:nvSpPr>
          <p:cNvPr id="3" name="Content Placeholder 2">
            <a:extLst>
              <a:ext uri="{FF2B5EF4-FFF2-40B4-BE49-F238E27FC236}">
                <a16:creationId xmlns:a16="http://schemas.microsoft.com/office/drawing/2014/main" id="{6066CF9E-34CB-75EA-2225-F310B23E3AB7}"/>
              </a:ext>
            </a:extLst>
          </p:cNvPr>
          <p:cNvSpPr>
            <a:spLocks noGrp="1"/>
          </p:cNvSpPr>
          <p:nvPr>
            <p:ph idx="1"/>
          </p:nvPr>
        </p:nvSpPr>
        <p:spPr/>
        <p:txBody>
          <a:bodyPr/>
          <a:lstStyle/>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lgn="ctr">
              <a:buFont typeface="Wingdings" charset="2"/>
              <a:buNone/>
              <a:defRPr/>
            </a:pPr>
            <a:r>
              <a:rPr lang="en-US" altLang="x-none" sz="2800" dirty="0">
                <a:ea typeface="ＭＳ Ｐゴシック" charset="-128"/>
              </a:rPr>
              <a:t>The Sociopathic Strategy</a:t>
            </a:r>
          </a:p>
          <a:p>
            <a:pPr algn="ctr">
              <a:buFont typeface="Wingdings" charset="2"/>
              <a:buNone/>
              <a:defRPr/>
            </a:pPr>
            <a:r>
              <a:rPr lang="en-US" altLang="x-none" sz="2800" dirty="0">
                <a:ea typeface="ＭＳ Ｐゴシック" charset="-128"/>
              </a:rPr>
              <a:t>(always defect)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6554-E389-92E7-DC55-551DFED80AD1}"/>
              </a:ext>
            </a:extLst>
          </p:cNvPr>
          <p:cNvSpPr>
            <a:spLocks noGrp="1"/>
          </p:cNvSpPr>
          <p:nvPr>
            <p:ph type="title"/>
          </p:nvPr>
        </p:nvSpPr>
        <p:spPr>
          <a:xfrm>
            <a:off x="228600" y="277813"/>
            <a:ext cx="8686800" cy="1139825"/>
          </a:xfrm>
        </p:spPr>
        <p:txBody>
          <a:bodyPr/>
          <a:lstStyle/>
          <a:p>
            <a:pPr>
              <a:defRPr/>
            </a:pPr>
            <a:r>
              <a:rPr lang="en-US" altLang="x-none" sz="3200" dirty="0">
                <a:solidFill>
                  <a:srgbClr val="FFFFFF"/>
                </a:solidFill>
                <a:effectLst>
                  <a:outerShdw blurRad="38100" dist="38100" dir="2700000" algn="tl">
                    <a:srgbClr val="010199"/>
                  </a:outerShdw>
                </a:effectLst>
                <a:ea typeface="ＭＳ Ｐゴシック" charset="-128"/>
              </a:rPr>
              <a:t>The </a:t>
            </a:r>
            <a:r>
              <a:rPr lang="en-US" altLang="x-none" sz="3200" dirty="0">
                <a:solidFill>
                  <a:srgbClr val="FFFF00"/>
                </a:solidFill>
                <a:ea typeface="ＭＳ Ｐゴシック" charset="-128"/>
              </a:rPr>
              <a:t>WORST strategy </a:t>
            </a:r>
            <a:r>
              <a:rPr lang="en-US" altLang="x-none" sz="3200" dirty="0">
                <a:solidFill>
                  <a:schemeClr val="tx1"/>
                </a:solidFill>
                <a:ea typeface="ＭＳ Ｐゴシック" charset="-128"/>
              </a:rPr>
              <a:t>is</a:t>
            </a:r>
            <a:r>
              <a:rPr lang="en-US" altLang="x-none" sz="3200" dirty="0">
                <a:solidFill>
                  <a:srgbClr val="FFFF00"/>
                </a:solidFill>
                <a:ea typeface="ＭＳ Ｐゴシック" charset="-128"/>
              </a:rPr>
              <a:t>:</a:t>
            </a:r>
          </a:p>
        </p:txBody>
      </p:sp>
      <p:sp>
        <p:nvSpPr>
          <p:cNvPr id="3" name="Content Placeholder 2">
            <a:extLst>
              <a:ext uri="{FF2B5EF4-FFF2-40B4-BE49-F238E27FC236}">
                <a16:creationId xmlns:a16="http://schemas.microsoft.com/office/drawing/2014/main" id="{89A633FC-8DBD-CFB2-6AAA-8DA950BB714B}"/>
              </a:ext>
            </a:extLst>
          </p:cNvPr>
          <p:cNvSpPr>
            <a:spLocks noGrp="1"/>
          </p:cNvSpPr>
          <p:nvPr>
            <p:ph idx="1"/>
          </p:nvPr>
        </p:nvSpPr>
        <p:spPr/>
        <p:txBody>
          <a:bodyPr/>
          <a:lstStyle/>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buFont typeface="Wingdings" charset="2"/>
              <a:buNone/>
              <a:defRPr/>
            </a:pPr>
            <a:endParaRPr lang="en-US" altLang="x-none" sz="1800" dirty="0">
              <a:ea typeface="ＭＳ Ｐゴシック" charset="-128"/>
            </a:endParaRPr>
          </a:p>
          <a:p>
            <a:pPr algn="ctr">
              <a:buFont typeface="Wingdings" charset="2"/>
              <a:buNone/>
              <a:defRPr/>
            </a:pPr>
            <a:r>
              <a:rPr lang="en-US" altLang="x-none" sz="2800" dirty="0">
                <a:ea typeface="ＭＳ Ｐゴシック" charset="-128"/>
              </a:rPr>
              <a:t>The Jesus Strategy</a:t>
            </a:r>
          </a:p>
          <a:p>
            <a:pPr algn="ctr">
              <a:buFont typeface="Wingdings" charset="2"/>
              <a:buNone/>
              <a:defRPr/>
            </a:pPr>
            <a:r>
              <a:rPr lang="en-US" altLang="x-none" sz="2800" dirty="0">
                <a:ea typeface="ＭＳ Ｐゴシック" charset="-128"/>
              </a:rPr>
              <a:t>(always cooperate)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5" name="Title 1">
            <a:extLst>
              <a:ext uri="{FF2B5EF4-FFF2-40B4-BE49-F238E27FC236}">
                <a16:creationId xmlns:a16="http://schemas.microsoft.com/office/drawing/2014/main" id="{9F898910-1573-9EF7-AF31-2367373E4D40}"/>
              </a:ext>
            </a:extLst>
          </p:cNvPr>
          <p:cNvPicPr>
            <a:picLocks noGrp="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0" y="0"/>
            <a:ext cx="9144000" cy="1066800"/>
          </a:xfrm>
        </p:spPr>
      </p:pic>
      <p:sp>
        <p:nvSpPr>
          <p:cNvPr id="5" name="Content Placeholder 4">
            <a:extLst>
              <a:ext uri="{FF2B5EF4-FFF2-40B4-BE49-F238E27FC236}">
                <a16:creationId xmlns:a16="http://schemas.microsoft.com/office/drawing/2014/main" id="{DBBFA4AC-323E-2240-8DCA-0F8AA12AF5CF}"/>
              </a:ext>
            </a:extLst>
          </p:cNvPr>
          <p:cNvSpPr>
            <a:spLocks noGrp="1"/>
          </p:cNvSpPr>
          <p:nvPr>
            <p:ph idx="1"/>
          </p:nvPr>
        </p:nvSpPr>
        <p:spPr>
          <a:xfrm>
            <a:off x="304800" y="1600200"/>
            <a:ext cx="8534400" cy="4530725"/>
          </a:xfrm>
        </p:spPr>
        <p:txBody>
          <a:bodyPr/>
          <a:lstStyle/>
          <a:p>
            <a:pPr marL="0" indent="0">
              <a:spcBef>
                <a:spcPct val="0"/>
              </a:spcBef>
              <a:buFont typeface="Wingdings" pitchFamily="2" charset="2"/>
              <a:buNone/>
              <a:defRPr/>
            </a:pPr>
            <a:endParaRPr lang="en-US" altLang="en-US" sz="2400" dirty="0">
              <a:ea typeface="ＭＳ Ｐゴシック" panose="020B0600070205080204" pitchFamily="34" charset="-128"/>
            </a:endParaRPr>
          </a:p>
        </p:txBody>
      </p:sp>
    </p:spTree>
    <p:extLst>
      <p:ext uri="{BB962C8B-B14F-4D97-AF65-F5344CB8AC3E}">
        <p14:creationId xmlns:p14="http://schemas.microsoft.com/office/powerpoint/2010/main" val="33767337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Title 1">
            <a:extLst>
              <a:ext uri="{FF2B5EF4-FFF2-40B4-BE49-F238E27FC236}">
                <a16:creationId xmlns:a16="http://schemas.microsoft.com/office/drawing/2014/main" id="{8B280FD5-6F2D-CE74-C802-27FBE2E0C142}"/>
              </a:ext>
            </a:extLst>
          </p:cNvPr>
          <p:cNvPicPr>
            <a:picLocks noGrp="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0" y="0"/>
            <a:ext cx="9144000" cy="1066800"/>
          </a:xfrm>
        </p:spPr>
      </p:pic>
      <p:sp>
        <p:nvSpPr>
          <p:cNvPr id="5" name="Content Placeholder 4">
            <a:extLst>
              <a:ext uri="{FF2B5EF4-FFF2-40B4-BE49-F238E27FC236}">
                <a16:creationId xmlns:a16="http://schemas.microsoft.com/office/drawing/2014/main" id="{CAE1FBC5-CA27-B223-4456-C0DE2EE459C0}"/>
              </a:ext>
            </a:extLst>
          </p:cNvPr>
          <p:cNvSpPr>
            <a:spLocks noGrp="1"/>
          </p:cNvSpPr>
          <p:nvPr>
            <p:ph idx="1"/>
          </p:nvPr>
        </p:nvSpPr>
        <p:spPr>
          <a:xfrm>
            <a:off x="304800" y="1600200"/>
            <a:ext cx="8534400" cy="4530725"/>
          </a:xfrm>
        </p:spPr>
        <p:txBody>
          <a:bodyPr/>
          <a:lstStyle/>
          <a:p>
            <a:pPr marL="0" indent="0">
              <a:spcBef>
                <a:spcPct val="0"/>
              </a:spcBef>
              <a:buFont typeface="Wingdings" charset="0"/>
              <a:buNone/>
              <a:defRPr/>
            </a:pPr>
            <a:r>
              <a:rPr lang="en-US" sz="2400" dirty="0"/>
              <a:t>Possibly Realists are right that states were born as war-fighting machines and still tend toward suspicion of each other because of the security dilemma.</a:t>
            </a:r>
          </a:p>
          <a:p>
            <a:pPr marL="0" indent="0">
              <a:spcBef>
                <a:spcPct val="0"/>
              </a:spcBef>
              <a:buFont typeface="Wingdings" charset="0"/>
              <a:buNone/>
              <a:defRPr/>
            </a:pPr>
            <a:endParaRPr lang="en-US" sz="1800" dirty="0"/>
          </a:p>
        </p:txBody>
      </p:sp>
    </p:spTree>
    <p:extLst>
      <p:ext uri="{BB962C8B-B14F-4D97-AF65-F5344CB8AC3E}">
        <p14:creationId xmlns:p14="http://schemas.microsoft.com/office/powerpoint/2010/main" val="8491605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Title 1">
            <a:extLst>
              <a:ext uri="{FF2B5EF4-FFF2-40B4-BE49-F238E27FC236}">
                <a16:creationId xmlns:a16="http://schemas.microsoft.com/office/drawing/2014/main" id="{EBDCF74D-5DDB-4684-B004-B520E52FDD68}"/>
              </a:ext>
            </a:extLst>
          </p:cNvPr>
          <p:cNvPicPr>
            <a:picLocks noGrp="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0" y="0"/>
            <a:ext cx="9144000" cy="1066800"/>
          </a:xfrm>
        </p:spPr>
      </p:pic>
      <p:sp>
        <p:nvSpPr>
          <p:cNvPr id="5" name="Content Placeholder 4">
            <a:extLst>
              <a:ext uri="{FF2B5EF4-FFF2-40B4-BE49-F238E27FC236}">
                <a16:creationId xmlns:a16="http://schemas.microsoft.com/office/drawing/2014/main" id="{C7F04C95-9CC6-995E-3F2E-20045F748163}"/>
              </a:ext>
            </a:extLst>
          </p:cNvPr>
          <p:cNvSpPr>
            <a:spLocks noGrp="1"/>
          </p:cNvSpPr>
          <p:nvPr>
            <p:ph idx="1"/>
          </p:nvPr>
        </p:nvSpPr>
        <p:spPr>
          <a:xfrm>
            <a:off x="304800" y="1600200"/>
            <a:ext cx="8534400" cy="4530725"/>
          </a:xfrm>
        </p:spPr>
        <p:txBody>
          <a:bodyPr/>
          <a:lstStyle/>
          <a:p>
            <a:pPr marL="0" indent="0">
              <a:spcBef>
                <a:spcPct val="0"/>
              </a:spcBef>
              <a:buFont typeface="Wingdings" charset="2"/>
              <a:buNone/>
              <a:defRPr/>
            </a:pPr>
            <a:r>
              <a:rPr lang="en-US" altLang="x-none" sz="2400" dirty="0">
                <a:ea typeface="ＭＳ Ｐゴシック" charset="-128"/>
              </a:rPr>
              <a:t>Possibly Realists are right that states were born as war-fighting machines and still tend toward suspicion of each other because of the security dilemma.</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i="1" dirty="0">
                <a:ea typeface="ＭＳ Ｐゴシック" charset="-128"/>
              </a:rPr>
              <a:t>But over the ages, </a:t>
            </a:r>
            <a:r>
              <a:rPr lang="en-US" altLang="x-none" sz="2400" i="1" dirty="0">
                <a:solidFill>
                  <a:srgbClr val="FFFF00"/>
                </a:solidFill>
                <a:effectLst>
                  <a:outerShdw blurRad="38100" dist="38100" dir="2700000" algn="tl">
                    <a:srgbClr val="FFFFFF"/>
                  </a:outerShdw>
                </a:effectLst>
                <a:ea typeface="ＭＳ Ｐゴシック" charset="-128"/>
              </a:rPr>
              <a:t>states that fail to cooperate will gradually be eliminated from the world scene</a:t>
            </a:r>
            <a:r>
              <a:rPr lang="en-US" altLang="x-none" sz="2400" i="1" dirty="0">
                <a:ea typeface="ＭＳ Ｐゴシック" charset="-128"/>
              </a:rPr>
              <a:t>.  </a:t>
            </a:r>
            <a:r>
              <a:rPr lang="en-US" altLang="x-none" sz="2400" dirty="0">
                <a:ea typeface="ＭＳ Ｐゴシック" charset="-128"/>
              </a:rPr>
              <a:t>Completely naïve states will also be eliminated.</a:t>
            </a:r>
          </a:p>
          <a:p>
            <a:pPr marL="0" indent="0">
              <a:spcBef>
                <a:spcPct val="0"/>
              </a:spcBef>
              <a:buFont typeface="Wingdings" charset="2"/>
              <a:buNone/>
              <a:defRPr/>
            </a:pPr>
            <a:endParaRPr lang="en-US" altLang="x-none" sz="1800" dirty="0">
              <a:ea typeface="ＭＳ Ｐゴシック" charset="-128"/>
            </a:endParaRPr>
          </a:p>
        </p:txBody>
      </p:sp>
    </p:spTree>
    <p:extLst>
      <p:ext uri="{BB962C8B-B14F-4D97-AF65-F5344CB8AC3E}">
        <p14:creationId xmlns:p14="http://schemas.microsoft.com/office/powerpoint/2010/main" val="39508815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89" name="Title 1">
            <a:extLst>
              <a:ext uri="{FF2B5EF4-FFF2-40B4-BE49-F238E27FC236}">
                <a16:creationId xmlns:a16="http://schemas.microsoft.com/office/drawing/2014/main" id="{4BC918A4-1841-5950-F040-D9FC3CCD9BFB}"/>
              </a:ext>
            </a:extLst>
          </p:cNvPr>
          <p:cNvPicPr>
            <a:picLocks noGrp="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0" y="0"/>
            <a:ext cx="9144000" cy="1066800"/>
          </a:xfrm>
        </p:spPr>
      </p:pic>
      <p:sp>
        <p:nvSpPr>
          <p:cNvPr id="5" name="Content Placeholder 4">
            <a:extLst>
              <a:ext uri="{FF2B5EF4-FFF2-40B4-BE49-F238E27FC236}">
                <a16:creationId xmlns:a16="http://schemas.microsoft.com/office/drawing/2014/main" id="{56A7B288-2FBA-DBEE-9F72-C22F1454F428}"/>
              </a:ext>
            </a:extLst>
          </p:cNvPr>
          <p:cNvSpPr>
            <a:spLocks noGrp="1"/>
          </p:cNvSpPr>
          <p:nvPr>
            <p:ph idx="1"/>
          </p:nvPr>
        </p:nvSpPr>
        <p:spPr>
          <a:xfrm>
            <a:off x="304800" y="1600200"/>
            <a:ext cx="8534400" cy="4530725"/>
          </a:xfrm>
        </p:spPr>
        <p:txBody>
          <a:bodyPr/>
          <a:lstStyle/>
          <a:p>
            <a:pPr marL="0" indent="0">
              <a:spcBef>
                <a:spcPct val="0"/>
              </a:spcBef>
              <a:buFont typeface="Wingdings" charset="2"/>
              <a:buNone/>
              <a:defRPr/>
            </a:pPr>
            <a:r>
              <a:rPr lang="en-US" altLang="x-none" sz="2400" dirty="0">
                <a:ea typeface="ＭＳ Ｐゴシック" charset="-128"/>
              </a:rPr>
              <a:t>Possibly Realists are right that states were born as war-fighting machines and still tend toward suspicion of each other because of the security dilemma.</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i="1" dirty="0">
                <a:ea typeface="ＭＳ Ｐゴシック" charset="-128"/>
              </a:rPr>
              <a:t>But over the ages, </a:t>
            </a:r>
            <a:r>
              <a:rPr lang="en-US" altLang="x-none" sz="2400" i="1" dirty="0">
                <a:solidFill>
                  <a:srgbClr val="FFFF00"/>
                </a:solidFill>
                <a:effectLst>
                  <a:outerShdw blurRad="38100" dist="38100" dir="2700000" algn="tl">
                    <a:srgbClr val="FFFFFF"/>
                  </a:outerShdw>
                </a:effectLst>
                <a:ea typeface="ＭＳ Ｐゴシック" charset="-128"/>
              </a:rPr>
              <a:t>states that fail to cooperate will gradually be eliminated from the world scene</a:t>
            </a:r>
            <a:r>
              <a:rPr lang="en-US" altLang="x-none" sz="2400" i="1" dirty="0">
                <a:ea typeface="ＭＳ Ｐゴシック" charset="-128"/>
              </a:rPr>
              <a:t>.  </a:t>
            </a:r>
            <a:r>
              <a:rPr lang="en-US" altLang="x-none" sz="2400" dirty="0">
                <a:ea typeface="ＭＳ Ｐゴシック" charset="-128"/>
              </a:rPr>
              <a:t>Completely naïve states will also be eliminated.</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The surviving states will be those that </a:t>
            </a:r>
            <a:r>
              <a:rPr lang="en-US" altLang="x-none" sz="2400" u="sng" dirty="0">
                <a:ea typeface="ＭＳ Ｐゴシック" charset="-128"/>
              </a:rPr>
              <a:t>prosper through the benefits cooperation confers</a:t>
            </a:r>
            <a:r>
              <a:rPr lang="en-US" altLang="x-none" sz="2400" dirty="0">
                <a:ea typeface="ＭＳ Ｐゴシック" charset="-128"/>
              </a:rPr>
              <a:t> </a:t>
            </a:r>
            <a:r>
              <a:rPr lang="en-US" altLang="x-none" sz="2400" i="1" dirty="0">
                <a:ea typeface="ＭＳ Ｐゴシック" charset="-128"/>
              </a:rPr>
              <a:t>when balanced by a vigorous—yet reasonable—defense of state interests</a:t>
            </a:r>
            <a:r>
              <a:rPr lang="en-US" altLang="x-none" sz="2400" dirty="0">
                <a:ea typeface="ＭＳ Ｐゴシック" charset="-128"/>
              </a:rPr>
              <a:t>.</a:t>
            </a:r>
          </a:p>
        </p:txBody>
      </p:sp>
    </p:spTree>
    <p:extLst>
      <p:ext uri="{BB962C8B-B14F-4D97-AF65-F5344CB8AC3E}">
        <p14:creationId xmlns:p14="http://schemas.microsoft.com/office/powerpoint/2010/main" val="1396896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7" name="Title 1">
            <a:extLst>
              <a:ext uri="{FF2B5EF4-FFF2-40B4-BE49-F238E27FC236}">
                <a16:creationId xmlns:a16="http://schemas.microsoft.com/office/drawing/2014/main" id="{5057BF8A-2C2D-2FAC-ADC9-F7B9E8F3FFDD}"/>
              </a:ext>
            </a:extLst>
          </p:cNvPr>
          <p:cNvPicPr>
            <a:picLocks noGrp="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0" y="0"/>
            <a:ext cx="9144000" cy="1066800"/>
          </a:xfrm>
        </p:spPr>
      </p:pic>
      <p:sp>
        <p:nvSpPr>
          <p:cNvPr id="5" name="Content Placeholder 4">
            <a:extLst>
              <a:ext uri="{FF2B5EF4-FFF2-40B4-BE49-F238E27FC236}">
                <a16:creationId xmlns:a16="http://schemas.microsoft.com/office/drawing/2014/main" id="{21E60BB0-0CCF-A1F4-6191-7630C45AAE0C}"/>
              </a:ext>
            </a:extLst>
          </p:cNvPr>
          <p:cNvSpPr>
            <a:spLocks noGrp="1"/>
          </p:cNvSpPr>
          <p:nvPr>
            <p:ph idx="1"/>
          </p:nvPr>
        </p:nvSpPr>
        <p:spPr>
          <a:xfrm>
            <a:off x="304800" y="1600200"/>
            <a:ext cx="8534400" cy="4530725"/>
          </a:xfrm>
        </p:spPr>
        <p:txBody>
          <a:bodyPr/>
          <a:lstStyle/>
          <a:p>
            <a:pPr marL="0" indent="0">
              <a:spcBef>
                <a:spcPct val="0"/>
              </a:spcBef>
              <a:buFont typeface="Wingdings" charset="2"/>
              <a:buNone/>
              <a:defRPr/>
            </a:pPr>
            <a:r>
              <a:rPr lang="en-US" altLang="x-none" sz="2400" dirty="0">
                <a:ea typeface="ＭＳ Ｐゴシック" charset="-128"/>
              </a:rPr>
              <a:t>Possibly Realists are right that states were born as war-fighting machines and still tend toward suspicion of each other because of the security dilemma.</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i="1" dirty="0">
                <a:ea typeface="ＭＳ Ｐゴシック" charset="-128"/>
              </a:rPr>
              <a:t>But over the ages, </a:t>
            </a:r>
            <a:r>
              <a:rPr lang="en-US" altLang="x-none" sz="2400" i="1" dirty="0">
                <a:solidFill>
                  <a:srgbClr val="FFFF00"/>
                </a:solidFill>
                <a:effectLst>
                  <a:outerShdw blurRad="38100" dist="38100" dir="2700000" algn="tl">
                    <a:srgbClr val="FFFFFF"/>
                  </a:outerShdw>
                </a:effectLst>
                <a:ea typeface="ＭＳ Ｐゴシック" charset="-128"/>
              </a:rPr>
              <a:t>states that fail to cooperate will gradually be eliminated from the world scene</a:t>
            </a:r>
            <a:r>
              <a:rPr lang="en-US" altLang="x-none" sz="2400" i="1" dirty="0">
                <a:ea typeface="ＭＳ Ｐゴシック" charset="-128"/>
              </a:rPr>
              <a:t>.  </a:t>
            </a:r>
            <a:r>
              <a:rPr lang="en-US" altLang="x-none" sz="2400" dirty="0">
                <a:ea typeface="ＭＳ Ｐゴシック" charset="-128"/>
              </a:rPr>
              <a:t>Completely naïve states will also be eliminated.</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The surviving states will be those that </a:t>
            </a:r>
            <a:r>
              <a:rPr lang="en-US" altLang="x-none" sz="2400" u="sng" dirty="0">
                <a:ea typeface="ＭＳ Ｐゴシック" charset="-128"/>
              </a:rPr>
              <a:t>prosper through the benefits cooperation confers</a:t>
            </a:r>
            <a:r>
              <a:rPr lang="en-US" altLang="x-none" sz="2400" dirty="0">
                <a:ea typeface="ＭＳ Ｐゴシック" charset="-128"/>
              </a:rPr>
              <a:t> </a:t>
            </a:r>
            <a:r>
              <a:rPr lang="en-US" altLang="x-none" sz="2400" i="1" dirty="0">
                <a:ea typeface="ＭＳ Ｐゴシック" charset="-128"/>
              </a:rPr>
              <a:t>when balanced by a vigorous—yet reasonable—defense of state interests</a:t>
            </a:r>
            <a:r>
              <a:rPr lang="en-US" altLang="x-none" sz="2400" dirty="0">
                <a:ea typeface="ＭＳ Ｐゴシック" charset="-128"/>
              </a:rPr>
              <a:t>.</a:t>
            </a:r>
          </a:p>
          <a:p>
            <a:pPr marL="0" indent="0">
              <a:spcBef>
                <a:spcPct val="0"/>
              </a:spcBef>
              <a:buFont typeface="Wingdings" charset="2"/>
              <a:buNone/>
              <a:defRPr/>
            </a:pPr>
            <a:endParaRPr lang="en-US" altLang="x-none" sz="1800" u="sng" dirty="0">
              <a:ea typeface="ＭＳ Ｐゴシック" charset="-128"/>
            </a:endParaRPr>
          </a:p>
          <a:p>
            <a:pPr marL="0" indent="0">
              <a:spcBef>
                <a:spcPct val="0"/>
              </a:spcBef>
              <a:buFont typeface="Wingdings" charset="2"/>
              <a:buNone/>
              <a:defRPr/>
            </a:pPr>
            <a:r>
              <a:rPr lang="en-US" altLang="x-none" sz="2400" u="sng" dirty="0">
                <a:ea typeface="ＭＳ Ｐゴシック" charset="-128"/>
              </a:rPr>
              <a:t>SO REALISTS MUST </a:t>
            </a:r>
            <a:r>
              <a:rPr lang="en-US" altLang="x-none" sz="2400" u="sng" dirty="0">
                <a:solidFill>
                  <a:srgbClr val="FFFF00"/>
                </a:solidFill>
                <a:effectLst>
                  <a:outerShdw blurRad="38100" dist="38100" dir="2700000" algn="tl">
                    <a:srgbClr val="FFFFFF"/>
                  </a:outerShdw>
                </a:effectLst>
                <a:ea typeface="ＭＳ Ｐゴシック" charset="-128"/>
              </a:rPr>
              <a:t>RECONSIDER</a:t>
            </a:r>
            <a:r>
              <a:rPr lang="en-US" altLang="x-none" sz="2400" u="sng" dirty="0">
                <a:ea typeface="ＭＳ Ｐゴシック" charset="-128"/>
              </a:rPr>
              <a:t> SEVERAL ISSUES</a:t>
            </a:r>
            <a:r>
              <a:rPr lang="en-US" altLang="x-none" sz="2400" dirty="0">
                <a:ea typeface="ＭＳ Ｐゴシック" charset="-128"/>
              </a:rPr>
              <a:t>:  the world as anarchic today, the impossibility of progress, etc.</a:t>
            </a:r>
          </a:p>
        </p:txBody>
      </p:sp>
    </p:spTree>
    <p:extLst>
      <p:ext uri="{BB962C8B-B14F-4D97-AF65-F5344CB8AC3E}">
        <p14:creationId xmlns:p14="http://schemas.microsoft.com/office/powerpoint/2010/main" val="309545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230B80-2FDE-72F7-885C-0340AFD90AA0}"/>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r>
              <a:rPr lang="en-US" altLang="x-none" sz="2400" dirty="0">
                <a:ea typeface="ＭＳ Ｐゴシック" charset="-128"/>
              </a:rPr>
              <a:t>Neorealists responded to the Neoliberals</a:t>
            </a:r>
            <a:r>
              <a:rPr lang="ja-JP" altLang="en-US" sz="2400">
                <a:ea typeface="ＭＳ Ｐゴシック" charset="-128"/>
              </a:rPr>
              <a:t>’</a:t>
            </a:r>
            <a:r>
              <a:rPr lang="en-US" altLang="ja-JP" sz="2400" dirty="0">
                <a:ea typeface="ＭＳ Ｐゴシック" charset="-128"/>
              </a:rPr>
              <a:t> core contribution by contending that </a:t>
            </a:r>
            <a:r>
              <a:rPr lang="en-US" altLang="ja-JP" sz="2400" i="1" dirty="0">
                <a:ea typeface="ＭＳ Ｐゴシック" charset="-128"/>
              </a:rPr>
              <a:t>its presuppositions are flawed</a:t>
            </a:r>
            <a:r>
              <a:rPr lang="en-US" altLang="ja-JP" sz="2400" dirty="0">
                <a:ea typeface="ＭＳ Ｐゴシック" charset="-128"/>
              </a:rPr>
              <a:t>:</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2A37DA7F-86F3-BA0F-AFD0-45325806739E}"/>
              </a:ext>
            </a:extLst>
          </p:cNvPr>
          <p:cNvSpPr>
            <a:spLocks noGrp="1"/>
          </p:cNvSpPr>
          <p:nvPr>
            <p:ph type="title"/>
          </p:nvPr>
        </p:nvSpPr>
        <p:spPr/>
        <p:txBody>
          <a:bodyPr/>
          <a:lstStyle/>
          <a:p>
            <a:pPr>
              <a:defRPr/>
            </a:pPr>
            <a:r>
              <a:rPr lang="en-US" sz="3600" dirty="0">
                <a:solidFill>
                  <a:srgbClr val="FFFF00"/>
                </a:solidFill>
              </a:rPr>
              <a:t>The Neo-Neo Debate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9BC1B-B37A-EAC6-2405-385755B11A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9CE71-8843-8390-718C-CDCB260DA0DB}"/>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r>
              <a:rPr lang="en-US" altLang="x-none" sz="2400" dirty="0">
                <a:ea typeface="ＭＳ Ｐゴシック" charset="-128"/>
              </a:rPr>
              <a:t>Neorealists responded to the Neoliberals</a:t>
            </a:r>
            <a:r>
              <a:rPr lang="ja-JP" altLang="en-US" sz="2400">
                <a:ea typeface="ＭＳ Ｐゴシック" charset="-128"/>
              </a:rPr>
              <a:t>’</a:t>
            </a:r>
            <a:r>
              <a:rPr lang="en-US" altLang="ja-JP" sz="2400" dirty="0">
                <a:ea typeface="ＭＳ Ｐゴシック" charset="-128"/>
              </a:rPr>
              <a:t> core contribution by contending that </a:t>
            </a:r>
            <a:r>
              <a:rPr lang="en-US" altLang="ja-JP" sz="2400" i="1" dirty="0">
                <a:ea typeface="ＭＳ Ｐゴシック" charset="-128"/>
              </a:rPr>
              <a:t>its presuppositions are flawed</a:t>
            </a:r>
            <a:r>
              <a:rPr lang="en-US" altLang="ja-JP" sz="2400" dirty="0">
                <a:ea typeface="ＭＳ Ｐゴシック" charset="-128"/>
              </a:rPr>
              <a:t>:</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Neoliberals can only use </a:t>
            </a:r>
            <a:r>
              <a:rPr lang="ja-JP" altLang="en-US" sz="2400">
                <a:ea typeface="ＭＳ Ｐゴシック" charset="-128"/>
              </a:rPr>
              <a:t>“</a:t>
            </a:r>
            <a:r>
              <a:rPr lang="en-US" altLang="ja-JP" sz="2400" dirty="0">
                <a:ea typeface="ＭＳ Ｐゴシック" charset="-128"/>
              </a:rPr>
              <a:t>evolution of cooperation</a:t>
            </a:r>
            <a:r>
              <a:rPr lang="ja-JP" altLang="en-US" sz="2400">
                <a:ea typeface="ＭＳ Ｐゴシック" charset="-128"/>
              </a:rPr>
              <a:t>”</a:t>
            </a:r>
            <a:r>
              <a:rPr lang="en-US" altLang="ja-JP" sz="2400" dirty="0">
                <a:ea typeface="ＭＳ Ｐゴシック" charset="-128"/>
              </a:rPr>
              <a:t> models by assuming states primarily seek </a:t>
            </a:r>
            <a:r>
              <a:rPr lang="en-US" altLang="ja-JP" sz="2400" b="1" i="1" dirty="0">
                <a:solidFill>
                  <a:srgbClr val="FFFF00"/>
                </a:solidFill>
                <a:effectLst>
                  <a:outerShdw blurRad="38100" dist="38100" dir="2700000" algn="tl">
                    <a:srgbClr val="FFFFFF"/>
                  </a:outerShdw>
                </a:effectLst>
                <a:ea typeface="ＭＳ Ｐゴシック" charset="-128"/>
              </a:rPr>
              <a:t>absolute </a:t>
            </a:r>
            <a:r>
              <a:rPr lang="en-US" altLang="ja-JP" sz="2400" dirty="0">
                <a:ea typeface="ＭＳ Ｐゴシック" charset="-128"/>
              </a:rPr>
              <a:t>gains in their interactions each other; that is, gains compared to the past or what would have been possible from alternative courses of action.</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D1C1B8AA-0CD7-7336-D3DB-D0424F6DFCB4}"/>
              </a:ext>
            </a:extLst>
          </p:cNvPr>
          <p:cNvSpPr>
            <a:spLocks noGrp="1"/>
          </p:cNvSpPr>
          <p:nvPr>
            <p:ph type="title"/>
          </p:nvPr>
        </p:nvSpPr>
        <p:spPr/>
        <p:txBody>
          <a:bodyPr/>
          <a:lstStyle/>
          <a:p>
            <a:pPr>
              <a:defRPr/>
            </a:pPr>
            <a:r>
              <a:rPr lang="en-US" sz="3600" dirty="0">
                <a:solidFill>
                  <a:srgbClr val="FFFF00"/>
                </a:solidFill>
              </a:rPr>
              <a:t>The Neo-Neo Debate</a:t>
            </a:r>
          </a:p>
        </p:txBody>
      </p:sp>
    </p:spTree>
    <p:extLst>
      <p:ext uri="{BB962C8B-B14F-4D97-AF65-F5344CB8AC3E}">
        <p14:creationId xmlns:p14="http://schemas.microsoft.com/office/powerpoint/2010/main" val="33632892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53F5-1A9E-265F-8D38-E09300EAD7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719753-EA00-0ADF-CAA1-BEED3B1D48ED}"/>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r>
              <a:rPr lang="en-US" altLang="x-none" sz="2400" dirty="0">
                <a:ea typeface="ＭＳ Ｐゴシック" charset="-128"/>
              </a:rPr>
              <a:t>Neorealists responded to the Neoliberals</a:t>
            </a:r>
            <a:r>
              <a:rPr lang="ja-JP" altLang="en-US" sz="2400">
                <a:ea typeface="ＭＳ Ｐゴシック" charset="-128"/>
              </a:rPr>
              <a:t>’</a:t>
            </a:r>
            <a:r>
              <a:rPr lang="en-US" altLang="ja-JP" sz="2400" dirty="0">
                <a:ea typeface="ＭＳ Ｐゴシック" charset="-128"/>
              </a:rPr>
              <a:t> core contribution by contending that </a:t>
            </a:r>
            <a:r>
              <a:rPr lang="en-US" altLang="ja-JP" sz="2400" i="1" dirty="0">
                <a:ea typeface="ＭＳ Ｐゴシック" charset="-128"/>
              </a:rPr>
              <a:t>its presuppositions are flawed</a:t>
            </a:r>
            <a:r>
              <a:rPr lang="en-US" altLang="ja-JP" sz="2400" dirty="0">
                <a:ea typeface="ＭＳ Ｐゴシック" charset="-128"/>
              </a:rPr>
              <a:t>:</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Neoliberals can only use </a:t>
            </a:r>
            <a:r>
              <a:rPr lang="ja-JP" altLang="en-US" sz="2400">
                <a:ea typeface="ＭＳ Ｐゴシック" charset="-128"/>
              </a:rPr>
              <a:t>“</a:t>
            </a:r>
            <a:r>
              <a:rPr lang="en-US" altLang="ja-JP" sz="2400" dirty="0">
                <a:ea typeface="ＭＳ Ｐゴシック" charset="-128"/>
              </a:rPr>
              <a:t>evolution of cooperation</a:t>
            </a:r>
            <a:r>
              <a:rPr lang="ja-JP" altLang="en-US" sz="2400">
                <a:ea typeface="ＭＳ Ｐゴシック" charset="-128"/>
              </a:rPr>
              <a:t>”</a:t>
            </a:r>
            <a:r>
              <a:rPr lang="en-US" altLang="ja-JP" sz="2400" dirty="0">
                <a:ea typeface="ＭＳ Ｐゴシック" charset="-128"/>
              </a:rPr>
              <a:t> models by assuming states primarily seek </a:t>
            </a:r>
            <a:r>
              <a:rPr lang="en-US" altLang="ja-JP" sz="2400" b="1" i="1" dirty="0">
                <a:solidFill>
                  <a:srgbClr val="FFFF00"/>
                </a:solidFill>
                <a:effectLst>
                  <a:outerShdw blurRad="38100" dist="38100" dir="2700000" algn="tl">
                    <a:srgbClr val="FFFFFF"/>
                  </a:outerShdw>
                </a:effectLst>
                <a:ea typeface="ＭＳ Ｐゴシック" charset="-128"/>
              </a:rPr>
              <a:t>absolute </a:t>
            </a:r>
            <a:r>
              <a:rPr lang="en-US" altLang="ja-JP" sz="2400" dirty="0">
                <a:ea typeface="ＭＳ Ｐゴシック" charset="-128"/>
              </a:rPr>
              <a:t>gains in their interactions each other; that is, gains compared to the past or what would have been possible from alternative courses of action.</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But Neorealists assert that, owing to the security dilemma, states primarily seek </a:t>
            </a:r>
            <a:r>
              <a:rPr lang="en-US" altLang="x-none" sz="2400" b="1" i="1" dirty="0">
                <a:solidFill>
                  <a:srgbClr val="FFFF00"/>
                </a:solidFill>
                <a:effectLst>
                  <a:outerShdw blurRad="38100" dist="38100" dir="2700000" algn="tl">
                    <a:srgbClr val="FFFFFF"/>
                  </a:outerShdw>
                </a:effectLst>
                <a:ea typeface="ＭＳ Ｐゴシック" charset="-128"/>
              </a:rPr>
              <a:t>relative </a:t>
            </a:r>
            <a:r>
              <a:rPr lang="en-US" altLang="x-none" sz="2400" dirty="0">
                <a:ea typeface="ＭＳ Ｐゴシック" charset="-128"/>
              </a:rPr>
              <a:t>gains in their interactions with each other.  </a:t>
            </a:r>
            <a:r>
              <a:rPr lang="en-US" altLang="x-none" sz="2400" i="1" u="sng" dirty="0">
                <a:ea typeface="ＭＳ Ｐゴシック" charset="-128"/>
              </a:rPr>
              <a:t>Peace may be passing</a:t>
            </a:r>
            <a:r>
              <a:rPr lang="en-US" altLang="x-none" sz="24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508D9A90-0586-E135-5764-E3D886B723AB}"/>
              </a:ext>
            </a:extLst>
          </p:cNvPr>
          <p:cNvSpPr>
            <a:spLocks noGrp="1"/>
          </p:cNvSpPr>
          <p:nvPr>
            <p:ph type="title"/>
          </p:nvPr>
        </p:nvSpPr>
        <p:spPr/>
        <p:txBody>
          <a:bodyPr/>
          <a:lstStyle/>
          <a:p>
            <a:pPr>
              <a:defRPr/>
            </a:pPr>
            <a:r>
              <a:rPr lang="en-US" sz="3600" dirty="0">
                <a:solidFill>
                  <a:srgbClr val="FFFF00"/>
                </a:solidFill>
              </a:rPr>
              <a:t>The Neo-Neo Debate</a:t>
            </a:r>
          </a:p>
        </p:txBody>
      </p:sp>
    </p:spTree>
    <p:extLst>
      <p:ext uri="{BB962C8B-B14F-4D97-AF65-F5344CB8AC3E}">
        <p14:creationId xmlns:p14="http://schemas.microsoft.com/office/powerpoint/2010/main" val="3997582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5B59-8F12-2B19-16E0-6D21D380F5B1}"/>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859AA5DE-240A-3D04-5069-0F7ED65D9E5B}"/>
              </a:ext>
            </a:extLst>
          </p:cNvPr>
          <p:cNvSpPr>
            <a:spLocks noGrp="1"/>
          </p:cNvSpPr>
          <p:nvPr>
            <p:ph idx="1"/>
          </p:nvPr>
        </p:nvSpPr>
        <p:spPr>
          <a:xfrm>
            <a:off x="457200" y="1219200"/>
            <a:ext cx="8229600" cy="4911725"/>
          </a:xfrm>
        </p:spPr>
        <p:txBody>
          <a:bodyPr/>
          <a:lstStyle/>
          <a:p>
            <a:pPr>
              <a:buFont typeface="Wingdings" charset="0"/>
              <a:buNone/>
              <a:defRPr/>
            </a:pPr>
            <a:endParaRPr lang="en-US" sz="1800" dirty="0"/>
          </a:p>
        </p:txBody>
      </p:sp>
    </p:spTree>
    <p:extLst>
      <p:ext uri="{BB962C8B-B14F-4D97-AF65-F5344CB8AC3E}">
        <p14:creationId xmlns:p14="http://schemas.microsoft.com/office/powerpoint/2010/main" val="20246474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E6F71-22D0-33FD-54FF-901F3DDE4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BD9AB-EB59-0C7D-133A-7ADCDA0E6557}"/>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C582A749-1615-2ACB-FFCF-669DF1D05967}"/>
              </a:ext>
            </a:extLst>
          </p:cNvPr>
          <p:cNvSpPr>
            <a:spLocks noGrp="1"/>
          </p:cNvSpPr>
          <p:nvPr>
            <p:ph idx="1"/>
          </p:nvPr>
        </p:nvSpPr>
        <p:spPr>
          <a:xfrm>
            <a:off x="457200" y="1219200"/>
            <a:ext cx="8229600" cy="4911725"/>
          </a:xfrm>
        </p:spPr>
        <p:txBody>
          <a:bodyPr/>
          <a:lstStyle/>
          <a:p>
            <a:pPr>
              <a:buFont typeface="Wingdings" charset="0"/>
              <a:buNone/>
              <a:defRPr/>
            </a:pPr>
            <a:r>
              <a:rPr lang="en-US" dirty="0"/>
              <a:t>1.		Both sides agree that regimes exist 	and are important.</a:t>
            </a:r>
          </a:p>
          <a:p>
            <a:pPr>
              <a:buFont typeface="Wingdings" charset="0"/>
              <a:buNone/>
              <a:defRPr/>
            </a:pPr>
            <a:endParaRPr lang="en-US" sz="1800" dirty="0"/>
          </a:p>
        </p:txBody>
      </p:sp>
    </p:spTree>
    <p:extLst>
      <p:ext uri="{BB962C8B-B14F-4D97-AF65-F5344CB8AC3E}">
        <p14:creationId xmlns:p14="http://schemas.microsoft.com/office/powerpoint/2010/main" val="39962782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9D8DC-B997-7B3D-CA0F-BB5A368FFE3F}"/>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2180768C-53C2-7584-59CB-44530B3C9687}"/>
              </a:ext>
            </a:extLst>
          </p:cNvPr>
          <p:cNvSpPr>
            <a:spLocks noGrp="1"/>
          </p:cNvSpPr>
          <p:nvPr>
            <p:ph idx="1"/>
          </p:nvPr>
        </p:nvSpPr>
        <p:spPr>
          <a:xfrm>
            <a:off x="457200" y="1219200"/>
            <a:ext cx="8229600" cy="4911725"/>
          </a:xfrm>
        </p:spPr>
        <p:txBody>
          <a:bodyPr/>
          <a:lstStyle/>
          <a:p>
            <a:pPr>
              <a:buFont typeface="Wingdings" charset="0"/>
              <a:buNone/>
              <a:defRPr/>
            </a:pPr>
            <a:r>
              <a:rPr lang="en-US" dirty="0"/>
              <a:t>1.		Both sides agree that regimes exist 	and are important.</a:t>
            </a:r>
          </a:p>
          <a:p>
            <a:pPr>
              <a:buFont typeface="Wingdings" charset="0"/>
              <a:buNone/>
              <a:defRPr/>
            </a:pPr>
            <a:endParaRPr lang="en-US" sz="1800" dirty="0"/>
          </a:p>
          <a:p>
            <a:pPr>
              <a:buFont typeface="Wingdings" charset="0"/>
              <a:buNone/>
              <a:defRPr/>
            </a:pPr>
            <a:r>
              <a:rPr lang="en-US" dirty="0"/>
              <a:t>2.		Neorealists think powerful states are 	relatively less constrained by regime 	norms and rules.</a:t>
            </a:r>
          </a:p>
          <a:p>
            <a:pPr>
              <a:buFont typeface="Wingdings" charset="0"/>
              <a:buNone/>
              <a:defRPr/>
            </a:pPr>
            <a:endParaRPr lang="en-US" sz="1800" dirty="0"/>
          </a:p>
        </p:txBody>
      </p:sp>
    </p:spTree>
    <p:extLst>
      <p:ext uri="{BB962C8B-B14F-4D97-AF65-F5344CB8AC3E}">
        <p14:creationId xmlns:p14="http://schemas.microsoft.com/office/powerpoint/2010/main" val="25339572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A059-7BD2-DE5A-A75B-B576CECFEBDC}"/>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02D64C4C-489A-1B6D-6B60-88325492B2C1}"/>
              </a:ext>
            </a:extLst>
          </p:cNvPr>
          <p:cNvSpPr>
            <a:spLocks noGrp="1"/>
          </p:cNvSpPr>
          <p:nvPr>
            <p:ph idx="1"/>
          </p:nvPr>
        </p:nvSpPr>
        <p:spPr>
          <a:xfrm>
            <a:off x="457200" y="1219200"/>
            <a:ext cx="8229600" cy="4911725"/>
          </a:xfrm>
        </p:spPr>
        <p:txBody>
          <a:bodyPr/>
          <a:lstStyle/>
          <a:p>
            <a:pPr>
              <a:buFont typeface="Wingdings" charset="2"/>
              <a:buNone/>
              <a:defRPr/>
            </a:pPr>
            <a:r>
              <a:rPr lang="en-US" altLang="x-none" dirty="0">
                <a:ea typeface="ＭＳ Ｐゴシック" charset="-128"/>
              </a:rPr>
              <a:t>1.		Both sides agree that regimes exist 	and are important.</a:t>
            </a:r>
          </a:p>
          <a:p>
            <a:pPr>
              <a:buFont typeface="Wingdings" charset="2"/>
              <a:buNone/>
              <a:defRPr/>
            </a:pPr>
            <a:endParaRPr lang="en-US" altLang="x-none" sz="1800" dirty="0">
              <a:ea typeface="ＭＳ Ｐゴシック" charset="-128"/>
            </a:endParaRPr>
          </a:p>
          <a:p>
            <a:pPr>
              <a:buFont typeface="Wingdings" charset="2"/>
              <a:buNone/>
              <a:defRPr/>
            </a:pPr>
            <a:r>
              <a:rPr lang="en-US" altLang="x-none" dirty="0">
                <a:ea typeface="ＭＳ Ｐゴシック" charset="-128"/>
              </a:rPr>
              <a:t>2.		Neorealists think powerful states are 	relatively less constrained by regime 	norms and rules.</a:t>
            </a:r>
          </a:p>
          <a:p>
            <a:pPr>
              <a:buFont typeface="Wingdings" charset="2"/>
              <a:buNone/>
              <a:defRPr/>
            </a:pPr>
            <a:endParaRPr lang="en-US" altLang="x-none" sz="1800" dirty="0">
              <a:ea typeface="ＭＳ Ｐゴシック" charset="-128"/>
            </a:endParaRPr>
          </a:p>
          <a:p>
            <a:pPr>
              <a:buFont typeface="Wingdings" charset="2"/>
              <a:buNone/>
              <a:defRPr/>
            </a:pPr>
            <a:r>
              <a:rPr lang="en-US" altLang="x-none" dirty="0">
                <a:ea typeface="ＭＳ Ｐゴシック" charset="-128"/>
              </a:rPr>
              <a:t>3.		But Neoliberals insist that once 	regimes are created, they ensnare </a:t>
            </a:r>
            <a:r>
              <a:rPr lang="en-US" altLang="x-none" u="sng" dirty="0">
                <a:ea typeface="ＭＳ Ｐゴシック" charset="-128"/>
              </a:rPr>
              <a:t>all</a:t>
            </a:r>
            <a:r>
              <a:rPr lang="en-US" altLang="x-none" dirty="0">
                <a:ea typeface="ＭＳ Ｐゴシック" charset="-128"/>
              </a:rPr>
              <a:t> 	states in webs of governance that 	profoundly undermine anarchy.</a:t>
            </a:r>
          </a:p>
        </p:txBody>
      </p:sp>
    </p:spTree>
    <p:extLst>
      <p:ext uri="{BB962C8B-B14F-4D97-AF65-F5344CB8AC3E}">
        <p14:creationId xmlns:p14="http://schemas.microsoft.com/office/powerpoint/2010/main" val="2779851838"/>
      </p:ext>
    </p:extLst>
  </p:cSld>
  <p:clrMapOvr>
    <a:masterClrMapping/>
  </p:clrMapOvr>
</p:sld>
</file>

<file path=ppt/theme/theme1.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Orbit</Template>
  <TotalTime>15080</TotalTime>
  <Words>3275</Words>
  <Application>Microsoft Macintosh PowerPoint</Application>
  <PresentationFormat>On-screen Show (4:3)</PresentationFormat>
  <Paragraphs>252</Paragraphs>
  <Slides>73</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ＭＳ Ｐゴシック</vt:lpstr>
      <vt:lpstr>Arial</vt:lpstr>
      <vt:lpstr>Wingdings</vt:lpstr>
      <vt:lpstr>Orbit</vt:lpstr>
      <vt:lpstr>PIA 3121  22 September 2026</vt:lpstr>
      <vt:lpstr>PIA 3121 Schedule</vt:lpstr>
      <vt:lpstr>How could globalization have happened  under anarchy?</vt:lpstr>
      <vt:lpstr>The post-WWII international trade regime originated in Bretton Woods, NH</vt:lpstr>
      <vt:lpstr>History being made at Bretton Woods (July 1944)</vt:lpstr>
      <vt:lpstr>PowerPoint Presentation</vt:lpstr>
      <vt:lpstr>PowerPoint Presentation</vt:lpstr>
      <vt:lpstr>The Growth of World Trade</vt:lpstr>
      <vt:lpstr>PowerPoint Presentation</vt:lpstr>
      <vt:lpstr>So how could all of this happen under anarchy?</vt:lpstr>
      <vt:lpstr>Diplomacy, founded on the Neoliberal theory that IR Realists are wrong</vt:lpstr>
      <vt:lpstr>PowerPoint Presentation</vt:lpstr>
      <vt:lpstr>Moravcsik’s “Three Hard Core Assumptions” of Liberal IR Theory</vt:lpstr>
      <vt:lpstr>Moravcsik’s “Three Hard Core Assumptions” of Liberal IR Theory</vt:lpstr>
      <vt:lpstr>Moravcsik’s “Three Hard Core Assumptions” of Liberal IR Theory</vt:lpstr>
      <vt:lpstr>Moravcsik’s “Three Hard Core Assumptions” of Liberal IR Theory</vt:lpstr>
      <vt:lpstr>Keohane and Nye’s “complex (policy) interdependence” finally convinced most Neorealists they had to engage the Neoliberals and show respect</vt:lpstr>
      <vt:lpstr>PowerPoint Presentation</vt:lpstr>
      <vt:lpstr>Neorealist Kenneth Waltz doesn’t budge…</vt:lpstr>
      <vt:lpstr>But this has to be explained…</vt:lpstr>
      <vt:lpstr>…because it’s IMPORTANT</vt:lpstr>
      <vt:lpstr>PowerPoint Presentation</vt:lpstr>
      <vt:lpstr>Krasner of Stanford’s “International Regimes”</vt:lpstr>
      <vt:lpstr>Krasner of Stanford’s “International Regimes”</vt:lpstr>
      <vt:lpstr>Krasner of Stanford’s “International Regimes”</vt:lpstr>
      <vt:lpstr>Krasner of Stanford’s “International Regimes”</vt:lpstr>
      <vt:lpstr>Influential Regimes of the 21st Century (1 of 2)</vt:lpstr>
      <vt:lpstr>Influential Regimes of the 21st Century (2 of 2)</vt:lpstr>
      <vt:lpstr>PowerPoint Presentation</vt:lpstr>
      <vt:lpstr>Krasner of Stanford’s “International Regimes”</vt:lpstr>
      <vt:lpstr>How Regimes Facilitate Agreements</vt:lpstr>
      <vt:lpstr>How Regimes Facilitate Agreements</vt:lpstr>
      <vt:lpstr>How Regimes Facilitate Agreements</vt:lpstr>
      <vt:lpstr>How Regimes Facilitate Agreements</vt:lpstr>
      <vt:lpstr>How Regimes Facilitate Agreements</vt:lpstr>
      <vt:lpstr>Hegemonic Stability Theory</vt:lpstr>
      <vt:lpstr>Hegemonic Stability Theory</vt:lpstr>
      <vt:lpstr>Hegemonic Stability Theory</vt:lpstr>
      <vt:lpstr>Hegemonic Stability Theory</vt:lpstr>
      <vt:lpstr>Hegemonic Stability Theory</vt:lpstr>
      <vt:lpstr>Hegemonic Stability Theory</vt:lpstr>
      <vt:lpstr>Hegemonic Stability Theory</vt:lpstr>
      <vt:lpstr>PowerPoint Presentation</vt:lpstr>
      <vt:lpstr>PowerPoint Presentation</vt:lpstr>
      <vt:lpstr>PowerPoint Presentation</vt:lpstr>
      <vt:lpstr>PowerPoint Presentation</vt:lpstr>
      <vt:lpstr>The Prisoners’ Dilemma</vt:lpstr>
      <vt:lpstr>The Prisoners’ Dilemma</vt:lpstr>
      <vt:lpstr>Can the security dilemma be modeled as a PD?</vt:lpstr>
      <vt:lpstr>PowerPoint Presentation</vt:lpstr>
      <vt:lpstr>!!~~&gt; C H I C K E N &lt;~~!!</vt:lpstr>
      <vt:lpstr>But someone didn’t behave rationally the night of July 13th,1950 in Wichita, Kansas</vt:lpstr>
      <vt:lpstr>How to prevent the car crashes of international relations?</vt:lpstr>
      <vt:lpstr>PowerPoint Presentation</vt:lpstr>
      <vt:lpstr>Iterated (multiple-round) Prisoners Dilemma: Suddenly the shadow of the future looms</vt:lpstr>
      <vt:lpstr>EVEN IN A HOBBESIAN WORLD, looking like a PD, the best long-term strategy is: tit for tat</vt:lpstr>
      <vt:lpstr>EVEN IN A HOBBESIAN WORLD, looking like a PD, the best long-term strategy is: tit for tat</vt:lpstr>
      <vt:lpstr>EVEN IN A HOBBESIAN WORLD, looking like a PD, the best long-term strategy is: tit for tat</vt:lpstr>
      <vt:lpstr>EVEN IN A HOBBESIAN WORLD, looking like a PD, the best long-term strategy is: tit for tat</vt:lpstr>
      <vt:lpstr>The 2nd to WORST strategy is:</vt:lpstr>
      <vt:lpstr>The WORST strategy is:</vt:lpstr>
      <vt:lpstr>PowerPoint Presentation</vt:lpstr>
      <vt:lpstr>PowerPoint Presentation</vt:lpstr>
      <vt:lpstr>PowerPoint Presentation</vt:lpstr>
      <vt:lpstr>PowerPoint Presentation</vt:lpstr>
      <vt:lpstr>PowerPoint Presentation</vt:lpstr>
      <vt:lpstr>The Neo-Neo Debate</vt:lpstr>
      <vt:lpstr>The Neo-Neo Debate</vt:lpstr>
      <vt:lpstr>The Neo-Neo Debate</vt:lpstr>
      <vt:lpstr>The Neo-Neo Debate</vt:lpstr>
      <vt:lpstr>The Neo-Neo Debate</vt:lpstr>
      <vt:lpstr>The Neo-Neo Debate</vt:lpstr>
      <vt:lpstr>The Neo-Neo Debate</vt:lpstr>
    </vt:vector>
  </TitlesOfParts>
  <Company>SIR@USC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210  12 September 2006</dc:title>
  <dc:creator>Daniel C. Lynch</dc:creator>
  <cp:lastModifiedBy>Daniel Lynch</cp:lastModifiedBy>
  <cp:revision>190</cp:revision>
  <cp:lastPrinted>1601-01-01T00:00:00Z</cp:lastPrinted>
  <dcterms:created xsi:type="dcterms:W3CDTF">2009-10-20T16:16:02Z</dcterms:created>
  <dcterms:modified xsi:type="dcterms:W3CDTF">2026-09-22T05:51:23Z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