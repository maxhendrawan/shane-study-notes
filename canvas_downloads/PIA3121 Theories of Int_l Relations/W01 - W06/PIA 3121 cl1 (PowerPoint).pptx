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56"/>
  </p:notesMasterIdLst>
  <p:sldIdLst>
    <p:sldId id="256" r:id="rId2"/>
    <p:sldId id="420" r:id="rId3"/>
    <p:sldId id="442" r:id="rId4"/>
    <p:sldId id="443" r:id="rId5"/>
    <p:sldId id="444" r:id="rId6"/>
    <p:sldId id="482" r:id="rId7"/>
    <p:sldId id="445" r:id="rId8"/>
    <p:sldId id="447" r:id="rId9"/>
    <p:sldId id="477" r:id="rId10"/>
    <p:sldId id="492" r:id="rId11"/>
    <p:sldId id="494" r:id="rId12"/>
    <p:sldId id="512" r:id="rId13"/>
    <p:sldId id="510" r:id="rId14"/>
    <p:sldId id="513" r:id="rId15"/>
    <p:sldId id="511" r:id="rId16"/>
    <p:sldId id="515" r:id="rId17"/>
    <p:sldId id="488" r:id="rId18"/>
    <p:sldId id="496" r:id="rId19"/>
    <p:sldId id="489" r:id="rId20"/>
    <p:sldId id="491" r:id="rId21"/>
    <p:sldId id="490" r:id="rId22"/>
    <p:sldId id="493" r:id="rId23"/>
    <p:sldId id="497" r:id="rId24"/>
    <p:sldId id="499" r:id="rId25"/>
    <p:sldId id="500" r:id="rId26"/>
    <p:sldId id="501" r:id="rId27"/>
    <p:sldId id="502" r:id="rId28"/>
    <p:sldId id="503" r:id="rId29"/>
    <p:sldId id="514" r:id="rId30"/>
    <p:sldId id="516" r:id="rId31"/>
    <p:sldId id="517" r:id="rId32"/>
    <p:sldId id="498" r:id="rId33"/>
    <p:sldId id="504" r:id="rId34"/>
    <p:sldId id="505" r:id="rId35"/>
    <p:sldId id="506" r:id="rId36"/>
    <p:sldId id="507" r:id="rId37"/>
    <p:sldId id="508" r:id="rId38"/>
    <p:sldId id="464" r:id="rId39"/>
    <p:sldId id="466" r:id="rId40"/>
    <p:sldId id="450" r:id="rId41"/>
    <p:sldId id="472" r:id="rId42"/>
    <p:sldId id="451" r:id="rId43"/>
    <p:sldId id="474" r:id="rId44"/>
    <p:sldId id="476" r:id="rId45"/>
    <p:sldId id="297" r:id="rId46"/>
    <p:sldId id="480" r:id="rId47"/>
    <p:sldId id="264" r:id="rId48"/>
    <p:sldId id="265" r:id="rId49"/>
    <p:sldId id="266" r:id="rId50"/>
    <p:sldId id="267" r:id="rId51"/>
    <p:sldId id="298" r:id="rId52"/>
    <p:sldId id="299" r:id="rId53"/>
    <p:sldId id="300" r:id="rId54"/>
    <p:sldId id="326" r:id="rId5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9"/>
    <p:restoredTop sz="94209"/>
  </p:normalViewPr>
  <p:slideViewPr>
    <p:cSldViewPr>
      <p:cViewPr varScale="1">
        <p:scale>
          <a:sx n="116" d="100"/>
          <a:sy n="116" d="100"/>
        </p:scale>
        <p:origin x="17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pingguo\Desktop\6th\postdoc\&#31532;&#19968;&#31687;&#25991;&#31449;&#21518;&#32493;&#21644;&#25237;&#31295;\rejuvenation&#35789;&#39057;&#32479;&#3574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Sheet1!$B$1:$AV$1</c:f>
              <c:numCache>
                <c:formatCode>General</c:formatCode>
                <c:ptCount val="47"/>
                <c:pt idx="0">
                  <c:v>1978</c:v>
                </c:pt>
                <c:pt idx="1">
                  <c:v>1979</c:v>
                </c:pt>
                <c:pt idx="2">
                  <c:v>1980</c:v>
                </c:pt>
                <c:pt idx="3">
                  <c:v>1981</c:v>
                </c:pt>
                <c:pt idx="4">
                  <c:v>1982</c:v>
                </c:pt>
                <c:pt idx="5">
                  <c:v>1983</c:v>
                </c:pt>
                <c:pt idx="6">
                  <c:v>1984</c:v>
                </c:pt>
                <c:pt idx="7">
                  <c:v>1985</c:v>
                </c:pt>
                <c:pt idx="8">
                  <c:v>1986</c:v>
                </c:pt>
                <c:pt idx="9">
                  <c:v>1987</c:v>
                </c:pt>
                <c:pt idx="10">
                  <c:v>1988</c:v>
                </c:pt>
                <c:pt idx="11">
                  <c:v>1989</c:v>
                </c:pt>
                <c:pt idx="12">
                  <c:v>1990</c:v>
                </c:pt>
                <c:pt idx="13">
                  <c:v>1991</c:v>
                </c:pt>
                <c:pt idx="14">
                  <c:v>1992</c:v>
                </c:pt>
                <c:pt idx="15">
                  <c:v>1993</c:v>
                </c:pt>
                <c:pt idx="16">
                  <c:v>1994</c:v>
                </c:pt>
                <c:pt idx="17">
                  <c:v>1995</c:v>
                </c:pt>
                <c:pt idx="18">
                  <c:v>1996</c:v>
                </c:pt>
                <c:pt idx="19">
                  <c:v>1997</c:v>
                </c:pt>
                <c:pt idx="20">
                  <c:v>1998</c:v>
                </c:pt>
                <c:pt idx="21">
                  <c:v>1999</c:v>
                </c:pt>
                <c:pt idx="22">
                  <c:v>2000</c:v>
                </c:pt>
                <c:pt idx="23">
                  <c:v>2001</c:v>
                </c:pt>
                <c:pt idx="24">
                  <c:v>2002</c:v>
                </c:pt>
                <c:pt idx="25">
                  <c:v>2003</c:v>
                </c:pt>
                <c:pt idx="26">
                  <c:v>2004</c:v>
                </c:pt>
                <c:pt idx="27">
                  <c:v>2005</c:v>
                </c:pt>
                <c:pt idx="28">
                  <c:v>2006</c:v>
                </c:pt>
                <c:pt idx="29">
                  <c:v>2007</c:v>
                </c:pt>
                <c:pt idx="30">
                  <c:v>2008</c:v>
                </c:pt>
                <c:pt idx="31">
                  <c:v>2009</c:v>
                </c:pt>
                <c:pt idx="32">
                  <c:v>2010</c:v>
                </c:pt>
                <c:pt idx="33">
                  <c:v>2011</c:v>
                </c:pt>
                <c:pt idx="34">
                  <c:v>2012</c:v>
                </c:pt>
                <c:pt idx="35">
                  <c:v>2013</c:v>
                </c:pt>
                <c:pt idx="36">
                  <c:v>2014</c:v>
                </c:pt>
                <c:pt idx="37">
                  <c:v>2015</c:v>
                </c:pt>
                <c:pt idx="38">
                  <c:v>2016</c:v>
                </c:pt>
                <c:pt idx="39">
                  <c:v>2017</c:v>
                </c:pt>
                <c:pt idx="40">
                  <c:v>2018</c:v>
                </c:pt>
                <c:pt idx="41">
                  <c:v>2019</c:v>
                </c:pt>
                <c:pt idx="42">
                  <c:v>2020</c:v>
                </c:pt>
                <c:pt idx="43">
                  <c:v>2021</c:v>
                </c:pt>
                <c:pt idx="44">
                  <c:v>2022</c:v>
                </c:pt>
                <c:pt idx="45">
                  <c:v>2023</c:v>
                </c:pt>
                <c:pt idx="46">
                  <c:v>2024</c:v>
                </c:pt>
              </c:numCache>
            </c:numRef>
          </c:cat>
          <c:val>
            <c:numRef>
              <c:f>Sheet1!$B$2:$AV$2</c:f>
              <c:numCache>
                <c:formatCode>General</c:formatCode>
                <c:ptCount val="47"/>
                <c:pt idx="0">
                  <c:v>5</c:v>
                </c:pt>
                <c:pt idx="1">
                  <c:v>38</c:v>
                </c:pt>
                <c:pt idx="2">
                  <c:v>8</c:v>
                </c:pt>
                <c:pt idx="3">
                  <c:v>11</c:v>
                </c:pt>
                <c:pt idx="4">
                  <c:v>5</c:v>
                </c:pt>
                <c:pt idx="5">
                  <c:v>20</c:v>
                </c:pt>
                <c:pt idx="6">
                  <c:v>15</c:v>
                </c:pt>
                <c:pt idx="7">
                  <c:v>6</c:v>
                </c:pt>
                <c:pt idx="8">
                  <c:v>20</c:v>
                </c:pt>
                <c:pt idx="9">
                  <c:v>18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10</c:v>
                </c:pt>
                <c:pt idx="14">
                  <c:v>6</c:v>
                </c:pt>
                <c:pt idx="15">
                  <c:v>4</c:v>
                </c:pt>
                <c:pt idx="16">
                  <c:v>7</c:v>
                </c:pt>
                <c:pt idx="17">
                  <c:v>16</c:v>
                </c:pt>
                <c:pt idx="18">
                  <c:v>7</c:v>
                </c:pt>
                <c:pt idx="19">
                  <c:v>19</c:v>
                </c:pt>
                <c:pt idx="20">
                  <c:v>34</c:v>
                </c:pt>
                <c:pt idx="21">
                  <c:v>76</c:v>
                </c:pt>
                <c:pt idx="22">
                  <c:v>147</c:v>
                </c:pt>
                <c:pt idx="23">
                  <c:v>238</c:v>
                </c:pt>
                <c:pt idx="24">
                  <c:v>286</c:v>
                </c:pt>
                <c:pt idx="25">
                  <c:v>255</c:v>
                </c:pt>
                <c:pt idx="26">
                  <c:v>204</c:v>
                </c:pt>
                <c:pt idx="27">
                  <c:v>226</c:v>
                </c:pt>
                <c:pt idx="28">
                  <c:v>250</c:v>
                </c:pt>
                <c:pt idx="29">
                  <c:v>319</c:v>
                </c:pt>
                <c:pt idx="30">
                  <c:v>355</c:v>
                </c:pt>
                <c:pt idx="31">
                  <c:v>532</c:v>
                </c:pt>
                <c:pt idx="32">
                  <c:v>458</c:v>
                </c:pt>
                <c:pt idx="33">
                  <c:v>690</c:v>
                </c:pt>
                <c:pt idx="34">
                  <c:v>665</c:v>
                </c:pt>
                <c:pt idx="35">
                  <c:v>1253</c:v>
                </c:pt>
                <c:pt idx="36">
                  <c:v>1386</c:v>
                </c:pt>
                <c:pt idx="37">
                  <c:v>1349</c:v>
                </c:pt>
                <c:pt idx="38">
                  <c:v>1338</c:v>
                </c:pt>
                <c:pt idx="39">
                  <c:v>1753</c:v>
                </c:pt>
                <c:pt idx="40">
                  <c:v>1880</c:v>
                </c:pt>
                <c:pt idx="41">
                  <c:v>1795</c:v>
                </c:pt>
                <c:pt idx="42">
                  <c:v>1271</c:v>
                </c:pt>
                <c:pt idx="43">
                  <c:v>2566</c:v>
                </c:pt>
                <c:pt idx="44">
                  <c:v>2460</c:v>
                </c:pt>
                <c:pt idx="45">
                  <c:v>2402</c:v>
                </c:pt>
                <c:pt idx="46">
                  <c:v>2065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B5-4A4D-AADD-9B98B1AC5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713720944"/>
        <c:axId val="1713722672"/>
      </c:lineChart>
      <c:catAx>
        <c:axId val="171372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722672"/>
        <c:crosses val="autoZero"/>
        <c:auto val="1"/>
        <c:lblAlgn val="ctr"/>
        <c:lblOffset val="100"/>
        <c:noMultiLvlLbl val="0"/>
      </c:catAx>
      <c:valAx>
        <c:axId val="17137226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720944"/>
        <c:crosses val="autoZero"/>
        <c:crossBetween val="between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35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35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35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EA7BCF-9FFB-5948-A783-98BD787C481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2916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B9A2D6-6689-BD4A-A292-3B5C6F18E5CB}" type="slidenum">
              <a:rPr lang="en-US" sz="1200"/>
              <a:pPr eaLnBrk="1" hangingPunct="1"/>
              <a:t>1</a:t>
            </a:fld>
            <a:endParaRPr lang="en-US" sz="1200" dirty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490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9914E94-1EA9-8249-A902-8DAF1F823CD3}" type="slidenum">
              <a:rPr lang="en-US" altLang="x-none" sz="1200"/>
              <a:pPr eaLnBrk="1" hangingPunct="1"/>
              <a:t>2</a:t>
            </a:fld>
            <a:endParaRPr lang="en-US" altLang="x-none" sz="1200" dirty="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629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9914E94-1EA9-8249-A902-8DAF1F823CD3}" type="slidenum">
              <a:rPr lang="en-US" altLang="x-none" sz="1200"/>
              <a:pPr eaLnBrk="1" hangingPunct="1"/>
              <a:t>3</a:t>
            </a:fld>
            <a:endParaRPr lang="en-US" altLang="x-none" sz="1200" dirty="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0335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E0FF415-4552-F74E-969C-11F2D50F9154}" type="slidenum">
              <a:rPr lang="en-US" altLang="x-none" sz="1200"/>
              <a:pPr eaLnBrk="1" hangingPunct="1"/>
              <a:t>40</a:t>
            </a:fld>
            <a:endParaRPr lang="en-US" altLang="x-none" sz="1200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8392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E0FF415-4552-F74E-969C-11F2D50F9154}" type="slidenum">
              <a:rPr lang="en-US" altLang="x-none" sz="1200"/>
              <a:pPr eaLnBrk="1" hangingPunct="1"/>
              <a:t>41</a:t>
            </a:fld>
            <a:endParaRPr lang="en-US" altLang="x-none" sz="1200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x-none" altLang="x-none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7590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FBFFF3F-B221-6143-BD69-EAE050A15E75}" type="slidenum">
              <a:rPr lang="en-US" sz="1200"/>
              <a:pPr eaLnBrk="1" hangingPunct="1"/>
              <a:t>45</a:t>
            </a:fld>
            <a:endParaRPr lang="en-US" sz="1200" dirty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71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FBFFF3F-B221-6143-BD69-EAE050A15E75}" type="slidenum">
              <a:rPr lang="en-US" sz="1200"/>
              <a:pPr eaLnBrk="1" hangingPunct="1"/>
              <a:t>46</a:t>
            </a:fld>
            <a:endParaRPr lang="en-US" sz="1200" dirty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922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B07FD13-314C-6541-9A7C-C362491C18C9}" type="slidenum">
              <a:rPr lang="en-US" sz="1200"/>
              <a:pPr eaLnBrk="1" hangingPunct="1"/>
              <a:t>47</a:t>
            </a:fld>
            <a:endParaRPr lang="en-US" sz="1200" dirty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418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A8516DE-CDFA-584B-9B53-6AB060C70DF6}" type="slidenum">
              <a:rPr lang="en-US" sz="1200"/>
              <a:pPr eaLnBrk="1" hangingPunct="1"/>
              <a:t>48</a:t>
            </a:fld>
            <a:endParaRPr lang="en-US" sz="1200" dirty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941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87BAE7F-8586-AC42-9B4C-78F468A7C4A8}" type="slidenum">
              <a:rPr lang="en-US" sz="1200"/>
              <a:pPr eaLnBrk="1" hangingPunct="1"/>
              <a:t>49</a:t>
            </a:fld>
            <a:endParaRPr lang="en-US" sz="1200" dirty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377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A5AC807-BF81-8147-B821-8008D7405334}" type="slidenum">
              <a:rPr lang="en-US" sz="1200"/>
              <a:pPr eaLnBrk="1" hangingPunct="1"/>
              <a:t>50</a:t>
            </a:fld>
            <a:endParaRPr lang="en-US" sz="1200" dirty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346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6C22E80-9FB4-664C-9938-F37F3EFF4C89}" type="slidenum">
              <a:rPr lang="en-US" sz="1200"/>
              <a:pPr eaLnBrk="1" hangingPunct="1"/>
              <a:t>51</a:t>
            </a:fld>
            <a:endParaRPr lang="en-US" sz="1200" dirty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505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35C7D766-2677-0348-BA7D-F39CC13FEF08}" type="slidenum">
              <a:rPr lang="en-US" sz="1200"/>
              <a:pPr eaLnBrk="1" hangingPunct="1"/>
              <a:t>52</a:t>
            </a:fld>
            <a:endParaRPr lang="en-US" sz="1200" dirty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56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FFF0BD-B428-4344-97C7-28436E76DB52}" type="slidenum">
              <a:rPr lang="en-US" sz="1200"/>
              <a:pPr eaLnBrk="1" hangingPunct="1"/>
              <a:t>53</a:t>
            </a:fld>
            <a:endParaRPr lang="en-US" sz="1200" dirty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636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11C0F6B-0474-A942-8272-83DAABAD0F5B}" type="slidenum">
              <a:rPr lang="en-US" sz="1200"/>
              <a:pPr eaLnBrk="1" hangingPunct="1"/>
              <a:t>54</a:t>
            </a:fld>
            <a:endParaRPr lang="en-US" sz="1200" dirty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257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</p:grpSp>
      <p:sp>
        <p:nvSpPr>
          <p:cNvPr id="338954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8955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1E5480-44D5-1B4C-9A92-618A16AE1D9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9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768D1-9D77-934A-AF93-431FA533422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10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396BC-9F48-864B-865A-943C9024B02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50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6A3B3-ADF8-5B4D-8F9C-D84EED943F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5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2AF4D-6C91-B84A-BE63-AABC54C53C1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7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A7A5AA-C41C-CF4D-AFBA-19C0FD7F609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7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000BE-47D0-C448-BA83-0DFEED7AE5B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49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2F4F9-AEFC-A14B-B355-E28F51B91EC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33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3AC4FC-B5BA-E248-AF05-4A40D29D803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49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D4A2E-EBF9-2449-A315-CA49CA62C78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14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69DD7-7D61-4E49-A607-B0378D23C51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89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37923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337924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337925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337926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337927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337928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  <p:sp>
          <p:nvSpPr>
            <p:cNvPr id="337929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ea typeface="Arial" charset="0"/>
              </a:endParaRPr>
            </a:p>
          </p:txBody>
        </p:sp>
      </p:grpSp>
      <p:sp>
        <p:nvSpPr>
          <p:cNvPr id="3379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37931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7932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ea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37933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ea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3793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F7EE005B-D780-7D4D-86A4-164059FBD5AA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charset="0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Arial" pitchFamily="-65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charset="0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Arial" pitchFamily="-65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charset="0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Arial" pitchFamily="-65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0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Arial" pitchFamily="-65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905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FFFF00"/>
                </a:solidFill>
                <a:latin typeface="Arial" charset="0"/>
                <a:cs typeface="Arial" charset="0"/>
              </a:rPr>
              <a:t>PIA 3121	</a:t>
            </a:r>
            <a:br>
              <a:rPr lang="en-US" sz="2800" dirty="0">
                <a:solidFill>
                  <a:srgbClr val="FFFF00"/>
                </a:solidFill>
                <a:latin typeface="Arial" charset="0"/>
                <a:cs typeface="Arial" charset="0"/>
              </a:rPr>
            </a:br>
            <a:br>
              <a:rPr lang="en-US" sz="2800" dirty="0">
                <a:latin typeface="Arial" charset="0"/>
                <a:cs typeface="Arial" charset="0"/>
              </a:rPr>
            </a:br>
            <a:r>
              <a:rPr lang="en-US" sz="2400" dirty="0">
                <a:latin typeface="Arial" charset="0"/>
                <a:cs typeface="Arial" charset="0"/>
              </a:rPr>
              <a:t>1 September 2026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505200"/>
            <a:ext cx="8763000" cy="1600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sz="3600" dirty="0">
                <a:latin typeface="Arial" charset="0"/>
                <a:cs typeface="Arial" charset="0"/>
              </a:rPr>
              <a:t>Tools of Analysis /</a:t>
            </a:r>
          </a:p>
          <a:p>
            <a:pPr eaLnBrk="1" hangingPunct="1">
              <a:buFont typeface="Wingdings" charset="0"/>
              <a:buNone/>
            </a:pPr>
            <a:r>
              <a:rPr lang="en-US" sz="3600" dirty="0">
                <a:latin typeface="Arial" charset="0"/>
                <a:cs typeface="Arial" charset="0"/>
              </a:rPr>
              <a:t>Foundational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 dirty="0">
                <a:solidFill>
                  <a:srgbClr val="FFFF00"/>
                </a:solidFill>
                <a:ea typeface="ＭＳ Ｐゴシック" charset="-128"/>
              </a:rPr>
              <a:t>Objectives of PIA 3121</a:t>
            </a:r>
          </a:p>
        </p:txBody>
      </p:sp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2"/>
              <a:buNone/>
            </a:pPr>
            <a:endParaRPr lang="en-US" altLang="x-none" dirty="0">
              <a:ea typeface="ＭＳ Ｐゴシック" charset="-128"/>
            </a:endParaRPr>
          </a:p>
          <a:p>
            <a:pPr marL="514350" indent="-514350" eaLnBrk="1" hangingPunct="1">
              <a:buFont typeface="Wingdings" charset="2"/>
              <a:buAutoNum type="arabicPeriod"/>
            </a:pPr>
            <a:r>
              <a:rPr lang="en-US" altLang="x-none" sz="2800" dirty="0">
                <a:ea typeface="ＭＳ Ｐゴシック" charset="-128"/>
              </a:rPr>
              <a:t>To introduce you to the “root discourses” of International Relations, the discipline;</a:t>
            </a:r>
          </a:p>
        </p:txBody>
      </p:sp>
    </p:spTree>
    <p:extLst>
      <p:ext uri="{BB962C8B-B14F-4D97-AF65-F5344CB8AC3E}">
        <p14:creationId xmlns:p14="http://schemas.microsoft.com/office/powerpoint/2010/main" val="174118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 dirty="0">
                <a:solidFill>
                  <a:srgbClr val="FFFF00"/>
                </a:solidFill>
                <a:ea typeface="ＭＳ Ｐゴシック" charset="-128"/>
              </a:rPr>
              <a:t>Objectives of PIA 3121</a:t>
            </a:r>
          </a:p>
        </p:txBody>
      </p:sp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2"/>
              <a:buNone/>
            </a:pPr>
            <a:endParaRPr lang="en-US" altLang="x-none" dirty="0">
              <a:ea typeface="ＭＳ Ｐゴシック" charset="-128"/>
            </a:endParaRPr>
          </a:p>
          <a:p>
            <a:pPr marL="514350" indent="-514350" eaLnBrk="1" hangingPunct="1">
              <a:buFont typeface="Wingdings" charset="2"/>
              <a:buAutoNum type="arabicPeriod"/>
            </a:pPr>
            <a:r>
              <a:rPr lang="en-US" altLang="x-none" sz="2800" dirty="0">
                <a:ea typeface="ＭＳ Ｐゴシック" charset="-128"/>
              </a:rPr>
              <a:t>To introduce you to the “root discourses” of International Relations, the discipline;</a:t>
            </a:r>
          </a:p>
          <a:p>
            <a:pPr marL="514350" indent="-514350" eaLnBrk="1" hangingPunct="1">
              <a:buFont typeface="Wingdings" charset="2"/>
              <a:buAutoNum type="arabicPeriod"/>
            </a:pPr>
            <a:endParaRPr lang="en-US" altLang="x-none" sz="2800" dirty="0">
              <a:ea typeface="ＭＳ Ｐゴシック" charset="-128"/>
            </a:endParaRPr>
          </a:p>
          <a:p>
            <a:pPr marL="514350" indent="-514350" eaLnBrk="1" hangingPunct="1">
              <a:buFont typeface="Wingdings" charset="2"/>
              <a:buAutoNum type="arabicPeriod"/>
            </a:pPr>
            <a:r>
              <a:rPr lang="en-US" altLang="x-none" sz="2800" dirty="0">
                <a:ea typeface="ＭＳ Ｐゴシック" charset="-128"/>
              </a:rPr>
              <a:t>To use concepts developed by contributors to the root discourses to illuminate certain real-life problems and issues facing the world today.</a:t>
            </a:r>
          </a:p>
          <a:p>
            <a:pPr marL="514350" indent="-514350" eaLnBrk="1" hangingPunct="1">
              <a:buFont typeface="Wingdings" charset="2"/>
              <a:buAutoNum type="arabicPeriod"/>
            </a:pPr>
            <a:endParaRPr lang="en-US" altLang="x-none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4114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 dirty="0">
                <a:solidFill>
                  <a:srgbClr val="FFFF00"/>
                </a:solidFill>
                <a:ea typeface="ＭＳ Ｐゴシック" charset="-128"/>
              </a:rPr>
              <a:t>The </a:t>
            </a:r>
            <a:r>
              <a:rPr lang="ja-JP" altLang="en-US" sz="4000">
                <a:solidFill>
                  <a:srgbClr val="FFFF00"/>
                </a:solidFill>
                <a:ea typeface="ＭＳ Ｐゴシック" charset="-128"/>
              </a:rPr>
              <a:t>“</a:t>
            </a:r>
            <a:r>
              <a:rPr lang="en-US" altLang="ja-JP" sz="4000" dirty="0">
                <a:solidFill>
                  <a:srgbClr val="FFFF00"/>
                </a:solidFill>
                <a:ea typeface="ＭＳ Ｐゴシック" charset="-128"/>
              </a:rPr>
              <a:t>root discourses</a:t>
            </a:r>
            <a:r>
              <a:rPr lang="ja-JP" altLang="en-US" sz="4000">
                <a:solidFill>
                  <a:srgbClr val="FFFF00"/>
                </a:solidFill>
                <a:ea typeface="ＭＳ Ｐゴシック" charset="-128"/>
              </a:rPr>
              <a:t>”</a:t>
            </a:r>
            <a:r>
              <a:rPr lang="en-US" altLang="ja-JP" sz="4000" dirty="0">
                <a:solidFill>
                  <a:srgbClr val="FFFF00"/>
                </a:solidFill>
                <a:ea typeface="ＭＳ Ｐゴシック" charset="-128"/>
              </a:rPr>
              <a:t> of IR</a:t>
            </a:r>
            <a:endParaRPr lang="en-US" altLang="x-none" sz="4000" dirty="0">
              <a:solidFill>
                <a:srgbClr val="FFFF00"/>
              </a:solidFill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Realism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Liberalism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Neorealism and Neoliberalism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Economic Structuralism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The English School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Constructivism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Psychology and Ontological Security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Critical Theory</a:t>
            </a:r>
          </a:p>
          <a:p>
            <a:pPr eaLnBrk="1" hangingPunct="1">
              <a:buFont typeface="Wingdings" charset="2"/>
              <a:buNone/>
            </a:pPr>
            <a:r>
              <a:rPr lang="en-US" altLang="x-none" sz="2800" dirty="0">
                <a:ea typeface="ＭＳ Ｐゴシック" charset="-128"/>
              </a:rPr>
              <a:t>Gender and IR</a:t>
            </a:r>
          </a:p>
        </p:txBody>
      </p:sp>
    </p:spTree>
    <p:extLst>
      <p:ext uri="{BB962C8B-B14F-4D97-AF65-F5344CB8AC3E}">
        <p14:creationId xmlns:p14="http://schemas.microsoft.com/office/powerpoint/2010/main" val="128346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 dirty="0">
                <a:solidFill>
                  <a:srgbClr val="FFFF00"/>
                </a:solidFill>
                <a:ea typeface="ＭＳ Ｐゴシック" charset="-128"/>
              </a:rPr>
              <a:t>Some real-life global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30725"/>
          </a:xfrm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US" altLang="x-none" sz="2000" dirty="0">
                <a:ea typeface="ＭＳ Ｐゴシック" charset="-128"/>
              </a:rPr>
              <a:t>Systemic adjustment to the rises of China and India:  fate of the liberal international order; democracy and democratization</a:t>
            </a: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r>
              <a:rPr lang="en-US" altLang="x-none" sz="2000" dirty="0">
                <a:ea typeface="ＭＳ Ｐゴシック" charset="-128"/>
              </a:rPr>
              <a:t>Demography, natural resources, climate change, pandemics, existential risks</a:t>
            </a: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r>
              <a:rPr lang="en-US" altLang="x-none" sz="2000" dirty="0">
                <a:ea typeface="ＭＳ Ｐゴシック" charset="-128"/>
              </a:rPr>
              <a:t>Challenges to the world political economy; technology and global communication; AI</a:t>
            </a: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r>
              <a:rPr lang="en-US" altLang="x-none" sz="2000" dirty="0">
                <a:ea typeface="ＭＳ Ｐゴシック" charset="-128"/>
              </a:rPr>
              <a:t>Women and gender (in)equality; other forms of (in)equality; ethnic relations; religion in IR</a:t>
            </a: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r>
              <a:rPr lang="en-US" altLang="x-none" sz="2000" dirty="0">
                <a:ea typeface="ＭＳ Ｐゴシック" charset="-128"/>
              </a:rPr>
              <a:t>Regional inter-state tensions; wars; civil wars; terrorism; revolution</a:t>
            </a: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endParaRPr lang="en-US" altLang="x-none" sz="1600" dirty="0"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r>
              <a:rPr lang="en-US" altLang="x-none" sz="2000" dirty="0">
                <a:ea typeface="ＭＳ Ｐゴシック" charset="-128"/>
              </a:rPr>
              <a:t>Ethics and values in a multicultural world; global governance</a:t>
            </a:r>
          </a:p>
        </p:txBody>
      </p:sp>
    </p:spTree>
    <p:extLst>
      <p:ext uri="{BB962C8B-B14F-4D97-AF65-F5344CB8AC3E}">
        <p14:creationId xmlns:p14="http://schemas.microsoft.com/office/powerpoint/2010/main" val="67128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87425"/>
          </a:xfrm>
        </p:spPr>
        <p:txBody>
          <a:bodyPr/>
          <a:lstStyle/>
          <a:p>
            <a:pPr eaLnBrk="1" hangingPunct="1"/>
            <a:r>
              <a:rPr lang="en-US" altLang="x-none" sz="3600" dirty="0">
                <a:solidFill>
                  <a:srgbClr val="FFFF00"/>
                </a:solidFill>
                <a:ea typeface="ＭＳ Ｐゴシック" charset="-128"/>
              </a:rPr>
              <a:t>Required and recommended</a:t>
            </a:r>
            <a:br>
              <a:rPr lang="en-US" altLang="x-none" sz="3600" dirty="0">
                <a:solidFill>
                  <a:srgbClr val="FFFF00"/>
                </a:solidFill>
                <a:ea typeface="ＭＳ Ｐゴシック" charset="-128"/>
              </a:rPr>
            </a:br>
            <a:r>
              <a:rPr lang="en-US" altLang="x-none" sz="3600" dirty="0">
                <a:solidFill>
                  <a:srgbClr val="FFFF00"/>
                </a:solidFill>
                <a:ea typeface="ＭＳ Ｐゴシック" charset="-128"/>
              </a:rPr>
              <a:t>books for PIA 3121</a:t>
            </a:r>
          </a:p>
        </p:txBody>
      </p:sp>
      <p:pic>
        <p:nvPicPr>
          <p:cNvPr id="24580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3915" y="1311902"/>
            <a:ext cx="3429000" cy="5148943"/>
          </a:xfrm>
          <a:prstGeom prst="rect">
            <a:avLst/>
          </a:prstGeom>
          <a:solidFill>
            <a:srgbClr val="FFFFFF">
              <a:shade val="85000"/>
            </a:srgbClr>
          </a:solidFill>
          <a:ln w="44450" cap="sq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66CF71-55B2-02DC-12D6-45B76C8CF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851" y="1311902"/>
            <a:ext cx="3594982" cy="51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1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sz="3600" u="sng" dirty="0">
                <a:solidFill>
                  <a:schemeClr val="tx1"/>
                </a:solidFill>
              </a:rPr>
              <a:t>PIA 3121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265" y="1447800"/>
            <a:ext cx="8229600" cy="4713287"/>
          </a:xfrm>
        </p:spPr>
        <p:txBody>
          <a:bodyPr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1800" dirty="0">
                <a:solidFill>
                  <a:srgbClr val="FFFF00"/>
                </a:solidFill>
              </a:rPr>
              <a:t>1 Sept:		</a:t>
            </a:r>
            <a:r>
              <a:rPr lang="en-US" sz="1800" dirty="0"/>
              <a:t>Tools of Analysis / Foundational Concepts</a:t>
            </a:r>
            <a:endParaRPr lang="en-US" sz="1800" dirty="0">
              <a:solidFill>
                <a:srgbClr val="FFFF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8 Sept</a:t>
            </a:r>
            <a:r>
              <a:rPr lang="en-US" sz="1800" dirty="0"/>
              <a:t>:		Realism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15 Sept</a:t>
            </a:r>
            <a:r>
              <a:rPr lang="en-US" sz="1800" dirty="0"/>
              <a:t>:		Liberalism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22 Sept</a:t>
            </a:r>
            <a:r>
              <a:rPr lang="en-US" sz="1800" dirty="0"/>
              <a:t>:		Neorealism and Neoliberalism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29 Sept:</a:t>
            </a:r>
            <a:r>
              <a:rPr lang="en-US" sz="1800" dirty="0"/>
              <a:t>		Economic Structuralism and Globalization</a:t>
            </a:r>
            <a:endParaRPr lang="en-US" sz="14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6 Oct</a:t>
            </a:r>
            <a:r>
              <a:rPr lang="en-US" sz="1800" dirty="0"/>
              <a:t>:		Constructivism</a:t>
            </a:r>
            <a:endParaRPr lang="en-US" sz="14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1800" dirty="0">
                <a:solidFill>
                  <a:srgbClr val="FFFF00"/>
                </a:solidFill>
              </a:rPr>
              <a:t>13 Oct</a:t>
            </a:r>
            <a:r>
              <a:rPr lang="en-US" sz="1800" dirty="0"/>
              <a:t>:		MIDTERM QUIZ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sz="1800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1800" dirty="0">
                <a:solidFill>
                  <a:srgbClr val="FFFF00"/>
                </a:solidFill>
              </a:rPr>
              <a:t>20 Oct</a:t>
            </a:r>
            <a:r>
              <a:rPr lang="en-US" sz="1800" dirty="0"/>
              <a:t>:		Ontological Security Theory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1800" dirty="0">
                <a:solidFill>
                  <a:srgbClr val="FFFF00"/>
                </a:solidFill>
              </a:rPr>
              <a:t>27 Oct</a:t>
            </a:r>
            <a:r>
              <a:rPr lang="en-US" sz="1800" dirty="0"/>
              <a:t>:		The English School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3 Nov</a:t>
            </a:r>
            <a:r>
              <a:rPr lang="en-US" sz="1800" dirty="0"/>
              <a:t>:		Democratization / Global Culture / Revolution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10 Nov</a:t>
            </a:r>
            <a:r>
              <a:rPr lang="en-US" sz="1800" dirty="0"/>
              <a:t>:		Critical Theory / Gender in IR / Global Civil Society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17 Nov</a:t>
            </a:r>
            <a:r>
              <a:rPr lang="en-US" sz="1800" dirty="0"/>
              <a:t>:		Chaos and Complexity in IR / Existential Risks</a:t>
            </a:r>
            <a:endParaRPr lang="en-US" sz="14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FF00"/>
                </a:solidFill>
              </a:rPr>
              <a:t>24 Nov</a:t>
            </a:r>
            <a:r>
              <a:rPr lang="en-US" sz="1800" dirty="0"/>
              <a:t>:		FINAL QUIZ DUE / Discussion of Group Projects</a:t>
            </a:r>
            <a:endParaRPr lang="en-US" sz="1400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sz="1400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1800" dirty="0">
                <a:solidFill>
                  <a:srgbClr val="FFFF00"/>
                </a:solidFill>
              </a:rPr>
              <a:t>8 Dec</a:t>
            </a:r>
            <a:r>
              <a:rPr lang="en-US" sz="1800" dirty="0"/>
              <a:t>:		GROUP PAPER PROJECT DUE</a:t>
            </a:r>
            <a:endParaRPr lang="en-US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46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017587"/>
          </a:xfrm>
        </p:spPr>
        <p:txBody>
          <a:bodyPr/>
          <a:lstStyle/>
          <a:p>
            <a:r>
              <a:rPr lang="en-US" sz="3200" dirty="0">
                <a:solidFill>
                  <a:srgbClr val="00B0F0"/>
                </a:solidFill>
              </a:rPr>
              <a:t>PIA 3121 Reading Assignment for</a:t>
            </a:r>
            <a:br>
              <a:rPr lang="en-US" sz="3200" dirty="0">
                <a:solidFill>
                  <a:srgbClr val="00B0F0"/>
                </a:solidFill>
              </a:rPr>
            </a:br>
            <a:r>
              <a:rPr lang="en-US" sz="3200" dirty="0">
                <a:solidFill>
                  <a:srgbClr val="00B0F0"/>
                </a:solidFill>
              </a:rPr>
              <a:t>Tuesday, 8 September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3287"/>
          </a:xfrm>
        </p:spPr>
        <p:txBody>
          <a:bodyPr/>
          <a:lstStyle/>
          <a:p>
            <a:pPr marL="0" indent="0">
              <a:buNone/>
            </a:pPr>
            <a:endParaRPr lang="en-HK" sz="1800" dirty="0">
              <a:effectLst/>
            </a:endParaRPr>
          </a:p>
          <a:p>
            <a:pPr marL="0" indent="0">
              <a:buNone/>
            </a:pPr>
            <a:r>
              <a:rPr lang="en-HK" sz="1800" dirty="0">
                <a:effectLst/>
              </a:rPr>
              <a:t>Viotti and Kauppi, </a:t>
            </a:r>
            <a:r>
              <a:rPr lang="en-HK" sz="1800" i="1" dirty="0">
                <a:effectLst/>
              </a:rPr>
              <a:t>International Relations Theory</a:t>
            </a:r>
            <a:r>
              <a:rPr lang="en-HK" sz="1800" dirty="0">
                <a:effectLst/>
              </a:rPr>
              <a:t>, chapter on “Realism: The State and Balance of Power,” pp. 21-62.</a:t>
            </a:r>
            <a:endParaRPr lang="en-US" sz="1800" dirty="0">
              <a:effectLst/>
            </a:endParaRPr>
          </a:p>
          <a:p>
            <a:pPr marL="0" indent="0">
              <a:buNone/>
            </a:pPr>
            <a:endParaRPr lang="en-US" sz="1800" dirty="0">
              <a:effectLst/>
            </a:endParaRPr>
          </a:p>
          <a:p>
            <a:pPr marL="0" indent="0">
              <a:buNone/>
            </a:pPr>
            <a:r>
              <a:rPr lang="en-HK" sz="1800" dirty="0">
                <a:effectLst/>
              </a:rPr>
              <a:t>Lake, David A.  “The State and International Relations.”  In Reus-Smit and Snidal, eds., </a:t>
            </a:r>
            <a:r>
              <a:rPr lang="en-HK" sz="1800" i="1" dirty="0">
                <a:effectLst/>
              </a:rPr>
              <a:t>The Oxford Handbook of International Relations</a:t>
            </a:r>
            <a:r>
              <a:rPr lang="en-HK" sz="1800" dirty="0">
                <a:effectLst/>
              </a:rPr>
              <a:t>, pp. 41-61. </a:t>
            </a:r>
          </a:p>
          <a:p>
            <a:pPr marL="0" indent="0">
              <a:buNone/>
            </a:pPr>
            <a:endParaRPr lang="en-US" sz="1800" dirty="0">
              <a:effectLst/>
            </a:endParaRPr>
          </a:p>
          <a:p>
            <a:pPr marL="0" indent="0">
              <a:buNone/>
            </a:pPr>
            <a:r>
              <a:rPr lang="en-HK" sz="1800" dirty="0">
                <a:effectLst/>
              </a:rPr>
              <a:t>Wohlforth, William C.  “Realism.”  In Reus-Smit and Snidal, eds., </a:t>
            </a:r>
            <a:r>
              <a:rPr lang="en-HK" sz="1800" i="1" dirty="0">
                <a:effectLst/>
              </a:rPr>
              <a:t>The Oxford Handbook of International Relations</a:t>
            </a:r>
            <a:r>
              <a:rPr lang="en-HK" sz="1800" dirty="0">
                <a:effectLst/>
              </a:rPr>
              <a:t>, pp. 131-149.</a:t>
            </a:r>
            <a:endParaRPr lang="en-US" sz="1800" dirty="0">
              <a:effectLst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3027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PIA 3121 final course grade calculations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23671" y="-1097686"/>
            <a:ext cx="99434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Assessment Tasks/Activities (ATs)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(ATs are designed to assess how well the students achieve the CILOs.)</a:t>
            </a:r>
            <a:endParaRPr kumimoji="0" lang="x-none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x-none" altLang="x-non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x-none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1D448-4E41-7631-1CAC-492F6FC77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1905000"/>
            <a:ext cx="5219700" cy="304800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C3037E0-FB56-87E6-BA81-75EE73426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258" y="2105819"/>
            <a:ext cx="8973542" cy="2517756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49394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84740035-CB26-FCF0-E3CC-0843D3E2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F9B260-9E07-0E4A-19AB-EB4BAAE711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901" y="859062"/>
            <a:ext cx="8229601" cy="290093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FC2BE6-7245-1945-A2CA-2BCC520B45E5}"/>
              </a:ext>
            </a:extLst>
          </p:cNvPr>
          <p:cNvSpPr txBox="1"/>
          <p:nvPr/>
        </p:nvSpPr>
        <p:spPr>
          <a:xfrm>
            <a:off x="445718" y="4341244"/>
            <a:ext cx="6248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	Go to </a:t>
            </a:r>
            <a:r>
              <a:rPr lang="en-US" dirty="0">
                <a:hlinkClick r:id="rId3"/>
              </a:rPr>
              <a:t>https://posit.co/download/rstudio-desktop/</a:t>
            </a:r>
            <a:endParaRPr lang="en-US" dirty="0"/>
          </a:p>
          <a:p>
            <a:endParaRPr lang="en-US" dirty="0"/>
          </a:p>
          <a:p>
            <a:r>
              <a:rPr lang="en-US" dirty="0"/>
              <a:t>Step 2:	Install R</a:t>
            </a:r>
          </a:p>
          <a:p>
            <a:endParaRPr lang="en-US" dirty="0"/>
          </a:p>
          <a:p>
            <a:r>
              <a:rPr lang="en-US" dirty="0"/>
              <a:t>Step 3:	Install RStudio</a:t>
            </a:r>
          </a:p>
        </p:txBody>
      </p:sp>
    </p:spTree>
    <p:extLst>
      <p:ext uri="{BB962C8B-B14F-4D97-AF65-F5344CB8AC3E}">
        <p14:creationId xmlns:p14="http://schemas.microsoft.com/office/powerpoint/2010/main" val="1296983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4AA3-15A5-C387-BEA0-FC3A1A04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400" b="0" i="0" u="none" strike="noStrike" kern="1200" spc="0" baseline="0">
                <a:solidFill>
                  <a:srgbClr val="FFFFFF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br>
              <a:rPr lang="en-US" sz="2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Articles Mentioning “National Rejuvenation” (</a:t>
            </a:r>
            <a:r>
              <a:rPr lang="en-US" sz="2000" b="1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民族复兴</a:t>
            </a:r>
            <a:r>
              <a:rPr lang="en-US" sz="2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en-US" sz="2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the </a:t>
            </a:r>
            <a:r>
              <a:rPr lang="en-US" sz="2000" b="1" i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People’s Daily</a:t>
            </a:r>
            <a:br>
              <a:rPr lang="en-HK" sz="200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45B85E-F242-B64F-3B7D-F523EDD346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417638"/>
          <a:ext cx="8229600" cy="453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02200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10DC-428D-AF5B-662D-EEEA7AD6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E823FD-0251-F2B3-11E2-C22D66AB6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72" y="1066800"/>
            <a:ext cx="9144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03635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685A-EEF8-02A7-738B-2CE7743C4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94D9B-9BD4-D067-A064-6355A7376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066800"/>
            <a:ext cx="9144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76905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FFEF-561A-54C2-E5F3-E007E8308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People’s Daily, rejuvenation + future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F72105-6BD2-3705-5237-F7B612FF1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81" y="1219200"/>
            <a:ext cx="9144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0536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EFFF-8D7A-62D2-28B5-38196904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48418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Zhihu, rejuvenation + future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782269-DDC7-C10C-BCAB-88E2C1636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33" y="1143000"/>
            <a:ext cx="9144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84842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A36B-A3FB-DF7A-48DD-CE6F52D5C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215"/>
            <a:ext cx="8229600" cy="654586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Mapper: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PD = yellow, ZH = purple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3C394D-8A0D-FA01-2AD7-EF83D75EA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66850" y="898771"/>
            <a:ext cx="6210300" cy="5928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58913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35A4-E6DA-5942-1649-52B0BB82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FF00"/>
                </a:solidFill>
              </a:rPr>
              <a:t>How AI Will Help You Create the STM in R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4E340-EA0E-AD81-3D48-9767F83B1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49" y="1427033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The interaction would be a dialogue. We (AI) would guide a student through the distinct phases of the project: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6946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15D0-A05A-3277-60D8-DC3197B6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71F6-D501-FEB5-B848-583F1F24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FF00"/>
                </a:solidFill>
              </a:rPr>
              <a:t>How AI Will Help You Create the STM in R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47194-6E4A-57BD-85A1-14C850609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49" y="1427033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The interaction would be a dialogue. We (AI) would guide a student through the distinct phases of the project: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pPr marL="0" indent="0">
              <a:buNone/>
            </a:pPr>
            <a:r>
              <a:rPr lang="en-US" sz="1600" b="1" u="sng" dirty="0">
                <a:effectLst/>
              </a:rPr>
              <a:t>Setup and Installation</a:t>
            </a:r>
            <a:r>
              <a:rPr lang="en-US" sz="1600" b="1" dirty="0">
                <a:effectLst/>
              </a:rPr>
              <a:t>:</a:t>
            </a:r>
            <a:r>
              <a:rPr lang="en-US" sz="1600" dirty="0">
                <a:effectLst/>
              </a:rPr>
              <a:t> We can provide the code to install and load the necessary R packages (stm, </a:t>
            </a:r>
            <a:r>
              <a:rPr lang="en-US" sz="1600" dirty="0" err="1">
                <a:effectLst/>
              </a:rPr>
              <a:t>quanteda</a:t>
            </a:r>
            <a:r>
              <a:rPr lang="en-US" sz="1600" dirty="0">
                <a:effectLst/>
              </a:rPr>
              <a:t>, </a:t>
            </a:r>
            <a:r>
              <a:rPr lang="en-US" sz="1600" dirty="0" err="1">
                <a:effectLst/>
              </a:rPr>
              <a:t>pdftools</a:t>
            </a:r>
            <a:r>
              <a:rPr lang="en-US" sz="1600" dirty="0">
                <a:effectLst/>
              </a:rPr>
              <a:t>, etc.).</a:t>
            </a:r>
            <a:endParaRPr lang="en-US" sz="1200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u="sng" dirty="0">
                <a:effectLst/>
              </a:rPr>
              <a:t>Text Extraction</a:t>
            </a:r>
            <a:r>
              <a:rPr lang="en-US" sz="1600" b="1" dirty="0">
                <a:effectLst/>
              </a:rPr>
              <a:t>:</a:t>
            </a:r>
            <a:r>
              <a:rPr lang="en-US" sz="1600" dirty="0">
                <a:effectLst/>
              </a:rPr>
              <a:t> We can generate a script to read all 500 PDFs from a specific folder and convert them into usable text.</a:t>
            </a:r>
            <a:endParaRPr lang="en-US" sz="1200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u="sng" dirty="0">
                <a:effectLst/>
              </a:rPr>
              <a:t>Data Cleaning and Pre-processing</a:t>
            </a:r>
            <a:r>
              <a:rPr lang="en-US" sz="1600" b="1" dirty="0">
                <a:effectLst/>
              </a:rPr>
              <a:t>:</a:t>
            </a:r>
            <a:r>
              <a:rPr lang="en-US" sz="1600" dirty="0">
                <a:effectLst/>
              </a:rPr>
              <a:t> We can provide code to create the corpus, tokenize the text, remove </a:t>
            </a:r>
            <a:r>
              <a:rPr lang="en-US" sz="1600" dirty="0" err="1">
                <a:effectLst/>
              </a:rPr>
              <a:t>stopwords</a:t>
            </a:r>
            <a:r>
              <a:rPr lang="en-US" sz="1600" dirty="0">
                <a:effectLst/>
              </a:rPr>
              <a:t> and punctuation, and generate the final document-feature matrix (DFM).</a:t>
            </a:r>
            <a:endParaRPr lang="en-US" sz="1200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u="sng" dirty="0">
                <a:effectLst/>
              </a:rPr>
              <a:t>Model Fitting</a:t>
            </a:r>
            <a:r>
              <a:rPr lang="en-US" sz="1600" b="1" dirty="0">
                <a:effectLst/>
              </a:rPr>
              <a:t>:</a:t>
            </a:r>
            <a:r>
              <a:rPr lang="en-US" sz="1600" dirty="0">
                <a:effectLst/>
              </a:rPr>
              <a:t> We can show the student the command to run the stm() function, explaining key parameters like K(the number of topics).</a:t>
            </a:r>
            <a:endParaRPr lang="en-US" sz="1200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u="sng" dirty="0">
                <a:effectLst/>
              </a:rPr>
              <a:t>Analysis and Visualization</a:t>
            </a:r>
            <a:r>
              <a:rPr lang="en-US" sz="1600" b="1" dirty="0">
                <a:effectLst/>
              </a:rPr>
              <a:t>:</a:t>
            </a:r>
            <a:r>
              <a:rPr lang="en-US" sz="1600" dirty="0">
                <a:effectLst/>
              </a:rPr>
              <a:t> We can provide the code to extract and visualize the results, such as creating topic word clouds or plotting how topic prevalence correlates with metadata (e.g., news source).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13421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129D-239A-2859-3817-FA6FF85E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FF00"/>
                </a:solidFill>
              </a:rPr>
              <a:t>How AI Will Help You Create the STM in R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95BBD-6E97-803D-0BD8-4C17A0F2B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## An Example Interaction</a:t>
            </a:r>
          </a:p>
          <a:p>
            <a:pPr marL="0" indent="0">
              <a:buNone/>
            </a:pPr>
            <a:endParaRPr lang="en-US" sz="1600" b="1" dirty="0">
              <a:effectLst/>
            </a:endParaRPr>
          </a:p>
          <a:p>
            <a:pPr marL="0" indent="0">
              <a:buNone/>
            </a:pPr>
            <a:r>
              <a:rPr lang="en-US" sz="1600" dirty="0">
                <a:effectLst/>
              </a:rPr>
              <a:t>Here’s a realistic example of what a student's conversation with me might look like: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Student</a:t>
            </a:r>
            <a:r>
              <a:rPr lang="en-US" sz="1600" b="1" dirty="0">
                <a:effectLst/>
              </a:rPr>
              <a:t>: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pPr marL="0" indent="0">
              <a:buNone/>
            </a:pPr>
            <a:r>
              <a:rPr lang="en-US" sz="1600" dirty="0">
                <a:effectLst/>
              </a:rPr>
              <a:t>"Okay, I've managed to extract all the text from my PDFs using the </a:t>
            </a:r>
            <a:r>
              <a:rPr lang="en-US" sz="1600" dirty="0" err="1">
                <a:effectLst/>
              </a:rPr>
              <a:t>pdftools</a:t>
            </a:r>
            <a:r>
              <a:rPr lang="en-US" sz="1600" dirty="0">
                <a:effectLst/>
              </a:rPr>
              <a:t> package. Now I have a list of 500 texts in R. How do I get this ready for the stm package?”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AI</a:t>
            </a:r>
            <a:r>
              <a:rPr lang="en-US" sz="1600" b="1" dirty="0">
                <a:effectLst/>
              </a:rPr>
              <a:t>: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pPr marL="0" indent="0">
              <a:buNone/>
            </a:pPr>
            <a:r>
              <a:rPr lang="en-US" sz="1600" dirty="0">
                <a:effectLst/>
              </a:rPr>
              <a:t>"Excellent. The next step is to use the </a:t>
            </a:r>
            <a:r>
              <a:rPr lang="en-US" sz="1600" dirty="0" err="1">
                <a:effectLst/>
              </a:rPr>
              <a:t>quanteda</a:t>
            </a:r>
            <a:r>
              <a:rPr lang="en-US" sz="1600" dirty="0">
                <a:effectLst/>
              </a:rPr>
              <a:t> package to convert your list of texts into a corpus and then create a document-feature matrix (DFM). </a:t>
            </a:r>
            <a:r>
              <a:rPr lang="en-US" sz="1600" dirty="0" err="1">
                <a:effectLst/>
              </a:rPr>
              <a:t>quanteda</a:t>
            </a:r>
            <a:r>
              <a:rPr lang="en-US" sz="1600" dirty="0">
                <a:effectLst/>
              </a:rPr>
              <a:t> cleans the data and gets it into the 'spreadsheet' format that stm needs.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pPr marL="0" indent="0">
              <a:buNone/>
            </a:pPr>
            <a:r>
              <a:rPr lang="en-US" sz="1600" dirty="0">
                <a:effectLst/>
              </a:rPr>
              <a:t>Here is the R code to do that:"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1691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7B88-6EDC-9825-570E-10AC3CBF7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FF00"/>
                </a:solidFill>
              </a:rPr>
              <a:t>How AI Will Help You Create the STM in R Studio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F1D0B-B383-846E-3645-110D58387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# Make sure you have </a:t>
            </a:r>
            <a:r>
              <a:rPr lang="en-US" sz="1600" dirty="0" err="1"/>
              <a:t>quanteda</a:t>
            </a:r>
            <a:r>
              <a:rPr lang="en-US" sz="1600" dirty="0"/>
              <a:t> installed and loaded</a:t>
            </a:r>
          </a:p>
          <a:p>
            <a:pPr marL="0" indent="0">
              <a:buNone/>
            </a:pPr>
            <a:r>
              <a:rPr lang="en-US" sz="1600" dirty="0"/>
              <a:t># </a:t>
            </a:r>
            <a:r>
              <a:rPr lang="en-US" sz="1600" dirty="0" err="1"/>
              <a:t>install.packages</a:t>
            </a:r>
            <a:r>
              <a:rPr lang="en-US" sz="1600" dirty="0"/>
              <a:t>("</a:t>
            </a:r>
            <a:r>
              <a:rPr lang="en-US" sz="1600" dirty="0" err="1"/>
              <a:t>quanteda</a:t>
            </a:r>
            <a:r>
              <a:rPr lang="en-US" sz="1600" dirty="0"/>
              <a:t>")</a:t>
            </a:r>
          </a:p>
          <a:p>
            <a:pPr marL="0" indent="0">
              <a:buNone/>
            </a:pPr>
            <a:r>
              <a:rPr lang="en-US" sz="1600" dirty="0"/>
              <a:t>library(</a:t>
            </a:r>
            <a:r>
              <a:rPr lang="en-US" sz="1600" dirty="0" err="1"/>
              <a:t>quanteda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# Assuming your text is in a list called '</a:t>
            </a:r>
            <a:r>
              <a:rPr lang="en-US" sz="1600" dirty="0" err="1"/>
              <a:t>all_texts</a:t>
            </a:r>
            <a:r>
              <a:rPr lang="en-US" sz="1600" dirty="0"/>
              <a:t>'</a:t>
            </a:r>
          </a:p>
          <a:p>
            <a:pPr marL="0" indent="0">
              <a:buNone/>
            </a:pPr>
            <a:r>
              <a:rPr lang="en-US" sz="1600" dirty="0"/>
              <a:t># First, create a corpus object.</a:t>
            </a:r>
          </a:p>
          <a:p>
            <a:pPr marL="0" indent="0">
              <a:buNone/>
            </a:pPr>
            <a:r>
              <a:rPr lang="en-US" sz="1600" dirty="0" err="1"/>
              <a:t>my_corpus</a:t>
            </a:r>
            <a:r>
              <a:rPr lang="en-US" sz="1600" dirty="0"/>
              <a:t> &lt;- corpus(</a:t>
            </a:r>
            <a:r>
              <a:rPr lang="en-US" sz="1600" dirty="0" err="1"/>
              <a:t>all_texts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# Now, create the DFM, applying several pre-processing steps at once</a:t>
            </a:r>
          </a:p>
          <a:p>
            <a:pPr marL="0" indent="0">
              <a:buNone/>
            </a:pPr>
            <a:r>
              <a:rPr lang="en-US" sz="1600" dirty="0" err="1"/>
              <a:t>my_dfm</a:t>
            </a:r>
            <a:r>
              <a:rPr lang="en-US" sz="1600" dirty="0"/>
              <a:t> &lt;- </a:t>
            </a:r>
            <a:r>
              <a:rPr lang="en-US" sz="1600" dirty="0" err="1"/>
              <a:t>dfm</a:t>
            </a:r>
            <a:r>
              <a:rPr lang="en-US" sz="1600" dirty="0"/>
              <a:t>(</a:t>
            </a:r>
            <a:r>
              <a:rPr lang="en-US" sz="1600" dirty="0" err="1"/>
              <a:t>my_corpus</a:t>
            </a:r>
            <a:r>
              <a:rPr lang="en-US" sz="1600" dirty="0"/>
              <a:t>,</a:t>
            </a:r>
          </a:p>
          <a:p>
            <a:pPr marL="0" indent="0">
              <a:buNone/>
            </a:pPr>
            <a:r>
              <a:rPr lang="en-US" sz="1600" dirty="0"/>
              <a:t>              </a:t>
            </a:r>
            <a:r>
              <a:rPr lang="en-US" sz="1600" dirty="0" err="1"/>
              <a:t>remove_punc</a:t>
            </a:r>
            <a:r>
              <a:rPr lang="en-US" sz="1600" dirty="0"/>
              <a:t> = TRUE,          # Remove punctuation</a:t>
            </a:r>
          </a:p>
          <a:p>
            <a:pPr marL="0" indent="0">
              <a:buNone/>
            </a:pPr>
            <a:r>
              <a:rPr lang="en-US" sz="1600" dirty="0"/>
              <a:t>              remove = </a:t>
            </a:r>
            <a:r>
              <a:rPr lang="en-US" sz="1600" dirty="0" err="1"/>
              <a:t>stopwords</a:t>
            </a:r>
            <a:r>
              <a:rPr lang="en-US" sz="1600" dirty="0"/>
              <a:t>("</a:t>
            </a:r>
            <a:r>
              <a:rPr lang="en-US" sz="1600" dirty="0" err="1"/>
              <a:t>en</a:t>
            </a:r>
            <a:r>
              <a:rPr lang="en-US" sz="1600" dirty="0"/>
              <a:t>"),    # Remove common English "</a:t>
            </a:r>
            <a:r>
              <a:rPr lang="en-US" sz="1600" dirty="0" err="1"/>
              <a:t>stopwords</a:t>
            </a:r>
            <a:r>
              <a:rPr lang="en-US" sz="1600" dirty="0"/>
              <a:t>"</a:t>
            </a:r>
          </a:p>
          <a:p>
            <a:pPr marL="0" indent="0">
              <a:buNone/>
            </a:pPr>
            <a:r>
              <a:rPr lang="en-US" sz="1600" dirty="0"/>
              <a:t>              stem = TRUE,                 # Stem words to their root (e.g., "running" -&gt; "run")</a:t>
            </a:r>
          </a:p>
          <a:p>
            <a:pPr marL="0" indent="0">
              <a:buNone/>
            </a:pPr>
            <a:r>
              <a:rPr lang="en-US" sz="1600" dirty="0"/>
              <a:t>              </a:t>
            </a:r>
            <a:r>
              <a:rPr lang="en-US" sz="1600" dirty="0" err="1"/>
              <a:t>remove_numbers</a:t>
            </a:r>
            <a:r>
              <a:rPr lang="en-US" sz="1600" dirty="0"/>
              <a:t> = TRUE)       # Remove numbers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# This DFM object, '</a:t>
            </a:r>
            <a:r>
              <a:rPr lang="en-US" sz="1600" dirty="0" err="1"/>
              <a:t>my_dfm</a:t>
            </a:r>
            <a:r>
              <a:rPr lang="en-US" sz="1600" dirty="0"/>
              <a:t>', is now ready to be used by the stm package.</a:t>
            </a:r>
          </a:p>
          <a:p>
            <a:pPr marL="0" indent="0">
              <a:buNone/>
            </a:pPr>
            <a:r>
              <a:rPr lang="en-US" sz="1600" dirty="0"/>
              <a:t>print(</a:t>
            </a:r>
            <a:r>
              <a:rPr lang="en-US" sz="1600" dirty="0" err="1"/>
              <a:t>my_dfm</a:t>
            </a:r>
            <a:r>
              <a:rPr lang="en-US" sz="1600" dirty="0"/>
              <a:t>) # You can inspect the DFM to see its dimensions</a:t>
            </a:r>
          </a:p>
        </p:txBody>
      </p:sp>
    </p:spTree>
    <p:extLst>
      <p:ext uri="{BB962C8B-B14F-4D97-AF65-F5344CB8AC3E}">
        <p14:creationId xmlns:p14="http://schemas.microsoft.com/office/powerpoint/2010/main" val="3441533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F4B1-1975-B377-DB90-47C45FD5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FF00"/>
                </a:solidFill>
              </a:rPr>
              <a:t>How AI Will Help You Create the STM in R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36D4-A781-206C-5797-D23AFA7DB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## The Crucial Role of the Student </a:t>
            </a:r>
            <a:endParaRPr lang="en-US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endParaRPr lang="en-US" sz="1200" b="1" dirty="0">
              <a:solidFill>
                <a:schemeClr val="accent1">
                  <a:lumMod val="40000"/>
                  <a:lumOff val="6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US" sz="1600" dirty="0">
                <a:effectLst/>
              </a:rPr>
              <a:t>Even though we [the AI] can provide all the code, the student remains the </a:t>
            </a:r>
            <a:r>
              <a:rPr lang="en-US" sz="1600" b="1" dirty="0">
                <a:effectLst/>
              </a:rPr>
              <a:t>research director</a:t>
            </a:r>
            <a:r>
              <a:rPr lang="en-US" sz="1600" dirty="0">
                <a:effectLst/>
              </a:rPr>
              <a:t>. Our role is that of a technical assistant, not an intellectual replacement. The student still has to perform the critical thinking tasks that the AI cannot:</a:t>
            </a: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pPr marL="0" indent="0">
              <a:buNone/>
            </a:pPr>
            <a:r>
              <a:rPr lang="en-US" sz="1600" b="1" dirty="0">
                <a:effectLst/>
              </a:rPr>
              <a:t>1.  Define the research question</a:t>
            </a:r>
            <a:r>
              <a:rPr lang="en-US" sz="1200" b="1" dirty="0">
                <a:effectLst/>
              </a:rPr>
              <a:t>.</a:t>
            </a: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dirty="0">
                <a:effectLst/>
              </a:rPr>
              <a:t>2.  Select and justify the text corpus.</a:t>
            </a:r>
            <a:endParaRPr lang="en-US" sz="1200" b="1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dirty="0">
                <a:effectLst/>
              </a:rPr>
              <a:t>3.  Make crucial modeling decisions</a:t>
            </a:r>
            <a:r>
              <a:rPr lang="en-US" sz="1600" dirty="0">
                <a:effectLst/>
              </a:rPr>
              <a:t>, like choosing the number of topics (K).</a:t>
            </a:r>
            <a:endParaRPr lang="en-US" sz="1200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dirty="0">
                <a:effectLst/>
              </a:rPr>
              <a:t>4.  </a:t>
            </a:r>
            <a:r>
              <a:rPr lang="en-US" sz="1600" b="1" dirty="0">
                <a:effectLst/>
                <a:highlight>
                  <a:srgbClr val="800000"/>
                </a:highlight>
              </a:rPr>
              <a:t>Interpret and label the topics</a:t>
            </a:r>
            <a:r>
              <a:rPr lang="en-US" sz="1600" dirty="0">
                <a:effectLst/>
                <a:highlight>
                  <a:srgbClr val="800000"/>
                </a:highlight>
              </a:rPr>
              <a:t> based on their content</a:t>
            </a:r>
            <a:r>
              <a:rPr lang="en-US" sz="1600" dirty="0">
                <a:effectLst/>
              </a:rPr>
              <a:t>.</a:t>
            </a:r>
            <a:endParaRPr lang="en-US" sz="1200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b="1" dirty="0">
                <a:effectLst/>
              </a:rPr>
              <a:t>5.  Perform the final, nuanced analysis</a:t>
            </a:r>
            <a:r>
              <a:rPr lang="en-US" sz="1600" dirty="0">
                <a:effectLst/>
              </a:rPr>
              <a:t> that connects the model's output back to the international relations theories discussed in your class.</a:t>
            </a:r>
            <a:endParaRPr lang="en-US" sz="1200" dirty="0">
              <a:effectLst/>
            </a:endParaRPr>
          </a:p>
          <a:p>
            <a:pPr marL="0" indent="0">
              <a:buNone/>
            </a:pPr>
            <a:endParaRPr lang="en-US" sz="1200" dirty="0">
              <a:effectLst/>
            </a:endParaRPr>
          </a:p>
          <a:p>
            <a:pPr marL="0" indent="0">
              <a:buNone/>
            </a:pPr>
            <a:r>
              <a:rPr lang="en-US" sz="1600" dirty="0">
                <a:effectLst/>
                <a:highlight>
                  <a:srgbClr val="000080"/>
                </a:highlight>
              </a:rPr>
              <a:t>6.  So, while we [the AI] can write the code, the student is still required to do the driving. This makes the assignment a powerful exercise in critical analysis, using AI as the exact kind of </a:t>
            </a:r>
            <a:r>
              <a:rPr lang="en-US" sz="1600" i="1" dirty="0">
                <a:solidFill>
                  <a:srgbClr val="FFFF00"/>
                </a:solidFill>
                <a:effectLst/>
                <a:highlight>
                  <a:srgbClr val="000080"/>
                </a:highlight>
              </a:rPr>
              <a:t>productivity-enhancing tool</a:t>
            </a:r>
            <a:r>
              <a:rPr lang="en-US" sz="1600" dirty="0">
                <a:effectLst/>
                <a:highlight>
                  <a:srgbClr val="000080"/>
                </a:highlight>
              </a:rPr>
              <a:t> they will encounter in their careers.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3888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84740035-CB26-FCF0-E3CC-0843D3E2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F9B260-9E07-0E4A-19AB-EB4BAAE711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901" y="859062"/>
            <a:ext cx="8229601" cy="290093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FC2BE6-7245-1945-A2CA-2BCC520B45E5}"/>
              </a:ext>
            </a:extLst>
          </p:cNvPr>
          <p:cNvSpPr txBox="1"/>
          <p:nvPr/>
        </p:nvSpPr>
        <p:spPr>
          <a:xfrm>
            <a:off x="445718" y="4341244"/>
            <a:ext cx="6248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	Go to </a:t>
            </a:r>
            <a:r>
              <a:rPr lang="en-US" dirty="0">
                <a:hlinkClick r:id="rId3"/>
              </a:rPr>
              <a:t>https://posit.co/download/rstudio-desktop/</a:t>
            </a:r>
            <a:endParaRPr lang="en-US" dirty="0"/>
          </a:p>
          <a:p>
            <a:endParaRPr lang="en-US" dirty="0"/>
          </a:p>
          <a:p>
            <a:r>
              <a:rPr lang="en-US" dirty="0"/>
              <a:t>Step 2:	Install R</a:t>
            </a:r>
          </a:p>
          <a:p>
            <a:endParaRPr lang="en-US" dirty="0"/>
          </a:p>
          <a:p>
            <a:r>
              <a:rPr lang="en-US" dirty="0"/>
              <a:t>Step 3:	Install RStudio</a:t>
            </a:r>
          </a:p>
        </p:txBody>
      </p:sp>
    </p:spTree>
    <p:extLst>
      <p:ext uri="{BB962C8B-B14F-4D97-AF65-F5344CB8AC3E}">
        <p14:creationId xmlns:p14="http://schemas.microsoft.com/office/powerpoint/2010/main" val="3247818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6E20-2D03-8299-5309-746D5F26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Why You Need Theory: Signal vs.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4998-5E23-4676-5A5E-868656F65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dirty="0">
              <a:effectLst>
                <a:outerShdw blurRad="38100" dist="38100" dir="12000000" sx="123000" sy="123000" algn="tl">
                  <a:srgbClr val="010199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9808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959A-925F-602B-5F89-608D9A64B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F144-3019-A2FA-689A-D9265FD5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Why You Need Theory: Signal vs. Noise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CB83-C620-453C-735A-CCE3DA85A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u="sng" dirty="0"/>
              <a:t>Drowning in Data, Starving for Insight</a:t>
            </a:r>
            <a:r>
              <a:rPr lang="en-US" sz="1600" dirty="0"/>
              <a:t>. You are bombarded daily by pundits, algorithms, and state-sponsored narratives. The noise-to-signal ratio is overwhelming.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9543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75CD-03D2-B8A5-A56A-286A6804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2311-CB1D-7895-2950-2CE5D578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Why You Need Theory: Signal vs. Noise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10330-4D7F-0AB2-84A3-02E2EED77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u="sng" dirty="0"/>
              <a:t>Drowning in Data, Starving for Insight</a:t>
            </a:r>
            <a:r>
              <a:rPr lang="en-US" sz="1600" dirty="0"/>
              <a:t>. You are bombarded daily by pundits, algorithms, and state-sponsored narratives. The noise-to-signal ratio is overwhelming.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The "Hot Take" Economy Will Fail You</a:t>
            </a:r>
            <a:r>
              <a:rPr lang="en-US" sz="1600" dirty="0"/>
              <a:t>. Surface-level news analysis prioritizes immediacy and emotion over structural understanding. They tell you what happened, but rarely why.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71638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688C-EAD4-1141-E5D0-B4613B12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BEAB-A1EA-2594-8A9C-ED5EC6CA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Why You Need Theory: Signal vs. Noise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4D282-B568-0398-AAA0-89521479B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u="sng" dirty="0"/>
              <a:t>Drowning in Data, Starving for Insight</a:t>
            </a:r>
            <a:r>
              <a:rPr lang="en-US" sz="1600" dirty="0"/>
              <a:t>. You are bombarded daily by pundits, algorithms, and state-sponsored narratives. The noise-to-signal ratio is overwhelming.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The "Hot Take" Economy Will Fail You</a:t>
            </a:r>
            <a:r>
              <a:rPr lang="en-US" sz="1600" dirty="0"/>
              <a:t>. Surface-level news analysis prioritizes immediacy and emotion over structural understanding. They tell you what happened, but rarely why.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Events are Symptoms, Not the Disease</a:t>
            </a:r>
            <a:r>
              <a:rPr lang="en-US" sz="1600" dirty="0"/>
              <a:t>. Why are semiconductor supply chains the new frontline? Why is the South China Sea militarized? Focusing only on the latest crisis blinds you to the underlying forces driving it.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2834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BA96-AE96-C743-71D8-E0F83166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45CE-0EB4-C9A9-9AC7-5899667E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Why You Need Theory: Signal vs. Noise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13CFE-C79F-6DAF-E34D-5723DFF62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u="sng" dirty="0"/>
              <a:t>Drowning in Data, Starving for Insight</a:t>
            </a:r>
            <a:r>
              <a:rPr lang="en-US" sz="1600" dirty="0"/>
              <a:t>. You are bombarded daily by pundits, algorithms, and state-sponsored narratives. The noise-to-signal ratio is overwhelming.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The "Hot Take" Economy Will Fail You</a:t>
            </a:r>
            <a:r>
              <a:rPr lang="en-US" sz="1600" dirty="0"/>
              <a:t>. Surface-level news analysis prioritizes immediacy and emotion over structural understanding. They tell you what happened, but rarely why.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Events are Symptoms, Not the Disease</a:t>
            </a:r>
            <a:r>
              <a:rPr lang="en-US" sz="1600" dirty="0"/>
              <a:t>. Why are semiconductor supply chains the new frontline? Why is the South China Sea militarized? Focusing only on the latest crisis blinds you to the underlying forces driving it.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Everyone Uses Theory</a:t>
            </a:r>
            <a:r>
              <a:rPr lang="en-US" sz="1600" dirty="0"/>
              <a:t>. Being "pragmatic" often just means using an unconscious, outdated theory. We are here to make those theories conscious, rigorous, and powerful.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01128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B7AF-6DC4-5776-FA60-93F0DEE2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4CC2-865C-565A-B550-B6D25020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Why You Need Theory: Signal vs. Noise</a:t>
            </a:r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6593D-4631-16E5-FCCA-C8A7B9254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u="sng" dirty="0"/>
              <a:t>Drowning in Data, Starving for Insight</a:t>
            </a:r>
            <a:r>
              <a:rPr lang="en-US" sz="1600" dirty="0"/>
              <a:t>. You are bombarded daily by pundits, algorithms, and state-sponsored narratives. The noise-to-signal ratio is overwhelming.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The "Hot Take" Economy Will Fail You</a:t>
            </a:r>
            <a:r>
              <a:rPr lang="en-US" sz="1600" dirty="0"/>
              <a:t>. Surface-level news analysis prioritizes immediacy and emotion over structural understanding. They tell you what happened, but rarely why.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Events are Symptoms, Not the Disease</a:t>
            </a:r>
            <a:r>
              <a:rPr lang="en-US" sz="1600" dirty="0"/>
              <a:t>. Why are semiconductor supply chains the new frontline? Why is the South China Sea militarized? Focusing only on the latest crisis blinds you to the underlying forces driving it.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Everyone Uses Theory</a:t>
            </a:r>
            <a:r>
              <a:rPr lang="en-US" sz="1600" dirty="0"/>
              <a:t>. Being "pragmatic" often just means using an unconscious, outdated theory. We are here to make those theories conscious, rigorous, and powerful.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/>
              <a:t>The Goal: Cognitive Supremacy</a:t>
            </a:r>
            <a:r>
              <a:rPr lang="en-US" sz="1600" dirty="0"/>
              <a:t>. To win, you have to develop the ability to cut through the noise, identify the actual signals of change, and achieve an independent understanding of the world.</a:t>
            </a:r>
          </a:p>
        </p:txBody>
      </p:sp>
    </p:spTree>
    <p:extLst>
      <p:ext uri="{BB962C8B-B14F-4D97-AF65-F5344CB8AC3E}">
        <p14:creationId xmlns:p14="http://schemas.microsoft.com/office/powerpoint/2010/main" val="2949661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EBC0-E0E7-F130-4BC5-E35A66408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highlight>
                  <a:srgbClr val="000080"/>
                </a:highlight>
              </a:rPr>
              <a:t>The Algorithmic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F8EE-1083-8B4B-1CB6-7A5548EB1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The reorganization of social institutions is increasingly driven by </a:t>
            </a:r>
            <a:r>
              <a:rPr lang="en-US" sz="1600" dirty="0">
                <a:solidFill>
                  <a:srgbClr val="FFFF00"/>
                </a:solidFill>
              </a:rPr>
              <a:t>algorithms</a:t>
            </a:r>
            <a:r>
              <a:rPr lang="en-US" sz="1600" dirty="0"/>
              <a:t>, which are defined as sets of instructions written as code and run on computers.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 new "</a:t>
            </a:r>
            <a:r>
              <a:rPr lang="en-US" sz="1600" dirty="0">
                <a:highlight>
                  <a:srgbClr val="008000"/>
                </a:highlight>
              </a:rPr>
              <a:t>coding elite</a:t>
            </a:r>
            <a:r>
              <a:rPr lang="en-US" sz="1600" dirty="0"/>
              <a:t>" has consolidated immense cultural, political, and economic power through their mastery of computational techniques and their ownership claims over the digital means of production.  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5038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6A45-5730-C767-4C5E-63A58312E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4B2E-EF03-AC11-6ADE-8EC68966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highlight>
                  <a:srgbClr val="000080"/>
                </a:highlight>
              </a:rPr>
              <a:t>The Algorithmic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1405F-3B87-5D24-6D7E-FE2E992A4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The reorganization of social institutions is increasingly driven by </a:t>
            </a:r>
            <a:r>
              <a:rPr lang="en-US" sz="1600" dirty="0">
                <a:solidFill>
                  <a:srgbClr val="FFFF00"/>
                </a:solidFill>
              </a:rPr>
              <a:t>algorithms</a:t>
            </a:r>
            <a:r>
              <a:rPr lang="en-US" sz="1600" dirty="0"/>
              <a:t>, which are defined as sets of instructions written as code and run on computers.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 new "</a:t>
            </a:r>
            <a:r>
              <a:rPr lang="en-US" sz="1600" dirty="0">
                <a:highlight>
                  <a:srgbClr val="008000"/>
                </a:highlight>
              </a:rPr>
              <a:t>coding elite</a:t>
            </a:r>
            <a:r>
              <a:rPr lang="en-US" sz="1600" dirty="0"/>
              <a:t>" has consolidated immense cultural, political, and economic power through their mastery of computational techniques and their ownership claims over the digital means of production.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highlight>
                  <a:srgbClr val="800000"/>
                </a:highlight>
              </a:rPr>
              <a:t>Computer code fundamentally functions as a form of law; it translates the world into machine-readable entities and automatically enforces rules, exclusions, and resource allocations</a:t>
            </a:r>
            <a:r>
              <a:rPr lang="en-US" sz="1600" dirty="0"/>
              <a:t>.  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97338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D0B2-463F-BFC4-C707-870029D7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A898-FBEB-2734-FD3E-E0B0DF3D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highlight>
                  <a:srgbClr val="000080"/>
                </a:highlight>
              </a:rPr>
              <a:t>The Algorithmic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C16E-4598-F4D2-DBA2-3DB7A8525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The reorganization of social institutions is increasingly driven by </a:t>
            </a:r>
            <a:r>
              <a:rPr lang="en-US" sz="1600" dirty="0">
                <a:solidFill>
                  <a:srgbClr val="FFFF00"/>
                </a:solidFill>
              </a:rPr>
              <a:t>algorithms</a:t>
            </a:r>
            <a:r>
              <a:rPr lang="en-US" sz="1600" dirty="0"/>
              <a:t>, which are defined as sets of instructions written as code and run on computers.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 new "</a:t>
            </a:r>
            <a:r>
              <a:rPr lang="en-US" sz="1600" dirty="0">
                <a:highlight>
                  <a:srgbClr val="008000"/>
                </a:highlight>
              </a:rPr>
              <a:t>coding elite</a:t>
            </a:r>
            <a:r>
              <a:rPr lang="en-US" sz="1600" dirty="0"/>
              <a:t>" has consolidated immense cultural, political, and economic power through their mastery of computational techniques and their ownership claims over the digital means of production.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highlight>
                  <a:srgbClr val="800000"/>
                </a:highlight>
              </a:rPr>
              <a:t>Computer code fundamentally functions as a form of law; it translates the world into machine-readable entities and automatically enforces rules, exclusions, and resource allocations</a:t>
            </a:r>
            <a:r>
              <a:rPr lang="en-US" sz="1600" dirty="0"/>
              <a:t>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Algorithmic classifiers continually extract behavioral trace data to construct surveillant "</a:t>
            </a:r>
            <a:r>
              <a:rPr lang="en-US" sz="1600" dirty="0">
                <a:highlight>
                  <a:srgbClr val="800080"/>
                </a:highlight>
              </a:rPr>
              <a:t>data doubles</a:t>
            </a:r>
            <a:r>
              <a:rPr lang="en-US" sz="1600" dirty="0"/>
              <a:t>" of individuals.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inability of individuals to shape the terms of this algorithmic dominion or evade the rule of the code raises profound questions regarding human autonomy and democratic governance. </a:t>
            </a:r>
          </a:p>
        </p:txBody>
      </p:sp>
    </p:spTree>
    <p:extLst>
      <p:ext uri="{BB962C8B-B14F-4D97-AF65-F5344CB8AC3E}">
        <p14:creationId xmlns:p14="http://schemas.microsoft.com/office/powerpoint/2010/main" val="11473314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50A6-71E9-7A97-5F1D-2142C1F5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5B882FCE-BAEE-6C5A-E293-16D4EEEFBA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63B0AA-34FF-45C7-9774-9A5DEB60A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16" y="271879"/>
            <a:ext cx="9034368" cy="626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55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6BDC-245C-4F97-A7FB-5D206424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Cultivating “Cognitive Supremacy”</a:t>
            </a:r>
            <a:b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</a:br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in the Age of AI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FE424-4262-ABC4-1003-000EF9A25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u="sng" dirty="0"/>
          </a:p>
        </p:txBody>
      </p:sp>
    </p:spTree>
    <p:extLst>
      <p:ext uri="{BB962C8B-B14F-4D97-AF65-F5344CB8AC3E}">
        <p14:creationId xmlns:p14="http://schemas.microsoft.com/office/powerpoint/2010/main" val="1698934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DB36-55FD-F7BF-454B-B01C7A82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F03C-35A0-1B59-F9B3-50DA35A8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Cultivating “Cognitive Supremacy”</a:t>
            </a:r>
            <a:b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</a:br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in the Age of AI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BDC8E-1AEF-94DF-E729-4965BCA48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u="sng" dirty="0"/>
          </a:p>
          <a:p>
            <a:pPr marL="0" indent="0">
              <a:buNone/>
            </a:pPr>
            <a:r>
              <a:rPr lang="en-US" sz="1600" u="sng" dirty="0">
                <a:highlight>
                  <a:srgbClr val="0000FF"/>
                </a:highlight>
              </a:rPr>
              <a:t>Geopolitical Literacy is Your Competitive Advantage</a:t>
            </a:r>
            <a:r>
              <a:rPr lang="en-US" sz="1600" dirty="0"/>
              <a:t>. Whether you are heading into IR analysis itself (like in government), business, tech, law, journalism, whatever, the ability to assess international risk and opportunity is now a core competency.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48119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89124-4ADE-4475-6FA6-9C380B1F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CA51-233A-220C-8628-64FF4EA9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Cultivating “Cognitive Supremacy”</a:t>
            </a:r>
            <a:b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</a:br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in the Age of AI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F6D78-901F-0824-6C6A-531806A13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u="sng" dirty="0"/>
          </a:p>
          <a:p>
            <a:pPr marL="0" indent="0">
              <a:buNone/>
            </a:pPr>
            <a:r>
              <a:rPr lang="en-US" sz="1600" u="sng" dirty="0">
                <a:highlight>
                  <a:srgbClr val="0000FF"/>
                </a:highlight>
              </a:rPr>
              <a:t>Geopolitical Literacy is Your Competitive Advantage</a:t>
            </a:r>
            <a:r>
              <a:rPr lang="en-US" sz="1600" dirty="0"/>
              <a:t>. Whether you are heading into IR analysis itself (like in government), business, tech, law, journalism, whatever, the ability to assess international risk and opportunity is now a core competency.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highlight>
                  <a:srgbClr val="800080"/>
                </a:highlight>
              </a:rPr>
              <a:t>The "AI-Proof" Skillset</a:t>
            </a:r>
            <a:r>
              <a:rPr lang="en-US" sz="1600" dirty="0"/>
              <a:t>. As AI automates routine analysis, the highest value is placed on deep, critical, and strategic thinking. IR theory cultivates this higher-order cognition.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09869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34-931C-F9FE-126B-7F0DACE8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1D19-D2E6-7D63-E3DB-9586F560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Cultivating “Cognitive Supremacy”</a:t>
            </a:r>
            <a:b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</a:br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in the Age of AI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61D7-2368-19A1-475B-59AF239A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u="sng" dirty="0"/>
          </a:p>
          <a:p>
            <a:pPr marL="0" indent="0">
              <a:buNone/>
            </a:pPr>
            <a:r>
              <a:rPr lang="en-US" sz="1600" u="sng" dirty="0">
                <a:highlight>
                  <a:srgbClr val="0000FF"/>
                </a:highlight>
              </a:rPr>
              <a:t>Geopolitical Literacy is Your Competitive Advantage</a:t>
            </a:r>
            <a:r>
              <a:rPr lang="en-US" sz="1600" dirty="0"/>
              <a:t>. Whether you are heading into IR analysis itself (like in government), business, tech, law, journalism, whatever, the ability to assess international risk and opportunity is now a core competency.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highlight>
                  <a:srgbClr val="800080"/>
                </a:highlight>
              </a:rPr>
              <a:t>The "AI-Proof" Skillset</a:t>
            </a:r>
            <a:r>
              <a:rPr lang="en-US" sz="1600" dirty="0"/>
              <a:t>. As AI automates routine analysis, the highest value is placed on deep, critical, and strategic thinking. IR theory cultivates this higher-order cognition.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highlight>
                  <a:srgbClr val="008080"/>
                </a:highlight>
              </a:rPr>
              <a:t>Anticipating the Next Move</a:t>
            </a:r>
            <a:r>
              <a:rPr lang="en-US" sz="1600" dirty="0"/>
              <a:t>. This course trains you to see around corners. While others focus on what is happening, you will understand why and what is likely to happen next.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23801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7391D-3850-224E-E3A0-E9646A95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F5A0-5899-BD0A-3E88-E0B771F7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Cultivating “Cognitive Supremacy”</a:t>
            </a:r>
            <a:b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</a:br>
            <a:r>
              <a:rPr lang="en-US" sz="3200" dirty="0">
                <a:solidFill>
                  <a:srgbClr val="FFFF00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in the Age of AI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F621-2357-839A-415D-5CBCD06D9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600" u="sng" dirty="0"/>
          </a:p>
          <a:p>
            <a:pPr marL="0" indent="0">
              <a:buNone/>
            </a:pPr>
            <a:r>
              <a:rPr lang="en-US" sz="1600" u="sng" dirty="0">
                <a:highlight>
                  <a:srgbClr val="0000FF"/>
                </a:highlight>
              </a:rPr>
              <a:t>Geopolitical Literacy is Your Competitive Advantage</a:t>
            </a:r>
            <a:r>
              <a:rPr lang="en-US" sz="1600" dirty="0"/>
              <a:t>. Whether you are heading into IR analysis itself (like in government), business, tech, law, journalism, whatever, the ability to assess international risk and opportunity is now a core competency.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highlight>
                  <a:srgbClr val="800080"/>
                </a:highlight>
              </a:rPr>
              <a:t>The "AI-Proof" Skillset</a:t>
            </a:r>
            <a:r>
              <a:rPr lang="en-US" sz="1600" dirty="0"/>
              <a:t>. As AI automates routine analysis, the highest value is placed on deep, critical, and strategic thinking. IR theory cultivates this higher-order cognition.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highlight>
                  <a:srgbClr val="008080"/>
                </a:highlight>
              </a:rPr>
              <a:t>Anticipating the Next Move</a:t>
            </a:r>
            <a:r>
              <a:rPr lang="en-US" sz="1600" dirty="0"/>
              <a:t>. This course trains you to see around corners. While others focus on what is happening, you will understand why and what is likely to happen next.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highlight>
                  <a:srgbClr val="800000"/>
                </a:highlight>
              </a:rPr>
              <a:t>Navigating Uncertainty with Confidence</a:t>
            </a:r>
            <a:r>
              <a:rPr lang="en-US" sz="1600" dirty="0"/>
              <a:t>. We can't give you a crystal ball, but we will provide the frameworks to analyze ambiguity, assess risk, and make informed decisions in a world of volatility.</a:t>
            </a:r>
          </a:p>
        </p:txBody>
      </p:sp>
    </p:spTree>
    <p:extLst>
      <p:ext uri="{BB962C8B-B14F-4D97-AF65-F5344CB8AC3E}">
        <p14:creationId xmlns:p14="http://schemas.microsoft.com/office/powerpoint/2010/main" val="4014799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dirty="0">
              <a:ea typeface="Arial" pitchFamily="-65" charset="0"/>
            </a:endParaRPr>
          </a:p>
        </p:txBody>
      </p:sp>
      <p:pic>
        <p:nvPicPr>
          <p:cNvPr id="37891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381" y="381000"/>
            <a:ext cx="6040438" cy="6040438"/>
          </a:xfrm>
        </p:spPr>
      </p:pic>
    </p:spTree>
    <p:extLst>
      <p:ext uri="{BB962C8B-B14F-4D97-AF65-F5344CB8AC3E}">
        <p14:creationId xmlns:p14="http://schemas.microsoft.com/office/powerpoint/2010/main" val="5919460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Arial" charset="0"/>
            </a:endParaRPr>
          </a:p>
        </p:txBody>
      </p:sp>
      <p:pic>
        <p:nvPicPr>
          <p:cNvPr id="16386" name="Content Placeholder 6" descr="world-map-political.jpg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800"/>
            <a:ext cx="9161463" cy="5394325"/>
          </a:xfr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09600"/>
            <a:ext cx="9144000" cy="304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>
                <a:alpha val="0"/>
              </a:schemeClr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x-none" altLang="x-none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2395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Arial" charset="0"/>
            </a:endParaRPr>
          </a:p>
        </p:txBody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Arial" charset="0"/>
            </a:endParaRPr>
          </a:p>
        </p:txBody>
      </p:sp>
      <p:pic>
        <p:nvPicPr>
          <p:cNvPr id="70659" name="Picture 4" descr="Levels of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88"/>
            <a:ext cx="6856413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903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Arial" charset="0"/>
            </a:endParaRPr>
          </a:p>
        </p:txBody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Arial" charset="0"/>
            </a:endParaRPr>
          </a:p>
        </p:txBody>
      </p:sp>
      <p:pic>
        <p:nvPicPr>
          <p:cNvPr id="70659" name="Picture 4" descr="Levels of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88"/>
            <a:ext cx="6856413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5A047C-84C2-9040-B458-1E45FB21A679}"/>
              </a:ext>
            </a:extLst>
          </p:cNvPr>
          <p:cNvSpPr txBox="1"/>
          <p:nvPr/>
        </p:nvSpPr>
        <p:spPr>
          <a:xfrm>
            <a:off x="3390106" y="873125"/>
            <a:ext cx="236220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ANARCHY!</a:t>
            </a:r>
          </a:p>
        </p:txBody>
      </p:sp>
    </p:spTree>
    <p:extLst>
      <p:ext uri="{BB962C8B-B14F-4D97-AF65-F5344CB8AC3E}">
        <p14:creationId xmlns:p14="http://schemas.microsoft.com/office/powerpoint/2010/main" val="412081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z="4000" dirty="0">
              <a:ea typeface="Arial" charset="0"/>
            </a:endParaRPr>
          </a:p>
        </p:txBody>
      </p:sp>
      <p:pic>
        <p:nvPicPr>
          <p:cNvPr id="38914" name="Content Placeholder 3" descr="Security dilemma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685800"/>
            <a:ext cx="7423150" cy="5486400"/>
          </a:xfrm>
        </p:spPr>
      </p:pic>
    </p:spTree>
    <p:extLst>
      <p:ext uri="{BB962C8B-B14F-4D97-AF65-F5344CB8AC3E}">
        <p14:creationId xmlns:p14="http://schemas.microsoft.com/office/powerpoint/2010/main" val="1345877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77813"/>
            <a:ext cx="7391400" cy="6125281"/>
          </a:xfrm>
        </p:spPr>
      </p:pic>
    </p:spTree>
    <p:extLst>
      <p:ext uri="{BB962C8B-B14F-4D97-AF65-F5344CB8AC3E}">
        <p14:creationId xmlns:p14="http://schemas.microsoft.com/office/powerpoint/2010/main" val="7262672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269550"/>
            <a:ext cx="8229600" cy="6177687"/>
          </a:xfrm>
        </p:spPr>
      </p:pic>
    </p:spTree>
    <p:extLst>
      <p:ext uri="{BB962C8B-B14F-4D97-AF65-F5344CB8AC3E}">
        <p14:creationId xmlns:p14="http://schemas.microsoft.com/office/powerpoint/2010/main" val="11433085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solidFill>
                  <a:srgbClr val="FFFF00"/>
                </a:solidFill>
                <a:latin typeface="Arial" charset="0"/>
                <a:cs typeface="Arial" charset="0"/>
              </a:rPr>
              <a:t>The 5 Sectors: Lenses for Analysis</a:t>
            </a:r>
          </a:p>
        </p:txBody>
      </p:sp>
      <p:sp>
        <p:nvSpPr>
          <p:cNvPr id="107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Military</a:t>
            </a: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Political</a:t>
            </a: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Economic</a:t>
            </a: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Socio-Cultural</a:t>
            </a: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Environmental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solidFill>
                  <a:srgbClr val="FFFF00"/>
                </a:solidFill>
                <a:latin typeface="Arial" charset="0"/>
                <a:cs typeface="Arial" charset="0"/>
              </a:rPr>
              <a:t>The 5 Sectors: Lenses for Analysis</a:t>
            </a:r>
          </a:p>
        </p:txBody>
      </p:sp>
      <p:sp>
        <p:nvSpPr>
          <p:cNvPr id="107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1.	</a:t>
            </a:r>
            <a:r>
              <a:rPr lang="en-US" u="sng" dirty="0">
                <a:latin typeface="Arial" charset="0"/>
                <a:cs typeface="Arial" charset="0"/>
              </a:rPr>
              <a:t>Military</a:t>
            </a:r>
            <a:r>
              <a:rPr lang="en-US" dirty="0">
                <a:latin typeface="Arial" charset="0"/>
                <a:cs typeface="Arial" charset="0"/>
              </a:rPr>
              <a:t>:  relationships of forceful 	coercion, and the ability of actors to 	fight wars with each other.</a:t>
            </a:r>
          </a:p>
        </p:txBody>
      </p:sp>
    </p:spTree>
    <p:extLst>
      <p:ext uri="{BB962C8B-B14F-4D97-AF65-F5344CB8AC3E}">
        <p14:creationId xmlns:p14="http://schemas.microsoft.com/office/powerpoint/2010/main" val="16936934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solidFill>
                  <a:srgbClr val="FFFF00"/>
                </a:solidFill>
                <a:latin typeface="Arial" charset="0"/>
                <a:cs typeface="Arial" charset="0"/>
              </a:rPr>
              <a:t>The 5 Sectors: Lenses for Analysis</a:t>
            </a:r>
          </a:p>
        </p:txBody>
      </p:sp>
      <p:sp>
        <p:nvSpPr>
          <p:cNvPr id="107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2.	</a:t>
            </a:r>
            <a:r>
              <a:rPr lang="en-US" u="sng" dirty="0">
                <a:latin typeface="Arial" charset="0"/>
                <a:cs typeface="Arial" charset="0"/>
              </a:rPr>
              <a:t>Political</a:t>
            </a:r>
            <a:r>
              <a:rPr lang="en-US" dirty="0">
                <a:latin typeface="Arial" charset="0"/>
                <a:cs typeface="Arial" charset="0"/>
              </a:rPr>
              <a:t>:  relationships of authority, 	governing status, and recognition.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solidFill>
                  <a:srgbClr val="FFFF00"/>
                </a:solidFill>
                <a:latin typeface="Arial" charset="0"/>
                <a:cs typeface="Arial" charset="0"/>
              </a:rPr>
              <a:t>The 5 Sectors: Lenses for Analysis</a:t>
            </a:r>
          </a:p>
        </p:txBody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3.		</a:t>
            </a:r>
            <a:r>
              <a:rPr lang="en-US" u="sng" dirty="0">
                <a:latin typeface="Arial" charset="0"/>
                <a:cs typeface="Arial" charset="0"/>
              </a:rPr>
              <a:t>Economic</a:t>
            </a:r>
            <a:r>
              <a:rPr lang="en-US" dirty="0">
                <a:latin typeface="Arial" charset="0"/>
                <a:cs typeface="Arial" charset="0"/>
              </a:rPr>
              <a:t>:  relationships of trade, 	production, and finance.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solidFill>
                  <a:srgbClr val="FFFF00"/>
                </a:solidFill>
                <a:latin typeface="Arial" charset="0"/>
                <a:cs typeface="Arial" charset="0"/>
              </a:rPr>
              <a:t>The 5 Sectors: Lenses for Analysis</a:t>
            </a:r>
          </a:p>
        </p:txBody>
      </p:sp>
      <p:sp>
        <p:nvSpPr>
          <p:cNvPr id="107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4.		</a:t>
            </a:r>
            <a:r>
              <a:rPr lang="en-US" u="sng" dirty="0">
                <a:latin typeface="Arial" charset="0"/>
                <a:cs typeface="Arial" charset="0"/>
              </a:rPr>
              <a:t>Socio-Cultural</a:t>
            </a:r>
            <a:r>
              <a:rPr lang="en-US" dirty="0">
                <a:latin typeface="Arial" charset="0"/>
                <a:cs typeface="Arial" charset="0"/>
              </a:rPr>
              <a:t>:  collective identity; the 	transmission of ideas.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solidFill>
                  <a:srgbClr val="FFFF00"/>
                </a:solidFill>
                <a:latin typeface="Arial" charset="0"/>
                <a:cs typeface="Arial" charset="0"/>
              </a:rPr>
              <a:t>The 5 Sectors: Lenses for Analysis</a:t>
            </a:r>
          </a:p>
        </p:txBody>
      </p:sp>
      <p:sp>
        <p:nvSpPr>
          <p:cNvPr id="107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5.		</a:t>
            </a:r>
            <a:r>
              <a:rPr lang="en-US" u="sng" dirty="0">
                <a:latin typeface="Arial" charset="0"/>
                <a:cs typeface="Arial" charset="0"/>
              </a:rPr>
              <a:t>Environmental</a:t>
            </a:r>
            <a:r>
              <a:rPr lang="en-US" dirty="0">
                <a:latin typeface="Arial" charset="0"/>
                <a:cs typeface="Arial" charset="0"/>
              </a:rPr>
              <a:t>:  the relationship 	between human activity and the 	planetary biosphere which sustains it 	(or not).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FF00"/>
                </a:solidFill>
                <a:latin typeface="Arial" charset="0"/>
                <a:cs typeface="Arial" charset="0"/>
              </a:rPr>
              <a:t>Sectoral Analysis</a:t>
            </a:r>
          </a:p>
        </p:txBody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u="sng" dirty="0">
                <a:latin typeface="Arial" charset="0"/>
                <a:cs typeface="Arial" charset="0"/>
              </a:rPr>
              <a:t>Type of </a:t>
            </a:r>
            <a:r>
              <a:rPr lang="en-US" i="1" u="sng" dirty="0">
                <a:latin typeface="Arial" charset="0"/>
                <a:cs typeface="Arial" charset="0"/>
              </a:rPr>
              <a:t>unit</a:t>
            </a:r>
            <a:r>
              <a:rPr lang="en-US" i="1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Arial" charset="0"/>
                <a:cs typeface="Arial" charset="0"/>
              </a:rPr>
              <a:t>(states? corporations? NGOs?)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FF00"/>
                </a:solidFill>
                <a:latin typeface="Arial" charset="0"/>
                <a:cs typeface="Arial" charset="0"/>
              </a:rPr>
              <a:t>Sectoral Analysis</a:t>
            </a:r>
          </a:p>
        </p:txBody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u="sng" dirty="0">
                <a:latin typeface="Arial" charset="0"/>
                <a:cs typeface="Arial" charset="0"/>
              </a:rPr>
              <a:t>Type of </a:t>
            </a:r>
            <a:r>
              <a:rPr lang="en-US" i="1" u="sng" dirty="0">
                <a:latin typeface="Arial" charset="0"/>
                <a:cs typeface="Arial" charset="0"/>
              </a:rPr>
              <a:t>unit</a:t>
            </a:r>
            <a:r>
              <a:rPr lang="en-US" i="1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Arial" charset="0"/>
                <a:cs typeface="Arial" charset="0"/>
              </a:rPr>
              <a:t>(states? corporations? NGOs?)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u="sng" dirty="0">
                <a:latin typeface="Arial" charset="0"/>
                <a:cs typeface="Arial" charset="0"/>
              </a:rPr>
              <a:t>Type of </a:t>
            </a:r>
            <a:r>
              <a:rPr lang="en-US" i="1" u="sng" dirty="0">
                <a:latin typeface="Arial" charset="0"/>
                <a:cs typeface="Arial" charset="0"/>
              </a:rPr>
              <a:t>interaction</a:t>
            </a:r>
            <a:r>
              <a:rPr lang="en-US" i="1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Arial" charset="0"/>
                <a:cs typeface="Arial" charset="0"/>
              </a:rPr>
              <a:t>(warfare? trade? persuasion?)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FF00"/>
                </a:solidFill>
                <a:latin typeface="Arial" charset="0"/>
                <a:cs typeface="Arial" charset="0"/>
              </a:rPr>
              <a:t>Sectoral Analysis</a:t>
            </a:r>
          </a:p>
        </p:txBody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u="sng" dirty="0">
                <a:latin typeface="Arial" charset="0"/>
                <a:cs typeface="Arial" charset="0"/>
              </a:rPr>
              <a:t>Type of </a:t>
            </a:r>
            <a:r>
              <a:rPr lang="en-US" i="1" u="sng" dirty="0">
                <a:latin typeface="Arial" charset="0"/>
                <a:cs typeface="Arial" charset="0"/>
              </a:rPr>
              <a:t>unit</a:t>
            </a:r>
            <a:r>
              <a:rPr lang="en-US" i="1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Arial" charset="0"/>
                <a:cs typeface="Arial" charset="0"/>
              </a:rPr>
              <a:t>(states? corporations? NGOs?)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u="sng" dirty="0">
                <a:latin typeface="Arial" charset="0"/>
                <a:cs typeface="Arial" charset="0"/>
              </a:rPr>
              <a:t>Type of </a:t>
            </a:r>
            <a:r>
              <a:rPr lang="en-US" i="1" u="sng" dirty="0">
                <a:latin typeface="Arial" charset="0"/>
                <a:cs typeface="Arial" charset="0"/>
              </a:rPr>
              <a:t>interaction</a:t>
            </a:r>
            <a:r>
              <a:rPr lang="en-US" i="1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Arial" charset="0"/>
                <a:cs typeface="Arial" charset="0"/>
              </a:rPr>
              <a:t>(warfare? trade? persuasion?)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i="1" u="sng" dirty="0">
                <a:solidFill>
                  <a:schemeClr val="bg1"/>
                </a:solidFill>
                <a:highlight>
                  <a:srgbClr val="FFFF00"/>
                </a:highlight>
                <a:latin typeface="Arial" charset="0"/>
                <a:cs typeface="Arial" charset="0"/>
              </a:rPr>
              <a:t>Structure</a:t>
            </a:r>
            <a:r>
              <a:rPr lang="en-US" i="1" dirty="0">
                <a:solidFill>
                  <a:srgbClr val="92D050"/>
                </a:solidFill>
                <a:latin typeface="Arial" charset="0"/>
                <a:cs typeface="Arial" charset="0"/>
              </a:rPr>
              <a:t>  </a:t>
            </a:r>
            <a:r>
              <a:rPr lang="en-US" dirty="0">
                <a:solidFill>
                  <a:srgbClr val="92D050"/>
                </a:solidFill>
                <a:latin typeface="Arial" charset="0"/>
                <a:cs typeface="Arial" charset="0"/>
              </a:rPr>
              <a:t>(balance of power? market? economic dependence?)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  <a:latin typeface="Arial" charset="0"/>
                <a:cs typeface="Arial" charset="0"/>
              </a:rPr>
              <a:t>A</a:t>
            </a:r>
            <a:r>
              <a:rPr lang="en-US" dirty="0">
                <a:solidFill>
                  <a:srgbClr val="FFFF00"/>
                </a:solidFill>
                <a:highlight>
                  <a:srgbClr val="C0C0C0"/>
                </a:highlight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0000"/>
                  </a:outerShdw>
                </a:effectLst>
                <a:highlight>
                  <a:srgbClr val="C0C0C0"/>
                </a:highlight>
                <a:latin typeface="Arial" charset="0"/>
                <a:cs typeface="Arial" charset="0"/>
              </a:rPr>
              <a:t>Risk</a:t>
            </a:r>
            <a:r>
              <a:rPr lang="en-US" dirty="0">
                <a:solidFill>
                  <a:srgbClr val="FFFF00"/>
                </a:solidFill>
                <a:highlight>
                  <a:srgbClr val="C0C0C0"/>
                </a:highlight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highlight>
                  <a:srgbClr val="C0C0C0"/>
                </a:highlight>
                <a:latin typeface="Arial" charset="0"/>
                <a:cs typeface="Arial" charset="0"/>
              </a:rPr>
              <a:t>in Sectoral Analysis!</a:t>
            </a:r>
          </a:p>
        </p:txBody>
      </p:sp>
      <p:sp>
        <p:nvSpPr>
          <p:cNvPr id="108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Arial" charset="0"/>
                <a:cs typeface="Arial" charset="0"/>
              </a:rPr>
              <a:t>		The observer begins to confuse the 	</a:t>
            </a:r>
            <a:r>
              <a:rPr lang="en-US" i="1" dirty="0">
                <a:latin typeface="Arial" charset="0"/>
                <a:cs typeface="Arial" charset="0"/>
              </a:rPr>
              <a:t>partial</a:t>
            </a:r>
            <a:r>
              <a:rPr lang="en-US" dirty="0">
                <a:latin typeface="Arial" charset="0"/>
                <a:cs typeface="Arial" charset="0"/>
              </a:rPr>
              <a:t> reality of the sector with the </a:t>
            </a:r>
            <a:r>
              <a:rPr lang="en-US" i="1" dirty="0">
                <a:latin typeface="Arial" charset="0"/>
                <a:cs typeface="Arial" charset="0"/>
              </a:rPr>
              <a:t>total</a:t>
            </a:r>
            <a:r>
              <a:rPr lang="en-US" dirty="0">
                <a:latin typeface="Arial" charset="0"/>
                <a:cs typeface="Arial" charset="0"/>
              </a:rPr>
              <a:t> 	reality of the whole international 	system.</a:t>
            </a:r>
          </a:p>
        </p:txBody>
      </p:sp>
    </p:spTree>
    <p:extLst>
      <p:ext uri="{BB962C8B-B14F-4D97-AF65-F5344CB8AC3E}">
        <p14:creationId xmlns:p14="http://schemas.microsoft.com/office/powerpoint/2010/main" val="2880910575"/>
      </p:ext>
    </p:extLst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23157</TotalTime>
  <Words>2783</Words>
  <Application>Microsoft Macintosh PowerPoint</Application>
  <PresentationFormat>On-screen Show (4:3)</PresentationFormat>
  <Paragraphs>279</Paragraphs>
  <Slides>54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ＭＳ Ｐゴシック</vt:lpstr>
      <vt:lpstr>Arial</vt:lpstr>
      <vt:lpstr>Calibri</vt:lpstr>
      <vt:lpstr>Wingdings</vt:lpstr>
      <vt:lpstr>Orbit</vt:lpstr>
      <vt:lpstr>PIA 3121   1 September 2026</vt:lpstr>
      <vt:lpstr>Objectives of PIA 3121</vt:lpstr>
      <vt:lpstr>Objectives of PIA 3121</vt:lpstr>
      <vt:lpstr>The “root discourses” of IR</vt:lpstr>
      <vt:lpstr>Some real-life global problems</vt:lpstr>
      <vt:lpstr>Required and recommended books for PIA 3121</vt:lpstr>
      <vt:lpstr>PIA 3121 Schedule</vt:lpstr>
      <vt:lpstr>PIA 3121 Reading Assignment for Tuesday, 8 September 2026</vt:lpstr>
      <vt:lpstr>PIA 3121 final course grade calculations</vt:lpstr>
      <vt:lpstr>PowerPoint Presentation</vt:lpstr>
      <vt:lpstr> Articles Mentioning “National Rejuvenation” (民族复兴)  in the People’s Daily </vt:lpstr>
      <vt:lpstr>PowerPoint Presentation</vt:lpstr>
      <vt:lpstr>PowerPoint Presentation</vt:lpstr>
      <vt:lpstr>People’s Daily, rejuvenation + future</vt:lpstr>
      <vt:lpstr>Zhihu, rejuvenation + future</vt:lpstr>
      <vt:lpstr>Mapper: PD = yellow, ZH = purple</vt:lpstr>
      <vt:lpstr>How AI Will Help You Create the STM in R Studio</vt:lpstr>
      <vt:lpstr>How AI Will Help You Create the STM in R Studio</vt:lpstr>
      <vt:lpstr>How AI Will Help You Create the STM in R Studio</vt:lpstr>
      <vt:lpstr>How AI Will Help You Create the STM in R Studio</vt:lpstr>
      <vt:lpstr>How AI Will Help You Create the STM in R Studio</vt:lpstr>
      <vt:lpstr>PowerPoint Presentation</vt:lpstr>
      <vt:lpstr>Why You Need Theory: Signal vs. Noise</vt:lpstr>
      <vt:lpstr>Why You Need Theory: Signal vs. Noise</vt:lpstr>
      <vt:lpstr>Why You Need Theory: Signal vs. Noise</vt:lpstr>
      <vt:lpstr>Why You Need Theory: Signal vs. Noise</vt:lpstr>
      <vt:lpstr>Why You Need Theory: Signal vs. Noise</vt:lpstr>
      <vt:lpstr>Why You Need Theory: Signal vs. Noise</vt:lpstr>
      <vt:lpstr>The Algorithmic Society</vt:lpstr>
      <vt:lpstr>The Algorithmic Society</vt:lpstr>
      <vt:lpstr>The Algorithmic Society</vt:lpstr>
      <vt:lpstr>PowerPoint Presentation</vt:lpstr>
      <vt:lpstr>Cultivating “Cognitive Supremacy” in the Age of AI</vt:lpstr>
      <vt:lpstr>Cultivating “Cognitive Supremacy” in the Age of AI</vt:lpstr>
      <vt:lpstr>Cultivating “Cognitive Supremacy” in the Age of AI</vt:lpstr>
      <vt:lpstr>Cultivating “Cognitive Supremacy” in the Age of AI</vt:lpstr>
      <vt:lpstr>Cultivating “Cognitive Supremacy” in the Age of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5 Sectors: Lenses for Analysis</vt:lpstr>
      <vt:lpstr>The 5 Sectors: Lenses for Analysis</vt:lpstr>
      <vt:lpstr>The 5 Sectors: Lenses for Analysis</vt:lpstr>
      <vt:lpstr>The 5 Sectors: Lenses for Analysis</vt:lpstr>
      <vt:lpstr>The 5 Sectors: Lenses for Analysis</vt:lpstr>
      <vt:lpstr>The 5 Sectors: Lenses for Analysis</vt:lpstr>
      <vt:lpstr>Sectoral Analysis</vt:lpstr>
      <vt:lpstr>Sectoral Analysis</vt:lpstr>
      <vt:lpstr>Sectoral Analysis</vt:lpstr>
      <vt:lpstr>A Risk in Sectoral Analysis!</vt:lpstr>
    </vt:vector>
  </TitlesOfParts>
  <Manager/>
  <Company>SIR@USC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C. Lynch</dc:creator>
  <cp:keywords/>
  <dc:description/>
  <cp:lastModifiedBy>Daniel Lynch</cp:lastModifiedBy>
  <cp:revision>438</cp:revision>
  <cp:lastPrinted>1601-01-01T00:00:00Z</cp:lastPrinted>
  <dcterms:created xsi:type="dcterms:W3CDTF">2010-08-25T01:33:59Z</dcterms:created>
  <dcterms:modified xsi:type="dcterms:W3CDTF">2026-09-01T06:09:41Z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0</vt:i4>
  </property>
</Properties>
</file>