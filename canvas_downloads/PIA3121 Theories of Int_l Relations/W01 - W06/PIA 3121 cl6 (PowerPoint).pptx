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74"/>
  </p:notesMasterIdLst>
  <p:handoutMasterIdLst>
    <p:handoutMasterId r:id="rId75"/>
  </p:handoutMasterIdLst>
  <p:sldIdLst>
    <p:sldId id="257" r:id="rId2"/>
    <p:sldId id="688" r:id="rId3"/>
    <p:sldId id="519" r:id="rId4"/>
    <p:sldId id="463" r:id="rId5"/>
    <p:sldId id="464" r:id="rId6"/>
    <p:sldId id="517" r:id="rId7"/>
    <p:sldId id="518" r:id="rId8"/>
    <p:sldId id="465" r:id="rId9"/>
    <p:sldId id="520" r:id="rId10"/>
    <p:sldId id="466" r:id="rId11"/>
    <p:sldId id="355" r:id="rId12"/>
    <p:sldId id="608" r:id="rId13"/>
    <p:sldId id="306" r:id="rId14"/>
    <p:sldId id="689" r:id="rId15"/>
    <p:sldId id="539" r:id="rId16"/>
    <p:sldId id="540" r:id="rId17"/>
    <p:sldId id="615" r:id="rId18"/>
    <p:sldId id="523" r:id="rId19"/>
    <p:sldId id="541" r:id="rId20"/>
    <p:sldId id="542" r:id="rId21"/>
    <p:sldId id="543" r:id="rId22"/>
    <p:sldId id="544" r:id="rId23"/>
    <p:sldId id="610" r:id="rId24"/>
    <p:sldId id="690" r:id="rId25"/>
    <p:sldId id="611" r:id="rId26"/>
    <p:sldId id="612" r:id="rId27"/>
    <p:sldId id="613" r:id="rId28"/>
    <p:sldId id="614" r:id="rId29"/>
    <p:sldId id="534" r:id="rId30"/>
    <p:sldId id="563" r:id="rId31"/>
    <p:sldId id="535" r:id="rId32"/>
    <p:sldId id="564" r:id="rId33"/>
    <p:sldId id="536" r:id="rId34"/>
    <p:sldId id="565" r:id="rId35"/>
    <p:sldId id="566" r:id="rId36"/>
    <p:sldId id="537" r:id="rId37"/>
    <p:sldId id="567" r:id="rId38"/>
    <p:sldId id="538" r:id="rId39"/>
    <p:sldId id="568" r:id="rId40"/>
    <p:sldId id="522" r:id="rId41"/>
    <p:sldId id="312" r:id="rId42"/>
    <p:sldId id="259" r:id="rId43"/>
    <p:sldId id="313" r:id="rId44"/>
    <p:sldId id="260" r:id="rId45"/>
    <p:sldId id="261" r:id="rId46"/>
    <p:sldId id="314" r:id="rId47"/>
    <p:sldId id="315" r:id="rId48"/>
    <p:sldId id="316" r:id="rId49"/>
    <p:sldId id="317" r:id="rId50"/>
    <p:sldId id="263" r:id="rId51"/>
    <p:sldId id="621" r:id="rId52"/>
    <p:sldId id="264" r:id="rId53"/>
    <p:sldId id="321" r:id="rId54"/>
    <p:sldId id="319" r:id="rId55"/>
    <p:sldId id="322" r:id="rId56"/>
    <p:sldId id="266" r:id="rId57"/>
    <p:sldId id="692" r:id="rId58"/>
    <p:sldId id="691" r:id="rId59"/>
    <p:sldId id="432" r:id="rId60"/>
    <p:sldId id="433" r:id="rId61"/>
    <p:sldId id="434" r:id="rId62"/>
    <p:sldId id="435" r:id="rId63"/>
    <p:sldId id="436" r:id="rId64"/>
    <p:sldId id="609" r:id="rId65"/>
    <p:sldId id="437" r:id="rId66"/>
    <p:sldId id="438" r:id="rId67"/>
    <p:sldId id="693" r:id="rId68"/>
    <p:sldId id="616" r:id="rId69"/>
    <p:sldId id="617" r:id="rId70"/>
    <p:sldId id="618" r:id="rId71"/>
    <p:sldId id="619" r:id="rId72"/>
    <p:sldId id="620" r:id="rId7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67"/>
    <p:restoredTop sz="94223"/>
  </p:normalViewPr>
  <p:slideViewPr>
    <p:cSldViewPr>
      <p:cViewPr varScale="1">
        <p:scale>
          <a:sx n="114" d="100"/>
          <a:sy n="114" d="100"/>
        </p:scale>
        <p:origin x="208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2650E67-72FF-B132-C541-32F44A7FE7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dirty="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26761C58-FF9F-DED7-6130-96844E7A023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hangingPunct="1">
              <a:defRPr sz="1200">
                <a:latin typeface="Arial" charset="0"/>
                <a:ea typeface="ＭＳ Ｐゴシック" charset="-128"/>
              </a:defRPr>
            </a:lvl1pPr>
          </a:lstStyle>
          <a:p>
            <a:pPr>
              <a:defRPr/>
            </a:pPr>
            <a:fld id="{EF8AFF41-3BA4-E24F-821D-E8A85C11440C}" type="datetimeFigureOut">
              <a:rPr lang="en-US"/>
              <a:pPr>
                <a:defRPr/>
              </a:pPr>
              <a:t>10/5/26</a:t>
            </a:fld>
            <a:endParaRPr lang="en-US" dirty="0"/>
          </a:p>
        </p:txBody>
      </p:sp>
      <p:sp>
        <p:nvSpPr>
          <p:cNvPr id="4" name="Footer Placeholder 3">
            <a:extLst>
              <a:ext uri="{FF2B5EF4-FFF2-40B4-BE49-F238E27FC236}">
                <a16:creationId xmlns:a16="http://schemas.microsoft.com/office/drawing/2014/main" id="{2A93457F-11A7-07DF-088C-5C70867D92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hangingPunct="1">
              <a:defRPr sz="1200" dirty="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B8D96098-FFF2-1E11-D489-F1CCEFC967BA}"/>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A57D02C6-BC1D-A848-851A-1A1C946F32CF}" type="slidenum">
              <a:rPr lang="en-US" altLang="en-US"/>
              <a:pPr>
                <a:defRPr/>
              </a:pPr>
              <a:t>‹#›</a:t>
            </a:fld>
            <a:endParaRPr lang="en-US"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3522" name="Rectangle 2">
            <a:extLst>
              <a:ext uri="{FF2B5EF4-FFF2-40B4-BE49-F238E27FC236}">
                <a16:creationId xmlns:a16="http://schemas.microsoft.com/office/drawing/2014/main" id="{3F4D20F4-961A-610E-80C5-AFF09D9BE684}"/>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128"/>
              </a:defRPr>
            </a:lvl1pPr>
          </a:lstStyle>
          <a:p>
            <a:pPr>
              <a:defRPr/>
            </a:pPr>
            <a:endParaRPr lang="x-none" altLang="x-none"/>
          </a:p>
        </p:txBody>
      </p:sp>
      <p:sp>
        <p:nvSpPr>
          <p:cNvPr id="363523" name="Rectangle 3">
            <a:extLst>
              <a:ext uri="{FF2B5EF4-FFF2-40B4-BE49-F238E27FC236}">
                <a16:creationId xmlns:a16="http://schemas.microsoft.com/office/drawing/2014/main" id="{A5B430C6-F63A-4DBC-3CF1-A8B1213F73C9}"/>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128"/>
              </a:defRPr>
            </a:lvl1pPr>
          </a:lstStyle>
          <a:p>
            <a:pPr>
              <a:defRPr/>
            </a:pPr>
            <a:endParaRPr lang="x-none" altLang="x-none"/>
          </a:p>
        </p:txBody>
      </p:sp>
      <p:sp>
        <p:nvSpPr>
          <p:cNvPr id="13316" name="Rectangle 4">
            <a:extLst>
              <a:ext uri="{FF2B5EF4-FFF2-40B4-BE49-F238E27FC236}">
                <a16:creationId xmlns:a16="http://schemas.microsoft.com/office/drawing/2014/main" id="{199C0B05-7861-31B4-316D-2E26121AD4C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3525" name="Rectangle 5">
            <a:extLst>
              <a:ext uri="{FF2B5EF4-FFF2-40B4-BE49-F238E27FC236}">
                <a16:creationId xmlns:a16="http://schemas.microsoft.com/office/drawing/2014/main" id="{17E7A38B-D40B-3E45-4DA9-73C11BFF3F4A}"/>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3526" name="Rectangle 6">
            <a:extLst>
              <a:ext uri="{FF2B5EF4-FFF2-40B4-BE49-F238E27FC236}">
                <a16:creationId xmlns:a16="http://schemas.microsoft.com/office/drawing/2014/main" id="{01F16E76-51BE-BB9A-CB5E-719077F7695F}"/>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128"/>
              </a:defRPr>
            </a:lvl1pPr>
          </a:lstStyle>
          <a:p>
            <a:pPr>
              <a:defRPr/>
            </a:pPr>
            <a:endParaRPr lang="x-none" altLang="x-none"/>
          </a:p>
        </p:txBody>
      </p:sp>
      <p:sp>
        <p:nvSpPr>
          <p:cNvPr id="363527" name="Rectangle 7">
            <a:extLst>
              <a:ext uri="{FF2B5EF4-FFF2-40B4-BE49-F238E27FC236}">
                <a16:creationId xmlns:a16="http://schemas.microsoft.com/office/drawing/2014/main" id="{74FF3B11-DA93-9907-7F11-26949AA23B92}"/>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B5F18A9-06CE-9849-AA67-297E81EB631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pitchFamily="-65"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D0F2039A-B819-8CD7-D558-032EB367F3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B49BEABE-787E-394B-8E14-263BADF53E25}" type="slidenum">
              <a:rPr lang="en-US" altLang="en-US" smtClean="0"/>
              <a:pPr>
                <a:spcBef>
                  <a:spcPct val="0"/>
                </a:spcBef>
              </a:pPr>
              <a:t>1</a:t>
            </a:fld>
            <a:endParaRPr lang="en-US" altLang="en-US"/>
          </a:p>
        </p:txBody>
      </p:sp>
      <p:sp>
        <p:nvSpPr>
          <p:cNvPr id="16386" name="Rectangle 2">
            <a:extLst>
              <a:ext uri="{FF2B5EF4-FFF2-40B4-BE49-F238E27FC236}">
                <a16:creationId xmlns:a16="http://schemas.microsoft.com/office/drawing/2014/main" id="{D39C171B-183A-12B0-30FA-E5C513FFD276}"/>
              </a:ext>
            </a:extLst>
          </p:cNvPr>
          <p:cNvSpPr>
            <a:spLocks noGrp="1" noRot="1" noChangeAspect="1" noChangeArrowheads="1" noTextEdit="1"/>
          </p:cNvSpPr>
          <p:nvPr>
            <p:ph type="sldImg"/>
          </p:nvPr>
        </p:nvSpPr>
        <p:spPr>
          <a:ln/>
        </p:spPr>
      </p:sp>
      <p:sp>
        <p:nvSpPr>
          <p:cNvPr id="16387" name="Rectangle 3">
            <a:extLst>
              <a:ext uri="{FF2B5EF4-FFF2-40B4-BE49-F238E27FC236}">
                <a16:creationId xmlns:a16="http://schemas.microsoft.com/office/drawing/2014/main" id="{BB8D3BE7-7B13-70DE-C281-3A50FE2A37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C02A6579-34EA-D513-C01C-1253718DB2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DD5CCBB9-A0F3-394E-BA39-171FA439FC05}" type="slidenum">
              <a:rPr lang="en-US" altLang="en-US" smtClean="0"/>
              <a:pPr>
                <a:spcBef>
                  <a:spcPct val="0"/>
                </a:spcBef>
              </a:pPr>
              <a:t>12</a:t>
            </a:fld>
            <a:endParaRPr lang="en-US" altLang="en-US"/>
          </a:p>
        </p:txBody>
      </p:sp>
      <p:sp>
        <p:nvSpPr>
          <p:cNvPr id="44034" name="Rectangle 2">
            <a:extLst>
              <a:ext uri="{FF2B5EF4-FFF2-40B4-BE49-F238E27FC236}">
                <a16:creationId xmlns:a16="http://schemas.microsoft.com/office/drawing/2014/main" id="{366B1A78-D454-25DC-B39E-C91EC6C23966}"/>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7B2AB6D2-0CC0-6E5D-B602-152048C539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EE18A-C0D7-23A6-675E-A70796445F92}"/>
            </a:ext>
          </a:extLst>
        </p:cNvPr>
        <p:cNvGrpSpPr/>
        <p:nvPr/>
      </p:nvGrpSpPr>
      <p:grpSpPr>
        <a:xfrm>
          <a:off x="0" y="0"/>
          <a:ext cx="0" cy="0"/>
          <a:chOff x="0" y="0"/>
          <a:chExt cx="0" cy="0"/>
        </a:xfrm>
      </p:grpSpPr>
      <p:sp>
        <p:nvSpPr>
          <p:cNvPr id="55297" name="Rectangle 7">
            <a:extLst>
              <a:ext uri="{FF2B5EF4-FFF2-40B4-BE49-F238E27FC236}">
                <a16:creationId xmlns:a16="http://schemas.microsoft.com/office/drawing/2014/main" id="{ACC26048-7713-0AE9-6BD5-817888ADC3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667E0B4-E3A0-2643-8452-57AFBD42B981}" type="slidenum">
              <a:rPr lang="en-US" altLang="en-US" smtClean="0"/>
              <a:pPr>
                <a:spcBef>
                  <a:spcPct val="0"/>
                </a:spcBef>
              </a:pPr>
              <a:t>57</a:t>
            </a:fld>
            <a:endParaRPr lang="en-US" altLang="en-US"/>
          </a:p>
        </p:txBody>
      </p:sp>
      <p:sp>
        <p:nvSpPr>
          <p:cNvPr id="55298" name="Rectangle 2">
            <a:extLst>
              <a:ext uri="{FF2B5EF4-FFF2-40B4-BE49-F238E27FC236}">
                <a16:creationId xmlns:a16="http://schemas.microsoft.com/office/drawing/2014/main" id="{CE1B4790-0D5C-095D-5066-565FF352A1E5}"/>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0902D04A-52A4-C9A9-D893-4CD4D89516B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extLst>
      <p:ext uri="{BB962C8B-B14F-4D97-AF65-F5344CB8AC3E}">
        <p14:creationId xmlns:p14="http://schemas.microsoft.com/office/powerpoint/2010/main" val="3287099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0C379260-EFCE-34D5-9B18-5976AB9111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667E0B4-E3A0-2643-8452-57AFBD42B981}" type="slidenum">
              <a:rPr lang="en-US" altLang="en-US" smtClean="0"/>
              <a:pPr>
                <a:spcBef>
                  <a:spcPct val="0"/>
                </a:spcBef>
              </a:pPr>
              <a:t>59</a:t>
            </a:fld>
            <a:endParaRPr lang="en-US" altLang="en-US"/>
          </a:p>
        </p:txBody>
      </p:sp>
      <p:sp>
        <p:nvSpPr>
          <p:cNvPr id="55298" name="Rectangle 2">
            <a:extLst>
              <a:ext uri="{FF2B5EF4-FFF2-40B4-BE49-F238E27FC236}">
                <a16:creationId xmlns:a16="http://schemas.microsoft.com/office/drawing/2014/main" id="{12856314-01AC-B424-C938-4CE645B299D3}"/>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374C5709-92C2-5CEE-FA99-34BE69383E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a:extLst>
              <a:ext uri="{FF2B5EF4-FFF2-40B4-BE49-F238E27FC236}">
                <a16:creationId xmlns:a16="http://schemas.microsoft.com/office/drawing/2014/main" id="{93766D1B-5308-DF00-6894-0145B440E1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55B72C19-D3B4-7B43-BFCE-64D37F9970C9}" type="slidenum">
              <a:rPr lang="en-US" altLang="en-US" smtClean="0"/>
              <a:pPr>
                <a:spcBef>
                  <a:spcPct val="0"/>
                </a:spcBef>
              </a:pPr>
              <a:t>60</a:t>
            </a:fld>
            <a:endParaRPr lang="en-US" altLang="en-US"/>
          </a:p>
        </p:txBody>
      </p:sp>
      <p:sp>
        <p:nvSpPr>
          <p:cNvPr id="57346" name="Rectangle 2">
            <a:extLst>
              <a:ext uri="{FF2B5EF4-FFF2-40B4-BE49-F238E27FC236}">
                <a16:creationId xmlns:a16="http://schemas.microsoft.com/office/drawing/2014/main" id="{7C0246D1-35F0-0E19-AD8F-87EA2B6CBC76}"/>
              </a:ext>
            </a:extLst>
          </p:cNvPr>
          <p:cNvSpPr>
            <a:spLocks noGrp="1" noRot="1" noChangeAspect="1" noChangeArrowheads="1" noTextEdit="1"/>
          </p:cNvSpPr>
          <p:nvPr>
            <p:ph type="sldImg"/>
          </p:nvPr>
        </p:nvSpPr>
        <p:spPr>
          <a:ln/>
        </p:spPr>
      </p:sp>
      <p:sp>
        <p:nvSpPr>
          <p:cNvPr id="57347" name="Rectangle 3">
            <a:extLst>
              <a:ext uri="{FF2B5EF4-FFF2-40B4-BE49-F238E27FC236}">
                <a16:creationId xmlns:a16="http://schemas.microsoft.com/office/drawing/2014/main" id="{7CBDA012-66D7-596C-C517-182BA7BEF9B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AF753CC1-6106-81D5-0CC3-0C30A121410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0DE796E2-62D6-1442-B090-E5E528675E3B}" type="slidenum">
              <a:rPr lang="en-US" altLang="en-US" smtClean="0"/>
              <a:pPr>
                <a:spcBef>
                  <a:spcPct val="0"/>
                </a:spcBef>
              </a:pPr>
              <a:t>61</a:t>
            </a:fld>
            <a:endParaRPr lang="en-US" altLang="en-US"/>
          </a:p>
        </p:txBody>
      </p:sp>
      <p:sp>
        <p:nvSpPr>
          <p:cNvPr id="59394" name="Rectangle 2">
            <a:extLst>
              <a:ext uri="{FF2B5EF4-FFF2-40B4-BE49-F238E27FC236}">
                <a16:creationId xmlns:a16="http://schemas.microsoft.com/office/drawing/2014/main" id="{7F518684-C901-3A48-8168-3F74F273FBCF}"/>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D386E544-30FA-B525-329F-311B79A384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a:extLst>
              <a:ext uri="{FF2B5EF4-FFF2-40B4-BE49-F238E27FC236}">
                <a16:creationId xmlns:a16="http://schemas.microsoft.com/office/drawing/2014/main" id="{271DFF2C-E9C7-4FBB-9E32-6D03CEA511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3E133524-9519-C24A-8B51-B294AB1930E4}" type="slidenum">
              <a:rPr lang="en-US" altLang="en-US" smtClean="0"/>
              <a:pPr>
                <a:spcBef>
                  <a:spcPct val="0"/>
                </a:spcBef>
              </a:pPr>
              <a:t>62</a:t>
            </a:fld>
            <a:endParaRPr lang="en-US" altLang="en-US"/>
          </a:p>
        </p:txBody>
      </p:sp>
      <p:sp>
        <p:nvSpPr>
          <p:cNvPr id="61442" name="Rectangle 2">
            <a:extLst>
              <a:ext uri="{FF2B5EF4-FFF2-40B4-BE49-F238E27FC236}">
                <a16:creationId xmlns:a16="http://schemas.microsoft.com/office/drawing/2014/main" id="{0BE95B48-F880-2650-94BA-487386A88551}"/>
              </a:ext>
            </a:extLst>
          </p:cNvPr>
          <p:cNvSpPr>
            <a:spLocks noGrp="1" noRot="1" noChangeAspect="1" noChangeArrowheads="1" noTextEdit="1"/>
          </p:cNvSpPr>
          <p:nvPr>
            <p:ph type="sldImg"/>
          </p:nvPr>
        </p:nvSpPr>
        <p:spPr>
          <a:ln/>
        </p:spPr>
      </p:sp>
      <p:sp>
        <p:nvSpPr>
          <p:cNvPr id="61443" name="Rectangle 3">
            <a:extLst>
              <a:ext uri="{FF2B5EF4-FFF2-40B4-BE49-F238E27FC236}">
                <a16:creationId xmlns:a16="http://schemas.microsoft.com/office/drawing/2014/main" id="{44773804-6507-BD8B-AF0C-86769422FC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a:extLst>
              <a:ext uri="{FF2B5EF4-FFF2-40B4-BE49-F238E27FC236}">
                <a16:creationId xmlns:a16="http://schemas.microsoft.com/office/drawing/2014/main" id="{140AC8D8-C851-862C-557B-DBD58DA2B2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266CB0BD-A2FF-C94C-A29C-A8412661F5CD}" type="slidenum">
              <a:rPr lang="en-US" altLang="en-US" smtClean="0"/>
              <a:pPr>
                <a:spcBef>
                  <a:spcPct val="0"/>
                </a:spcBef>
              </a:pPr>
              <a:t>63</a:t>
            </a:fld>
            <a:endParaRPr lang="en-US" altLang="en-US"/>
          </a:p>
        </p:txBody>
      </p:sp>
      <p:sp>
        <p:nvSpPr>
          <p:cNvPr id="63490" name="Rectangle 2">
            <a:extLst>
              <a:ext uri="{FF2B5EF4-FFF2-40B4-BE49-F238E27FC236}">
                <a16:creationId xmlns:a16="http://schemas.microsoft.com/office/drawing/2014/main" id="{0109DE7B-A075-3824-41F0-61D4218072AE}"/>
              </a:ext>
            </a:extLst>
          </p:cNvPr>
          <p:cNvSpPr>
            <a:spLocks noGrp="1" noRot="1" noChangeAspect="1" noChangeArrowheads="1" noTextEdit="1"/>
          </p:cNvSpPr>
          <p:nvPr>
            <p:ph type="sldImg"/>
          </p:nvPr>
        </p:nvSpPr>
        <p:spPr>
          <a:ln/>
        </p:spPr>
      </p:sp>
      <p:sp>
        <p:nvSpPr>
          <p:cNvPr id="63491" name="Rectangle 3">
            <a:extLst>
              <a:ext uri="{FF2B5EF4-FFF2-40B4-BE49-F238E27FC236}">
                <a16:creationId xmlns:a16="http://schemas.microsoft.com/office/drawing/2014/main" id="{52965A39-E4FD-84C2-B419-20C083D287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a:extLst>
              <a:ext uri="{FF2B5EF4-FFF2-40B4-BE49-F238E27FC236}">
                <a16:creationId xmlns:a16="http://schemas.microsoft.com/office/drawing/2014/main" id="{8464CB08-546D-3529-4024-27E8D4BE42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8E852BAC-919F-6D43-90B0-CB366F50AA49}" type="slidenum">
              <a:rPr lang="en-US" altLang="en-US" smtClean="0"/>
              <a:pPr>
                <a:spcBef>
                  <a:spcPct val="0"/>
                </a:spcBef>
              </a:pPr>
              <a:t>65</a:t>
            </a:fld>
            <a:endParaRPr lang="en-US" altLang="en-US"/>
          </a:p>
        </p:txBody>
      </p:sp>
      <p:sp>
        <p:nvSpPr>
          <p:cNvPr id="65538" name="Rectangle 2">
            <a:extLst>
              <a:ext uri="{FF2B5EF4-FFF2-40B4-BE49-F238E27FC236}">
                <a16:creationId xmlns:a16="http://schemas.microsoft.com/office/drawing/2014/main" id="{1BA24DDC-D73D-F870-F37A-36FA113A677C}"/>
              </a:ext>
            </a:extLst>
          </p:cNvPr>
          <p:cNvSpPr>
            <a:spLocks noGrp="1" noRot="1" noChangeAspect="1" noChangeArrowheads="1" noTextEdit="1"/>
          </p:cNvSpPr>
          <p:nvPr>
            <p:ph type="sldImg"/>
          </p:nvPr>
        </p:nvSpPr>
        <p:spPr>
          <a:ln/>
        </p:spPr>
      </p:sp>
      <p:sp>
        <p:nvSpPr>
          <p:cNvPr id="65539" name="Rectangle 3">
            <a:extLst>
              <a:ext uri="{FF2B5EF4-FFF2-40B4-BE49-F238E27FC236}">
                <a16:creationId xmlns:a16="http://schemas.microsoft.com/office/drawing/2014/main" id="{9CA542A0-BB53-AA00-52DC-AA0C594FAC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a:extLst>
              <a:ext uri="{FF2B5EF4-FFF2-40B4-BE49-F238E27FC236}">
                <a16:creationId xmlns:a16="http://schemas.microsoft.com/office/drawing/2014/main" id="{4F8B16BA-B043-5430-71E9-D65D71EF2F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37931725" indent="-37474525">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pPr>
            <a:fld id="{7E9E7183-7D14-8841-94A4-DB33C84E8392}" type="slidenum">
              <a:rPr lang="en-US" altLang="en-US" smtClean="0"/>
              <a:pPr>
                <a:spcBef>
                  <a:spcPct val="0"/>
                </a:spcBef>
              </a:pPr>
              <a:t>66</a:t>
            </a:fld>
            <a:endParaRPr lang="en-US" altLang="en-US"/>
          </a:p>
        </p:txBody>
      </p:sp>
      <p:sp>
        <p:nvSpPr>
          <p:cNvPr id="67586" name="Rectangle 2">
            <a:extLst>
              <a:ext uri="{FF2B5EF4-FFF2-40B4-BE49-F238E27FC236}">
                <a16:creationId xmlns:a16="http://schemas.microsoft.com/office/drawing/2014/main" id="{B186BFFA-EB2A-F852-B1E9-0B45285C7930}"/>
              </a:ext>
            </a:extLst>
          </p:cNvPr>
          <p:cNvSpPr>
            <a:spLocks noGrp="1" noRot="1" noChangeAspect="1" noChangeArrowheads="1" noTextEdit="1"/>
          </p:cNvSpPr>
          <p:nvPr>
            <p:ph type="sldImg"/>
          </p:nvPr>
        </p:nvSpPr>
        <p:spPr>
          <a:ln/>
        </p:spPr>
      </p:sp>
      <p:sp>
        <p:nvSpPr>
          <p:cNvPr id="67587" name="Rectangle 3">
            <a:extLst>
              <a:ext uri="{FF2B5EF4-FFF2-40B4-BE49-F238E27FC236}">
                <a16:creationId xmlns:a16="http://schemas.microsoft.com/office/drawing/2014/main" id="{6361354C-B7BA-3BDB-568C-08D077A560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a typeface="ＭＳ Ｐゴシック" panose="020B0600070205080204" pitchFamily="34" charset="-128"/>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3601147-056B-234A-B8FC-DBBA04F66B44}"/>
              </a:ext>
            </a:extLst>
          </p:cNvPr>
          <p:cNvGrpSpPr>
            <a:grpSpLocks/>
          </p:cNvGrpSpPr>
          <p:nvPr/>
        </p:nvGrpSpPr>
        <p:grpSpPr bwMode="auto">
          <a:xfrm>
            <a:off x="0" y="3902075"/>
            <a:ext cx="3400425" cy="2949575"/>
            <a:chOff x="0" y="2458"/>
            <a:chExt cx="2142" cy="1858"/>
          </a:xfrm>
        </p:grpSpPr>
        <p:sp>
          <p:nvSpPr>
            <p:cNvPr id="3" name="Freeform 3">
              <a:extLst>
                <a:ext uri="{FF2B5EF4-FFF2-40B4-BE49-F238E27FC236}">
                  <a16:creationId xmlns:a16="http://schemas.microsoft.com/office/drawing/2014/main" id="{63405FBC-2A62-4F37-2215-48FCF0DF4597}"/>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4" name="Freeform 4">
              <a:extLst>
                <a:ext uri="{FF2B5EF4-FFF2-40B4-BE49-F238E27FC236}">
                  <a16:creationId xmlns:a16="http://schemas.microsoft.com/office/drawing/2014/main" id="{BABB94D7-2B62-90F3-7EF3-F2CF096D1C78}"/>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5" name="Freeform 5">
              <a:extLst>
                <a:ext uri="{FF2B5EF4-FFF2-40B4-BE49-F238E27FC236}">
                  <a16:creationId xmlns:a16="http://schemas.microsoft.com/office/drawing/2014/main" id="{4A5D9B78-9691-DFD2-380F-7D5B6F3E0087}"/>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6" name="Freeform 6">
              <a:extLst>
                <a:ext uri="{FF2B5EF4-FFF2-40B4-BE49-F238E27FC236}">
                  <a16:creationId xmlns:a16="http://schemas.microsoft.com/office/drawing/2014/main" id="{973B2E3A-B099-E885-850E-7DC7C7C2F95A}"/>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7" name="Oval 7">
              <a:extLst>
                <a:ext uri="{FF2B5EF4-FFF2-40B4-BE49-F238E27FC236}">
                  <a16:creationId xmlns:a16="http://schemas.microsoft.com/office/drawing/2014/main" id="{8836773F-919F-F63C-07CC-D620C5007D9C}"/>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8" name="Oval 8">
              <a:extLst>
                <a:ext uri="{FF2B5EF4-FFF2-40B4-BE49-F238E27FC236}">
                  <a16:creationId xmlns:a16="http://schemas.microsoft.com/office/drawing/2014/main" id="{A7826174-F2A7-2BB0-FF0C-B3B358D09634}"/>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9" name="Oval 9">
              <a:extLst>
                <a:ext uri="{FF2B5EF4-FFF2-40B4-BE49-F238E27FC236}">
                  <a16:creationId xmlns:a16="http://schemas.microsoft.com/office/drawing/2014/main" id="{89826629-63EA-8579-E4DF-13EF03CF269F}"/>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8954" name="Rectangle 10"/>
          <p:cNvSpPr>
            <a:spLocks noGrp="1" noChangeArrowheads="1"/>
          </p:cNvSpPr>
          <p:nvPr>
            <p:ph type="ctrTitle" sz="quarter"/>
          </p:nvPr>
        </p:nvSpPr>
        <p:spPr>
          <a:xfrm>
            <a:off x="685800" y="1873250"/>
            <a:ext cx="7772400" cy="1555750"/>
          </a:xfrm>
        </p:spPr>
        <p:txBody>
          <a:bodyPr/>
          <a:lstStyle>
            <a:lvl1pPr>
              <a:defRPr sz="4800"/>
            </a:lvl1pPr>
          </a:lstStyle>
          <a:p>
            <a:r>
              <a:rPr lang="en-US"/>
              <a:t>Click to edit Master title style</a:t>
            </a:r>
          </a:p>
        </p:txBody>
      </p:sp>
      <p:sp>
        <p:nvSpPr>
          <p:cNvPr id="338955" name="Rectangle 11"/>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0" name="Rectangle 12">
            <a:extLst>
              <a:ext uri="{FF2B5EF4-FFF2-40B4-BE49-F238E27FC236}">
                <a16:creationId xmlns:a16="http://schemas.microsoft.com/office/drawing/2014/main" id="{DFF514EF-AC7A-23AD-562E-FE2A7CF74761}"/>
              </a:ext>
            </a:extLst>
          </p:cNvPr>
          <p:cNvSpPr>
            <a:spLocks noGrp="1" noChangeArrowheads="1"/>
          </p:cNvSpPr>
          <p:nvPr>
            <p:ph type="dt" sz="quarter" idx="10"/>
          </p:nvPr>
        </p:nvSpPr>
        <p:spPr/>
        <p:txBody>
          <a:bodyPr/>
          <a:lstStyle>
            <a:lvl1pPr>
              <a:defRPr/>
            </a:lvl1pPr>
          </a:lstStyle>
          <a:p>
            <a:pPr>
              <a:defRPr/>
            </a:pPr>
            <a:endParaRPr lang="x-none" altLang="x-none"/>
          </a:p>
        </p:txBody>
      </p:sp>
      <p:sp>
        <p:nvSpPr>
          <p:cNvPr id="11" name="Rectangle 13">
            <a:extLst>
              <a:ext uri="{FF2B5EF4-FFF2-40B4-BE49-F238E27FC236}">
                <a16:creationId xmlns:a16="http://schemas.microsoft.com/office/drawing/2014/main" id="{4FF32812-BEBD-28DB-8DE5-2CCCEEB27486}"/>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12" name="Rectangle 14">
            <a:extLst>
              <a:ext uri="{FF2B5EF4-FFF2-40B4-BE49-F238E27FC236}">
                <a16:creationId xmlns:a16="http://schemas.microsoft.com/office/drawing/2014/main" id="{5D95E7EB-E4DF-6591-F4AA-D5172B265CE8}"/>
              </a:ext>
            </a:extLst>
          </p:cNvPr>
          <p:cNvSpPr>
            <a:spLocks noGrp="1" noChangeArrowheads="1"/>
          </p:cNvSpPr>
          <p:nvPr>
            <p:ph type="sldNum" sz="quarter" idx="12"/>
          </p:nvPr>
        </p:nvSpPr>
        <p:spPr/>
        <p:txBody>
          <a:bodyPr/>
          <a:lstStyle>
            <a:lvl1pPr>
              <a:defRPr/>
            </a:lvl1pPr>
          </a:lstStyle>
          <a:p>
            <a:pPr>
              <a:defRPr/>
            </a:pPr>
            <a:fld id="{C9EDD349-2ED6-1E46-B8F7-96D48AA43936}" type="slidenum">
              <a:rPr lang="en-US" altLang="en-US"/>
              <a:pPr>
                <a:defRPr/>
              </a:pPr>
              <a:t>‹#›</a:t>
            </a:fld>
            <a:endParaRPr lang="en-US" altLang="en-US" dirty="0"/>
          </a:p>
        </p:txBody>
      </p:sp>
    </p:spTree>
    <p:extLst>
      <p:ext uri="{BB962C8B-B14F-4D97-AF65-F5344CB8AC3E}">
        <p14:creationId xmlns:p14="http://schemas.microsoft.com/office/powerpoint/2010/main" val="416307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0A882662-73CE-9276-B670-C2AD7522E819}"/>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EEE674D5-FC2E-3679-5E60-DDF3D048ED6A}"/>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C36EEB48-8DA5-7508-74D7-5556E9A2B0B7}"/>
              </a:ext>
            </a:extLst>
          </p:cNvPr>
          <p:cNvSpPr>
            <a:spLocks noGrp="1" noChangeArrowheads="1"/>
          </p:cNvSpPr>
          <p:nvPr>
            <p:ph type="sldNum" sz="quarter" idx="12"/>
          </p:nvPr>
        </p:nvSpPr>
        <p:spPr/>
        <p:txBody>
          <a:bodyPr/>
          <a:lstStyle>
            <a:lvl1pPr>
              <a:defRPr/>
            </a:lvl1pPr>
          </a:lstStyle>
          <a:p>
            <a:pPr>
              <a:defRPr/>
            </a:pPr>
            <a:fld id="{9E04E9E1-39B2-6046-9DD0-EF7AF9B01DCC}" type="slidenum">
              <a:rPr lang="en-US" altLang="en-US"/>
              <a:pPr>
                <a:defRPr/>
              </a:pPr>
              <a:t>‹#›</a:t>
            </a:fld>
            <a:endParaRPr lang="en-US" altLang="en-US" dirty="0"/>
          </a:p>
        </p:txBody>
      </p:sp>
    </p:spTree>
    <p:extLst>
      <p:ext uri="{BB962C8B-B14F-4D97-AF65-F5344CB8AC3E}">
        <p14:creationId xmlns:p14="http://schemas.microsoft.com/office/powerpoint/2010/main" val="3481907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2">
            <a:extLst>
              <a:ext uri="{FF2B5EF4-FFF2-40B4-BE49-F238E27FC236}">
                <a16:creationId xmlns:a16="http://schemas.microsoft.com/office/drawing/2014/main" id="{DE592751-E480-956F-B3F0-B5EAA51121A8}"/>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28688323-C636-3DE4-464C-21F489528AFA}"/>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2D9B810E-A1D7-67A6-0E22-6A2EBB18C136}"/>
              </a:ext>
            </a:extLst>
          </p:cNvPr>
          <p:cNvSpPr>
            <a:spLocks noGrp="1" noChangeArrowheads="1"/>
          </p:cNvSpPr>
          <p:nvPr>
            <p:ph type="sldNum" sz="quarter" idx="12"/>
          </p:nvPr>
        </p:nvSpPr>
        <p:spPr/>
        <p:txBody>
          <a:bodyPr/>
          <a:lstStyle>
            <a:lvl1pPr>
              <a:defRPr/>
            </a:lvl1pPr>
          </a:lstStyle>
          <a:p>
            <a:pPr>
              <a:defRPr/>
            </a:pPr>
            <a:fld id="{988806CE-A5A9-C947-A5F1-006D28ADBAAF}" type="slidenum">
              <a:rPr lang="en-US" altLang="en-US"/>
              <a:pPr>
                <a:defRPr/>
              </a:pPr>
              <a:t>‹#›</a:t>
            </a:fld>
            <a:endParaRPr lang="en-US" altLang="en-US" dirty="0"/>
          </a:p>
        </p:txBody>
      </p:sp>
    </p:spTree>
    <p:extLst>
      <p:ext uri="{BB962C8B-B14F-4D97-AF65-F5344CB8AC3E}">
        <p14:creationId xmlns:p14="http://schemas.microsoft.com/office/powerpoint/2010/main" val="1542814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2">
            <a:extLst>
              <a:ext uri="{FF2B5EF4-FFF2-40B4-BE49-F238E27FC236}">
                <a16:creationId xmlns:a16="http://schemas.microsoft.com/office/drawing/2014/main" id="{28F5F0E4-ED21-B4CE-41CB-8E1227FF7BF4}"/>
              </a:ext>
            </a:extLst>
          </p:cNvPr>
          <p:cNvSpPr>
            <a:spLocks noGrp="1" noChangeArrowheads="1"/>
          </p:cNvSpPr>
          <p:nvPr>
            <p:ph type="dt" sz="half" idx="10"/>
          </p:nvPr>
        </p:nvSpPr>
        <p:spPr/>
        <p:txBody>
          <a:bodyPr/>
          <a:lstStyle>
            <a:lvl1pPr>
              <a:defRPr/>
            </a:lvl1pPr>
          </a:lstStyle>
          <a:p>
            <a:pPr>
              <a:defRPr/>
            </a:pPr>
            <a:endParaRPr lang="x-none" altLang="x-none"/>
          </a:p>
        </p:txBody>
      </p:sp>
      <p:sp>
        <p:nvSpPr>
          <p:cNvPr id="6" name="Rectangle 13">
            <a:extLst>
              <a:ext uri="{FF2B5EF4-FFF2-40B4-BE49-F238E27FC236}">
                <a16:creationId xmlns:a16="http://schemas.microsoft.com/office/drawing/2014/main" id="{BA9AA415-A961-995C-CBF8-0A98352C2E7F}"/>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7" name="Rectangle 14">
            <a:extLst>
              <a:ext uri="{FF2B5EF4-FFF2-40B4-BE49-F238E27FC236}">
                <a16:creationId xmlns:a16="http://schemas.microsoft.com/office/drawing/2014/main" id="{9486C0C4-6262-2FFD-F81D-E1A1D18A1B0A}"/>
              </a:ext>
            </a:extLst>
          </p:cNvPr>
          <p:cNvSpPr>
            <a:spLocks noGrp="1" noChangeArrowheads="1"/>
          </p:cNvSpPr>
          <p:nvPr>
            <p:ph type="sldNum" sz="quarter" idx="12"/>
          </p:nvPr>
        </p:nvSpPr>
        <p:spPr/>
        <p:txBody>
          <a:bodyPr/>
          <a:lstStyle>
            <a:lvl1pPr>
              <a:defRPr/>
            </a:lvl1pPr>
          </a:lstStyle>
          <a:p>
            <a:pPr>
              <a:defRPr/>
            </a:pPr>
            <a:fld id="{F6923445-649D-FF40-A63F-4151D5CEC787}" type="slidenum">
              <a:rPr lang="en-US" altLang="en-US"/>
              <a:pPr>
                <a:defRPr/>
              </a:pPr>
              <a:t>‹#›</a:t>
            </a:fld>
            <a:endParaRPr lang="en-US" altLang="en-US" dirty="0"/>
          </a:p>
        </p:txBody>
      </p:sp>
    </p:spTree>
    <p:extLst>
      <p:ext uri="{BB962C8B-B14F-4D97-AF65-F5344CB8AC3E}">
        <p14:creationId xmlns:p14="http://schemas.microsoft.com/office/powerpoint/2010/main" val="2227644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2">
            <a:extLst>
              <a:ext uri="{FF2B5EF4-FFF2-40B4-BE49-F238E27FC236}">
                <a16:creationId xmlns:a16="http://schemas.microsoft.com/office/drawing/2014/main" id="{D977ABFC-870C-3DBE-B6CC-9E772B2DE15B}"/>
              </a:ext>
            </a:extLst>
          </p:cNvPr>
          <p:cNvSpPr>
            <a:spLocks noGrp="1" noChangeArrowheads="1"/>
          </p:cNvSpPr>
          <p:nvPr>
            <p:ph type="dt" sz="half" idx="10"/>
          </p:nvPr>
        </p:nvSpPr>
        <p:spPr/>
        <p:txBody>
          <a:bodyPr/>
          <a:lstStyle>
            <a:lvl1pPr>
              <a:defRPr/>
            </a:lvl1pPr>
          </a:lstStyle>
          <a:p>
            <a:pPr>
              <a:defRPr/>
            </a:pPr>
            <a:endParaRPr lang="x-none" altLang="x-none"/>
          </a:p>
        </p:txBody>
      </p:sp>
      <p:sp>
        <p:nvSpPr>
          <p:cNvPr id="8" name="Rectangle 13">
            <a:extLst>
              <a:ext uri="{FF2B5EF4-FFF2-40B4-BE49-F238E27FC236}">
                <a16:creationId xmlns:a16="http://schemas.microsoft.com/office/drawing/2014/main" id="{6B815BBE-6958-1B7B-C353-C6701557A86A}"/>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9" name="Rectangle 14">
            <a:extLst>
              <a:ext uri="{FF2B5EF4-FFF2-40B4-BE49-F238E27FC236}">
                <a16:creationId xmlns:a16="http://schemas.microsoft.com/office/drawing/2014/main" id="{627CC3A7-0C90-6A97-D056-B411A22A0DA0}"/>
              </a:ext>
            </a:extLst>
          </p:cNvPr>
          <p:cNvSpPr>
            <a:spLocks noGrp="1" noChangeArrowheads="1"/>
          </p:cNvSpPr>
          <p:nvPr>
            <p:ph type="sldNum" sz="quarter" idx="12"/>
          </p:nvPr>
        </p:nvSpPr>
        <p:spPr/>
        <p:txBody>
          <a:bodyPr/>
          <a:lstStyle>
            <a:lvl1pPr>
              <a:defRPr/>
            </a:lvl1pPr>
          </a:lstStyle>
          <a:p>
            <a:pPr>
              <a:defRPr/>
            </a:pPr>
            <a:fld id="{201455CF-F53D-6048-9F32-A9E2ADE2D337}" type="slidenum">
              <a:rPr lang="en-US" altLang="en-US"/>
              <a:pPr>
                <a:defRPr/>
              </a:pPr>
              <a:t>‹#›</a:t>
            </a:fld>
            <a:endParaRPr lang="en-US" altLang="en-US" dirty="0"/>
          </a:p>
        </p:txBody>
      </p:sp>
    </p:spTree>
    <p:extLst>
      <p:ext uri="{BB962C8B-B14F-4D97-AF65-F5344CB8AC3E}">
        <p14:creationId xmlns:p14="http://schemas.microsoft.com/office/powerpoint/2010/main" val="3772325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2">
            <a:extLst>
              <a:ext uri="{FF2B5EF4-FFF2-40B4-BE49-F238E27FC236}">
                <a16:creationId xmlns:a16="http://schemas.microsoft.com/office/drawing/2014/main" id="{3E49E707-1FDD-294E-0D72-028A5D6B35C8}"/>
              </a:ext>
            </a:extLst>
          </p:cNvPr>
          <p:cNvSpPr>
            <a:spLocks noGrp="1" noChangeArrowheads="1"/>
          </p:cNvSpPr>
          <p:nvPr>
            <p:ph type="dt" sz="half" idx="10"/>
          </p:nvPr>
        </p:nvSpPr>
        <p:spPr/>
        <p:txBody>
          <a:bodyPr/>
          <a:lstStyle>
            <a:lvl1pPr>
              <a:defRPr/>
            </a:lvl1pPr>
          </a:lstStyle>
          <a:p>
            <a:pPr>
              <a:defRPr/>
            </a:pPr>
            <a:endParaRPr lang="x-none" altLang="x-none"/>
          </a:p>
        </p:txBody>
      </p:sp>
      <p:sp>
        <p:nvSpPr>
          <p:cNvPr id="4" name="Rectangle 13">
            <a:extLst>
              <a:ext uri="{FF2B5EF4-FFF2-40B4-BE49-F238E27FC236}">
                <a16:creationId xmlns:a16="http://schemas.microsoft.com/office/drawing/2014/main" id="{9D3ADB3E-BF52-EE8B-991E-9AB8218E931E}"/>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5" name="Rectangle 14">
            <a:extLst>
              <a:ext uri="{FF2B5EF4-FFF2-40B4-BE49-F238E27FC236}">
                <a16:creationId xmlns:a16="http://schemas.microsoft.com/office/drawing/2014/main" id="{213F77C6-BA09-AC25-A40A-7FA75EE3C388}"/>
              </a:ext>
            </a:extLst>
          </p:cNvPr>
          <p:cNvSpPr>
            <a:spLocks noGrp="1" noChangeArrowheads="1"/>
          </p:cNvSpPr>
          <p:nvPr>
            <p:ph type="sldNum" sz="quarter" idx="12"/>
          </p:nvPr>
        </p:nvSpPr>
        <p:spPr/>
        <p:txBody>
          <a:bodyPr/>
          <a:lstStyle>
            <a:lvl1pPr>
              <a:defRPr/>
            </a:lvl1pPr>
          </a:lstStyle>
          <a:p>
            <a:pPr>
              <a:defRPr/>
            </a:pPr>
            <a:fld id="{BE0B4293-B6C2-364A-902A-58767E6FC587}" type="slidenum">
              <a:rPr lang="en-US" altLang="en-US"/>
              <a:pPr>
                <a:defRPr/>
              </a:pPr>
              <a:t>‹#›</a:t>
            </a:fld>
            <a:endParaRPr lang="en-US" altLang="en-US" dirty="0"/>
          </a:p>
        </p:txBody>
      </p:sp>
    </p:spTree>
    <p:extLst>
      <p:ext uri="{BB962C8B-B14F-4D97-AF65-F5344CB8AC3E}">
        <p14:creationId xmlns:p14="http://schemas.microsoft.com/office/powerpoint/2010/main" val="2624440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2">
            <a:extLst>
              <a:ext uri="{FF2B5EF4-FFF2-40B4-BE49-F238E27FC236}">
                <a16:creationId xmlns:a16="http://schemas.microsoft.com/office/drawing/2014/main" id="{94F20446-B609-7BF4-900F-96A70F81214D}"/>
              </a:ext>
            </a:extLst>
          </p:cNvPr>
          <p:cNvSpPr>
            <a:spLocks noGrp="1" noChangeArrowheads="1"/>
          </p:cNvSpPr>
          <p:nvPr>
            <p:ph type="dt" sz="half" idx="10"/>
          </p:nvPr>
        </p:nvSpPr>
        <p:spPr/>
        <p:txBody>
          <a:bodyPr/>
          <a:lstStyle>
            <a:lvl1pPr>
              <a:defRPr/>
            </a:lvl1pPr>
          </a:lstStyle>
          <a:p>
            <a:pPr>
              <a:defRPr/>
            </a:pPr>
            <a:endParaRPr lang="x-none" altLang="x-none"/>
          </a:p>
        </p:txBody>
      </p:sp>
      <p:sp>
        <p:nvSpPr>
          <p:cNvPr id="3" name="Rectangle 13">
            <a:extLst>
              <a:ext uri="{FF2B5EF4-FFF2-40B4-BE49-F238E27FC236}">
                <a16:creationId xmlns:a16="http://schemas.microsoft.com/office/drawing/2014/main" id="{A3C26CE5-1B0B-2E3B-5D40-D2E928ADB857}"/>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4" name="Rectangle 14">
            <a:extLst>
              <a:ext uri="{FF2B5EF4-FFF2-40B4-BE49-F238E27FC236}">
                <a16:creationId xmlns:a16="http://schemas.microsoft.com/office/drawing/2014/main" id="{9FDD3471-6F71-33C1-F857-F3A9388608C8}"/>
              </a:ext>
            </a:extLst>
          </p:cNvPr>
          <p:cNvSpPr>
            <a:spLocks noGrp="1" noChangeArrowheads="1"/>
          </p:cNvSpPr>
          <p:nvPr>
            <p:ph type="sldNum" sz="quarter" idx="12"/>
          </p:nvPr>
        </p:nvSpPr>
        <p:spPr/>
        <p:txBody>
          <a:bodyPr/>
          <a:lstStyle>
            <a:lvl1pPr>
              <a:defRPr/>
            </a:lvl1pPr>
          </a:lstStyle>
          <a:p>
            <a:pPr>
              <a:defRPr/>
            </a:pPr>
            <a:fld id="{16BE5D93-13F2-D44D-A429-E7B2A3A1CC26}" type="slidenum">
              <a:rPr lang="en-US" altLang="en-US"/>
              <a:pPr>
                <a:defRPr/>
              </a:pPr>
              <a:t>‹#›</a:t>
            </a:fld>
            <a:endParaRPr lang="en-US" altLang="en-US" dirty="0"/>
          </a:p>
        </p:txBody>
      </p:sp>
    </p:spTree>
    <p:extLst>
      <p:ext uri="{BB962C8B-B14F-4D97-AF65-F5344CB8AC3E}">
        <p14:creationId xmlns:p14="http://schemas.microsoft.com/office/powerpoint/2010/main" val="197416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407E2502-D6BE-DAF6-38C1-3697DA099037}"/>
              </a:ext>
            </a:extLst>
          </p:cNvPr>
          <p:cNvSpPr>
            <a:spLocks noGrp="1" noChangeArrowheads="1"/>
          </p:cNvSpPr>
          <p:nvPr>
            <p:ph type="dt" sz="half" idx="10"/>
          </p:nvPr>
        </p:nvSpPr>
        <p:spPr/>
        <p:txBody>
          <a:bodyPr/>
          <a:lstStyle>
            <a:lvl1pPr>
              <a:defRPr/>
            </a:lvl1pPr>
          </a:lstStyle>
          <a:p>
            <a:pPr>
              <a:defRPr/>
            </a:pPr>
            <a:endParaRPr lang="x-none" altLang="x-none"/>
          </a:p>
        </p:txBody>
      </p:sp>
      <p:sp>
        <p:nvSpPr>
          <p:cNvPr id="6" name="Rectangle 13">
            <a:extLst>
              <a:ext uri="{FF2B5EF4-FFF2-40B4-BE49-F238E27FC236}">
                <a16:creationId xmlns:a16="http://schemas.microsoft.com/office/drawing/2014/main" id="{0C533D2C-839B-F44B-F9B2-27010DC78D3E}"/>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7" name="Rectangle 14">
            <a:extLst>
              <a:ext uri="{FF2B5EF4-FFF2-40B4-BE49-F238E27FC236}">
                <a16:creationId xmlns:a16="http://schemas.microsoft.com/office/drawing/2014/main" id="{2BEFE854-C87A-7702-36A0-9B4DABC83176}"/>
              </a:ext>
            </a:extLst>
          </p:cNvPr>
          <p:cNvSpPr>
            <a:spLocks noGrp="1" noChangeArrowheads="1"/>
          </p:cNvSpPr>
          <p:nvPr>
            <p:ph type="sldNum" sz="quarter" idx="12"/>
          </p:nvPr>
        </p:nvSpPr>
        <p:spPr/>
        <p:txBody>
          <a:bodyPr/>
          <a:lstStyle>
            <a:lvl1pPr>
              <a:defRPr/>
            </a:lvl1pPr>
          </a:lstStyle>
          <a:p>
            <a:pPr>
              <a:defRPr/>
            </a:pPr>
            <a:fld id="{088C138D-5EA1-B240-AD6E-326F04D21706}" type="slidenum">
              <a:rPr lang="en-US" altLang="en-US"/>
              <a:pPr>
                <a:defRPr/>
              </a:pPr>
              <a:t>‹#›</a:t>
            </a:fld>
            <a:endParaRPr lang="en-US" altLang="en-US" dirty="0"/>
          </a:p>
        </p:txBody>
      </p:sp>
    </p:spTree>
    <p:extLst>
      <p:ext uri="{BB962C8B-B14F-4D97-AF65-F5344CB8AC3E}">
        <p14:creationId xmlns:p14="http://schemas.microsoft.com/office/powerpoint/2010/main" val="688635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2">
            <a:extLst>
              <a:ext uri="{FF2B5EF4-FFF2-40B4-BE49-F238E27FC236}">
                <a16:creationId xmlns:a16="http://schemas.microsoft.com/office/drawing/2014/main" id="{2FF95B87-E0EB-EDF1-9E2E-3DAC6E65D552}"/>
              </a:ext>
            </a:extLst>
          </p:cNvPr>
          <p:cNvSpPr>
            <a:spLocks noGrp="1" noChangeArrowheads="1"/>
          </p:cNvSpPr>
          <p:nvPr>
            <p:ph type="dt" sz="half" idx="10"/>
          </p:nvPr>
        </p:nvSpPr>
        <p:spPr/>
        <p:txBody>
          <a:bodyPr/>
          <a:lstStyle>
            <a:lvl1pPr>
              <a:defRPr/>
            </a:lvl1pPr>
          </a:lstStyle>
          <a:p>
            <a:pPr>
              <a:defRPr/>
            </a:pPr>
            <a:endParaRPr lang="x-none" altLang="x-none"/>
          </a:p>
        </p:txBody>
      </p:sp>
      <p:sp>
        <p:nvSpPr>
          <p:cNvPr id="6" name="Rectangle 13">
            <a:extLst>
              <a:ext uri="{FF2B5EF4-FFF2-40B4-BE49-F238E27FC236}">
                <a16:creationId xmlns:a16="http://schemas.microsoft.com/office/drawing/2014/main" id="{A6DB833D-8A8C-A2B9-C3AB-D89052BDFA4A}"/>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7" name="Rectangle 14">
            <a:extLst>
              <a:ext uri="{FF2B5EF4-FFF2-40B4-BE49-F238E27FC236}">
                <a16:creationId xmlns:a16="http://schemas.microsoft.com/office/drawing/2014/main" id="{29D4E3DA-6D5C-4875-494B-67CF69017B7A}"/>
              </a:ext>
            </a:extLst>
          </p:cNvPr>
          <p:cNvSpPr>
            <a:spLocks noGrp="1" noChangeArrowheads="1"/>
          </p:cNvSpPr>
          <p:nvPr>
            <p:ph type="sldNum" sz="quarter" idx="12"/>
          </p:nvPr>
        </p:nvSpPr>
        <p:spPr/>
        <p:txBody>
          <a:bodyPr/>
          <a:lstStyle>
            <a:lvl1pPr>
              <a:defRPr/>
            </a:lvl1pPr>
          </a:lstStyle>
          <a:p>
            <a:pPr>
              <a:defRPr/>
            </a:pPr>
            <a:fld id="{922D2E3F-B5FD-064F-B83D-B063A2D0F521}" type="slidenum">
              <a:rPr lang="en-US" altLang="en-US"/>
              <a:pPr>
                <a:defRPr/>
              </a:pPr>
              <a:t>‹#›</a:t>
            </a:fld>
            <a:endParaRPr lang="en-US" altLang="en-US" dirty="0"/>
          </a:p>
        </p:txBody>
      </p:sp>
    </p:spTree>
    <p:extLst>
      <p:ext uri="{BB962C8B-B14F-4D97-AF65-F5344CB8AC3E}">
        <p14:creationId xmlns:p14="http://schemas.microsoft.com/office/powerpoint/2010/main" val="3400414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D4575387-D51F-3E3A-B9F1-C941E7F7077D}"/>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16AFF796-57F0-2F52-14DE-C39BC77317BF}"/>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E3A96B86-CAA9-D871-56F5-B4DF45A32D95}"/>
              </a:ext>
            </a:extLst>
          </p:cNvPr>
          <p:cNvSpPr>
            <a:spLocks noGrp="1" noChangeArrowheads="1"/>
          </p:cNvSpPr>
          <p:nvPr>
            <p:ph type="sldNum" sz="quarter" idx="12"/>
          </p:nvPr>
        </p:nvSpPr>
        <p:spPr/>
        <p:txBody>
          <a:bodyPr/>
          <a:lstStyle>
            <a:lvl1pPr>
              <a:defRPr/>
            </a:lvl1pPr>
          </a:lstStyle>
          <a:p>
            <a:pPr>
              <a:defRPr/>
            </a:pPr>
            <a:fld id="{36096CB7-0899-E143-9FE6-2F9CE5203BB4}" type="slidenum">
              <a:rPr lang="en-US" altLang="en-US"/>
              <a:pPr>
                <a:defRPr/>
              </a:pPr>
              <a:t>‹#›</a:t>
            </a:fld>
            <a:endParaRPr lang="en-US" altLang="en-US" dirty="0"/>
          </a:p>
        </p:txBody>
      </p:sp>
    </p:spTree>
    <p:extLst>
      <p:ext uri="{BB962C8B-B14F-4D97-AF65-F5344CB8AC3E}">
        <p14:creationId xmlns:p14="http://schemas.microsoft.com/office/powerpoint/2010/main" val="410044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2">
            <a:extLst>
              <a:ext uri="{FF2B5EF4-FFF2-40B4-BE49-F238E27FC236}">
                <a16:creationId xmlns:a16="http://schemas.microsoft.com/office/drawing/2014/main" id="{6E239601-BFE8-96D8-9E4C-F0BAE5260485}"/>
              </a:ext>
            </a:extLst>
          </p:cNvPr>
          <p:cNvSpPr>
            <a:spLocks noGrp="1" noChangeArrowheads="1"/>
          </p:cNvSpPr>
          <p:nvPr>
            <p:ph type="dt" sz="half" idx="10"/>
          </p:nvPr>
        </p:nvSpPr>
        <p:spPr/>
        <p:txBody>
          <a:bodyPr/>
          <a:lstStyle>
            <a:lvl1pPr>
              <a:defRPr/>
            </a:lvl1pPr>
          </a:lstStyle>
          <a:p>
            <a:pPr>
              <a:defRPr/>
            </a:pPr>
            <a:endParaRPr lang="x-none" altLang="x-none"/>
          </a:p>
        </p:txBody>
      </p:sp>
      <p:sp>
        <p:nvSpPr>
          <p:cNvPr id="5" name="Rectangle 13">
            <a:extLst>
              <a:ext uri="{FF2B5EF4-FFF2-40B4-BE49-F238E27FC236}">
                <a16:creationId xmlns:a16="http://schemas.microsoft.com/office/drawing/2014/main" id="{F1F4B4ED-A66F-28CA-54F2-D2C0006A9910}"/>
              </a:ext>
            </a:extLst>
          </p:cNvPr>
          <p:cNvSpPr>
            <a:spLocks noGrp="1" noChangeArrowheads="1"/>
          </p:cNvSpPr>
          <p:nvPr>
            <p:ph type="ftr" sz="quarter" idx="11"/>
          </p:nvPr>
        </p:nvSpPr>
        <p:spPr/>
        <p:txBody>
          <a:bodyPr/>
          <a:lstStyle>
            <a:lvl1pPr>
              <a:defRPr/>
            </a:lvl1pPr>
          </a:lstStyle>
          <a:p>
            <a:pPr>
              <a:defRPr/>
            </a:pPr>
            <a:endParaRPr lang="x-none" altLang="x-none"/>
          </a:p>
        </p:txBody>
      </p:sp>
      <p:sp>
        <p:nvSpPr>
          <p:cNvPr id="6" name="Rectangle 14">
            <a:extLst>
              <a:ext uri="{FF2B5EF4-FFF2-40B4-BE49-F238E27FC236}">
                <a16:creationId xmlns:a16="http://schemas.microsoft.com/office/drawing/2014/main" id="{40583D41-CD46-5E8E-2A46-A9C6420996EF}"/>
              </a:ext>
            </a:extLst>
          </p:cNvPr>
          <p:cNvSpPr>
            <a:spLocks noGrp="1" noChangeArrowheads="1"/>
          </p:cNvSpPr>
          <p:nvPr>
            <p:ph type="sldNum" sz="quarter" idx="12"/>
          </p:nvPr>
        </p:nvSpPr>
        <p:spPr/>
        <p:txBody>
          <a:bodyPr/>
          <a:lstStyle>
            <a:lvl1pPr>
              <a:defRPr/>
            </a:lvl1pPr>
          </a:lstStyle>
          <a:p>
            <a:pPr>
              <a:defRPr/>
            </a:pPr>
            <a:fld id="{A7F9EAA3-1625-584C-8391-499D2EF1FAE0}" type="slidenum">
              <a:rPr lang="en-US" altLang="en-US"/>
              <a:pPr>
                <a:defRPr/>
              </a:pPr>
              <a:t>‹#›</a:t>
            </a:fld>
            <a:endParaRPr lang="en-US" altLang="en-US" dirty="0"/>
          </a:p>
        </p:txBody>
      </p:sp>
    </p:spTree>
    <p:extLst>
      <p:ext uri="{BB962C8B-B14F-4D97-AF65-F5344CB8AC3E}">
        <p14:creationId xmlns:p14="http://schemas.microsoft.com/office/powerpoint/2010/main" val="2779331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024C9A25-AD04-4BE5-CBF9-652F67257121}"/>
              </a:ext>
            </a:extLst>
          </p:cNvPr>
          <p:cNvGrpSpPr>
            <a:grpSpLocks/>
          </p:cNvGrpSpPr>
          <p:nvPr/>
        </p:nvGrpSpPr>
        <p:grpSpPr bwMode="auto">
          <a:xfrm>
            <a:off x="0" y="3902075"/>
            <a:ext cx="3400425" cy="2949575"/>
            <a:chOff x="0" y="2458"/>
            <a:chExt cx="2142" cy="1858"/>
          </a:xfrm>
        </p:grpSpPr>
        <p:sp>
          <p:nvSpPr>
            <p:cNvPr id="337923" name="Freeform 3">
              <a:extLst>
                <a:ext uri="{FF2B5EF4-FFF2-40B4-BE49-F238E27FC236}">
                  <a16:creationId xmlns:a16="http://schemas.microsoft.com/office/drawing/2014/main" id="{897D7CEC-4E0C-DD84-FFD5-E959EBFB7287}"/>
                </a:ext>
              </a:extLst>
            </p:cNvPr>
            <p:cNvSpPr>
              <a:spLocks/>
            </p:cNvSpPr>
            <p:nvPr/>
          </p:nvSpPr>
          <p:spPr bwMode="ltGray">
            <a:xfrm>
              <a:off x="0" y="2508"/>
              <a:ext cx="2142" cy="1804"/>
            </a:xfrm>
            <a:custGeom>
              <a:avLst/>
              <a:gdLst/>
              <a:ahLst/>
              <a:cxnLst>
                <a:cxn ang="0">
                  <a:pos x="329" y="66"/>
                </a:cxn>
                <a:cxn ang="0">
                  <a:pos x="161" y="30"/>
                </a:cxn>
                <a:cxn ang="0">
                  <a:pos x="0" y="0"/>
                </a:cxn>
                <a:cxn ang="0">
                  <a:pos x="0" y="12"/>
                </a:cxn>
                <a:cxn ang="0">
                  <a:pos x="161" y="42"/>
                </a:cxn>
                <a:cxn ang="0">
                  <a:pos x="323" y="78"/>
                </a:cxn>
                <a:cxn ang="0">
                  <a:pos x="556" y="150"/>
                </a:cxn>
                <a:cxn ang="0">
                  <a:pos x="777" y="245"/>
                </a:cxn>
                <a:cxn ang="0">
                  <a:pos x="993" y="365"/>
                </a:cxn>
                <a:cxn ang="0">
                  <a:pos x="1196" y="503"/>
                </a:cxn>
                <a:cxn ang="0">
                  <a:pos x="1381" y="653"/>
                </a:cxn>
                <a:cxn ang="0">
                  <a:pos x="1555" y="827"/>
                </a:cxn>
                <a:cxn ang="0">
                  <a:pos x="1710" y="1019"/>
                </a:cxn>
                <a:cxn ang="0">
                  <a:pos x="1854" y="1229"/>
                </a:cxn>
                <a:cxn ang="0">
                  <a:pos x="1937" y="1366"/>
                </a:cxn>
                <a:cxn ang="0">
                  <a:pos x="2009" y="1510"/>
                </a:cxn>
                <a:cxn ang="0">
                  <a:pos x="2069" y="1654"/>
                </a:cxn>
                <a:cxn ang="0">
                  <a:pos x="2123" y="1804"/>
                </a:cxn>
                <a:cxn ang="0">
                  <a:pos x="2135" y="1804"/>
                </a:cxn>
                <a:cxn ang="0">
                  <a:pos x="2081" y="1654"/>
                </a:cxn>
                <a:cxn ang="0">
                  <a:pos x="2021" y="1510"/>
                </a:cxn>
                <a:cxn ang="0">
                  <a:pos x="1949" y="1366"/>
                </a:cxn>
                <a:cxn ang="0">
                  <a:pos x="1866" y="1223"/>
                </a:cxn>
                <a:cxn ang="0">
                  <a:pos x="1722" y="1013"/>
                </a:cxn>
                <a:cxn ang="0">
                  <a:pos x="1561" y="821"/>
                </a:cxn>
                <a:cxn ang="0">
                  <a:pos x="1387" y="647"/>
                </a:cxn>
                <a:cxn ang="0">
                  <a:pos x="1202" y="491"/>
                </a:cxn>
                <a:cxn ang="0">
                  <a:pos x="999" y="353"/>
                </a:cxn>
                <a:cxn ang="0">
                  <a:pos x="783" y="239"/>
                </a:cxn>
                <a:cxn ang="0">
                  <a:pos x="562" y="138"/>
                </a:cxn>
                <a:cxn ang="0">
                  <a:pos x="329" y="66"/>
                </a:cxn>
                <a:cxn ang="0">
                  <a:pos x="329" y="66"/>
                </a:cxn>
              </a:cxnLst>
              <a:rect l="0" t="0" r="r" b="b"/>
              <a:pathLst>
                <a:path w="2135" h="1804">
                  <a:moveTo>
                    <a:pt x="329" y="66"/>
                  </a:moveTo>
                  <a:lnTo>
                    <a:pt x="161" y="30"/>
                  </a:lnTo>
                  <a:lnTo>
                    <a:pt x="0" y="0"/>
                  </a:lnTo>
                  <a:lnTo>
                    <a:pt x="0" y="12"/>
                  </a:lnTo>
                  <a:lnTo>
                    <a:pt x="161" y="42"/>
                  </a:lnTo>
                  <a:lnTo>
                    <a:pt x="323" y="78"/>
                  </a:lnTo>
                  <a:lnTo>
                    <a:pt x="556" y="150"/>
                  </a:lnTo>
                  <a:lnTo>
                    <a:pt x="777" y="245"/>
                  </a:lnTo>
                  <a:lnTo>
                    <a:pt x="993" y="365"/>
                  </a:lnTo>
                  <a:lnTo>
                    <a:pt x="1196" y="503"/>
                  </a:lnTo>
                  <a:lnTo>
                    <a:pt x="1381" y="653"/>
                  </a:lnTo>
                  <a:lnTo>
                    <a:pt x="1555" y="827"/>
                  </a:lnTo>
                  <a:lnTo>
                    <a:pt x="1710" y="1019"/>
                  </a:lnTo>
                  <a:lnTo>
                    <a:pt x="1854" y="1229"/>
                  </a:lnTo>
                  <a:lnTo>
                    <a:pt x="1937" y="1366"/>
                  </a:lnTo>
                  <a:lnTo>
                    <a:pt x="2009" y="1510"/>
                  </a:lnTo>
                  <a:lnTo>
                    <a:pt x="2069" y="1654"/>
                  </a:lnTo>
                  <a:lnTo>
                    <a:pt x="2123" y="1804"/>
                  </a:lnTo>
                  <a:lnTo>
                    <a:pt x="2135" y="1804"/>
                  </a:lnTo>
                  <a:lnTo>
                    <a:pt x="2081" y="1654"/>
                  </a:lnTo>
                  <a:lnTo>
                    <a:pt x="2021" y="1510"/>
                  </a:lnTo>
                  <a:lnTo>
                    <a:pt x="1949" y="1366"/>
                  </a:lnTo>
                  <a:lnTo>
                    <a:pt x="1866" y="1223"/>
                  </a:lnTo>
                  <a:lnTo>
                    <a:pt x="1722" y="1013"/>
                  </a:lnTo>
                  <a:lnTo>
                    <a:pt x="1561" y="821"/>
                  </a:lnTo>
                  <a:lnTo>
                    <a:pt x="1387" y="647"/>
                  </a:lnTo>
                  <a:lnTo>
                    <a:pt x="1202" y="491"/>
                  </a:lnTo>
                  <a:lnTo>
                    <a:pt x="999" y="353"/>
                  </a:lnTo>
                  <a:lnTo>
                    <a:pt x="783" y="239"/>
                  </a:lnTo>
                  <a:lnTo>
                    <a:pt x="562" y="138"/>
                  </a:lnTo>
                  <a:lnTo>
                    <a:pt x="329" y="66"/>
                  </a:lnTo>
                  <a:lnTo>
                    <a:pt x="329" y="66"/>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4" name="Freeform 4">
              <a:extLst>
                <a:ext uri="{FF2B5EF4-FFF2-40B4-BE49-F238E27FC236}">
                  <a16:creationId xmlns:a16="http://schemas.microsoft.com/office/drawing/2014/main" id="{F4B9694C-6C51-F619-786E-09CB4E8E2741}"/>
                </a:ext>
              </a:extLst>
            </p:cNvPr>
            <p:cNvSpPr>
              <a:spLocks/>
            </p:cNvSpPr>
            <p:nvPr/>
          </p:nvSpPr>
          <p:spPr bwMode="hidden">
            <a:xfrm>
              <a:off x="0" y="2458"/>
              <a:ext cx="1854" cy="1858"/>
            </a:xfrm>
            <a:custGeom>
              <a:avLst/>
              <a:gdLst/>
              <a:ahLst/>
              <a:cxnLst>
                <a:cxn ang="0">
                  <a:pos x="1854" y="1858"/>
                </a:cxn>
                <a:cxn ang="0">
                  <a:pos x="0" y="1858"/>
                </a:cxn>
                <a:cxn ang="0">
                  <a:pos x="0" y="0"/>
                </a:cxn>
                <a:cxn ang="0">
                  <a:pos x="1854" y="1858"/>
                </a:cxn>
                <a:cxn ang="0">
                  <a:pos x="1854" y="1858"/>
                </a:cxn>
              </a:cxnLst>
              <a:rect l="0" t="0" r="r" b="b"/>
              <a:pathLst>
                <a:path w="1854" h="1858">
                  <a:moveTo>
                    <a:pt x="1854" y="1858"/>
                  </a:moveTo>
                  <a:lnTo>
                    <a:pt x="0" y="1858"/>
                  </a:lnTo>
                  <a:lnTo>
                    <a:pt x="0" y="0"/>
                  </a:lnTo>
                  <a:lnTo>
                    <a:pt x="1854" y="1858"/>
                  </a:lnTo>
                  <a:lnTo>
                    <a:pt x="1854" y="1858"/>
                  </a:lnTo>
                  <a:close/>
                </a:path>
              </a:pathLst>
            </a:custGeom>
            <a:gradFill rotWithShape="0">
              <a:gsLst>
                <a:gs pos="0">
                  <a:schemeClr val="bg2"/>
                </a:gs>
                <a:gs pos="50000">
                  <a:schemeClr val="bg1"/>
                </a:gs>
                <a:gs pos="100000">
                  <a:schemeClr val="bg2"/>
                </a:gs>
              </a:gsLst>
              <a:lin ang="189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5" name="Freeform 5">
              <a:extLst>
                <a:ext uri="{FF2B5EF4-FFF2-40B4-BE49-F238E27FC236}">
                  <a16:creationId xmlns:a16="http://schemas.microsoft.com/office/drawing/2014/main" id="{7BC09C5E-C14C-C9DB-CC80-B45EAF0A5F49}"/>
                </a:ext>
              </a:extLst>
            </p:cNvPr>
            <p:cNvSpPr>
              <a:spLocks/>
            </p:cNvSpPr>
            <p:nvPr/>
          </p:nvSpPr>
          <p:spPr bwMode="ltGray">
            <a:xfrm>
              <a:off x="0" y="2735"/>
              <a:ext cx="1745" cy="1577"/>
            </a:xfrm>
            <a:custGeom>
              <a:avLst/>
              <a:gdLst/>
              <a:ahLst/>
              <a:cxnLst>
                <a:cxn ang="0">
                  <a:pos x="1640" y="1377"/>
                </a:cxn>
                <a:cxn ang="0">
                  <a:pos x="1692" y="1479"/>
                </a:cxn>
                <a:cxn ang="0">
                  <a:pos x="1732" y="1577"/>
                </a:cxn>
                <a:cxn ang="0">
                  <a:pos x="1745" y="1577"/>
                </a:cxn>
                <a:cxn ang="0">
                  <a:pos x="1703" y="1469"/>
                </a:cxn>
                <a:cxn ang="0">
                  <a:pos x="1649" y="1367"/>
                </a:cxn>
                <a:cxn ang="0">
                  <a:pos x="1535" y="1157"/>
                </a:cxn>
                <a:cxn ang="0">
                  <a:pos x="1395" y="951"/>
                </a:cxn>
                <a:cxn ang="0">
                  <a:pos x="1236" y="756"/>
                </a:cxn>
                <a:cxn ang="0">
                  <a:pos x="1061" y="582"/>
                </a:cxn>
                <a:cxn ang="0">
                  <a:pos x="876" y="426"/>
                </a:cxn>
                <a:cxn ang="0">
                  <a:pos x="672" y="294"/>
                </a:cxn>
                <a:cxn ang="0">
                  <a:pos x="455" y="174"/>
                </a:cxn>
                <a:cxn ang="0">
                  <a:pos x="234" y="78"/>
                </a:cxn>
                <a:cxn ang="0">
                  <a:pos x="0" y="0"/>
                </a:cxn>
                <a:cxn ang="0">
                  <a:pos x="0" y="12"/>
                </a:cxn>
                <a:cxn ang="0">
                  <a:pos x="222" y="89"/>
                </a:cxn>
                <a:cxn ang="0">
                  <a:pos x="446" y="185"/>
                </a:cxn>
                <a:cxn ang="0">
                  <a:pos x="662" y="305"/>
                </a:cxn>
                <a:cxn ang="0">
                  <a:pos x="866" y="437"/>
                </a:cxn>
                <a:cxn ang="0">
                  <a:pos x="1052" y="593"/>
                </a:cxn>
                <a:cxn ang="0">
                  <a:pos x="1226" y="767"/>
                </a:cxn>
                <a:cxn ang="0">
                  <a:pos x="1385" y="960"/>
                </a:cxn>
                <a:cxn ang="0">
                  <a:pos x="1526" y="1167"/>
                </a:cxn>
                <a:cxn ang="0">
                  <a:pos x="1640" y="1377"/>
                </a:cxn>
              </a:cxnLst>
              <a:rect l="0" t="0" r="r" b="b"/>
              <a:pathLst>
                <a:path w="1745" h="1577">
                  <a:moveTo>
                    <a:pt x="1640" y="1377"/>
                  </a:moveTo>
                  <a:lnTo>
                    <a:pt x="1692" y="1479"/>
                  </a:lnTo>
                  <a:lnTo>
                    <a:pt x="1732" y="1577"/>
                  </a:lnTo>
                  <a:lnTo>
                    <a:pt x="1745" y="1577"/>
                  </a:lnTo>
                  <a:lnTo>
                    <a:pt x="1703" y="1469"/>
                  </a:lnTo>
                  <a:lnTo>
                    <a:pt x="1649" y="1367"/>
                  </a:lnTo>
                  <a:lnTo>
                    <a:pt x="1535" y="1157"/>
                  </a:lnTo>
                  <a:lnTo>
                    <a:pt x="1395" y="951"/>
                  </a:lnTo>
                  <a:lnTo>
                    <a:pt x="1236" y="756"/>
                  </a:lnTo>
                  <a:lnTo>
                    <a:pt x="1061" y="582"/>
                  </a:lnTo>
                  <a:lnTo>
                    <a:pt x="876" y="426"/>
                  </a:lnTo>
                  <a:lnTo>
                    <a:pt x="672" y="294"/>
                  </a:lnTo>
                  <a:lnTo>
                    <a:pt x="455" y="174"/>
                  </a:lnTo>
                  <a:lnTo>
                    <a:pt x="234" y="78"/>
                  </a:lnTo>
                  <a:lnTo>
                    <a:pt x="0" y="0"/>
                  </a:lnTo>
                  <a:lnTo>
                    <a:pt x="0" y="12"/>
                  </a:lnTo>
                  <a:lnTo>
                    <a:pt x="222" y="89"/>
                  </a:lnTo>
                  <a:lnTo>
                    <a:pt x="446" y="185"/>
                  </a:lnTo>
                  <a:lnTo>
                    <a:pt x="662" y="305"/>
                  </a:lnTo>
                  <a:lnTo>
                    <a:pt x="866" y="437"/>
                  </a:lnTo>
                  <a:lnTo>
                    <a:pt x="1052" y="593"/>
                  </a:lnTo>
                  <a:lnTo>
                    <a:pt x="1226" y="767"/>
                  </a:lnTo>
                  <a:lnTo>
                    <a:pt x="1385" y="960"/>
                  </a:lnTo>
                  <a:lnTo>
                    <a:pt x="1526" y="1167"/>
                  </a:lnTo>
                  <a:lnTo>
                    <a:pt x="1640" y="1377"/>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337926" name="Freeform 6">
              <a:extLst>
                <a:ext uri="{FF2B5EF4-FFF2-40B4-BE49-F238E27FC236}">
                  <a16:creationId xmlns:a16="http://schemas.microsoft.com/office/drawing/2014/main" id="{DF723004-6668-2B6F-462B-D021184BE517}"/>
                </a:ext>
              </a:extLst>
            </p:cNvPr>
            <p:cNvSpPr>
              <a:spLocks/>
            </p:cNvSpPr>
            <p:nvPr/>
          </p:nvSpPr>
          <p:spPr bwMode="ltGray">
            <a:xfrm>
              <a:off x="0" y="2544"/>
              <a:ext cx="1745" cy="1768"/>
            </a:xfrm>
            <a:custGeom>
              <a:avLst/>
              <a:gdLst/>
              <a:ahLst/>
              <a:cxnLst>
                <a:cxn ang="0">
                  <a:pos x="0" y="0"/>
                </a:cxn>
                <a:cxn ang="0">
                  <a:pos x="0" y="12"/>
                </a:cxn>
                <a:cxn ang="0">
                  <a:pos x="210" y="88"/>
                </a:cxn>
                <a:cxn ang="0">
                  <a:pos x="426" y="190"/>
                </a:cxn>
                <a:cxn ang="0">
                  <a:pos x="630" y="304"/>
                </a:cxn>
                <a:cxn ang="0">
                  <a:pos x="818" y="442"/>
                </a:cxn>
                <a:cxn ang="0">
                  <a:pos x="998" y="592"/>
                </a:cxn>
                <a:cxn ang="0">
                  <a:pos x="1164" y="766"/>
                </a:cxn>
                <a:cxn ang="0">
                  <a:pos x="1310" y="942"/>
                </a:cxn>
                <a:cxn ang="0">
                  <a:pos x="1454" y="1146"/>
                </a:cxn>
                <a:cxn ang="0">
                  <a:pos x="1536" y="1298"/>
                </a:cxn>
                <a:cxn ang="0">
                  <a:pos x="1614" y="1456"/>
                </a:cxn>
                <a:cxn ang="0">
                  <a:pos x="1682" y="1616"/>
                </a:cxn>
                <a:cxn ang="0">
                  <a:pos x="1733" y="1768"/>
                </a:cxn>
                <a:cxn ang="0">
                  <a:pos x="1745" y="1768"/>
                </a:cxn>
                <a:cxn ang="0">
                  <a:pos x="1691" y="1606"/>
                </a:cxn>
                <a:cxn ang="0">
                  <a:pos x="1623" y="1445"/>
                </a:cxn>
                <a:cxn ang="0">
                  <a:pos x="1547" y="1288"/>
                </a:cxn>
                <a:cxn ang="0">
                  <a:pos x="1463" y="1136"/>
                </a:cxn>
                <a:cxn ang="0">
                  <a:pos x="1320" y="932"/>
                </a:cxn>
                <a:cxn ang="0">
                  <a:pos x="1173" y="755"/>
                </a:cxn>
                <a:cxn ang="0">
                  <a:pos x="1008" y="581"/>
                </a:cxn>
                <a:cxn ang="0">
                  <a:pos x="827" y="431"/>
                </a:cxn>
                <a:cxn ang="0">
                  <a:pos x="642" y="293"/>
                </a:cxn>
                <a:cxn ang="0">
                  <a:pos x="437" y="179"/>
                </a:cxn>
                <a:cxn ang="0">
                  <a:pos x="222" y="78"/>
                </a:cxn>
                <a:cxn ang="0">
                  <a:pos x="0" y="0"/>
                </a:cxn>
                <a:cxn ang="0">
                  <a:pos x="0" y="0"/>
                </a:cxn>
              </a:cxnLst>
              <a:rect l="0" t="0" r="r" b="b"/>
              <a:pathLst>
                <a:path w="1745" h="1768">
                  <a:moveTo>
                    <a:pt x="0" y="0"/>
                  </a:moveTo>
                  <a:lnTo>
                    <a:pt x="0" y="12"/>
                  </a:lnTo>
                  <a:lnTo>
                    <a:pt x="210" y="88"/>
                  </a:lnTo>
                  <a:lnTo>
                    <a:pt x="426" y="190"/>
                  </a:lnTo>
                  <a:lnTo>
                    <a:pt x="630" y="304"/>
                  </a:lnTo>
                  <a:lnTo>
                    <a:pt x="818" y="442"/>
                  </a:lnTo>
                  <a:lnTo>
                    <a:pt x="998" y="592"/>
                  </a:lnTo>
                  <a:lnTo>
                    <a:pt x="1164" y="766"/>
                  </a:lnTo>
                  <a:lnTo>
                    <a:pt x="1310" y="942"/>
                  </a:lnTo>
                  <a:lnTo>
                    <a:pt x="1454" y="1146"/>
                  </a:lnTo>
                  <a:lnTo>
                    <a:pt x="1536" y="1298"/>
                  </a:lnTo>
                  <a:lnTo>
                    <a:pt x="1614" y="1456"/>
                  </a:lnTo>
                  <a:lnTo>
                    <a:pt x="1682" y="1616"/>
                  </a:lnTo>
                  <a:lnTo>
                    <a:pt x="1733" y="1768"/>
                  </a:lnTo>
                  <a:lnTo>
                    <a:pt x="1745" y="1768"/>
                  </a:lnTo>
                  <a:lnTo>
                    <a:pt x="1691" y="1606"/>
                  </a:lnTo>
                  <a:lnTo>
                    <a:pt x="1623" y="1445"/>
                  </a:lnTo>
                  <a:lnTo>
                    <a:pt x="1547" y="1288"/>
                  </a:lnTo>
                  <a:lnTo>
                    <a:pt x="1463" y="1136"/>
                  </a:lnTo>
                  <a:lnTo>
                    <a:pt x="1320" y="932"/>
                  </a:lnTo>
                  <a:lnTo>
                    <a:pt x="1173" y="755"/>
                  </a:lnTo>
                  <a:lnTo>
                    <a:pt x="1008" y="581"/>
                  </a:lnTo>
                  <a:lnTo>
                    <a:pt x="827" y="431"/>
                  </a:lnTo>
                  <a:lnTo>
                    <a:pt x="642" y="293"/>
                  </a:lnTo>
                  <a:lnTo>
                    <a:pt x="437" y="179"/>
                  </a:lnTo>
                  <a:lnTo>
                    <a:pt x="222" y="78"/>
                  </a:lnTo>
                  <a:lnTo>
                    <a:pt x="0" y="0"/>
                  </a:lnTo>
                  <a:lnTo>
                    <a:pt x="0" y="0"/>
                  </a:lnTo>
                  <a:close/>
                </a:path>
              </a:pathLst>
            </a:custGeom>
            <a:gradFill rotWithShape="0">
              <a:gsLst>
                <a:gs pos="0">
                  <a:schemeClr val="bg1"/>
                </a:gs>
                <a:gs pos="50000">
                  <a:schemeClr val="bg2"/>
                </a:gs>
                <a:gs pos="100000">
                  <a:schemeClr val="bg1"/>
                </a:gs>
              </a:gsLst>
              <a:lin ang="2700000" scaled="1"/>
            </a:gradFill>
            <a:ln w="9525">
              <a:noFill/>
              <a:round/>
              <a:headEnd/>
              <a:tailEnd/>
            </a:ln>
          </p:spPr>
          <p:txBody>
            <a:bodyPr/>
            <a:lstStyle/>
            <a:p>
              <a:pPr eaLnBrk="1" hangingPunct="1">
                <a:defRPr/>
              </a:pPr>
              <a:endParaRPr lang="en-US" dirty="0">
                <a:latin typeface="Arial" charset="0"/>
                <a:ea typeface="Arial" charset="0"/>
              </a:endParaRPr>
            </a:p>
          </p:txBody>
        </p:sp>
        <p:sp>
          <p:nvSpPr>
            <p:cNvPr id="1036" name="Oval 7">
              <a:extLst>
                <a:ext uri="{FF2B5EF4-FFF2-40B4-BE49-F238E27FC236}">
                  <a16:creationId xmlns:a16="http://schemas.microsoft.com/office/drawing/2014/main" id="{F4B98C85-2F0A-099B-7E32-E91853C72102}"/>
                </a:ext>
              </a:extLst>
            </p:cNvPr>
            <p:cNvSpPr>
              <a:spLocks noChangeArrowheads="1"/>
            </p:cNvSpPr>
            <p:nvPr/>
          </p:nvSpPr>
          <p:spPr bwMode="ltGray">
            <a:xfrm>
              <a:off x="209" y="2784"/>
              <a:ext cx="86" cy="86"/>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7" name="Oval 8">
              <a:extLst>
                <a:ext uri="{FF2B5EF4-FFF2-40B4-BE49-F238E27FC236}">
                  <a16:creationId xmlns:a16="http://schemas.microsoft.com/office/drawing/2014/main" id="{FD129F39-8E9F-19D9-E653-B6E1B1F93CEA}"/>
                </a:ext>
              </a:extLst>
            </p:cNvPr>
            <p:cNvSpPr>
              <a:spLocks noChangeArrowheads="1"/>
            </p:cNvSpPr>
            <p:nvPr/>
          </p:nvSpPr>
          <p:spPr bwMode="ltGray">
            <a:xfrm>
              <a:off x="1536" y="3884"/>
              <a:ext cx="92" cy="92"/>
            </a:xfrm>
            <a:prstGeom prst="ellipse">
              <a:avLst/>
            </a:prstGeom>
            <a:gradFill rotWithShape="0">
              <a:gsLst>
                <a:gs pos="0">
                  <a:schemeClr val="bg2"/>
                </a:gs>
                <a:gs pos="100000">
                  <a:schemeClr val="bg1"/>
                </a:gs>
              </a:gsLst>
              <a:lin ang="27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sp>
          <p:nvSpPr>
            <p:cNvPr id="1038" name="Oval 9">
              <a:extLst>
                <a:ext uri="{FF2B5EF4-FFF2-40B4-BE49-F238E27FC236}">
                  <a16:creationId xmlns:a16="http://schemas.microsoft.com/office/drawing/2014/main" id="{F693C6D8-311A-575F-F79E-EFD05340094D}"/>
                </a:ext>
              </a:extLst>
            </p:cNvPr>
            <p:cNvSpPr>
              <a:spLocks noChangeArrowheads="1"/>
            </p:cNvSpPr>
            <p:nvPr/>
          </p:nvSpPr>
          <p:spPr bwMode="ltGray">
            <a:xfrm>
              <a:off x="791" y="2723"/>
              <a:ext cx="121" cy="121"/>
            </a:xfrm>
            <a:prstGeom prst="ellipse">
              <a:avLst/>
            </a:prstGeom>
            <a:gradFill rotWithShape="0">
              <a:gsLst>
                <a:gs pos="0">
                  <a:schemeClr val="bg2"/>
                </a:gs>
                <a:gs pos="100000">
                  <a:schemeClr val="bg1"/>
                </a:gs>
              </a:gsLst>
              <a:lin ang="18900000" scaled="1"/>
            </a:gradFill>
            <a:ln>
              <a:noFill/>
            </a:ln>
          </p:spPr>
          <p:txBody>
            <a:bodyPr/>
            <a:lstStyle>
              <a:lvl1pPr eaLnBrk="0" hangingPunct="0">
                <a:defRPr sz="2400">
                  <a:solidFill>
                    <a:schemeClr val="tx1"/>
                  </a:solidFill>
                  <a:latin typeface="Arial" charset="0"/>
                  <a:ea typeface="ＭＳ Ｐゴシック" charset="-128"/>
                </a:defRPr>
              </a:lvl1pPr>
              <a:lvl2pPr marL="742950" indent="-285750" eaLnBrk="0" hangingPunct="0">
                <a:defRPr sz="2400">
                  <a:solidFill>
                    <a:schemeClr val="tx1"/>
                  </a:solidFill>
                  <a:latin typeface="Arial" charset="0"/>
                  <a:ea typeface="ＭＳ Ｐゴシック" charset="-128"/>
                </a:defRPr>
              </a:lvl2pPr>
              <a:lvl3pPr marL="1143000" indent="-228600" eaLnBrk="0" hangingPunct="0">
                <a:defRPr sz="2400">
                  <a:solidFill>
                    <a:schemeClr val="tx1"/>
                  </a:solidFill>
                  <a:latin typeface="Arial" charset="0"/>
                  <a:ea typeface="ＭＳ Ｐゴシック" charset="-128"/>
                </a:defRPr>
              </a:lvl3pPr>
              <a:lvl4pPr marL="1600200" indent="-228600" eaLnBrk="0" hangingPunct="0">
                <a:defRPr sz="2400">
                  <a:solidFill>
                    <a:schemeClr val="tx1"/>
                  </a:solidFill>
                  <a:latin typeface="Arial" charset="0"/>
                  <a:ea typeface="ＭＳ Ｐゴシック" charset="-128"/>
                </a:defRPr>
              </a:lvl4pPr>
              <a:lvl5pPr marL="2057400" indent="-228600" eaLnBrk="0" hangingPunct="0">
                <a:defRPr sz="2400">
                  <a:solidFill>
                    <a:schemeClr val="tx1"/>
                  </a:solidFill>
                  <a:latin typeface="Arial" charset="0"/>
                  <a:ea typeface="ＭＳ Ｐゴシック" charset="-128"/>
                </a:defRPr>
              </a:lvl5pPr>
              <a:lvl6pPr marL="2514600" indent="-228600" eaLnBrk="0" fontAlgn="base" hangingPunct="0">
                <a:spcBef>
                  <a:spcPct val="0"/>
                </a:spcBef>
                <a:spcAft>
                  <a:spcPct val="0"/>
                </a:spcAft>
                <a:defRPr sz="2400">
                  <a:solidFill>
                    <a:schemeClr val="tx1"/>
                  </a:solidFill>
                  <a:latin typeface="Arial" charset="0"/>
                  <a:ea typeface="ＭＳ Ｐゴシック" charset="-128"/>
                </a:defRPr>
              </a:lvl6pPr>
              <a:lvl7pPr marL="2971800" indent="-228600" eaLnBrk="0" fontAlgn="base" hangingPunct="0">
                <a:spcBef>
                  <a:spcPct val="0"/>
                </a:spcBef>
                <a:spcAft>
                  <a:spcPct val="0"/>
                </a:spcAft>
                <a:defRPr sz="2400">
                  <a:solidFill>
                    <a:schemeClr val="tx1"/>
                  </a:solidFill>
                  <a:latin typeface="Arial" charset="0"/>
                  <a:ea typeface="ＭＳ Ｐゴシック" charset="-128"/>
                </a:defRPr>
              </a:lvl7pPr>
              <a:lvl8pPr marL="3429000" indent="-228600" eaLnBrk="0" fontAlgn="base" hangingPunct="0">
                <a:spcBef>
                  <a:spcPct val="0"/>
                </a:spcBef>
                <a:spcAft>
                  <a:spcPct val="0"/>
                </a:spcAft>
                <a:defRPr sz="2400">
                  <a:solidFill>
                    <a:schemeClr val="tx1"/>
                  </a:solidFill>
                  <a:latin typeface="Arial" charset="0"/>
                  <a:ea typeface="ＭＳ Ｐゴシック" charset="-128"/>
                </a:defRPr>
              </a:lvl8pPr>
              <a:lvl9pPr marL="3886200" indent="-2286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defRPr/>
              </a:pPr>
              <a:endParaRPr lang="x-none" altLang="x-none" sz="1800"/>
            </a:p>
          </p:txBody>
        </p:sp>
      </p:grpSp>
      <p:sp>
        <p:nvSpPr>
          <p:cNvPr id="337930" name="Rectangle 10">
            <a:extLst>
              <a:ext uri="{FF2B5EF4-FFF2-40B4-BE49-F238E27FC236}">
                <a16:creationId xmlns:a16="http://schemas.microsoft.com/office/drawing/2014/main" id="{0E052AA4-1F39-7F9D-A161-D8871BC42F1B}"/>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337931" name="Rectangle 11">
            <a:extLst>
              <a:ext uri="{FF2B5EF4-FFF2-40B4-BE49-F238E27FC236}">
                <a16:creationId xmlns:a16="http://schemas.microsoft.com/office/drawing/2014/main" id="{0BFF21B7-1E2E-532E-E205-EDEC4AC64428}"/>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7932" name="Rectangle 12">
            <a:extLst>
              <a:ext uri="{FF2B5EF4-FFF2-40B4-BE49-F238E27FC236}">
                <a16:creationId xmlns:a16="http://schemas.microsoft.com/office/drawing/2014/main" id="{D3A7A55E-F5E4-B44C-D82D-4E0B63B91162}"/>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10199"/>
                  </a:outerShdw>
                </a:effectLst>
                <a:latin typeface="Arial" charset="0"/>
                <a:ea typeface="ＭＳ Ｐゴシック" charset="-128"/>
              </a:defRPr>
            </a:lvl1pPr>
          </a:lstStyle>
          <a:p>
            <a:pPr>
              <a:defRPr/>
            </a:pPr>
            <a:endParaRPr lang="x-none" altLang="x-none"/>
          </a:p>
        </p:txBody>
      </p:sp>
      <p:sp>
        <p:nvSpPr>
          <p:cNvPr id="337933" name="Rectangle 13">
            <a:extLst>
              <a:ext uri="{FF2B5EF4-FFF2-40B4-BE49-F238E27FC236}">
                <a16:creationId xmlns:a16="http://schemas.microsoft.com/office/drawing/2014/main" id="{C3D1BDA8-983E-2FE5-8ADC-964D305CDFCD}"/>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10199"/>
                  </a:outerShdw>
                </a:effectLst>
                <a:latin typeface="Arial" charset="0"/>
                <a:ea typeface="ＭＳ Ｐゴシック" charset="-128"/>
              </a:defRPr>
            </a:lvl1pPr>
          </a:lstStyle>
          <a:p>
            <a:pPr>
              <a:defRPr/>
            </a:pPr>
            <a:endParaRPr lang="x-none" altLang="x-none"/>
          </a:p>
        </p:txBody>
      </p:sp>
      <p:sp>
        <p:nvSpPr>
          <p:cNvPr id="337934" name="Rectangle 14">
            <a:extLst>
              <a:ext uri="{FF2B5EF4-FFF2-40B4-BE49-F238E27FC236}">
                <a16:creationId xmlns:a16="http://schemas.microsoft.com/office/drawing/2014/main" id="{E0866851-C77B-1CC6-DE60-718624F7207F}"/>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10199"/>
                  </a:outerShdw>
                </a:effectLst>
              </a:defRPr>
            </a:lvl1pPr>
          </a:lstStyle>
          <a:p>
            <a:pPr>
              <a:defRPr/>
            </a:pPr>
            <a:fld id="{3A7B869F-95C2-E049-996D-20902BF674D0}" type="slidenum">
              <a:rPr lang="en-US" altLang="en-US"/>
              <a:pPr>
                <a:defRPr/>
              </a:pPr>
              <a:t>‹#›</a:t>
            </a:fld>
            <a:endParaRPr lang="en-US" altLang="en-US" dirty="0"/>
          </a:p>
        </p:txBody>
      </p:sp>
    </p:spTree>
  </p:cSld>
  <p:clrMap bg1="dk2" tx1="lt1" bg2="dk1" tx2="lt2" accent1="accent1" accent2="accent2" accent3="accent3" accent4="accent4" accent5="accent5" accent6="accent6" hlink="hlink" folHlink="folHlink"/>
  <p:sldLayoutIdLst>
    <p:sldLayoutId id="2147484248" r:id="rId1"/>
    <p:sldLayoutId id="2147484249" r:id="rId2"/>
    <p:sldLayoutId id="2147484250" r:id="rId3"/>
    <p:sldLayoutId id="2147484251" r:id="rId4"/>
    <p:sldLayoutId id="2147484252" r:id="rId5"/>
    <p:sldLayoutId id="2147484253" r:id="rId6"/>
    <p:sldLayoutId id="2147484254" r:id="rId7"/>
    <p:sldLayoutId id="2147484255" r:id="rId8"/>
    <p:sldLayoutId id="2147484256" r:id="rId9"/>
    <p:sldLayoutId id="2147484257" r:id="rId10"/>
    <p:sldLayoutId id="2147484258"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mj-lt"/>
          <a:ea typeface="ＭＳ Ｐゴシック" charset="0"/>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FFFFFF"/>
            </a:outerShdw>
          </a:effectLst>
          <a:latin typeface="Arial" charset="0"/>
          <a:ea typeface="ＭＳ Ｐゴシック" charset="0"/>
          <a:cs typeface="Arial" charset="0"/>
        </a:defRPr>
      </a:lvl5pPr>
      <a:lvl6pPr marL="4572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6pPr>
      <a:lvl7pPr marL="9144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7pPr>
      <a:lvl8pPr marL="13716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8pPr>
      <a:lvl9pPr marL="1828800" algn="ctr" rtl="0" fontAlgn="base">
        <a:spcBef>
          <a:spcPct val="0"/>
        </a:spcBef>
        <a:spcAft>
          <a:spcPct val="0"/>
        </a:spcAft>
        <a:defRPr sz="4400">
          <a:solidFill>
            <a:schemeClr val="tx2"/>
          </a:solidFill>
          <a:effectLst>
            <a:outerShdw blurRad="38100" dist="38100" dir="2700000" algn="tl">
              <a:srgbClr val="FFFFFF"/>
            </a:outerShdw>
          </a:effectLst>
          <a:latin typeface="Arial" charset="0"/>
          <a:cs typeface="Arial" charset="0"/>
        </a:defRPr>
      </a:lvl9pPr>
    </p:titleStyle>
    <p:bodyStyle>
      <a:lvl1pPr marL="342900" indent="-342900" algn="l" rtl="0" eaLnBrk="0" fontAlgn="base" hangingPunct="0">
        <a:spcBef>
          <a:spcPct val="20000"/>
        </a:spcBef>
        <a:spcAft>
          <a:spcPct val="0"/>
        </a:spcAft>
        <a:buClr>
          <a:schemeClr val="hlink"/>
        </a:buClr>
        <a:buSzPct val="75000"/>
        <a:buFont typeface="Wingdings" pitchFamily="2" charset="2"/>
        <a:buChar char="l"/>
        <a:defRPr sz="3200">
          <a:solidFill>
            <a:schemeClr val="tx1"/>
          </a:solidFill>
          <a:effectLst>
            <a:outerShdw blurRad="38100" dist="38100" dir="2700000" algn="tl">
              <a:srgbClr val="010199"/>
            </a:outerShdw>
          </a:effectLst>
          <a:latin typeface="+mn-lt"/>
          <a:ea typeface="ＭＳ Ｐゴシック" charset="0"/>
          <a:cs typeface="+mn-cs"/>
        </a:defRPr>
      </a:lvl1pPr>
      <a:lvl2pPr marL="742950" indent="-285750" algn="l" rtl="0" eaLnBrk="0" fontAlgn="base" hangingPunct="0">
        <a:spcBef>
          <a:spcPct val="2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10199"/>
            </a:outerShdw>
          </a:effectLst>
          <a:latin typeface="+mn-lt"/>
          <a:ea typeface="Arial" pitchFamily="-65" charset="0"/>
          <a:cs typeface="+mn-cs"/>
        </a:defRPr>
      </a:lvl2pPr>
      <a:lvl3pPr marL="1143000" indent="-228600" algn="l" rtl="0" eaLnBrk="0" fontAlgn="base" hangingPunct="0">
        <a:spcBef>
          <a:spcPct val="20000"/>
        </a:spcBef>
        <a:spcAft>
          <a:spcPct val="0"/>
        </a:spcAft>
        <a:buClr>
          <a:schemeClr val="accent2"/>
        </a:buClr>
        <a:buSzPct val="75000"/>
        <a:buFont typeface="Wingdings" pitchFamily="2" charset="2"/>
        <a:buChar char="l"/>
        <a:defRPr sz="2400">
          <a:solidFill>
            <a:schemeClr val="tx1"/>
          </a:solidFill>
          <a:effectLst>
            <a:outerShdw blurRad="38100" dist="38100" dir="2700000" algn="tl">
              <a:srgbClr val="010199"/>
            </a:outerShdw>
          </a:effectLst>
          <a:latin typeface="+mn-lt"/>
          <a:ea typeface="Arial" pitchFamily="-65" charset="0"/>
          <a:cs typeface="+mn-cs"/>
        </a:defRPr>
      </a:lvl3pPr>
      <a:lvl4pPr marL="1600200" indent="-228600" algn="l" rtl="0" eaLnBrk="0" fontAlgn="base" hangingPunct="0">
        <a:spcBef>
          <a:spcPct val="20000"/>
        </a:spcBef>
        <a:spcAft>
          <a:spcPct val="0"/>
        </a:spcAft>
        <a:buClr>
          <a:schemeClr val="folHlink"/>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4pPr>
      <a:lvl5pPr marL="20574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ea typeface="Arial" pitchFamily="-65" charset="0"/>
          <a:cs typeface="+mn-cs"/>
        </a:defRPr>
      </a:lvl5pPr>
      <a:lvl6pPr marL="25146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6pPr>
      <a:lvl7pPr marL="29718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7pPr>
      <a:lvl8pPr marL="34290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8pPr>
      <a:lvl9pPr marL="3886200" indent="-228600" algn="l" rtl="0" fontAlgn="base">
        <a:spcBef>
          <a:spcPct val="20000"/>
        </a:spcBef>
        <a:spcAft>
          <a:spcPct val="0"/>
        </a:spcAft>
        <a:buClr>
          <a:schemeClr val="tx1"/>
        </a:buClr>
        <a:buSzPct val="75000"/>
        <a:buFont typeface="Wingdings" pitchFamily="2" charset="2"/>
        <a:buChar char="l"/>
        <a:defRPr sz="2000">
          <a:solidFill>
            <a:schemeClr val="tx1"/>
          </a:solidFill>
          <a:effectLst>
            <a:outerShdw blurRad="38100" dist="38100" dir="2700000" algn="tl">
              <a:srgbClr val="010199"/>
            </a:outerShdw>
          </a:effectLst>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2498" name="Rectangle 2">
            <a:extLst>
              <a:ext uri="{FF2B5EF4-FFF2-40B4-BE49-F238E27FC236}">
                <a16:creationId xmlns:a16="http://schemas.microsoft.com/office/drawing/2014/main" id="{173FAB58-A255-8473-D224-945A20D1991E}"/>
              </a:ext>
            </a:extLst>
          </p:cNvPr>
          <p:cNvSpPr>
            <a:spLocks noGrp="1" noChangeArrowheads="1"/>
          </p:cNvSpPr>
          <p:nvPr>
            <p:ph type="ctrTitle"/>
          </p:nvPr>
        </p:nvSpPr>
        <p:spPr>
          <a:xfrm>
            <a:off x="685800" y="990600"/>
            <a:ext cx="7772400" cy="1905000"/>
          </a:xfrm>
        </p:spPr>
        <p:txBody>
          <a:bodyPr/>
          <a:lstStyle/>
          <a:p>
            <a:pPr eaLnBrk="1" hangingPunct="1">
              <a:defRPr/>
            </a:pPr>
            <a:r>
              <a:rPr lang="en-US" altLang="en-US" dirty="0">
                <a:solidFill>
                  <a:srgbClr val="FFFF00"/>
                </a:solidFill>
                <a:ea typeface="ＭＳ Ｐゴシック" charset="-128"/>
              </a:rPr>
              <a:t>PIA 3121</a:t>
            </a:r>
            <a:br>
              <a:rPr lang="en-US" altLang="en-US" dirty="0">
                <a:ea typeface="ＭＳ Ｐゴシック" charset="-128"/>
              </a:rPr>
            </a:br>
            <a:br>
              <a:rPr lang="en-US" altLang="en-US" sz="2800" dirty="0">
                <a:ea typeface="ＭＳ Ｐゴシック" charset="-128"/>
              </a:rPr>
            </a:br>
            <a:r>
              <a:rPr lang="en-US" altLang="en-US" sz="2400" dirty="0">
                <a:ea typeface="ＭＳ Ｐゴシック" charset="-128"/>
              </a:rPr>
              <a:t>6 October 2026</a:t>
            </a:r>
          </a:p>
        </p:txBody>
      </p:sp>
      <p:sp>
        <p:nvSpPr>
          <p:cNvPr id="362499" name="Rectangle 3">
            <a:extLst>
              <a:ext uri="{FF2B5EF4-FFF2-40B4-BE49-F238E27FC236}">
                <a16:creationId xmlns:a16="http://schemas.microsoft.com/office/drawing/2014/main" id="{57B5FFB4-1C03-1B97-5234-2DC461A4DA8B}"/>
              </a:ext>
            </a:extLst>
          </p:cNvPr>
          <p:cNvSpPr>
            <a:spLocks noGrp="1" noChangeArrowheads="1"/>
          </p:cNvSpPr>
          <p:nvPr>
            <p:ph type="subTitle" idx="1"/>
          </p:nvPr>
        </p:nvSpPr>
        <p:spPr>
          <a:xfrm>
            <a:off x="1371600" y="3505200"/>
            <a:ext cx="6400800" cy="1600200"/>
          </a:xfrm>
        </p:spPr>
        <p:txBody>
          <a:bodyPr/>
          <a:lstStyle/>
          <a:p>
            <a:pPr eaLnBrk="1" hangingPunct="1">
              <a:buFont typeface="Wingdings" charset="2"/>
              <a:buNone/>
              <a:defRPr/>
            </a:pPr>
            <a:r>
              <a:rPr lang="en-US" altLang="en-US" sz="4000" dirty="0">
                <a:ea typeface="ＭＳ Ｐゴシック" charset="-128"/>
              </a:rPr>
              <a:t>Constructivism</a:t>
            </a:r>
          </a:p>
          <a:p>
            <a:pPr eaLnBrk="1" hangingPunct="1">
              <a:buFont typeface="Wingdings" charset="2"/>
              <a:buNone/>
              <a:defRPr/>
            </a:pPr>
            <a:endParaRPr lang="en-US" altLang="en-US" sz="1200" dirty="0">
              <a:ea typeface="ＭＳ Ｐゴシック" charset="-128"/>
            </a:endParaRPr>
          </a:p>
          <a:p>
            <a:pPr eaLnBrk="1" hangingPunct="1">
              <a:buFont typeface="Wingdings" charset="2"/>
              <a:buNone/>
              <a:defRPr/>
            </a:pPr>
            <a:endParaRPr lang="en-US" altLang="en-US" sz="1200" dirty="0">
              <a:ea typeface="ＭＳ Ｐゴシック"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lstStyle/>
          <a:p>
            <a:r>
              <a:rPr lang="en-US" sz="3600" u="sng" dirty="0">
                <a:solidFill>
                  <a:schemeClr val="tx1"/>
                </a:solidFill>
                <a:highlight>
                  <a:srgbClr val="800080"/>
                </a:highlight>
              </a:rPr>
              <a:t>PIA 3121 Schedule</a:t>
            </a:r>
          </a:p>
        </p:txBody>
      </p:sp>
      <p:sp>
        <p:nvSpPr>
          <p:cNvPr id="3" name="Content Placeholder 2"/>
          <p:cNvSpPr>
            <a:spLocks noGrp="1"/>
          </p:cNvSpPr>
          <p:nvPr>
            <p:ph idx="1"/>
          </p:nvPr>
        </p:nvSpPr>
        <p:spPr>
          <a:xfrm>
            <a:off x="445265" y="1447800"/>
            <a:ext cx="8229600" cy="4713287"/>
          </a:xfrm>
        </p:spPr>
        <p:txBody>
          <a:bodyPr/>
          <a:lstStyle/>
          <a:p>
            <a:pPr marL="0" indent="0" eaLnBrk="1" fontAlgn="auto" hangingPunct="1">
              <a:spcBef>
                <a:spcPts val="0"/>
              </a:spcBef>
              <a:spcAft>
                <a:spcPts val="0"/>
              </a:spcAft>
              <a:buClrTx/>
              <a:buSzTx/>
              <a:buNone/>
              <a:defRPr/>
            </a:pPr>
            <a:r>
              <a:rPr lang="en-US" sz="1800" dirty="0">
                <a:solidFill>
                  <a:srgbClr val="FFFF00"/>
                </a:solidFill>
              </a:rPr>
              <a:t>1 Sept:		</a:t>
            </a:r>
            <a:r>
              <a:rPr lang="en-US" sz="1800" dirty="0"/>
              <a:t>Tools of Analysis / Foundational Concepts</a:t>
            </a:r>
            <a:endParaRPr lang="en-US" sz="1800" dirty="0">
              <a:solidFill>
                <a:srgbClr val="FFFF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8 Sept</a:t>
            </a:r>
            <a:r>
              <a:rPr lang="en-US" sz="1800" dirty="0"/>
              <a:t>:		Realism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15 Sept</a:t>
            </a:r>
            <a:r>
              <a:rPr lang="en-US" sz="1800" dirty="0"/>
              <a:t>:		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22 Sept</a:t>
            </a:r>
            <a:r>
              <a:rPr lang="en-US" sz="1800" dirty="0"/>
              <a:t>:		Neorealism and Neoliberalism</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29 Sept:</a:t>
            </a:r>
            <a:r>
              <a:rPr lang="en-US" sz="1800" dirty="0"/>
              <a:t>		Economic Structuralism and Globalization</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6 Oct</a:t>
            </a:r>
            <a:r>
              <a:rPr lang="en-US" sz="1800" dirty="0"/>
              <a:t>:		Constructivism</a:t>
            </a: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indent="0" eaLnBrk="1" fontAlgn="auto" hangingPunct="1">
              <a:spcBef>
                <a:spcPts val="0"/>
              </a:spcBef>
              <a:spcAft>
                <a:spcPts val="0"/>
              </a:spcAft>
              <a:buClrTx/>
              <a:buSzTx/>
              <a:buNone/>
              <a:defRPr/>
            </a:pPr>
            <a:r>
              <a:rPr lang="en-US" sz="1800" dirty="0">
                <a:highlight>
                  <a:srgbClr val="800000"/>
                </a:highlight>
              </a:rPr>
              <a:t>13 Oct:		MIDTERM QUIZ</a:t>
            </a:r>
          </a:p>
          <a:p>
            <a:pPr marL="0" indent="0" eaLnBrk="1" fontAlgn="auto" hangingPunct="1">
              <a:spcBef>
                <a:spcPts val="0"/>
              </a:spcBef>
              <a:spcAft>
                <a:spcPts val="0"/>
              </a:spcAft>
              <a:buClrTx/>
              <a:buSzTx/>
              <a:buNone/>
              <a:defRPr/>
            </a:pPr>
            <a:endParaRPr lang="en-US" sz="1800" dirty="0"/>
          </a:p>
          <a:p>
            <a:pPr marL="0" indent="0" eaLnBrk="1" fontAlgn="auto" hangingPunct="1">
              <a:spcBef>
                <a:spcPts val="0"/>
              </a:spcBef>
              <a:spcAft>
                <a:spcPts val="0"/>
              </a:spcAft>
              <a:buClrTx/>
              <a:buSzTx/>
              <a:buNone/>
              <a:defRPr/>
            </a:pPr>
            <a:r>
              <a:rPr lang="en-US" sz="1800" dirty="0">
                <a:solidFill>
                  <a:srgbClr val="FFFF00"/>
                </a:solidFill>
              </a:rPr>
              <a:t>20 Oct</a:t>
            </a:r>
            <a:r>
              <a:rPr lang="en-US" sz="1800" dirty="0"/>
              <a:t>:		Ontological Security Theory</a:t>
            </a:r>
          </a:p>
          <a:p>
            <a:pPr marL="0" indent="0" eaLnBrk="1" fontAlgn="auto" hangingPunct="1">
              <a:spcBef>
                <a:spcPts val="0"/>
              </a:spcBef>
              <a:spcAft>
                <a:spcPts val="0"/>
              </a:spcAft>
              <a:buClrTx/>
              <a:buSzTx/>
              <a:buNone/>
              <a:defRPr/>
            </a:pPr>
            <a:r>
              <a:rPr lang="en-US" sz="1800" dirty="0">
                <a:solidFill>
                  <a:srgbClr val="FFFF00"/>
                </a:solidFill>
              </a:rPr>
              <a:t>27 Oct</a:t>
            </a:r>
            <a:r>
              <a:rPr lang="en-US" sz="1800" dirty="0"/>
              <a:t>:		The English School</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3 Nov</a:t>
            </a:r>
            <a:r>
              <a:rPr lang="en-US" sz="1800" dirty="0"/>
              <a:t>:		Democratization / Global Culture / Revolution</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10 Nov</a:t>
            </a:r>
            <a:r>
              <a:rPr lang="en-US" sz="1800" dirty="0"/>
              <a:t>:		Critical Theory / Gender in IR / Global Civil Society</a:t>
            </a:r>
          </a:p>
          <a:p>
            <a:pPr marL="0" marR="0" lvl="0" indent="0" defTabSz="914400" eaLnBrk="1" fontAlgn="auto" latinLnBrk="0" hangingPunct="1">
              <a:lnSpc>
                <a:spcPct val="100000"/>
              </a:lnSpc>
              <a:spcBef>
                <a:spcPts val="0"/>
              </a:spcBef>
              <a:spcAft>
                <a:spcPts val="0"/>
              </a:spcAft>
              <a:buClrTx/>
              <a:buSzTx/>
              <a:buFontTx/>
              <a:buNone/>
              <a:tabLst/>
              <a:defRPr/>
            </a:pPr>
            <a:r>
              <a:rPr lang="en-US" sz="1800" dirty="0">
                <a:solidFill>
                  <a:srgbClr val="FFFF00"/>
                </a:solidFill>
              </a:rPr>
              <a:t>17 Nov</a:t>
            </a:r>
            <a:r>
              <a:rPr lang="en-US" sz="1800" dirty="0"/>
              <a:t>:		Chaos and Complexity in IR / Existential Risks</a:t>
            </a:r>
          </a:p>
          <a:p>
            <a:pPr marL="0" marR="0" lvl="0" indent="0" defTabSz="914400" eaLnBrk="1" fontAlgn="auto" latinLnBrk="0" hangingPunct="1">
              <a:lnSpc>
                <a:spcPct val="100000"/>
              </a:lnSpc>
              <a:spcBef>
                <a:spcPts val="0"/>
              </a:spcBef>
              <a:spcAft>
                <a:spcPts val="0"/>
              </a:spcAft>
              <a:buClrTx/>
              <a:buSzTx/>
              <a:buFontTx/>
              <a:buNone/>
              <a:tabLst/>
              <a:defRPr/>
            </a:pPr>
            <a:endParaRPr lang="en-US" sz="1400" dirty="0"/>
          </a:p>
          <a:p>
            <a:pPr marL="0" marR="0" lvl="0" indent="0" defTabSz="914400" eaLnBrk="1" fontAlgn="auto" latinLnBrk="0" hangingPunct="1">
              <a:lnSpc>
                <a:spcPct val="100000"/>
              </a:lnSpc>
              <a:spcBef>
                <a:spcPts val="0"/>
              </a:spcBef>
              <a:spcAft>
                <a:spcPts val="0"/>
              </a:spcAft>
              <a:buClrTx/>
              <a:buSzTx/>
              <a:buFontTx/>
              <a:buNone/>
              <a:tabLst/>
              <a:defRPr/>
            </a:pPr>
            <a:r>
              <a:rPr lang="en-US" sz="1800" dirty="0">
                <a:highlight>
                  <a:srgbClr val="000080"/>
                </a:highlight>
              </a:rPr>
              <a:t>24 Nov:		FINAL QUIZ / Discussion of Group Projects</a:t>
            </a:r>
            <a:endParaRPr lang="en-US" sz="1400" dirty="0">
              <a:highlight>
                <a:srgbClr val="000080"/>
              </a:highlight>
            </a:endParaRPr>
          </a:p>
          <a:p>
            <a:pPr marL="0" indent="0" eaLnBrk="1" fontAlgn="auto" hangingPunct="1">
              <a:spcBef>
                <a:spcPts val="0"/>
              </a:spcBef>
              <a:spcAft>
                <a:spcPts val="0"/>
              </a:spcAft>
              <a:buClrTx/>
              <a:buSzTx/>
              <a:buNone/>
              <a:defRPr/>
            </a:pPr>
            <a:endParaRPr lang="en-US" sz="1400" dirty="0"/>
          </a:p>
          <a:p>
            <a:pPr marL="0" indent="0" eaLnBrk="1" fontAlgn="auto" hangingPunct="1">
              <a:spcBef>
                <a:spcPts val="0"/>
              </a:spcBef>
              <a:spcAft>
                <a:spcPts val="0"/>
              </a:spcAft>
              <a:buClrTx/>
              <a:buSzTx/>
              <a:buNone/>
              <a:defRPr/>
            </a:pPr>
            <a:r>
              <a:rPr lang="en-US" sz="1800" dirty="0">
                <a:highlight>
                  <a:srgbClr val="008080"/>
                </a:highlight>
              </a:rPr>
              <a:t>8 Dec:		GROUP PAPER PROJECT DUE</a:t>
            </a:r>
          </a:p>
        </p:txBody>
      </p:sp>
    </p:spTree>
    <p:extLst>
      <p:ext uri="{BB962C8B-B14F-4D97-AF65-F5344CB8AC3E}">
        <p14:creationId xmlns:p14="http://schemas.microsoft.com/office/powerpoint/2010/main" val="19354692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2CCE-5182-2BB2-508C-05109A552F3A}"/>
              </a:ext>
            </a:extLst>
          </p:cNvPr>
          <p:cNvSpPr>
            <a:spLocks noGrp="1"/>
          </p:cNvSpPr>
          <p:nvPr>
            <p:ph type="title"/>
          </p:nvPr>
        </p:nvSpPr>
        <p:spPr/>
        <p:txBody>
          <a:bodyPr/>
          <a:lstStyle/>
          <a:p>
            <a:pPr>
              <a:defRPr/>
            </a:pPr>
            <a:endParaRPr lang="en-US" dirty="0"/>
          </a:p>
        </p:txBody>
      </p:sp>
      <p:sp>
        <p:nvSpPr>
          <p:cNvPr id="7" name="TextBox 6">
            <a:extLst>
              <a:ext uri="{FF2B5EF4-FFF2-40B4-BE49-F238E27FC236}">
                <a16:creationId xmlns:a16="http://schemas.microsoft.com/office/drawing/2014/main" id="{4430B24A-CCA3-6A62-E6DC-60772242423D}"/>
              </a:ext>
            </a:extLst>
          </p:cNvPr>
          <p:cNvSpPr txBox="1"/>
          <p:nvPr/>
        </p:nvSpPr>
        <p:spPr>
          <a:xfrm>
            <a:off x="990600" y="6386900"/>
            <a:ext cx="7162800" cy="276999"/>
          </a:xfrm>
          <a:prstGeom prst="rect">
            <a:avLst/>
          </a:prstGeom>
          <a:noFill/>
        </p:spPr>
        <p:txBody>
          <a:bodyPr wrap="square" rtlCol="0">
            <a:spAutoFit/>
          </a:bodyPr>
          <a:lstStyle/>
          <a:p>
            <a:pPr algn="ctr"/>
            <a:r>
              <a:rPr lang="en-US" sz="1200" dirty="0"/>
              <a:t>SOURCE:  https://</a:t>
            </a:r>
            <a:r>
              <a:rPr lang="en-US" sz="1200" dirty="0" err="1"/>
              <a:t>commons.wikimedia.org</a:t>
            </a:r>
            <a:r>
              <a:rPr lang="en-US" sz="1200" dirty="0"/>
              <a:t>/wiki/</a:t>
            </a:r>
            <a:r>
              <a:rPr lang="en-US" sz="1200" dirty="0" err="1"/>
              <a:t>User_talk:Viewsridge</a:t>
            </a:r>
            <a:endParaRPr lang="en-US" sz="1200" dirty="0"/>
          </a:p>
        </p:txBody>
      </p:sp>
      <p:pic>
        <p:nvPicPr>
          <p:cNvPr id="8" name="Content Placeholder 7">
            <a:extLst>
              <a:ext uri="{FF2B5EF4-FFF2-40B4-BE49-F238E27FC236}">
                <a16:creationId xmlns:a16="http://schemas.microsoft.com/office/drawing/2014/main" id="{52CB95C2-70DA-AE4E-9A05-1B62E1385D9C}"/>
              </a:ext>
            </a:extLst>
          </p:cNvPr>
          <p:cNvPicPr>
            <a:picLocks noGrp="1" noChangeAspect="1"/>
          </p:cNvPicPr>
          <p:nvPr>
            <p:ph idx="1"/>
          </p:nvPr>
        </p:nvPicPr>
        <p:blipFill>
          <a:blip>
            <a:extLst>
              <a:ext uri="{96DAC541-7B7A-43D3-8B79-37D633B846F1}">
                <asvg:svgBlip xmlns:asvg="http://schemas.microsoft.com/office/drawing/2016/SVG/main" r:embed="rId2"/>
              </a:ext>
            </a:extLst>
          </a:blip>
          <a:stretch>
            <a:fillRect/>
          </a:stretch>
        </p:blipFill>
        <p:spPr>
          <a:xfrm>
            <a:off x="222728" y="332600"/>
            <a:ext cx="8690885" cy="583960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30960-13A4-032A-FE2A-B7841810B687}"/>
              </a:ext>
            </a:extLst>
          </p:cNvPr>
          <p:cNvSpPr>
            <a:spLocks noGrp="1"/>
          </p:cNvSpPr>
          <p:nvPr>
            <p:ph type="title"/>
          </p:nvPr>
        </p:nvSpPr>
        <p:spPr/>
        <p:txBody>
          <a:bodyPr/>
          <a:lstStyle/>
          <a:p>
            <a:pPr>
              <a:defRPr/>
            </a:pPr>
            <a:r>
              <a:rPr lang="en-US" altLang="en-US" sz="4000" u="sng" dirty="0">
                <a:solidFill>
                  <a:srgbClr val="FFFFFF"/>
                </a:solidFill>
                <a:effectLst>
                  <a:outerShdw blurRad="38100" dist="38100" dir="2700000" algn="tl">
                    <a:srgbClr val="010199"/>
                  </a:outerShdw>
                </a:effectLst>
                <a:ea typeface="ＭＳ Ｐゴシック" charset="-128"/>
              </a:rPr>
              <a:t>Constructivism</a:t>
            </a:r>
            <a:br>
              <a:rPr lang="en-US" altLang="en-US" sz="4000" dirty="0">
                <a:solidFill>
                  <a:srgbClr val="FFFFFF"/>
                </a:solidFill>
                <a:effectLst>
                  <a:outerShdw blurRad="38100" dist="38100" dir="2700000" algn="tl">
                    <a:srgbClr val="010199"/>
                  </a:outerShdw>
                </a:effectLst>
                <a:ea typeface="ＭＳ Ｐゴシック" charset="-128"/>
              </a:rPr>
            </a:br>
            <a:endParaRPr lang="en-US" altLang="en-US" sz="4000" dirty="0">
              <a:solidFill>
                <a:srgbClr val="FFFFFF"/>
              </a:solidFill>
              <a:effectLst>
                <a:outerShdw blurRad="38100" dist="38100" dir="2700000" algn="tl">
                  <a:srgbClr val="010199"/>
                </a:outerShdw>
              </a:effectLst>
              <a:ea typeface="ＭＳ Ｐゴシック" charset="-128"/>
            </a:endParaRPr>
          </a:p>
        </p:txBody>
      </p:sp>
      <p:sp>
        <p:nvSpPr>
          <p:cNvPr id="3" name="Content Placeholder 2">
            <a:extLst>
              <a:ext uri="{FF2B5EF4-FFF2-40B4-BE49-F238E27FC236}">
                <a16:creationId xmlns:a16="http://schemas.microsoft.com/office/drawing/2014/main" id="{DFB95918-E1F2-ABFB-D2F3-B503B1772372}"/>
              </a:ext>
            </a:extLst>
          </p:cNvPr>
          <p:cNvSpPr>
            <a:spLocks noGrp="1"/>
          </p:cNvSpPr>
          <p:nvPr>
            <p:ph idx="1"/>
          </p:nvPr>
        </p:nvSpPr>
        <p:spPr>
          <a:xfrm>
            <a:off x="152400" y="1219200"/>
            <a:ext cx="8763000" cy="4911725"/>
          </a:xfrm>
        </p:spPr>
        <p:txBody>
          <a:bodyPr/>
          <a:lstStyle/>
          <a:p>
            <a:pPr>
              <a:buFont typeface="Wingdings" charset="2"/>
              <a:buNone/>
              <a:defRPr/>
            </a:pPr>
            <a:r>
              <a:rPr lang="en-US" altLang="en-US" sz="2000" dirty="0">
                <a:ea typeface="ＭＳ Ｐゴシック" charset="-128"/>
              </a:rPr>
              <a:t>You can’t assume that all states are alike as </a:t>
            </a:r>
            <a:r>
              <a:rPr lang="ja-JP" altLang="en-US" sz="2000">
                <a:ea typeface="ＭＳ Ｐゴシック" charset="-128"/>
              </a:rPr>
              <a:t>“</a:t>
            </a:r>
            <a:r>
              <a:rPr lang="en-US" altLang="ja-JP" sz="2000" dirty="0">
                <a:ea typeface="ＭＳ Ｐゴシック" charset="-128"/>
              </a:rPr>
              <a:t>rational actors,</a:t>
            </a:r>
            <a:r>
              <a:rPr lang="ja-JP" altLang="en-US" sz="2000">
                <a:ea typeface="ＭＳ Ｐゴシック" charset="-128"/>
              </a:rPr>
              <a:t>”</a:t>
            </a:r>
            <a:r>
              <a:rPr lang="en-US" altLang="ja-JP" sz="2000" dirty="0">
                <a:ea typeface="ＭＳ Ｐゴシック" charset="-128"/>
              </a:rPr>
              <a:t> because in fact they all </a:t>
            </a:r>
            <a:r>
              <a:rPr lang="en-US" altLang="ja-JP" sz="2000" u="sng" dirty="0">
                <a:ea typeface="ＭＳ Ｐゴシック" charset="-128"/>
              </a:rPr>
              <a:t>vary</a:t>
            </a:r>
            <a:r>
              <a:rPr lang="en-US" altLang="ja-JP" sz="2000" dirty="0">
                <a:ea typeface="ＭＳ Ｐゴシック" charset="-128"/>
              </a:rPr>
              <a:t> significantly in their </a:t>
            </a:r>
            <a:r>
              <a:rPr lang="en-US" altLang="ja-JP" sz="2000" i="1" dirty="0">
                <a:solidFill>
                  <a:srgbClr val="00B0F0"/>
                </a:solidFill>
                <a:ea typeface="ＭＳ Ｐゴシック" charset="-128"/>
              </a:rPr>
              <a:t>identity</a:t>
            </a:r>
            <a:r>
              <a:rPr lang="en-US" altLang="ja-JP" sz="2000" dirty="0">
                <a:ea typeface="ＭＳ Ｐゴシック" charset="-128"/>
              </a:rPr>
              <a:t>: their values, perceptions, aspirations, and ways of looking at the world—</a:t>
            </a:r>
            <a:r>
              <a:rPr lang="en-US" altLang="ja-JP" sz="2000" u="sng" dirty="0">
                <a:ea typeface="ＭＳ Ｐゴシック" charset="-128"/>
              </a:rPr>
              <a:t>which in turn shape the states</a:t>
            </a:r>
            <a:r>
              <a:rPr lang="en-US" altLang="en-US" sz="2000" u="sng" dirty="0">
                <a:ea typeface="ＭＳ Ｐゴシック" charset="-128"/>
              </a:rPr>
              <a:t>’</a:t>
            </a:r>
            <a:r>
              <a:rPr lang="en-US" altLang="ja-JP" sz="2000" u="sng" dirty="0">
                <a:ea typeface="ＭＳ Ｐゴシック" charset="-128"/>
              </a:rPr>
              <a:t> foreign policies</a:t>
            </a:r>
            <a:r>
              <a:rPr lang="en-US" altLang="ja-JP" sz="2000" dirty="0">
                <a:ea typeface="ＭＳ Ｐゴシック" charset="-128"/>
              </a:rPr>
              <a:t>.</a:t>
            </a:r>
            <a:endParaRPr lang="en-US" altLang="ja-JP" sz="1800" dirty="0">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400" dirty="0">
                <a:ea typeface="ＭＳ Ｐゴシック" charset="-128"/>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4A73-41A9-8A36-F69E-429451697413}"/>
              </a:ext>
            </a:extLst>
          </p:cNvPr>
          <p:cNvSpPr>
            <a:spLocks noGrp="1"/>
          </p:cNvSpPr>
          <p:nvPr>
            <p:ph type="title"/>
          </p:nvPr>
        </p:nvSpPr>
        <p:spPr/>
        <p:txBody>
          <a:bodyPr/>
          <a:lstStyle/>
          <a:p>
            <a:pPr>
              <a:defRPr/>
            </a:pPr>
            <a:r>
              <a:rPr lang="en-US" altLang="en-US" sz="4000" u="sng" dirty="0">
                <a:solidFill>
                  <a:srgbClr val="FFFFFF"/>
                </a:solidFill>
                <a:effectLst>
                  <a:outerShdw blurRad="38100" dist="38100" dir="2700000" algn="tl">
                    <a:srgbClr val="010199"/>
                  </a:outerShdw>
                </a:effectLst>
                <a:ea typeface="ＭＳ Ｐゴシック" charset="-128"/>
              </a:rPr>
              <a:t>Constructivism</a:t>
            </a:r>
            <a:br>
              <a:rPr lang="en-US" altLang="en-US" sz="4000" dirty="0">
                <a:solidFill>
                  <a:srgbClr val="FFFFFF"/>
                </a:solidFill>
                <a:effectLst>
                  <a:outerShdw blurRad="38100" dist="38100" dir="2700000" algn="tl">
                    <a:srgbClr val="010199"/>
                  </a:outerShdw>
                </a:effectLst>
                <a:ea typeface="ＭＳ Ｐゴシック" charset="-128"/>
              </a:rPr>
            </a:br>
            <a:endParaRPr lang="en-US" altLang="en-US" sz="4000" dirty="0">
              <a:solidFill>
                <a:srgbClr val="FFFFFF"/>
              </a:solidFill>
              <a:effectLst>
                <a:outerShdw blurRad="38100" dist="38100" dir="2700000" algn="tl">
                  <a:srgbClr val="010199"/>
                </a:outerShdw>
              </a:effectLst>
              <a:ea typeface="ＭＳ Ｐゴシック" charset="-128"/>
            </a:endParaRPr>
          </a:p>
        </p:txBody>
      </p:sp>
      <p:sp>
        <p:nvSpPr>
          <p:cNvPr id="3" name="Content Placeholder 2">
            <a:extLst>
              <a:ext uri="{FF2B5EF4-FFF2-40B4-BE49-F238E27FC236}">
                <a16:creationId xmlns:a16="http://schemas.microsoft.com/office/drawing/2014/main" id="{DD36E084-6B8C-CD71-AF75-CF911B475816}"/>
              </a:ext>
            </a:extLst>
          </p:cNvPr>
          <p:cNvSpPr>
            <a:spLocks noGrp="1"/>
          </p:cNvSpPr>
          <p:nvPr>
            <p:ph idx="1"/>
          </p:nvPr>
        </p:nvSpPr>
        <p:spPr>
          <a:xfrm>
            <a:off x="152400" y="1219200"/>
            <a:ext cx="8763000" cy="4911725"/>
          </a:xfrm>
        </p:spPr>
        <p:txBody>
          <a:bodyPr/>
          <a:lstStyle/>
          <a:p>
            <a:pPr>
              <a:buFont typeface="Wingdings" charset="2"/>
              <a:buNone/>
              <a:defRPr/>
            </a:pPr>
            <a:r>
              <a:rPr lang="en-US" altLang="en-US" sz="2000" dirty="0">
                <a:ea typeface="ＭＳ Ｐゴシック" charset="-128"/>
              </a:rPr>
              <a:t>You can’t assume that all states are alike as </a:t>
            </a:r>
            <a:r>
              <a:rPr lang="ja-JP" altLang="en-US" sz="2000">
                <a:ea typeface="ＭＳ Ｐゴシック" charset="-128"/>
              </a:rPr>
              <a:t>“</a:t>
            </a:r>
            <a:r>
              <a:rPr lang="en-US" altLang="ja-JP" sz="2000" dirty="0">
                <a:ea typeface="ＭＳ Ｐゴシック" charset="-128"/>
              </a:rPr>
              <a:t>rational actors,</a:t>
            </a:r>
            <a:r>
              <a:rPr lang="ja-JP" altLang="en-US" sz="2000">
                <a:ea typeface="ＭＳ Ｐゴシック" charset="-128"/>
              </a:rPr>
              <a:t>”</a:t>
            </a:r>
            <a:r>
              <a:rPr lang="en-US" altLang="ja-JP" sz="2000" dirty="0">
                <a:ea typeface="ＭＳ Ｐゴシック" charset="-128"/>
              </a:rPr>
              <a:t> because in fact they all </a:t>
            </a:r>
            <a:r>
              <a:rPr lang="en-US" altLang="ja-JP" sz="2000" u="sng" dirty="0">
                <a:ea typeface="ＭＳ Ｐゴシック" charset="-128"/>
              </a:rPr>
              <a:t>vary</a:t>
            </a:r>
            <a:r>
              <a:rPr lang="en-US" altLang="ja-JP" sz="2000" dirty="0">
                <a:ea typeface="ＭＳ Ｐゴシック" charset="-128"/>
              </a:rPr>
              <a:t> significantly in their </a:t>
            </a:r>
            <a:r>
              <a:rPr lang="en-US" altLang="ja-JP" sz="2000" i="1" dirty="0">
                <a:solidFill>
                  <a:srgbClr val="00B0F0"/>
                </a:solidFill>
                <a:ea typeface="ＭＳ Ｐゴシック" charset="-128"/>
              </a:rPr>
              <a:t>identity</a:t>
            </a:r>
            <a:r>
              <a:rPr lang="en-US" altLang="ja-JP" sz="2000" dirty="0">
                <a:ea typeface="ＭＳ Ｐゴシック" charset="-128"/>
              </a:rPr>
              <a:t>: their values, perceptions, aspirations, and ways of looking at the world—</a:t>
            </a:r>
            <a:r>
              <a:rPr lang="en-US" altLang="ja-JP" sz="2000" u="sng" dirty="0">
                <a:ea typeface="ＭＳ Ｐゴシック" charset="-128"/>
              </a:rPr>
              <a:t>which in turn shape the states</a:t>
            </a:r>
            <a:r>
              <a:rPr lang="en-US" altLang="en-US" sz="2000" u="sng" dirty="0">
                <a:ea typeface="ＭＳ Ｐゴシック" charset="-128"/>
              </a:rPr>
              <a:t>’</a:t>
            </a:r>
            <a:r>
              <a:rPr lang="en-US" altLang="ja-JP" sz="2000" u="sng" dirty="0">
                <a:ea typeface="ＭＳ Ｐゴシック" charset="-128"/>
              </a:rPr>
              <a:t> foreign policies</a:t>
            </a:r>
            <a:r>
              <a:rPr lang="en-US" altLang="ja-JP" sz="2000" dirty="0">
                <a:ea typeface="ＭＳ Ｐゴシック" charset="-128"/>
              </a:rPr>
              <a:t>.</a:t>
            </a:r>
            <a:endParaRPr lang="en-US" altLang="ja-JP" sz="1800" dirty="0">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000" dirty="0">
                <a:ea typeface="ＭＳ Ｐゴシック" charset="-128"/>
              </a:rPr>
              <a:t>Even if you want to believe that states are all rational, you’d have to decide if they’re rational in the way that neorealists impute or rational in the way that neoliberals impute.  </a:t>
            </a:r>
            <a:r>
              <a:rPr lang="en-US" altLang="en-US" sz="2000" dirty="0">
                <a:solidFill>
                  <a:srgbClr val="FFFF00"/>
                </a:solidFill>
                <a:effectLst>
                  <a:outerShdw blurRad="38100" dist="38100" dir="2700000" algn="tl">
                    <a:srgbClr val="FFFFFF"/>
                  </a:outerShdw>
                </a:effectLst>
                <a:ea typeface="ＭＳ Ｐゴシック" charset="-128"/>
              </a:rPr>
              <a:t>What’s the difference?</a:t>
            </a:r>
            <a:endParaRPr lang="en-US" altLang="en-US" sz="1800" dirty="0">
              <a:solidFill>
                <a:srgbClr val="FFFF00"/>
              </a:solidFill>
              <a:effectLst>
                <a:outerShdw blurRad="38100" dist="38100" dir="2700000" algn="tl">
                  <a:srgbClr val="FFFFFF"/>
                </a:outerShdw>
              </a:effectLst>
              <a:ea typeface="ＭＳ Ｐゴシック" charset="-128"/>
            </a:endParaRPr>
          </a:p>
          <a:p>
            <a:pPr>
              <a:buFont typeface="Wingdings" charset="2"/>
              <a:buNone/>
              <a:defRPr/>
            </a:pPr>
            <a:r>
              <a:rPr lang="en-US" altLang="en-US" sz="2400" dirty="0">
                <a:ea typeface="ＭＳ Ｐゴシック" charset="-128"/>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29" name="Title 1">
            <a:extLst>
              <a:ext uri="{FF2B5EF4-FFF2-40B4-BE49-F238E27FC236}">
                <a16:creationId xmlns:a16="http://schemas.microsoft.com/office/drawing/2014/main" id="{07B53BAC-7950-DDA3-7D69-DC35CFB0B725}"/>
              </a:ext>
            </a:extLst>
          </p:cNvPr>
          <p:cNvPicPr>
            <a:picLocks noGrp="1" noChangeArrowheads="1"/>
          </p:cNvPicPr>
          <p:nvPr>
            <p:ph type="title"/>
          </p:nvPr>
        </p:nvPicPr>
        <p:blipFill>
          <a:blip r:embed="rId2">
            <a:extLst>
              <a:ext uri="{28A0092B-C50C-407E-A947-70E740481C1C}">
                <a14:useLocalDpi xmlns:a14="http://schemas.microsoft.com/office/drawing/2010/main" val="0"/>
              </a:ext>
            </a:extLst>
          </a:blip>
          <a:srcRect/>
          <a:stretch>
            <a:fillRect/>
          </a:stretch>
        </p:blipFill>
        <p:spPr>
          <a:xfrm>
            <a:off x="457200" y="266700"/>
            <a:ext cx="8229600" cy="1168400"/>
          </a:xfrm>
        </p:spPr>
      </p:pic>
      <p:sp>
        <p:nvSpPr>
          <p:cNvPr id="3" name="Content Placeholder 2">
            <a:extLst>
              <a:ext uri="{FF2B5EF4-FFF2-40B4-BE49-F238E27FC236}">
                <a16:creationId xmlns:a16="http://schemas.microsoft.com/office/drawing/2014/main" id="{2AFD7B95-311C-5272-8315-804FB7C7BFB1}"/>
              </a:ext>
            </a:extLst>
          </p:cNvPr>
          <p:cNvSpPr>
            <a:spLocks noGrp="1"/>
          </p:cNvSpPr>
          <p:nvPr>
            <p:ph idx="1"/>
          </p:nvPr>
        </p:nvSpPr>
        <p:spPr/>
        <p:txBody>
          <a:bodyPr/>
          <a:lstStyle/>
          <a:p>
            <a:pPr>
              <a:buFont typeface="Wingdings" charset="2"/>
              <a:buNone/>
              <a:defRPr/>
            </a:pPr>
            <a:endParaRPr lang="en-US" altLang="en-US" sz="2400" dirty="0">
              <a:ea typeface="ＭＳ Ｐゴシック" charset="-128"/>
            </a:endParaRPr>
          </a:p>
          <a:p>
            <a:pPr>
              <a:buFont typeface="Wingdings" charset="2"/>
              <a:buNone/>
              <a:defRPr/>
            </a:pPr>
            <a:r>
              <a:rPr lang="en-US" altLang="en-US" sz="2400" dirty="0">
                <a:ea typeface="ＭＳ Ｐゴシック" charset="-128"/>
              </a:rPr>
              <a:t>	</a:t>
            </a:r>
            <a:r>
              <a:rPr lang="en-US" altLang="en-US" sz="2000" u="sng" dirty="0">
                <a:ea typeface="ＭＳ Ｐゴシック" charset="-128"/>
              </a:rPr>
              <a:t>Neorealists</a:t>
            </a:r>
            <a:r>
              <a:rPr lang="en-US" altLang="en-US" sz="2000" dirty="0">
                <a:ea typeface="ＭＳ Ｐゴシック" charset="-128"/>
              </a:rPr>
              <a:t> say that all </a:t>
            </a:r>
            <a:r>
              <a:rPr lang="ja-JP" altLang="en-US" sz="2000">
                <a:ea typeface="ＭＳ Ｐゴシック" charset="-128"/>
              </a:rPr>
              <a:t>“</a:t>
            </a:r>
            <a:r>
              <a:rPr lang="en-US" altLang="ja-JP" sz="2000" dirty="0">
                <a:ea typeface="ＭＳ Ｐゴシック" charset="-128"/>
              </a:rPr>
              <a:t>normal</a:t>
            </a:r>
            <a:r>
              <a:rPr lang="ja-JP" altLang="en-US" sz="2000">
                <a:ea typeface="ＭＳ Ｐゴシック" charset="-128"/>
              </a:rPr>
              <a:t>”</a:t>
            </a:r>
            <a:r>
              <a:rPr lang="en-US" altLang="ja-JP" sz="2000" dirty="0">
                <a:ea typeface="ＭＳ Ｐゴシック" charset="-128"/>
              </a:rPr>
              <a:t> states are rational, and are suspicious, self-regarding, amoral utility-maximizers determined to increase their power </a:t>
            </a:r>
            <a:r>
              <a:rPr lang="en-US" altLang="ja-JP" sz="2000" i="1" dirty="0">
                <a:ea typeface="ＭＳ Ｐゴシック" charset="-128"/>
              </a:rPr>
              <a:t>relative</a:t>
            </a:r>
            <a:r>
              <a:rPr lang="en-US" altLang="ja-JP" sz="2000" dirty="0">
                <a:ea typeface="ＭＳ Ｐゴシック" charset="-128"/>
              </a:rPr>
              <a:t> to the power of other states, even at the risk of inviting costly conflicts.</a:t>
            </a:r>
          </a:p>
          <a:p>
            <a:pPr>
              <a:buFont typeface="Wingdings" charset="2"/>
              <a:buNone/>
              <a:defRPr/>
            </a:pPr>
            <a:endParaRPr lang="en-US" altLang="en-US" sz="2000" dirty="0">
              <a:ea typeface="ＭＳ Ｐゴシック" charset="-128"/>
            </a:endParaRPr>
          </a:p>
          <a:p>
            <a:pPr>
              <a:buFont typeface="Wingdings" charset="2"/>
              <a:buNone/>
              <a:defRPr/>
            </a:pPr>
            <a:r>
              <a:rPr lang="en-US" altLang="en-US" sz="2400" dirty="0">
                <a:ea typeface="ＭＳ Ｐゴシック" charset="-128"/>
              </a:rPr>
              <a:t>	</a:t>
            </a:r>
          </a:p>
          <a:p>
            <a:pPr>
              <a:buFont typeface="Wingdings" charset="2"/>
              <a:buNone/>
              <a:defRPr/>
            </a:pPr>
            <a:r>
              <a:rPr lang="en-US" altLang="en-US" sz="2400" dirty="0">
                <a:ea typeface="ＭＳ Ｐゴシック" charset="-128"/>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3" name="Title 1">
            <a:extLst>
              <a:ext uri="{FF2B5EF4-FFF2-40B4-BE49-F238E27FC236}">
                <a16:creationId xmlns:a16="http://schemas.microsoft.com/office/drawing/2014/main" id="{E936FDC3-696B-F27B-56C7-5FDE0DD6A777}"/>
              </a:ext>
            </a:extLst>
          </p:cNvPr>
          <p:cNvPicPr>
            <a:picLocks noGrp="1" noChangeArrowheads="1"/>
          </p:cNvPicPr>
          <p:nvPr>
            <p:ph type="title"/>
          </p:nvPr>
        </p:nvPicPr>
        <p:blipFill>
          <a:blip r:embed="rId2">
            <a:extLst>
              <a:ext uri="{28A0092B-C50C-407E-A947-70E740481C1C}">
                <a14:useLocalDpi xmlns:a14="http://schemas.microsoft.com/office/drawing/2010/main" val="0"/>
              </a:ext>
            </a:extLst>
          </a:blip>
          <a:srcRect/>
          <a:stretch>
            <a:fillRect/>
          </a:stretch>
        </p:blipFill>
        <p:spPr>
          <a:xfrm>
            <a:off x="457200" y="266700"/>
            <a:ext cx="8229600" cy="1168400"/>
          </a:xfrm>
        </p:spPr>
      </p:pic>
      <p:sp>
        <p:nvSpPr>
          <p:cNvPr id="3" name="Content Placeholder 2">
            <a:extLst>
              <a:ext uri="{FF2B5EF4-FFF2-40B4-BE49-F238E27FC236}">
                <a16:creationId xmlns:a16="http://schemas.microsoft.com/office/drawing/2014/main" id="{400FD9CD-5CAC-B071-7805-653470F37365}"/>
              </a:ext>
            </a:extLst>
          </p:cNvPr>
          <p:cNvSpPr>
            <a:spLocks noGrp="1"/>
          </p:cNvSpPr>
          <p:nvPr>
            <p:ph idx="1"/>
          </p:nvPr>
        </p:nvSpPr>
        <p:spPr/>
        <p:txBody>
          <a:bodyPr/>
          <a:lstStyle/>
          <a:p>
            <a:pPr>
              <a:buFont typeface="Wingdings" charset="2"/>
              <a:buNone/>
              <a:defRPr/>
            </a:pPr>
            <a:endParaRPr lang="en-US" altLang="en-US" sz="2400" dirty="0">
              <a:ea typeface="ＭＳ Ｐゴシック" charset="-128"/>
            </a:endParaRPr>
          </a:p>
          <a:p>
            <a:pPr>
              <a:buFont typeface="Wingdings" charset="2"/>
              <a:buNone/>
              <a:defRPr/>
            </a:pPr>
            <a:r>
              <a:rPr lang="en-US" altLang="en-US" sz="2400" dirty="0">
                <a:ea typeface="ＭＳ Ｐゴシック" charset="-128"/>
              </a:rPr>
              <a:t>	</a:t>
            </a:r>
            <a:r>
              <a:rPr lang="en-US" altLang="en-US" sz="2000" u="sng" dirty="0">
                <a:ea typeface="ＭＳ Ｐゴシック" charset="-128"/>
              </a:rPr>
              <a:t>Neorealists</a:t>
            </a:r>
            <a:r>
              <a:rPr lang="en-US" altLang="en-US" sz="2000" dirty="0">
                <a:ea typeface="ＭＳ Ｐゴシック" charset="-128"/>
              </a:rPr>
              <a:t> say that all </a:t>
            </a:r>
            <a:r>
              <a:rPr lang="ja-JP" altLang="en-US" sz="2000">
                <a:ea typeface="ＭＳ Ｐゴシック" charset="-128"/>
              </a:rPr>
              <a:t>“</a:t>
            </a:r>
            <a:r>
              <a:rPr lang="en-US" altLang="ja-JP" sz="2000" dirty="0">
                <a:ea typeface="ＭＳ Ｐゴシック" charset="-128"/>
              </a:rPr>
              <a:t>normal</a:t>
            </a:r>
            <a:r>
              <a:rPr lang="ja-JP" altLang="en-US" sz="2000">
                <a:ea typeface="ＭＳ Ｐゴシック" charset="-128"/>
              </a:rPr>
              <a:t>”</a:t>
            </a:r>
            <a:r>
              <a:rPr lang="en-US" altLang="ja-JP" sz="2000" dirty="0">
                <a:ea typeface="ＭＳ Ｐゴシック" charset="-128"/>
              </a:rPr>
              <a:t> states are rational, and are suspicious, self-regarding, amoral utility-maximizers determined to increase their power </a:t>
            </a:r>
            <a:r>
              <a:rPr lang="en-US" altLang="ja-JP" sz="2000" i="1" dirty="0">
                <a:ea typeface="ＭＳ Ｐゴシック" charset="-128"/>
              </a:rPr>
              <a:t>relative</a:t>
            </a:r>
            <a:r>
              <a:rPr lang="en-US" altLang="ja-JP" sz="2000" dirty="0">
                <a:ea typeface="ＭＳ Ｐゴシック" charset="-128"/>
              </a:rPr>
              <a:t> to the power of other states, even at the risk of inviting costly conflicts.</a:t>
            </a:r>
          </a:p>
          <a:p>
            <a:pPr>
              <a:buFont typeface="Wingdings" charset="2"/>
              <a:buNone/>
              <a:defRPr/>
            </a:pPr>
            <a:endParaRPr lang="en-US" altLang="en-US" sz="2000" dirty="0">
              <a:ea typeface="ＭＳ Ｐゴシック" charset="-128"/>
            </a:endParaRPr>
          </a:p>
          <a:p>
            <a:pPr>
              <a:buFont typeface="Wingdings" charset="2"/>
              <a:buNone/>
              <a:defRPr/>
            </a:pPr>
            <a:r>
              <a:rPr lang="en-US" altLang="en-US" sz="2000" dirty="0">
                <a:ea typeface="ＭＳ Ｐゴシック" charset="-128"/>
              </a:rPr>
              <a:t>	</a:t>
            </a:r>
            <a:r>
              <a:rPr lang="en-US" altLang="en-US" sz="2000" u="sng" dirty="0">
                <a:ea typeface="ＭＳ Ｐゴシック" charset="-128"/>
              </a:rPr>
              <a:t>Neoliberals</a:t>
            </a:r>
            <a:r>
              <a:rPr lang="en-US" altLang="en-US" sz="2000" dirty="0">
                <a:ea typeface="ＭＳ Ｐゴシック" charset="-128"/>
              </a:rPr>
              <a:t> say that all “normal” states are rational, </a:t>
            </a:r>
            <a:r>
              <a:rPr lang="en-US" altLang="en-US" sz="2000" dirty="0">
                <a:solidFill>
                  <a:srgbClr val="FFC000"/>
                </a:solidFill>
                <a:ea typeface="ＭＳ Ｐゴシック" charset="-128"/>
              </a:rPr>
              <a:t>BUT</a:t>
            </a:r>
            <a:r>
              <a:rPr lang="en-US" altLang="en-US" sz="2000" dirty="0">
                <a:ea typeface="ＭＳ Ｐゴシック" charset="-128"/>
              </a:rPr>
              <a:t> they are still predisposed to </a:t>
            </a:r>
            <a:r>
              <a:rPr lang="en-US" altLang="en-US" sz="2000" i="1" dirty="0">
                <a:ea typeface="ＭＳ Ｐゴシック" charset="-128"/>
              </a:rPr>
              <a:t>cooperate</a:t>
            </a:r>
            <a:r>
              <a:rPr lang="en-US" altLang="en-US" sz="2000" dirty="0">
                <a:ea typeface="ＭＳ Ｐゴシック" charset="-128"/>
              </a:rPr>
              <a:t> with other states in international society and to smooth over conflicts.  </a:t>
            </a:r>
            <a:r>
              <a:rPr lang="en-US" altLang="en-US" sz="2000" dirty="0">
                <a:solidFill>
                  <a:srgbClr val="FFFF00"/>
                </a:solidFill>
                <a:effectLst>
                  <a:outerShdw blurRad="38100" dist="38100" dir="2700000" algn="tl">
                    <a:srgbClr val="FFFFFF"/>
                  </a:outerShdw>
                </a:effectLst>
                <a:ea typeface="ＭＳ Ｐゴシック" charset="-128"/>
              </a:rPr>
              <a:t>The goal of Neoliberal states is to maximize </a:t>
            </a:r>
            <a:r>
              <a:rPr lang="en-US" altLang="en-US" sz="2000" i="1" dirty="0">
                <a:solidFill>
                  <a:srgbClr val="FFFF00"/>
                </a:solidFill>
                <a:effectLst>
                  <a:outerShdw blurRad="38100" dist="38100" dir="2700000" algn="tl">
                    <a:srgbClr val="FFFFFF"/>
                  </a:outerShdw>
                </a:effectLst>
                <a:ea typeface="ＭＳ Ｐゴシック" charset="-128"/>
              </a:rPr>
              <a:t>absolute </a:t>
            </a:r>
            <a:r>
              <a:rPr lang="en-US" altLang="en-US" sz="2000" dirty="0">
                <a:solidFill>
                  <a:srgbClr val="FFFF00"/>
                </a:solidFill>
                <a:effectLst>
                  <a:outerShdw blurRad="38100" dist="38100" dir="2700000" algn="tl">
                    <a:srgbClr val="FFFFFF"/>
                  </a:outerShdw>
                </a:effectLst>
                <a:ea typeface="ＭＳ Ｐゴシック" charset="-128"/>
              </a:rPr>
              <a:t>utility</a:t>
            </a:r>
            <a:r>
              <a:rPr lang="en-US" altLang="en-US" sz="2000" dirty="0">
                <a:ea typeface="ＭＳ Ｐゴシック" charset="-128"/>
              </a:rPr>
              <a:t>, compared to the utility accrued in the past or that might be gained in the present and future from taking a different course of action.</a:t>
            </a:r>
          </a:p>
          <a:p>
            <a:pPr>
              <a:buFont typeface="Wingdings" charset="2"/>
              <a:buNone/>
              <a:defRPr/>
            </a:pPr>
            <a:endParaRPr lang="en-US" altLang="en-US" sz="2400" dirty="0">
              <a:ea typeface="ＭＳ Ｐゴシック" charset="-128"/>
            </a:endParaRPr>
          </a:p>
          <a:p>
            <a:pPr>
              <a:buFont typeface="Wingdings" charset="2"/>
              <a:buNone/>
              <a:defRPr/>
            </a:pPr>
            <a:r>
              <a:rPr lang="en-US" altLang="en-US" sz="2400" dirty="0">
                <a:ea typeface="ＭＳ Ｐゴシック" charset="-128"/>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A51F0-4E1E-698D-44F9-D3ACCC6E9ABB}"/>
              </a:ext>
            </a:extLst>
          </p:cNvPr>
          <p:cNvSpPr>
            <a:spLocks noGrp="1"/>
          </p:cNvSpPr>
          <p:nvPr>
            <p:ph type="title"/>
          </p:nvPr>
        </p:nvSpPr>
        <p:spPr/>
        <p:txBody>
          <a:bodyPr/>
          <a:lstStyle/>
          <a:p>
            <a:pPr>
              <a:defRPr/>
            </a:pPr>
            <a:r>
              <a:rPr lang="en-US" altLang="en-US" sz="4000" u="sng" dirty="0">
                <a:solidFill>
                  <a:srgbClr val="FFFFFF"/>
                </a:solidFill>
                <a:effectLst>
                  <a:outerShdw blurRad="38100" dist="38100" dir="2700000" algn="tl">
                    <a:srgbClr val="010199"/>
                  </a:outerShdw>
                </a:effectLst>
                <a:ea typeface="ＭＳ Ｐゴシック" charset="-128"/>
              </a:rPr>
              <a:t>Constructivism</a:t>
            </a:r>
            <a:br>
              <a:rPr lang="en-US" altLang="en-US" sz="4000" dirty="0">
                <a:solidFill>
                  <a:srgbClr val="FFFFFF"/>
                </a:solidFill>
                <a:effectLst>
                  <a:outerShdw blurRad="38100" dist="38100" dir="2700000" algn="tl">
                    <a:srgbClr val="010199"/>
                  </a:outerShdw>
                </a:effectLst>
                <a:ea typeface="ＭＳ Ｐゴシック" charset="-128"/>
              </a:rPr>
            </a:br>
            <a:endParaRPr lang="en-US" altLang="en-US" sz="4000" dirty="0">
              <a:solidFill>
                <a:srgbClr val="FFFFFF"/>
              </a:solidFill>
              <a:effectLst>
                <a:outerShdw blurRad="38100" dist="38100" dir="2700000" algn="tl">
                  <a:srgbClr val="010199"/>
                </a:outerShdw>
              </a:effectLst>
              <a:ea typeface="ＭＳ Ｐゴシック" charset="-128"/>
            </a:endParaRPr>
          </a:p>
        </p:txBody>
      </p:sp>
      <p:sp>
        <p:nvSpPr>
          <p:cNvPr id="3" name="Content Placeholder 2">
            <a:extLst>
              <a:ext uri="{FF2B5EF4-FFF2-40B4-BE49-F238E27FC236}">
                <a16:creationId xmlns:a16="http://schemas.microsoft.com/office/drawing/2014/main" id="{5D98FB88-984C-25DD-65CF-F6F68D36819D}"/>
              </a:ext>
            </a:extLst>
          </p:cNvPr>
          <p:cNvSpPr>
            <a:spLocks noGrp="1"/>
          </p:cNvSpPr>
          <p:nvPr>
            <p:ph idx="1"/>
          </p:nvPr>
        </p:nvSpPr>
        <p:spPr>
          <a:xfrm>
            <a:off x="152400" y="1219200"/>
            <a:ext cx="8763000" cy="4911725"/>
          </a:xfrm>
        </p:spPr>
        <p:txBody>
          <a:bodyPr/>
          <a:lstStyle/>
          <a:p>
            <a:pPr>
              <a:buFont typeface="Wingdings" charset="2"/>
              <a:buNone/>
              <a:defRPr/>
            </a:pPr>
            <a:r>
              <a:rPr lang="en-US" altLang="en-US" sz="2000" dirty="0">
                <a:ea typeface="ＭＳ Ｐゴシック" charset="-128"/>
              </a:rPr>
              <a:t>You can’t assume that all states are alike as </a:t>
            </a:r>
            <a:r>
              <a:rPr lang="ja-JP" altLang="en-US" sz="2000">
                <a:ea typeface="ＭＳ Ｐゴシック" charset="-128"/>
              </a:rPr>
              <a:t>“</a:t>
            </a:r>
            <a:r>
              <a:rPr lang="en-US" altLang="ja-JP" sz="2000" dirty="0">
                <a:ea typeface="ＭＳ Ｐゴシック" charset="-128"/>
              </a:rPr>
              <a:t>rational actors,</a:t>
            </a:r>
            <a:r>
              <a:rPr lang="ja-JP" altLang="en-US" sz="2000">
                <a:ea typeface="ＭＳ Ｐゴシック" charset="-128"/>
              </a:rPr>
              <a:t>”</a:t>
            </a:r>
            <a:r>
              <a:rPr lang="en-US" altLang="ja-JP" sz="2000" dirty="0">
                <a:ea typeface="ＭＳ Ｐゴシック" charset="-128"/>
              </a:rPr>
              <a:t> because in fact they all </a:t>
            </a:r>
            <a:r>
              <a:rPr lang="en-US" altLang="ja-JP" sz="2000" u="sng" dirty="0">
                <a:ea typeface="ＭＳ Ｐゴシック" charset="-128"/>
              </a:rPr>
              <a:t>vary</a:t>
            </a:r>
            <a:r>
              <a:rPr lang="en-US" altLang="ja-JP" sz="2000" dirty="0">
                <a:ea typeface="ＭＳ Ｐゴシック" charset="-128"/>
              </a:rPr>
              <a:t> significantly in their </a:t>
            </a:r>
            <a:r>
              <a:rPr lang="en-US" altLang="ja-JP" sz="2000" i="1" dirty="0">
                <a:solidFill>
                  <a:srgbClr val="00B0F0"/>
                </a:solidFill>
                <a:ea typeface="ＭＳ Ｐゴシック" charset="-128"/>
              </a:rPr>
              <a:t>identity</a:t>
            </a:r>
            <a:r>
              <a:rPr lang="en-US" altLang="ja-JP" sz="2000" dirty="0">
                <a:ea typeface="ＭＳ Ｐゴシック" charset="-128"/>
              </a:rPr>
              <a:t>: their values, perceptions, aspirations, and ways of looking at the world—</a:t>
            </a:r>
            <a:r>
              <a:rPr lang="en-US" altLang="ja-JP" sz="2000" u="sng" dirty="0">
                <a:ea typeface="ＭＳ Ｐゴシック" charset="-128"/>
              </a:rPr>
              <a:t>which in turn shape the states</a:t>
            </a:r>
            <a:r>
              <a:rPr lang="en-US" altLang="en-US" sz="2000" u="sng" dirty="0">
                <a:ea typeface="ＭＳ Ｐゴシック" charset="-128"/>
              </a:rPr>
              <a:t>’</a:t>
            </a:r>
            <a:r>
              <a:rPr lang="en-US" altLang="ja-JP" sz="2000" u="sng" dirty="0">
                <a:ea typeface="ＭＳ Ｐゴシック" charset="-128"/>
              </a:rPr>
              <a:t> foreign policies</a:t>
            </a:r>
            <a:r>
              <a:rPr lang="en-US" altLang="ja-JP" sz="2000" dirty="0">
                <a:ea typeface="ＭＳ Ｐゴシック" charset="-128"/>
              </a:rPr>
              <a:t>.</a:t>
            </a:r>
            <a:endParaRPr lang="en-US" altLang="ja-JP" sz="1800" dirty="0">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000" dirty="0">
                <a:ea typeface="ＭＳ Ｐゴシック" charset="-128"/>
              </a:rPr>
              <a:t>Even if you want to believe that states are all rational, you’d have to decide if they’re rational in the way that neorealists impute or rational in the way that neoliberals impute.  </a:t>
            </a:r>
            <a:r>
              <a:rPr lang="en-US" altLang="en-US" sz="2000" dirty="0">
                <a:solidFill>
                  <a:srgbClr val="FFFF00"/>
                </a:solidFill>
                <a:effectLst>
                  <a:outerShdw blurRad="38100" dist="38100" dir="2700000" algn="tl">
                    <a:srgbClr val="FFFFFF"/>
                  </a:outerShdw>
                </a:effectLst>
                <a:ea typeface="ＭＳ Ｐゴシック" charset="-128"/>
              </a:rPr>
              <a:t>What’s the difference?</a:t>
            </a:r>
            <a:endParaRPr lang="en-US" altLang="en-US" sz="1800" dirty="0">
              <a:solidFill>
                <a:srgbClr val="FFFF00"/>
              </a:solidFill>
              <a:effectLst>
                <a:outerShdw blurRad="38100" dist="38100" dir="2700000" algn="tl">
                  <a:srgbClr val="FFFFFF"/>
                </a:outerShdw>
              </a:effectLst>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400" dirty="0">
                <a:ea typeface="ＭＳ Ｐゴシック" charset="-128"/>
              </a:rPr>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961C3-25F2-2DF5-6961-9D5C3DDF219C}"/>
              </a:ext>
            </a:extLst>
          </p:cNvPr>
          <p:cNvSpPr>
            <a:spLocks noGrp="1"/>
          </p:cNvSpPr>
          <p:nvPr>
            <p:ph type="title"/>
          </p:nvPr>
        </p:nvSpPr>
        <p:spPr/>
        <p:txBody>
          <a:bodyPr/>
          <a:lstStyle/>
          <a:p>
            <a:pPr>
              <a:defRPr/>
            </a:pPr>
            <a:r>
              <a:rPr lang="en-US" altLang="en-US" sz="4000" u="sng" dirty="0">
                <a:solidFill>
                  <a:srgbClr val="FFFFFF"/>
                </a:solidFill>
                <a:effectLst>
                  <a:outerShdw blurRad="38100" dist="38100" dir="2700000" algn="tl">
                    <a:srgbClr val="010199"/>
                  </a:outerShdw>
                </a:effectLst>
                <a:ea typeface="ＭＳ Ｐゴシック" charset="-128"/>
              </a:rPr>
              <a:t>Constructivism</a:t>
            </a:r>
            <a:br>
              <a:rPr lang="en-US" altLang="en-US" sz="4000" dirty="0">
                <a:solidFill>
                  <a:srgbClr val="FFFFFF"/>
                </a:solidFill>
                <a:effectLst>
                  <a:outerShdw blurRad="38100" dist="38100" dir="2700000" algn="tl">
                    <a:srgbClr val="010199"/>
                  </a:outerShdw>
                </a:effectLst>
                <a:ea typeface="ＭＳ Ｐゴシック" charset="-128"/>
              </a:rPr>
            </a:br>
            <a:endParaRPr lang="en-US" altLang="en-US" sz="4000" dirty="0">
              <a:solidFill>
                <a:srgbClr val="FFFFFF"/>
              </a:solidFill>
              <a:effectLst>
                <a:outerShdw blurRad="38100" dist="38100" dir="2700000" algn="tl">
                  <a:srgbClr val="010199"/>
                </a:outerShdw>
              </a:effectLst>
              <a:ea typeface="ＭＳ Ｐゴシック" charset="-128"/>
            </a:endParaRPr>
          </a:p>
        </p:txBody>
      </p:sp>
      <p:sp>
        <p:nvSpPr>
          <p:cNvPr id="3" name="Content Placeholder 2">
            <a:extLst>
              <a:ext uri="{FF2B5EF4-FFF2-40B4-BE49-F238E27FC236}">
                <a16:creationId xmlns:a16="http://schemas.microsoft.com/office/drawing/2014/main" id="{BD0E51F8-F051-57DB-2AC7-77D63964A236}"/>
              </a:ext>
            </a:extLst>
          </p:cNvPr>
          <p:cNvSpPr>
            <a:spLocks noGrp="1"/>
          </p:cNvSpPr>
          <p:nvPr>
            <p:ph idx="1"/>
          </p:nvPr>
        </p:nvSpPr>
        <p:spPr>
          <a:xfrm>
            <a:off x="152400" y="1219200"/>
            <a:ext cx="8763000" cy="4911725"/>
          </a:xfrm>
        </p:spPr>
        <p:txBody>
          <a:bodyPr/>
          <a:lstStyle/>
          <a:p>
            <a:pPr>
              <a:buFont typeface="Wingdings" charset="2"/>
              <a:buNone/>
              <a:defRPr/>
            </a:pPr>
            <a:r>
              <a:rPr lang="en-US" altLang="en-US" sz="2000" dirty="0">
                <a:ea typeface="ＭＳ Ｐゴシック" charset="-128"/>
              </a:rPr>
              <a:t>You can’t assume that all states are alike as </a:t>
            </a:r>
            <a:r>
              <a:rPr lang="ja-JP" altLang="en-US" sz="2000">
                <a:ea typeface="ＭＳ Ｐゴシック" charset="-128"/>
              </a:rPr>
              <a:t>“</a:t>
            </a:r>
            <a:r>
              <a:rPr lang="en-US" altLang="ja-JP" sz="2000" dirty="0">
                <a:ea typeface="ＭＳ Ｐゴシック" charset="-128"/>
              </a:rPr>
              <a:t>rational actors,</a:t>
            </a:r>
            <a:r>
              <a:rPr lang="ja-JP" altLang="en-US" sz="2000">
                <a:ea typeface="ＭＳ Ｐゴシック" charset="-128"/>
              </a:rPr>
              <a:t>”</a:t>
            </a:r>
            <a:r>
              <a:rPr lang="en-US" altLang="ja-JP" sz="2000" dirty="0">
                <a:ea typeface="ＭＳ Ｐゴシック" charset="-128"/>
              </a:rPr>
              <a:t> because in fact they all </a:t>
            </a:r>
            <a:r>
              <a:rPr lang="en-US" altLang="ja-JP" sz="2000" u="sng" dirty="0">
                <a:ea typeface="ＭＳ Ｐゴシック" charset="-128"/>
              </a:rPr>
              <a:t>vary</a:t>
            </a:r>
            <a:r>
              <a:rPr lang="en-US" altLang="ja-JP" sz="2000" dirty="0">
                <a:ea typeface="ＭＳ Ｐゴシック" charset="-128"/>
              </a:rPr>
              <a:t> significantly in their </a:t>
            </a:r>
            <a:r>
              <a:rPr lang="en-US" altLang="ja-JP" sz="2000" i="1" dirty="0">
                <a:solidFill>
                  <a:srgbClr val="00B0F0"/>
                </a:solidFill>
                <a:ea typeface="ＭＳ Ｐゴシック" charset="-128"/>
              </a:rPr>
              <a:t>identity</a:t>
            </a:r>
            <a:r>
              <a:rPr lang="en-US" altLang="ja-JP" sz="2000" dirty="0">
                <a:ea typeface="ＭＳ Ｐゴシック" charset="-128"/>
              </a:rPr>
              <a:t>: their values, perceptions, aspirations, and ways of looking at the world—</a:t>
            </a:r>
            <a:r>
              <a:rPr lang="en-US" altLang="ja-JP" sz="2000" u="sng" dirty="0">
                <a:ea typeface="ＭＳ Ｐゴシック" charset="-128"/>
              </a:rPr>
              <a:t>which in turn shape the states</a:t>
            </a:r>
            <a:r>
              <a:rPr lang="en-US" altLang="en-US" sz="2000" u="sng" dirty="0">
                <a:ea typeface="ＭＳ Ｐゴシック" charset="-128"/>
              </a:rPr>
              <a:t>’</a:t>
            </a:r>
            <a:r>
              <a:rPr lang="en-US" altLang="ja-JP" sz="2000" u="sng" dirty="0">
                <a:ea typeface="ＭＳ Ｐゴシック" charset="-128"/>
              </a:rPr>
              <a:t> foreign policies</a:t>
            </a:r>
            <a:r>
              <a:rPr lang="en-US" altLang="ja-JP" sz="2000" dirty="0">
                <a:ea typeface="ＭＳ Ｐゴシック" charset="-128"/>
              </a:rPr>
              <a:t>.</a:t>
            </a:r>
            <a:endParaRPr lang="en-US" altLang="ja-JP" sz="1800" dirty="0">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000" dirty="0">
                <a:ea typeface="ＭＳ Ｐゴシック" charset="-128"/>
              </a:rPr>
              <a:t>Even if you want to believe that states are all rational, you’d have to decide if they’re rational in the way that neorealists impute or rational in the way that neoliberals impute.  </a:t>
            </a:r>
            <a:r>
              <a:rPr lang="en-US" altLang="en-US" sz="2000" dirty="0">
                <a:solidFill>
                  <a:srgbClr val="FFFF00"/>
                </a:solidFill>
                <a:effectLst>
                  <a:outerShdw blurRad="38100" dist="38100" dir="2700000" algn="tl">
                    <a:srgbClr val="FFFFFF"/>
                  </a:outerShdw>
                </a:effectLst>
                <a:ea typeface="ＭＳ Ｐゴシック" charset="-128"/>
              </a:rPr>
              <a:t>What’s the difference?</a:t>
            </a:r>
            <a:endParaRPr lang="en-US" altLang="en-US" sz="1800" dirty="0">
              <a:solidFill>
                <a:srgbClr val="FFFF00"/>
              </a:solidFill>
              <a:effectLst>
                <a:outerShdw blurRad="38100" dist="38100" dir="2700000" algn="tl">
                  <a:srgbClr val="FFFFFF"/>
                </a:outerShdw>
              </a:effectLst>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000" u="sng" dirty="0">
                <a:ea typeface="ＭＳ Ｐゴシック" charset="-128"/>
              </a:rPr>
              <a:t>State interests aren’t self-evident</a:t>
            </a:r>
            <a:r>
              <a:rPr lang="en-US" altLang="en-US" sz="2000" dirty="0">
                <a:ea typeface="ＭＳ Ｐゴシック" charset="-128"/>
              </a:rPr>
              <a:t>.  States aren’t “born” knowing what to go after.  They </a:t>
            </a:r>
            <a:r>
              <a:rPr lang="en-US" altLang="en-US" sz="2000" i="1" dirty="0">
                <a:ea typeface="ＭＳ Ｐゴシック" charset="-128"/>
              </a:rPr>
              <a:t>learn</a:t>
            </a:r>
            <a:r>
              <a:rPr lang="en-US" altLang="en-US" sz="2000" dirty="0">
                <a:ea typeface="ＭＳ Ｐゴシック" charset="-128"/>
              </a:rPr>
              <a:t> what to go after as a result of acquiring identities through </a:t>
            </a:r>
            <a:r>
              <a:rPr lang="en-US" altLang="en-US" sz="2000" i="1" dirty="0">
                <a:solidFill>
                  <a:srgbClr val="7030A0"/>
                </a:solidFill>
                <a:ea typeface="ＭＳ Ｐゴシック" charset="-128"/>
              </a:rPr>
              <a:t>socialization</a:t>
            </a:r>
            <a:r>
              <a:rPr lang="en-US" altLang="en-US" sz="2000" dirty="0">
                <a:ea typeface="ＭＳ Ｐゴシック" charset="-128"/>
              </a:rPr>
              <a:t>—introjecting the norms of international </a:t>
            </a:r>
            <a:r>
              <a:rPr lang="en-US" altLang="en-US" sz="2000" i="1" dirty="0">
                <a:ea typeface="ＭＳ Ｐゴシック" charset="-128"/>
              </a:rPr>
              <a:t>or world </a:t>
            </a:r>
            <a:r>
              <a:rPr lang="en-US" altLang="en-US" sz="2000" dirty="0">
                <a:highlight>
                  <a:srgbClr val="FF0000"/>
                </a:highlight>
                <a:ea typeface="ＭＳ Ｐゴシック" charset="-128"/>
              </a:rPr>
              <a:t>society</a:t>
            </a:r>
            <a:r>
              <a:rPr lang="en-US" altLang="en-US" sz="2000" dirty="0">
                <a:ea typeface="ＭＳ Ｐゴシック" charset="-128"/>
              </a:rPr>
              <a:t> </a:t>
            </a:r>
            <a:r>
              <a:rPr lang="en-US" altLang="en-US" sz="2000" dirty="0">
                <a:solidFill>
                  <a:srgbClr val="00B050"/>
                </a:solidFill>
                <a:ea typeface="ＭＳ Ｐゴシック" charset="-128"/>
              </a:rPr>
              <a:t>and their own domestic cultures</a:t>
            </a:r>
            <a:r>
              <a:rPr lang="en-US" altLang="en-US" sz="2000" dirty="0">
                <a:ea typeface="ＭＳ Ｐゴシック" charset="-128"/>
              </a:rPr>
              <a:t>.</a:t>
            </a:r>
            <a:endParaRPr lang="en-US" altLang="en-US" sz="1800" dirty="0">
              <a:ea typeface="ＭＳ Ｐゴシック" charset="-128"/>
            </a:endParaRPr>
          </a:p>
          <a:p>
            <a:pPr>
              <a:buFont typeface="Wingdings" charset="2"/>
              <a:buNone/>
              <a:defRPr/>
            </a:pPr>
            <a:r>
              <a:rPr lang="en-US" altLang="en-US" sz="2400" dirty="0">
                <a:ea typeface="ＭＳ Ｐゴシック" charset="-128"/>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E898E-6AA9-48CC-DD06-9C0FEE672EA6}"/>
              </a:ext>
            </a:extLst>
          </p:cNvPr>
          <p:cNvSpPr>
            <a:spLocks noGrp="1"/>
          </p:cNvSpPr>
          <p:nvPr>
            <p:ph type="title"/>
          </p:nvPr>
        </p:nvSpPr>
        <p:spPr/>
        <p:txBody>
          <a:bodyPr/>
          <a:lstStyle/>
          <a:p>
            <a:pPr>
              <a:defRPr/>
            </a:pPr>
            <a:r>
              <a:rPr lang="en-US" altLang="en-US" sz="4000" u="sng" dirty="0">
                <a:solidFill>
                  <a:srgbClr val="FFFFFF"/>
                </a:solidFill>
                <a:effectLst>
                  <a:outerShdw blurRad="38100" dist="38100" dir="2700000" algn="tl">
                    <a:srgbClr val="010199"/>
                  </a:outerShdw>
                </a:effectLst>
                <a:ea typeface="ＭＳ Ｐゴシック" charset="-128"/>
              </a:rPr>
              <a:t>Constructivism</a:t>
            </a:r>
            <a:br>
              <a:rPr lang="en-US" altLang="en-US" sz="4000" dirty="0">
                <a:solidFill>
                  <a:srgbClr val="FFFFFF"/>
                </a:solidFill>
                <a:effectLst>
                  <a:outerShdw blurRad="38100" dist="38100" dir="2700000" algn="tl">
                    <a:srgbClr val="010199"/>
                  </a:outerShdw>
                </a:effectLst>
                <a:ea typeface="ＭＳ Ｐゴシック" charset="-128"/>
              </a:rPr>
            </a:br>
            <a:endParaRPr lang="en-US" altLang="en-US" sz="4000" dirty="0">
              <a:solidFill>
                <a:srgbClr val="FFFFFF"/>
              </a:solidFill>
              <a:effectLst>
                <a:outerShdw blurRad="38100" dist="38100" dir="2700000" algn="tl">
                  <a:srgbClr val="010199"/>
                </a:outerShdw>
              </a:effectLst>
              <a:ea typeface="ＭＳ Ｐゴシック" charset="-128"/>
            </a:endParaRPr>
          </a:p>
        </p:txBody>
      </p:sp>
      <p:sp>
        <p:nvSpPr>
          <p:cNvPr id="3" name="Content Placeholder 2">
            <a:extLst>
              <a:ext uri="{FF2B5EF4-FFF2-40B4-BE49-F238E27FC236}">
                <a16:creationId xmlns:a16="http://schemas.microsoft.com/office/drawing/2014/main" id="{2A1CE210-9B59-923C-BFA9-EE6D88DAD683}"/>
              </a:ext>
            </a:extLst>
          </p:cNvPr>
          <p:cNvSpPr>
            <a:spLocks noGrp="1"/>
          </p:cNvSpPr>
          <p:nvPr>
            <p:ph idx="1"/>
          </p:nvPr>
        </p:nvSpPr>
        <p:spPr>
          <a:xfrm>
            <a:off x="152400" y="1219200"/>
            <a:ext cx="8763000" cy="4911725"/>
          </a:xfrm>
        </p:spPr>
        <p:txBody>
          <a:bodyPr/>
          <a:lstStyle/>
          <a:p>
            <a:pPr>
              <a:buFont typeface="Wingdings" charset="2"/>
              <a:buNone/>
              <a:defRPr/>
            </a:pPr>
            <a:r>
              <a:rPr lang="en-US" altLang="en-US" sz="2000" dirty="0">
                <a:ea typeface="ＭＳ Ｐゴシック" charset="-128"/>
              </a:rPr>
              <a:t>You can’t assume that all states are alike as </a:t>
            </a:r>
            <a:r>
              <a:rPr lang="ja-JP" altLang="en-US" sz="2000">
                <a:ea typeface="ＭＳ Ｐゴシック" charset="-128"/>
              </a:rPr>
              <a:t>“</a:t>
            </a:r>
            <a:r>
              <a:rPr lang="en-US" altLang="ja-JP" sz="2000" dirty="0">
                <a:ea typeface="ＭＳ Ｐゴシック" charset="-128"/>
              </a:rPr>
              <a:t>rational actors,</a:t>
            </a:r>
            <a:r>
              <a:rPr lang="ja-JP" altLang="en-US" sz="2000">
                <a:ea typeface="ＭＳ Ｐゴシック" charset="-128"/>
              </a:rPr>
              <a:t>”</a:t>
            </a:r>
            <a:r>
              <a:rPr lang="en-US" altLang="ja-JP" sz="2000" dirty="0">
                <a:ea typeface="ＭＳ Ｐゴシック" charset="-128"/>
              </a:rPr>
              <a:t> because in fact they all </a:t>
            </a:r>
            <a:r>
              <a:rPr lang="en-US" altLang="ja-JP" sz="2000" u="sng" dirty="0">
                <a:ea typeface="ＭＳ Ｐゴシック" charset="-128"/>
              </a:rPr>
              <a:t>vary</a:t>
            </a:r>
            <a:r>
              <a:rPr lang="en-US" altLang="ja-JP" sz="2000" dirty="0">
                <a:ea typeface="ＭＳ Ｐゴシック" charset="-128"/>
              </a:rPr>
              <a:t> significantly in their </a:t>
            </a:r>
            <a:r>
              <a:rPr lang="en-US" altLang="ja-JP" sz="2000" i="1" dirty="0">
                <a:solidFill>
                  <a:srgbClr val="00B0F0"/>
                </a:solidFill>
                <a:ea typeface="ＭＳ Ｐゴシック" charset="-128"/>
              </a:rPr>
              <a:t>identity</a:t>
            </a:r>
            <a:r>
              <a:rPr lang="en-US" altLang="ja-JP" sz="2000" dirty="0">
                <a:ea typeface="ＭＳ Ｐゴシック" charset="-128"/>
              </a:rPr>
              <a:t>: their values, perceptions, aspirations, and ways of looking at the world—</a:t>
            </a:r>
            <a:r>
              <a:rPr lang="en-US" altLang="ja-JP" sz="2000" u="sng" dirty="0">
                <a:ea typeface="ＭＳ Ｐゴシック" charset="-128"/>
              </a:rPr>
              <a:t>which in turn shape the states</a:t>
            </a:r>
            <a:r>
              <a:rPr lang="en-US" altLang="en-US" sz="2000" u="sng" dirty="0">
                <a:ea typeface="ＭＳ Ｐゴシック" charset="-128"/>
              </a:rPr>
              <a:t>’</a:t>
            </a:r>
            <a:r>
              <a:rPr lang="en-US" altLang="ja-JP" sz="2000" u="sng" dirty="0">
                <a:ea typeface="ＭＳ Ｐゴシック" charset="-128"/>
              </a:rPr>
              <a:t> foreign policies</a:t>
            </a:r>
            <a:r>
              <a:rPr lang="en-US" altLang="ja-JP" sz="2000" dirty="0">
                <a:ea typeface="ＭＳ Ｐゴシック" charset="-128"/>
              </a:rPr>
              <a:t>.</a:t>
            </a:r>
            <a:endParaRPr lang="en-US" altLang="ja-JP" sz="1800" dirty="0">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000" dirty="0">
                <a:ea typeface="ＭＳ Ｐゴシック" charset="-128"/>
              </a:rPr>
              <a:t>Even if you want to believe that states are all rational, you’d have to decide if they’re rational in the way that neorealists impute or rational in the way that neoliberals impute.  </a:t>
            </a:r>
            <a:r>
              <a:rPr lang="en-US" altLang="en-US" sz="2000" dirty="0">
                <a:solidFill>
                  <a:srgbClr val="FFFF00"/>
                </a:solidFill>
                <a:effectLst>
                  <a:outerShdw blurRad="38100" dist="38100" dir="2700000" algn="tl">
                    <a:srgbClr val="FFFFFF"/>
                  </a:outerShdw>
                </a:effectLst>
                <a:ea typeface="ＭＳ Ｐゴシック" charset="-128"/>
              </a:rPr>
              <a:t>What’s the difference?</a:t>
            </a:r>
            <a:endParaRPr lang="en-US" altLang="en-US" sz="1800" dirty="0">
              <a:solidFill>
                <a:srgbClr val="FFFF00"/>
              </a:solidFill>
              <a:effectLst>
                <a:outerShdw blurRad="38100" dist="38100" dir="2700000" algn="tl">
                  <a:srgbClr val="FFFFFF"/>
                </a:outerShdw>
              </a:effectLst>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000" u="sng" dirty="0">
                <a:ea typeface="ＭＳ Ｐゴシック" charset="-128"/>
              </a:rPr>
              <a:t>State interests aren’t self-evident</a:t>
            </a:r>
            <a:r>
              <a:rPr lang="en-US" altLang="en-US" sz="2000" dirty="0">
                <a:ea typeface="ＭＳ Ｐゴシック" charset="-128"/>
              </a:rPr>
              <a:t>.  States aren’t “born” knowing what to go after.  They </a:t>
            </a:r>
            <a:r>
              <a:rPr lang="en-US" altLang="en-US" sz="2000" i="1" dirty="0">
                <a:ea typeface="ＭＳ Ｐゴシック" charset="-128"/>
              </a:rPr>
              <a:t>learn</a:t>
            </a:r>
            <a:r>
              <a:rPr lang="en-US" altLang="en-US" sz="2000" dirty="0">
                <a:ea typeface="ＭＳ Ｐゴシック" charset="-128"/>
              </a:rPr>
              <a:t> what to go after as a result of acquiring identities through </a:t>
            </a:r>
            <a:r>
              <a:rPr lang="en-US" altLang="en-US" sz="2000" i="1" dirty="0">
                <a:solidFill>
                  <a:srgbClr val="7030A0"/>
                </a:solidFill>
                <a:ea typeface="ＭＳ Ｐゴシック" charset="-128"/>
              </a:rPr>
              <a:t>socialization</a:t>
            </a:r>
            <a:r>
              <a:rPr lang="en-US" altLang="en-US" sz="2000" dirty="0">
                <a:ea typeface="ＭＳ Ｐゴシック" charset="-128"/>
              </a:rPr>
              <a:t>—introjecting the norms of international </a:t>
            </a:r>
            <a:r>
              <a:rPr lang="en-US" altLang="en-US" sz="2000" i="1" dirty="0">
                <a:ea typeface="ＭＳ Ｐゴシック" charset="-128"/>
              </a:rPr>
              <a:t>or world </a:t>
            </a:r>
            <a:r>
              <a:rPr lang="en-US" altLang="en-US" sz="2000" dirty="0">
                <a:highlight>
                  <a:srgbClr val="FF0000"/>
                </a:highlight>
                <a:ea typeface="ＭＳ Ｐゴシック" charset="-128"/>
              </a:rPr>
              <a:t>society</a:t>
            </a:r>
            <a:r>
              <a:rPr lang="en-US" altLang="en-US" sz="2000" dirty="0">
                <a:ea typeface="ＭＳ Ｐゴシック" charset="-128"/>
              </a:rPr>
              <a:t> </a:t>
            </a:r>
            <a:r>
              <a:rPr lang="en-US" altLang="en-US" sz="2000" dirty="0">
                <a:solidFill>
                  <a:srgbClr val="00B050"/>
                </a:solidFill>
                <a:ea typeface="ＭＳ Ｐゴシック" charset="-128"/>
              </a:rPr>
              <a:t>and their own domestic cultures</a:t>
            </a:r>
            <a:r>
              <a:rPr lang="en-US" altLang="en-US" sz="2000" dirty="0">
                <a:ea typeface="ＭＳ Ｐゴシック" charset="-128"/>
              </a:rPr>
              <a:t>.</a:t>
            </a:r>
            <a:endParaRPr lang="en-US" altLang="en-US" sz="1800" dirty="0">
              <a:ea typeface="ＭＳ Ｐゴシック" charset="-128"/>
            </a:endParaRPr>
          </a:p>
          <a:p>
            <a:pPr>
              <a:buFont typeface="Wingdings" charset="2"/>
              <a:buNone/>
              <a:defRPr/>
            </a:pPr>
            <a:endParaRPr lang="en-US" altLang="en-US" sz="1800" dirty="0">
              <a:ea typeface="ＭＳ Ｐゴシック" charset="-128"/>
            </a:endParaRPr>
          </a:p>
          <a:p>
            <a:pPr>
              <a:buFont typeface="Wingdings" charset="2"/>
              <a:buNone/>
              <a:defRPr/>
            </a:pPr>
            <a:r>
              <a:rPr lang="en-US" altLang="en-US" sz="2000" dirty="0">
                <a:ea typeface="ＭＳ Ｐゴシック" charset="-128"/>
              </a:rPr>
              <a:t>Then, through their day-to-day policies and actions, states help </a:t>
            </a:r>
            <a:r>
              <a:rPr lang="en-US" altLang="en-US" sz="2000" i="1" dirty="0">
                <a:ea typeface="ＭＳ Ｐゴシック" charset="-128"/>
              </a:rPr>
              <a:t>construct international AND world </a:t>
            </a:r>
            <a:r>
              <a:rPr lang="en-US" altLang="en-US" sz="2000" i="1" dirty="0">
                <a:highlight>
                  <a:srgbClr val="FF0000"/>
                </a:highlight>
                <a:ea typeface="ＭＳ Ｐゴシック" charset="-128"/>
              </a:rPr>
              <a:t>societies</a:t>
            </a:r>
            <a:r>
              <a:rPr lang="en-US" altLang="en-US" sz="2000" i="1" dirty="0">
                <a:ea typeface="ＭＳ Ｐゴシック" charset="-128"/>
              </a:rPr>
              <a:t>,</a:t>
            </a:r>
            <a:r>
              <a:rPr lang="en-US" altLang="en-US" sz="2000" dirty="0">
                <a:ea typeface="ＭＳ Ｐゴシック" charset="-128"/>
              </a:rPr>
              <a:t> which in turn interact with domestic cultures to construct </a:t>
            </a:r>
            <a:r>
              <a:rPr lang="en-US" altLang="en-US" sz="2000" i="1" dirty="0">
                <a:ea typeface="ＭＳ Ｐゴシック" charset="-128"/>
              </a:rPr>
              <a:t>them</a:t>
            </a:r>
            <a:r>
              <a:rPr lang="en-US" altLang="en-US" sz="2000" dirty="0">
                <a:ea typeface="ＭＳ Ｐゴシック" charset="-128"/>
              </a:rPr>
              <a:t> in an endless, ongoing cycle: </a:t>
            </a:r>
            <a:r>
              <a:rPr lang="ja-JP" altLang="en-US" sz="2000">
                <a:ea typeface="ＭＳ Ｐゴシック" charset="-128"/>
              </a:rPr>
              <a:t>“</a:t>
            </a:r>
            <a:r>
              <a:rPr lang="en-US" altLang="ja-JP" sz="2000" u="sng" dirty="0">
                <a:solidFill>
                  <a:srgbClr val="FFFF00"/>
                </a:solidFill>
                <a:effectLst>
                  <a:outerShdw blurRad="38100" dist="38100" dir="2700000" algn="tl">
                    <a:srgbClr val="FFFFFF"/>
                  </a:outerShdw>
                </a:effectLst>
                <a:ea typeface="ＭＳ Ｐゴシック" charset="-128"/>
              </a:rPr>
              <a:t>structuration</a:t>
            </a:r>
            <a:r>
              <a:rPr lang="en-US" altLang="ja-JP" sz="2000" dirty="0">
                <a:ea typeface="ＭＳ Ｐゴシック" charset="-128"/>
              </a:rPr>
              <a:t>.</a:t>
            </a:r>
            <a:r>
              <a:rPr lang="ja-JP" altLang="en-US" sz="2000">
                <a:ea typeface="ＭＳ Ｐゴシック" charset="-128"/>
              </a:rPr>
              <a:t>”</a:t>
            </a:r>
            <a:endParaRPr lang="en-US" altLang="ja-JP" sz="2000" dirty="0">
              <a:ea typeface="ＭＳ Ｐゴシック" charset="-128"/>
            </a:endParaRPr>
          </a:p>
          <a:p>
            <a:pPr>
              <a:buFont typeface="Wingdings" charset="2"/>
              <a:buNone/>
              <a:defRPr/>
            </a:pPr>
            <a:r>
              <a:rPr lang="en-US" altLang="en-US" sz="2400" dirty="0">
                <a:ea typeface="ＭＳ Ｐゴシック" charset="-128"/>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90D03-DF42-D3A5-C244-C57AE5DDFFF8}"/>
              </a:ext>
            </a:extLst>
          </p:cNvPr>
          <p:cNvSpPr>
            <a:spLocks noGrp="1"/>
          </p:cNvSpPr>
          <p:nvPr>
            <p:ph type="title"/>
          </p:nvPr>
        </p:nvSpPr>
        <p:spPr>
          <a:xfrm>
            <a:off x="457200" y="277813"/>
            <a:ext cx="8229600" cy="788987"/>
          </a:xfrm>
        </p:spPr>
        <p:txBody>
          <a:bodyPr/>
          <a:lstStyle/>
          <a:p>
            <a:pPr>
              <a:defRPr/>
            </a:pPr>
            <a:r>
              <a:rPr lang="en-US" altLang="en-US" sz="4000" dirty="0">
                <a:solidFill>
                  <a:srgbClr val="FFFF00"/>
                </a:solidFill>
                <a:ea typeface="ＭＳ Ｐゴシック" charset="-128"/>
              </a:rPr>
              <a:t>STRUCTURATION</a:t>
            </a:r>
          </a:p>
        </p:txBody>
      </p:sp>
      <p:pic>
        <p:nvPicPr>
          <p:cNvPr id="27650" name="Content Placeholder 3" descr="Structuration.jpg">
            <a:extLst>
              <a:ext uri="{FF2B5EF4-FFF2-40B4-BE49-F238E27FC236}">
                <a16:creationId xmlns:a16="http://schemas.microsoft.com/office/drawing/2014/main" id="{BCF2935D-604A-93D2-61D0-AD2F16BEFD7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40820" r="-40820"/>
          <a:stretch>
            <a:fillRect/>
          </a:stretch>
        </p:blipFill>
        <p:spPr>
          <a:xfrm>
            <a:off x="3581400" y="2057400"/>
            <a:ext cx="6310313" cy="3475038"/>
          </a:xfrm>
        </p:spPr>
      </p:pic>
      <p:pic>
        <p:nvPicPr>
          <p:cNvPr id="27651" name="Picture 3" descr="Structuration.png">
            <a:extLst>
              <a:ext uri="{FF2B5EF4-FFF2-40B4-BE49-F238E27FC236}">
                <a16:creationId xmlns:a16="http://schemas.microsoft.com/office/drawing/2014/main" id="{AF8151D2-F455-C482-610B-4A43821CEA2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057400"/>
            <a:ext cx="3475038" cy="347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7010" name="Rectangle 2">
            <a:extLst>
              <a:ext uri="{FF2B5EF4-FFF2-40B4-BE49-F238E27FC236}">
                <a16:creationId xmlns:a16="http://schemas.microsoft.com/office/drawing/2014/main" id="{0A2FFC99-C2A0-2390-B337-305AE1E19FB3}"/>
              </a:ext>
            </a:extLst>
          </p:cNvPr>
          <p:cNvSpPr>
            <a:spLocks noGrp="1" noChangeArrowheads="1"/>
          </p:cNvSpPr>
          <p:nvPr>
            <p:ph type="title"/>
          </p:nvPr>
        </p:nvSpPr>
        <p:spPr/>
        <p:txBody>
          <a:bodyPr/>
          <a:lstStyle/>
          <a:p>
            <a:pPr eaLnBrk="1" hangingPunct="1">
              <a:defRPr/>
            </a:pPr>
            <a:endParaRPr lang="en-US" altLang="en-US" dirty="0">
              <a:ea typeface="ＭＳ Ｐゴシック" panose="020B0600070205080204" pitchFamily="34" charset="-128"/>
            </a:endParaRPr>
          </a:p>
        </p:txBody>
      </p:sp>
      <p:sp>
        <p:nvSpPr>
          <p:cNvPr id="1067011" name="Rectangle 3">
            <a:extLst>
              <a:ext uri="{FF2B5EF4-FFF2-40B4-BE49-F238E27FC236}">
                <a16:creationId xmlns:a16="http://schemas.microsoft.com/office/drawing/2014/main" id="{706F2C6A-F189-FA62-09B5-ABCC1A932F5B}"/>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43011" name="Picture 4" descr="Levels of analysis">
            <a:extLst>
              <a:ext uri="{FF2B5EF4-FFF2-40B4-BE49-F238E27FC236}">
                <a16:creationId xmlns:a16="http://schemas.microsoft.com/office/drawing/2014/main" id="{B1C74929-7CC4-CE98-1A04-1276E9B2C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588"/>
            <a:ext cx="6856413" cy="685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extBox 1">
            <a:extLst>
              <a:ext uri="{FF2B5EF4-FFF2-40B4-BE49-F238E27FC236}">
                <a16:creationId xmlns:a16="http://schemas.microsoft.com/office/drawing/2014/main" id="{AFCE0E2B-0B5F-440B-B92D-A3AC76B1BAAC}"/>
              </a:ext>
            </a:extLst>
          </p:cNvPr>
          <p:cNvSpPr txBox="1">
            <a:spLocks noChangeArrowheads="1"/>
          </p:cNvSpPr>
          <p:nvPr/>
        </p:nvSpPr>
        <p:spPr bwMode="auto">
          <a:xfrm>
            <a:off x="3389313" y="873125"/>
            <a:ext cx="2362200"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ctr">
              <a:spcBef>
                <a:spcPct val="0"/>
              </a:spcBef>
              <a:buClrTx/>
              <a:buSzTx/>
              <a:buFontTx/>
              <a:buNone/>
            </a:pPr>
            <a:r>
              <a:rPr lang="en-US" altLang="en-US" b="1">
                <a:solidFill>
                  <a:schemeClr val="bg1"/>
                </a:solidFill>
              </a:rPr>
              <a:t>ANARCHY!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F69FD-7454-0BCA-8C73-D7C71513055A}"/>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4" name="Content Placeholder 3">
            <a:extLst>
              <a:ext uri="{FF2B5EF4-FFF2-40B4-BE49-F238E27FC236}">
                <a16:creationId xmlns:a16="http://schemas.microsoft.com/office/drawing/2014/main" id="{3377F02C-98E6-EE87-6AC1-5139935803E0}"/>
              </a:ext>
            </a:extLst>
          </p:cNvPr>
          <p:cNvSpPr>
            <a:spLocks noGrp="1"/>
          </p:cNvSpPr>
          <p:nvPr>
            <p:ph idx="1"/>
          </p:nvPr>
        </p:nvSpPr>
        <p:spPr>
          <a:xfrm>
            <a:off x="457200" y="1219200"/>
            <a:ext cx="8229600" cy="4911725"/>
          </a:xfrm>
        </p:spPr>
        <p:txBody>
          <a:bodyPr/>
          <a:lstStyle/>
          <a:p>
            <a:pPr marL="0" indent="0">
              <a:buNone/>
            </a:pPr>
            <a:endParaRPr lang="en-US" sz="1800" dirty="0"/>
          </a:p>
          <a:p>
            <a:pPr marL="0" indent="0">
              <a:buNone/>
            </a:pP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1E69D-03EA-B052-047B-743A5A922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86A52-122E-A4BB-0809-86C0FF0A17E4}"/>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4" name="Content Placeholder 3">
            <a:extLst>
              <a:ext uri="{FF2B5EF4-FFF2-40B4-BE49-F238E27FC236}">
                <a16:creationId xmlns:a16="http://schemas.microsoft.com/office/drawing/2014/main" id="{0D232598-C0EF-B6EA-54B5-D359CD170CA0}"/>
              </a:ext>
            </a:extLst>
          </p:cNvPr>
          <p:cNvSpPr>
            <a:spLocks noGrp="1"/>
          </p:cNvSpPr>
          <p:nvPr>
            <p:ph idx="1"/>
          </p:nvPr>
        </p:nvSpPr>
        <p:spPr>
          <a:xfrm>
            <a:off x="457200" y="1219200"/>
            <a:ext cx="8229600" cy="4911725"/>
          </a:xfrm>
        </p:spPr>
        <p:txBody>
          <a:bodyPr/>
          <a:lstStyle/>
          <a:p>
            <a:r>
              <a:rPr lang="en-US" sz="1800" dirty="0"/>
              <a:t>“Anarchy as such is an empty vessel and has no intrinsic logic; anarchies only acquire logics as a function of the structure of what we put inside them."</a:t>
            </a:r>
          </a:p>
          <a:p>
            <a:endParaRPr lang="en-US" sz="1800" dirty="0"/>
          </a:p>
          <a:p>
            <a:pPr marL="0" indent="0">
              <a:buNone/>
            </a:pPr>
            <a:endParaRPr lang="en-US" sz="1800" dirty="0"/>
          </a:p>
        </p:txBody>
      </p:sp>
    </p:spTree>
    <p:extLst>
      <p:ext uri="{BB962C8B-B14F-4D97-AF65-F5344CB8AC3E}">
        <p14:creationId xmlns:p14="http://schemas.microsoft.com/office/powerpoint/2010/main" val="4031584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2A0DA-79FB-718A-B143-D10B80E4A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ED09E0-817A-11DD-1864-71A25A346A96}"/>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4" name="Content Placeholder 3">
            <a:extLst>
              <a:ext uri="{FF2B5EF4-FFF2-40B4-BE49-F238E27FC236}">
                <a16:creationId xmlns:a16="http://schemas.microsoft.com/office/drawing/2014/main" id="{37E998AF-0A0E-1CA5-5FE9-BEEDF165FC5B}"/>
              </a:ext>
            </a:extLst>
          </p:cNvPr>
          <p:cNvSpPr>
            <a:spLocks noGrp="1"/>
          </p:cNvSpPr>
          <p:nvPr>
            <p:ph idx="1"/>
          </p:nvPr>
        </p:nvSpPr>
        <p:spPr>
          <a:xfrm>
            <a:off x="457200" y="1219200"/>
            <a:ext cx="8229600" cy="4911725"/>
          </a:xfrm>
        </p:spPr>
        <p:txBody>
          <a:bodyPr/>
          <a:lstStyle/>
          <a:p>
            <a:r>
              <a:rPr lang="en-US" sz="1800" dirty="0"/>
              <a:t>“Anarchy as such is an empty vessel and has no intrinsic logic; anarchies only acquire logics as a function of the structure of what we put inside them."</a:t>
            </a:r>
          </a:p>
          <a:p>
            <a:endParaRPr lang="en-US" sz="1800" dirty="0"/>
          </a:p>
          <a:p>
            <a:r>
              <a:rPr lang="en-US" sz="1800" dirty="0"/>
              <a:t>An international anarchy, whether at the global or regional level, can have any one of three kinds of structure: </a:t>
            </a:r>
            <a:r>
              <a:rPr lang="en-US" sz="1800" dirty="0">
                <a:highlight>
                  <a:srgbClr val="800000"/>
                </a:highlight>
              </a:rPr>
              <a:t>Hobbesian</a:t>
            </a:r>
            <a:r>
              <a:rPr lang="en-US" sz="1800" dirty="0"/>
              <a:t>, </a:t>
            </a:r>
            <a:r>
              <a:rPr lang="en-US" sz="1800" dirty="0">
                <a:highlight>
                  <a:srgbClr val="000080"/>
                </a:highlight>
              </a:rPr>
              <a:t>Lockean</a:t>
            </a:r>
            <a:r>
              <a:rPr lang="en-US" sz="1800" dirty="0"/>
              <a:t>, or </a:t>
            </a:r>
            <a:r>
              <a:rPr lang="en-US" sz="1800" dirty="0">
                <a:highlight>
                  <a:srgbClr val="008000"/>
                </a:highlight>
              </a:rPr>
              <a:t>Kantian</a:t>
            </a:r>
            <a:r>
              <a:rPr lang="en-US" sz="1800" dirty="0"/>
              <a:t>.</a:t>
            </a:r>
          </a:p>
          <a:p>
            <a:pPr marL="0" indent="0">
              <a:buNone/>
            </a:pPr>
            <a:endParaRPr lang="en-US" sz="1800" dirty="0"/>
          </a:p>
        </p:txBody>
      </p:sp>
    </p:spTree>
    <p:extLst>
      <p:ext uri="{BB962C8B-B14F-4D97-AF65-F5344CB8AC3E}">
        <p14:creationId xmlns:p14="http://schemas.microsoft.com/office/powerpoint/2010/main" val="1992217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FF8C-6208-00E5-3035-C362FE866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B0AC7D-15C5-4DFF-326A-8246FEC93F56}"/>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4" name="Content Placeholder 3">
            <a:extLst>
              <a:ext uri="{FF2B5EF4-FFF2-40B4-BE49-F238E27FC236}">
                <a16:creationId xmlns:a16="http://schemas.microsoft.com/office/drawing/2014/main" id="{96B6225B-BFA3-515E-5F15-24C9AE54D3F7}"/>
              </a:ext>
            </a:extLst>
          </p:cNvPr>
          <p:cNvSpPr>
            <a:spLocks noGrp="1"/>
          </p:cNvSpPr>
          <p:nvPr>
            <p:ph idx="1"/>
          </p:nvPr>
        </p:nvSpPr>
        <p:spPr>
          <a:xfrm>
            <a:off x="457200" y="1219200"/>
            <a:ext cx="8229600" cy="4911725"/>
          </a:xfrm>
        </p:spPr>
        <p:txBody>
          <a:bodyPr/>
          <a:lstStyle/>
          <a:p>
            <a:r>
              <a:rPr lang="en-US" sz="1800" dirty="0"/>
              <a:t>“Anarchy as such is an empty vessel and has no intrinsic logic; anarchies only acquire logics as a function of the structure of what we put inside them."</a:t>
            </a:r>
          </a:p>
          <a:p>
            <a:endParaRPr lang="en-US" sz="1800" dirty="0"/>
          </a:p>
          <a:p>
            <a:r>
              <a:rPr lang="en-US" sz="1800" dirty="0"/>
              <a:t>An international anarchy, whether at the global or regional level, can have any one of three kinds of structure: </a:t>
            </a:r>
            <a:r>
              <a:rPr lang="en-US" sz="1800" dirty="0">
                <a:highlight>
                  <a:srgbClr val="800000"/>
                </a:highlight>
              </a:rPr>
              <a:t>Hobbesian</a:t>
            </a:r>
            <a:r>
              <a:rPr lang="en-US" sz="1800" dirty="0"/>
              <a:t>, </a:t>
            </a:r>
            <a:r>
              <a:rPr lang="en-US" sz="1800" dirty="0">
                <a:highlight>
                  <a:srgbClr val="000080"/>
                </a:highlight>
              </a:rPr>
              <a:t>Lockean</a:t>
            </a:r>
            <a:r>
              <a:rPr lang="en-US" sz="1800" dirty="0"/>
              <a:t>, or </a:t>
            </a:r>
            <a:r>
              <a:rPr lang="en-US" sz="1800" dirty="0">
                <a:highlight>
                  <a:srgbClr val="008000"/>
                </a:highlight>
              </a:rPr>
              <a:t>Kantian</a:t>
            </a:r>
            <a:r>
              <a:rPr lang="en-US" sz="1800" dirty="0"/>
              <a:t>.</a:t>
            </a:r>
          </a:p>
          <a:p>
            <a:endParaRPr lang="en-US" sz="1800" dirty="0"/>
          </a:p>
          <a:p>
            <a:r>
              <a:rPr lang="en-US" sz="1800" dirty="0"/>
              <a:t>Each of these structures is fundamentally constituted by shared ideas among the constituent state members, and </a:t>
            </a:r>
            <a:r>
              <a:rPr lang="en-US" sz="1800" dirty="0">
                <a:highlight>
                  <a:srgbClr val="0000FF"/>
                </a:highlight>
              </a:rPr>
              <a:t>these shared ideas in turn “make up the subset of social structure known as ‘culture</a:t>
            </a:r>
            <a:r>
              <a:rPr lang="en-US" sz="1800" dirty="0"/>
              <a:t>'."  Although there are other aspects to social structures, particularly material aspects, </a:t>
            </a:r>
            <a:r>
              <a:rPr lang="en-US" sz="1800" dirty="0">
                <a:highlight>
                  <a:srgbClr val="800080"/>
                </a:highlight>
              </a:rPr>
              <a:t>culture – as shared ideas – is “the most fundamental fact about the structure of an international system, </a:t>
            </a:r>
            <a:r>
              <a:rPr lang="en-US" sz="1800" i="1" dirty="0">
                <a:highlight>
                  <a:srgbClr val="800080"/>
                </a:highlight>
              </a:rPr>
              <a:t>giving meaning and power and content to </a:t>
            </a:r>
            <a:r>
              <a:rPr lang="en-US" sz="1800" i="1" u="sng" dirty="0">
                <a:highlight>
                  <a:srgbClr val="800080"/>
                </a:highlight>
              </a:rPr>
              <a:t>interests</a:t>
            </a:r>
            <a:r>
              <a:rPr lang="en-US" sz="1800" dirty="0"/>
              <a:t>."</a:t>
            </a:r>
          </a:p>
        </p:txBody>
      </p:sp>
    </p:spTree>
    <p:extLst>
      <p:ext uri="{BB962C8B-B14F-4D97-AF65-F5344CB8AC3E}">
        <p14:creationId xmlns:p14="http://schemas.microsoft.com/office/powerpoint/2010/main" val="33238303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CDD3B-D485-B265-7E7A-9B6FE36CBB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18F6E1-4705-A15E-1A7A-624AC5321EB0}"/>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4" name="Content Placeholder 3">
            <a:extLst>
              <a:ext uri="{FF2B5EF4-FFF2-40B4-BE49-F238E27FC236}">
                <a16:creationId xmlns:a16="http://schemas.microsoft.com/office/drawing/2014/main" id="{4D1829EA-31EB-F027-D965-907FAE433825}"/>
              </a:ext>
            </a:extLst>
          </p:cNvPr>
          <p:cNvSpPr>
            <a:spLocks noGrp="1"/>
          </p:cNvSpPr>
          <p:nvPr>
            <p:ph idx="1"/>
          </p:nvPr>
        </p:nvSpPr>
        <p:spPr>
          <a:xfrm>
            <a:off x="457200" y="1219200"/>
            <a:ext cx="8229600" cy="4911725"/>
          </a:xfrm>
        </p:spPr>
        <p:txBody>
          <a:bodyPr/>
          <a:lstStyle/>
          <a:p>
            <a:r>
              <a:rPr lang="en-US" sz="1800" dirty="0"/>
              <a:t>“Anarchy as such is an empty vessel and has no intrinsic logic; anarchies only acquire logics as a function of the structure of what we put inside them."</a:t>
            </a:r>
          </a:p>
          <a:p>
            <a:endParaRPr lang="en-US" sz="1800" dirty="0"/>
          </a:p>
          <a:p>
            <a:r>
              <a:rPr lang="en-US" sz="1800" dirty="0"/>
              <a:t>An international anarchy, whether at the global or regional level, can have any one of three kinds of structure: </a:t>
            </a:r>
            <a:r>
              <a:rPr lang="en-US" sz="1800" dirty="0">
                <a:highlight>
                  <a:srgbClr val="800000"/>
                </a:highlight>
              </a:rPr>
              <a:t>Hobbesian</a:t>
            </a:r>
            <a:r>
              <a:rPr lang="en-US" sz="1800" dirty="0"/>
              <a:t>, </a:t>
            </a:r>
            <a:r>
              <a:rPr lang="en-US" sz="1800" dirty="0">
                <a:highlight>
                  <a:srgbClr val="000080"/>
                </a:highlight>
              </a:rPr>
              <a:t>Lockean</a:t>
            </a:r>
            <a:r>
              <a:rPr lang="en-US" sz="1800" dirty="0"/>
              <a:t>, or </a:t>
            </a:r>
            <a:r>
              <a:rPr lang="en-US" sz="1800" dirty="0">
                <a:highlight>
                  <a:srgbClr val="008000"/>
                </a:highlight>
              </a:rPr>
              <a:t>Kantian</a:t>
            </a:r>
            <a:r>
              <a:rPr lang="en-US" sz="1800" dirty="0"/>
              <a:t>.</a:t>
            </a:r>
          </a:p>
          <a:p>
            <a:endParaRPr lang="en-US" sz="1800" dirty="0"/>
          </a:p>
          <a:p>
            <a:r>
              <a:rPr lang="en-US" sz="1800" dirty="0"/>
              <a:t>Each of these structures is fundamentally constituted by shared ideas among the constituent state members, and </a:t>
            </a:r>
            <a:r>
              <a:rPr lang="en-US" sz="1800" dirty="0">
                <a:highlight>
                  <a:srgbClr val="0000FF"/>
                </a:highlight>
              </a:rPr>
              <a:t>these shared ideas in turn “make up the subset of social structure known as ‘culture</a:t>
            </a:r>
            <a:r>
              <a:rPr lang="en-US" sz="1800" dirty="0"/>
              <a:t>'."  Although there are other aspects to social structures, particularly material aspects, </a:t>
            </a:r>
            <a:r>
              <a:rPr lang="en-US" sz="1800" dirty="0">
                <a:highlight>
                  <a:srgbClr val="800080"/>
                </a:highlight>
              </a:rPr>
              <a:t>culture – as shared ideas – is “the most fundamental fact about the structure of an international system, </a:t>
            </a:r>
            <a:r>
              <a:rPr lang="en-US" sz="1800" i="1" dirty="0">
                <a:highlight>
                  <a:srgbClr val="800080"/>
                </a:highlight>
              </a:rPr>
              <a:t>giving meaning and power and content to </a:t>
            </a:r>
            <a:r>
              <a:rPr lang="en-US" sz="1800" i="1" u="sng" dirty="0">
                <a:highlight>
                  <a:srgbClr val="800080"/>
                </a:highlight>
              </a:rPr>
              <a:t>interests</a:t>
            </a:r>
            <a:r>
              <a:rPr lang="en-US" sz="1800" dirty="0"/>
              <a:t>."</a:t>
            </a:r>
          </a:p>
        </p:txBody>
      </p:sp>
      <p:sp>
        <p:nvSpPr>
          <p:cNvPr id="7" name="TextBox 6">
            <a:extLst>
              <a:ext uri="{FF2B5EF4-FFF2-40B4-BE49-F238E27FC236}">
                <a16:creationId xmlns:a16="http://schemas.microsoft.com/office/drawing/2014/main" id="{E6434B5B-56B9-88B5-FD63-3C9BACE73D98}"/>
              </a:ext>
            </a:extLst>
          </p:cNvPr>
          <p:cNvSpPr txBox="1"/>
          <p:nvPr/>
        </p:nvSpPr>
        <p:spPr>
          <a:xfrm>
            <a:off x="2286000" y="5530760"/>
            <a:ext cx="4572000" cy="1200329"/>
          </a:xfrm>
          <a:prstGeom prst="rect">
            <a:avLst/>
          </a:prstGeom>
          <a:noFill/>
        </p:spPr>
        <p:txBody>
          <a:bodyPr wrap="square">
            <a:spAutoFit/>
          </a:bodyPr>
          <a:lstStyle/>
          <a:p>
            <a:pPr algn="ctr"/>
            <a:r>
              <a:rPr lang="en-US" sz="7200" dirty="0"/>
              <a:t>🤯</a:t>
            </a:r>
          </a:p>
        </p:txBody>
      </p:sp>
    </p:spTree>
    <p:extLst>
      <p:ext uri="{BB962C8B-B14F-4D97-AF65-F5344CB8AC3E}">
        <p14:creationId xmlns:p14="http://schemas.microsoft.com/office/powerpoint/2010/main" val="3963752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8E99-16D3-66A9-51CB-6D9064183F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F5D653-00FB-13E3-AAF3-CA5E0CFD938E}"/>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C66247C6-9498-AAC9-C707-5B46C6F92462}"/>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D57E823E-22D4-04AB-3B11-90B18DD2005A}"/>
              </a:ext>
            </a:extLst>
          </p:cNvPr>
          <p:cNvSpPr>
            <a:spLocks noGrp="1"/>
          </p:cNvSpPr>
          <p:nvPr>
            <p:ph idx="1"/>
          </p:nvPr>
        </p:nvSpPr>
        <p:spPr>
          <a:xfrm>
            <a:off x="457200" y="1219200"/>
            <a:ext cx="8229600" cy="4911725"/>
          </a:xfrm>
        </p:spPr>
        <p:txBody>
          <a:bodyPr/>
          <a:lstStyle/>
          <a:p>
            <a:r>
              <a:rPr lang="en-US" sz="1800" dirty="0"/>
              <a:t>Each of the three different kinds of structure centers on a dominant role that state members play.</a:t>
            </a:r>
          </a:p>
          <a:p>
            <a:pPr marL="0" indent="0">
              <a:buNone/>
            </a:pPr>
            <a:endParaRPr lang="en-US" sz="1800" dirty="0"/>
          </a:p>
        </p:txBody>
      </p:sp>
    </p:spTree>
    <p:extLst>
      <p:ext uri="{BB962C8B-B14F-4D97-AF65-F5344CB8AC3E}">
        <p14:creationId xmlns:p14="http://schemas.microsoft.com/office/powerpoint/2010/main" val="3653848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98482-934D-2880-10CF-A2749A6E2E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B7108-C447-15AC-30B8-8AB3C11AD35A}"/>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8B174E37-B743-27D3-E0B4-C22B4946A8A2}"/>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375147CC-8906-CC3F-1EAF-373B779ED070}"/>
              </a:ext>
            </a:extLst>
          </p:cNvPr>
          <p:cNvSpPr>
            <a:spLocks noGrp="1"/>
          </p:cNvSpPr>
          <p:nvPr>
            <p:ph idx="1"/>
          </p:nvPr>
        </p:nvSpPr>
        <p:spPr>
          <a:xfrm>
            <a:off x="457200" y="1219200"/>
            <a:ext cx="8229600" cy="4911725"/>
          </a:xfrm>
        </p:spPr>
        <p:txBody>
          <a:bodyPr/>
          <a:lstStyle/>
          <a:p>
            <a:r>
              <a:rPr lang="en-US" sz="1800" dirty="0"/>
              <a:t>Each of the three different kinds of structure centers on a dominant role that state members play.</a:t>
            </a:r>
          </a:p>
          <a:p>
            <a:endParaRPr lang="en-US" sz="1800" dirty="0"/>
          </a:p>
          <a:p>
            <a:r>
              <a:rPr lang="en-US" sz="1800" dirty="0"/>
              <a:t>In </a:t>
            </a:r>
            <a:r>
              <a:rPr lang="en-US" sz="1800" dirty="0">
                <a:highlight>
                  <a:srgbClr val="800000"/>
                </a:highlight>
              </a:rPr>
              <a:t>Hobbesian</a:t>
            </a:r>
            <a:r>
              <a:rPr lang="en-US" sz="1800" dirty="0"/>
              <a:t> cultures, the dominant role (or “subject position”) is “</a:t>
            </a:r>
            <a:r>
              <a:rPr lang="en-US" sz="1800" dirty="0">
                <a:highlight>
                  <a:srgbClr val="800000"/>
                </a:highlight>
              </a:rPr>
              <a:t>enemy</a:t>
            </a:r>
            <a:r>
              <a:rPr lang="en-US" sz="1800" dirty="0"/>
              <a:t>."</a:t>
            </a:r>
          </a:p>
          <a:p>
            <a:pPr marL="0" indent="0">
              <a:buNone/>
            </a:pPr>
            <a:endParaRPr lang="en-US" sz="1800" dirty="0"/>
          </a:p>
        </p:txBody>
      </p:sp>
    </p:spTree>
    <p:extLst>
      <p:ext uri="{BB962C8B-B14F-4D97-AF65-F5344CB8AC3E}">
        <p14:creationId xmlns:p14="http://schemas.microsoft.com/office/powerpoint/2010/main" val="2865298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B450B-78D3-BC0C-AAA1-D2A53724F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510C8-B75C-189E-04B2-35D4BEFB6492}"/>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805969D5-7A30-4785-FBA7-591DF5259798}"/>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A7EA61F8-F1CA-A607-3C89-F2B4133A75F1}"/>
              </a:ext>
            </a:extLst>
          </p:cNvPr>
          <p:cNvSpPr>
            <a:spLocks noGrp="1"/>
          </p:cNvSpPr>
          <p:nvPr>
            <p:ph idx="1"/>
          </p:nvPr>
        </p:nvSpPr>
        <p:spPr>
          <a:xfrm>
            <a:off x="457200" y="1219200"/>
            <a:ext cx="8229600" cy="4911725"/>
          </a:xfrm>
        </p:spPr>
        <p:txBody>
          <a:bodyPr/>
          <a:lstStyle/>
          <a:p>
            <a:r>
              <a:rPr lang="en-US" sz="1800" dirty="0"/>
              <a:t>Each of the three different kinds of structure centers on a dominant role that state members play.</a:t>
            </a:r>
          </a:p>
          <a:p>
            <a:endParaRPr lang="en-US" sz="1800" dirty="0"/>
          </a:p>
          <a:p>
            <a:r>
              <a:rPr lang="en-US" sz="1800" dirty="0"/>
              <a:t>In </a:t>
            </a:r>
            <a:r>
              <a:rPr lang="en-US" sz="1800" dirty="0">
                <a:highlight>
                  <a:srgbClr val="800000"/>
                </a:highlight>
              </a:rPr>
              <a:t>Hobbesian</a:t>
            </a:r>
            <a:r>
              <a:rPr lang="en-US" sz="1800" dirty="0"/>
              <a:t> cultures, the dominant role (or “subject position”) is “</a:t>
            </a:r>
            <a:r>
              <a:rPr lang="en-US" sz="1800" dirty="0">
                <a:highlight>
                  <a:srgbClr val="800000"/>
                </a:highlight>
              </a:rPr>
              <a:t>enemy</a:t>
            </a:r>
            <a:r>
              <a:rPr lang="en-US" sz="1800" dirty="0"/>
              <a:t>."</a:t>
            </a:r>
          </a:p>
          <a:p>
            <a:endParaRPr lang="en-US" sz="1800" dirty="0"/>
          </a:p>
          <a:p>
            <a:r>
              <a:rPr lang="en-US" sz="1800" dirty="0"/>
              <a:t>In </a:t>
            </a:r>
            <a:r>
              <a:rPr lang="en-US" sz="1800" dirty="0">
                <a:highlight>
                  <a:srgbClr val="000080"/>
                </a:highlight>
              </a:rPr>
              <a:t>Lockean</a:t>
            </a:r>
            <a:r>
              <a:rPr lang="en-US" sz="1800" dirty="0"/>
              <a:t> cultures it is “</a:t>
            </a:r>
            <a:r>
              <a:rPr lang="en-US" sz="1800" dirty="0">
                <a:highlight>
                  <a:srgbClr val="000080"/>
                </a:highlight>
              </a:rPr>
              <a:t>rival</a:t>
            </a:r>
            <a:r>
              <a:rPr lang="en-US" sz="1800" dirty="0"/>
              <a:t>."</a:t>
            </a:r>
          </a:p>
          <a:p>
            <a:pPr marL="0" indent="0">
              <a:buNone/>
            </a:pPr>
            <a:endParaRPr lang="en-US" sz="1800" dirty="0"/>
          </a:p>
        </p:txBody>
      </p:sp>
    </p:spTree>
    <p:extLst>
      <p:ext uri="{BB962C8B-B14F-4D97-AF65-F5344CB8AC3E}">
        <p14:creationId xmlns:p14="http://schemas.microsoft.com/office/powerpoint/2010/main" val="1556533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2CF7F-C292-22BD-728A-72A5E93996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350C06-1EB7-01CA-BA06-4B23DB624562}"/>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FF4F13B9-015F-FC16-915A-D9405278646F}"/>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458731F6-970C-E0E0-B8D3-F9729B6894BD}"/>
              </a:ext>
            </a:extLst>
          </p:cNvPr>
          <p:cNvSpPr>
            <a:spLocks noGrp="1"/>
          </p:cNvSpPr>
          <p:nvPr>
            <p:ph idx="1"/>
          </p:nvPr>
        </p:nvSpPr>
        <p:spPr>
          <a:xfrm>
            <a:off x="457200" y="1219200"/>
            <a:ext cx="8229600" cy="4911725"/>
          </a:xfrm>
        </p:spPr>
        <p:txBody>
          <a:bodyPr/>
          <a:lstStyle/>
          <a:p>
            <a:r>
              <a:rPr lang="en-US" sz="1800" dirty="0"/>
              <a:t>Each of the three different kinds of structure centers on a dominant role that state members play.</a:t>
            </a:r>
          </a:p>
          <a:p>
            <a:endParaRPr lang="en-US" sz="1800" dirty="0"/>
          </a:p>
          <a:p>
            <a:r>
              <a:rPr lang="en-US" sz="1800" dirty="0"/>
              <a:t>In </a:t>
            </a:r>
            <a:r>
              <a:rPr lang="en-US" sz="1800" dirty="0">
                <a:highlight>
                  <a:srgbClr val="800000"/>
                </a:highlight>
              </a:rPr>
              <a:t>Hobbesian</a:t>
            </a:r>
            <a:r>
              <a:rPr lang="en-US" sz="1800" dirty="0"/>
              <a:t> cultures, the dominant role (or “subject position”) is “</a:t>
            </a:r>
            <a:r>
              <a:rPr lang="en-US" sz="1800" dirty="0">
                <a:highlight>
                  <a:srgbClr val="800000"/>
                </a:highlight>
              </a:rPr>
              <a:t>enemy</a:t>
            </a:r>
            <a:r>
              <a:rPr lang="en-US" sz="1800" dirty="0"/>
              <a:t>."</a:t>
            </a:r>
          </a:p>
          <a:p>
            <a:endParaRPr lang="en-US" sz="1800" dirty="0"/>
          </a:p>
          <a:p>
            <a:r>
              <a:rPr lang="en-US" sz="1800" dirty="0"/>
              <a:t>In </a:t>
            </a:r>
            <a:r>
              <a:rPr lang="en-US" sz="1800" dirty="0">
                <a:highlight>
                  <a:srgbClr val="000080"/>
                </a:highlight>
              </a:rPr>
              <a:t>Lockean</a:t>
            </a:r>
            <a:r>
              <a:rPr lang="en-US" sz="1800" dirty="0"/>
              <a:t> cultures it is “</a:t>
            </a:r>
            <a:r>
              <a:rPr lang="en-US" sz="1800" dirty="0">
                <a:highlight>
                  <a:srgbClr val="000080"/>
                </a:highlight>
              </a:rPr>
              <a:t>rival</a:t>
            </a:r>
            <a:r>
              <a:rPr lang="en-US" sz="1800" dirty="0"/>
              <a:t>."</a:t>
            </a:r>
          </a:p>
          <a:p>
            <a:endParaRPr lang="en-US" sz="1800" dirty="0"/>
          </a:p>
          <a:p>
            <a:r>
              <a:rPr lang="en-US" sz="1800" dirty="0"/>
              <a:t>In </a:t>
            </a:r>
            <a:r>
              <a:rPr lang="en-US" sz="1800" dirty="0">
                <a:highlight>
                  <a:srgbClr val="008000"/>
                </a:highlight>
              </a:rPr>
              <a:t>Kantian</a:t>
            </a:r>
            <a:r>
              <a:rPr lang="en-US" sz="1800" dirty="0"/>
              <a:t> cultures it is “</a:t>
            </a:r>
            <a:r>
              <a:rPr lang="en-US" sz="1800" dirty="0">
                <a:highlight>
                  <a:srgbClr val="008000"/>
                </a:highlight>
              </a:rPr>
              <a:t>friend</a:t>
            </a:r>
            <a:r>
              <a:rPr lang="en-US" sz="1800" dirty="0"/>
              <a:t>."</a:t>
            </a:r>
          </a:p>
          <a:p>
            <a:pPr marL="0" indent="0">
              <a:buNone/>
            </a:pPr>
            <a:endParaRPr lang="en-US" sz="1800" dirty="0"/>
          </a:p>
        </p:txBody>
      </p:sp>
    </p:spTree>
    <p:extLst>
      <p:ext uri="{BB962C8B-B14F-4D97-AF65-F5344CB8AC3E}">
        <p14:creationId xmlns:p14="http://schemas.microsoft.com/office/powerpoint/2010/main" val="1250446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41FC0-65A0-CFB5-EAAE-0B77794B2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EC6E89-E13A-EEFC-A904-78F46AD8CC72}"/>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177B2FE0-B602-E7AC-DF29-8E239B5535B4}"/>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BA40C688-17B7-8786-FC06-ED202F2FE62E}"/>
              </a:ext>
            </a:extLst>
          </p:cNvPr>
          <p:cNvSpPr>
            <a:spLocks noGrp="1"/>
          </p:cNvSpPr>
          <p:nvPr>
            <p:ph idx="1"/>
          </p:nvPr>
        </p:nvSpPr>
        <p:spPr>
          <a:xfrm>
            <a:off x="457200" y="1219200"/>
            <a:ext cx="8229600" cy="4911725"/>
          </a:xfrm>
        </p:spPr>
        <p:txBody>
          <a:bodyPr/>
          <a:lstStyle/>
          <a:p>
            <a:r>
              <a:rPr lang="en-US" sz="1800" dirty="0"/>
              <a:t>Each of the three different kinds of structure centers on a dominant role that state members play.</a:t>
            </a:r>
          </a:p>
          <a:p>
            <a:endParaRPr lang="en-US" sz="1800" dirty="0"/>
          </a:p>
          <a:p>
            <a:r>
              <a:rPr lang="en-US" sz="1800" dirty="0"/>
              <a:t>In </a:t>
            </a:r>
            <a:r>
              <a:rPr lang="en-US" sz="1800" dirty="0">
                <a:highlight>
                  <a:srgbClr val="800000"/>
                </a:highlight>
              </a:rPr>
              <a:t>Hobbesian</a:t>
            </a:r>
            <a:r>
              <a:rPr lang="en-US" sz="1800" dirty="0"/>
              <a:t> cultures, the dominant role (or “subject position”) is “</a:t>
            </a:r>
            <a:r>
              <a:rPr lang="en-US" sz="1800" dirty="0">
                <a:highlight>
                  <a:srgbClr val="800000"/>
                </a:highlight>
              </a:rPr>
              <a:t>enemy</a:t>
            </a:r>
            <a:r>
              <a:rPr lang="en-US" sz="1800" dirty="0"/>
              <a:t>."</a:t>
            </a:r>
          </a:p>
          <a:p>
            <a:endParaRPr lang="en-US" sz="1800" dirty="0"/>
          </a:p>
          <a:p>
            <a:r>
              <a:rPr lang="en-US" sz="1800" dirty="0"/>
              <a:t>In </a:t>
            </a:r>
            <a:r>
              <a:rPr lang="en-US" sz="1800" dirty="0">
                <a:highlight>
                  <a:srgbClr val="000080"/>
                </a:highlight>
              </a:rPr>
              <a:t>Lockean</a:t>
            </a:r>
            <a:r>
              <a:rPr lang="en-US" sz="1800" dirty="0"/>
              <a:t> cultures it is “</a:t>
            </a:r>
            <a:r>
              <a:rPr lang="en-US" sz="1800" dirty="0">
                <a:highlight>
                  <a:srgbClr val="000080"/>
                </a:highlight>
              </a:rPr>
              <a:t>rival</a:t>
            </a:r>
            <a:r>
              <a:rPr lang="en-US" sz="1800" dirty="0"/>
              <a:t>."</a:t>
            </a:r>
          </a:p>
          <a:p>
            <a:endParaRPr lang="en-US" sz="1800" dirty="0"/>
          </a:p>
          <a:p>
            <a:r>
              <a:rPr lang="en-US" sz="1800" dirty="0"/>
              <a:t>In </a:t>
            </a:r>
            <a:r>
              <a:rPr lang="en-US" sz="1800" dirty="0">
                <a:highlight>
                  <a:srgbClr val="008000"/>
                </a:highlight>
              </a:rPr>
              <a:t>Kantian</a:t>
            </a:r>
            <a:r>
              <a:rPr lang="en-US" sz="1800" dirty="0"/>
              <a:t> cultures it is “</a:t>
            </a:r>
            <a:r>
              <a:rPr lang="en-US" sz="1800" dirty="0">
                <a:highlight>
                  <a:srgbClr val="008000"/>
                </a:highlight>
              </a:rPr>
              <a:t>friend</a:t>
            </a:r>
            <a:r>
              <a:rPr lang="en-US" sz="1800" dirty="0"/>
              <a:t>."</a:t>
            </a:r>
          </a:p>
          <a:p>
            <a:endParaRPr lang="en-US" sz="1800" dirty="0"/>
          </a:p>
          <a:p>
            <a:r>
              <a:rPr lang="en-US" sz="1800" u="sng" dirty="0"/>
              <a:t>Roles are attributes of the structures, not the agents or units</a:t>
            </a:r>
            <a:r>
              <a:rPr lang="en-US" sz="1800" dirty="0"/>
              <a:t>.  Roles are in this sense “the objective, collectively constituted positions that give meaning to” subjective self-understandings."  </a:t>
            </a:r>
            <a:r>
              <a:rPr lang="en-US" sz="1800" dirty="0">
                <a:solidFill>
                  <a:srgbClr val="FFFF00"/>
                </a:solidFill>
              </a:rPr>
              <a:t>Particular role-identities may come and go “as individuals [states] take on or discard beliefs,” but roles as objective, collectively constituted positions within the structure “persist as long as someone fills them."</a:t>
            </a:r>
          </a:p>
        </p:txBody>
      </p:sp>
    </p:spTree>
    <p:extLst>
      <p:ext uri="{BB962C8B-B14F-4D97-AF65-F5344CB8AC3E}">
        <p14:creationId xmlns:p14="http://schemas.microsoft.com/office/powerpoint/2010/main" val="1414313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73E0B-E6DF-7A06-7CB3-BD5863DD0F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3F919-DAD2-80C8-1BBE-0AA8136A8221}"/>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4F91DD70-11D0-1113-FD80-57C4D4C842AB}"/>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D1FA4031-9F12-AA85-5949-835CE1CE0560}"/>
              </a:ext>
            </a:extLst>
          </p:cNvPr>
          <p:cNvSpPr>
            <a:spLocks noGrp="1"/>
          </p:cNvSpPr>
          <p:nvPr>
            <p:ph idx="1"/>
          </p:nvPr>
        </p:nvSpPr>
        <p:spPr>
          <a:xfrm>
            <a:off x="457200" y="1219200"/>
            <a:ext cx="8229600" cy="4911725"/>
          </a:xfrm>
        </p:spPr>
        <p:txBody>
          <a:bodyPr/>
          <a:lstStyle/>
          <a:p>
            <a:r>
              <a:rPr lang="en-US" sz="1800" dirty="0"/>
              <a:t>But what specifically are the central norms of a </a:t>
            </a:r>
            <a:r>
              <a:rPr lang="en-US" sz="1800" dirty="0">
                <a:highlight>
                  <a:srgbClr val="800000"/>
                </a:highlight>
              </a:rPr>
              <a:t>Hobbesian</a:t>
            </a:r>
            <a:r>
              <a:rPr lang="en-US" sz="1800" dirty="0"/>
              <a:t> culture in contradistinction to those of a </a:t>
            </a:r>
            <a:r>
              <a:rPr lang="en-US" sz="1800" dirty="0">
                <a:highlight>
                  <a:srgbClr val="000080"/>
                </a:highlight>
              </a:rPr>
              <a:t>Lockean</a:t>
            </a:r>
            <a:r>
              <a:rPr lang="en-US" sz="1800" dirty="0"/>
              <a:t> or a </a:t>
            </a:r>
            <a:r>
              <a:rPr lang="en-US" sz="1800" dirty="0">
                <a:highlight>
                  <a:srgbClr val="008000"/>
                </a:highlight>
              </a:rPr>
              <a:t>Kantian</a:t>
            </a:r>
            <a:r>
              <a:rPr lang="en-US" sz="1800" dirty="0"/>
              <a:t> culture?</a:t>
            </a:r>
          </a:p>
          <a:p>
            <a:pPr marL="0" indent="0">
              <a:buNone/>
            </a:pPr>
            <a:endParaRPr lang="en-US" sz="1800" dirty="0"/>
          </a:p>
        </p:txBody>
      </p:sp>
    </p:spTree>
    <p:extLst>
      <p:ext uri="{BB962C8B-B14F-4D97-AF65-F5344CB8AC3E}">
        <p14:creationId xmlns:p14="http://schemas.microsoft.com/office/powerpoint/2010/main" val="40653401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75D7A-2346-C704-2902-841D76CEC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5851A4-D16A-2105-F173-537A2BF4464E}"/>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A4E02B2C-BD2F-9F89-B658-7BF3BC932199}"/>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D882C2FE-C076-A26A-0E47-9DF0F48BB8BB}"/>
              </a:ext>
            </a:extLst>
          </p:cNvPr>
          <p:cNvSpPr>
            <a:spLocks noGrp="1"/>
          </p:cNvSpPr>
          <p:nvPr>
            <p:ph idx="1"/>
          </p:nvPr>
        </p:nvSpPr>
        <p:spPr>
          <a:xfrm>
            <a:off x="457200" y="1219200"/>
            <a:ext cx="8229600" cy="4911725"/>
          </a:xfrm>
        </p:spPr>
        <p:txBody>
          <a:bodyPr/>
          <a:lstStyle/>
          <a:p>
            <a:r>
              <a:rPr lang="en-US" sz="1800" dirty="0"/>
              <a:t>But what specifically are the central norms of a </a:t>
            </a:r>
            <a:r>
              <a:rPr lang="en-US" sz="1800" dirty="0">
                <a:highlight>
                  <a:srgbClr val="800000"/>
                </a:highlight>
              </a:rPr>
              <a:t>Hobbesian</a:t>
            </a:r>
            <a:r>
              <a:rPr lang="en-US" sz="1800" dirty="0"/>
              <a:t> culture in contradistinction to those of a </a:t>
            </a:r>
            <a:r>
              <a:rPr lang="en-US" sz="1800" dirty="0">
                <a:highlight>
                  <a:srgbClr val="000080"/>
                </a:highlight>
              </a:rPr>
              <a:t>Lockean</a:t>
            </a:r>
            <a:r>
              <a:rPr lang="en-US" sz="1800" dirty="0"/>
              <a:t> or a </a:t>
            </a:r>
            <a:r>
              <a:rPr lang="en-US" sz="1800" dirty="0">
                <a:highlight>
                  <a:srgbClr val="008000"/>
                </a:highlight>
              </a:rPr>
              <a:t>Kantian</a:t>
            </a:r>
            <a:r>
              <a:rPr lang="en-US" sz="1800" dirty="0"/>
              <a:t> culture?</a:t>
            </a:r>
          </a:p>
          <a:p>
            <a:endParaRPr lang="en-US" sz="1800" dirty="0"/>
          </a:p>
          <a:p>
            <a:r>
              <a:rPr lang="en-US" sz="1800" dirty="0"/>
              <a:t>Wendt explains that in a </a:t>
            </a:r>
            <a:r>
              <a:rPr lang="en-US" sz="1800" dirty="0">
                <a:highlight>
                  <a:srgbClr val="800000"/>
                </a:highlight>
              </a:rPr>
              <a:t>Hobbesian</a:t>
            </a:r>
            <a:r>
              <a:rPr lang="en-US" sz="1800" dirty="0"/>
              <a:t> culture </a:t>
            </a:r>
            <a:r>
              <a:rPr lang="en-US" sz="1800" dirty="0">
                <a:highlight>
                  <a:srgbClr val="800000"/>
                </a:highlight>
              </a:rPr>
              <a:t>enemies</a:t>
            </a:r>
            <a:r>
              <a:rPr lang="en-US" sz="1800" dirty="0"/>
              <a:t> are constituted by representations of the Other – that is, through </a:t>
            </a:r>
            <a:r>
              <a:rPr lang="en-US" sz="1800" dirty="0">
                <a:solidFill>
                  <a:srgbClr val="FFFF00"/>
                </a:solidFill>
              </a:rPr>
              <a:t>securitization</a:t>
            </a:r>
            <a:r>
              <a:rPr lang="en-US" sz="1800" dirty="0"/>
              <a:t> </a:t>
            </a:r>
            <a:r>
              <a:rPr lang="en-US" sz="1800" dirty="0">
                <a:solidFill>
                  <a:srgbClr val="FFFF00"/>
                </a:solidFill>
              </a:rPr>
              <a:t>practices</a:t>
            </a:r>
            <a:r>
              <a:rPr lang="en-US" sz="1800" dirty="0"/>
              <a:t> – as “an actor who (1) does not recognize the right of the Self to exist as an autonomous being, and therefore (2) will not willingly limit its violence toward the Self…An enemy does not recognize the right of the Self to exist as a free subject at all.”</a:t>
            </a:r>
          </a:p>
          <a:p>
            <a:pPr marL="0" indent="0">
              <a:buNone/>
            </a:pPr>
            <a:endParaRPr lang="en-US" sz="1800" dirty="0"/>
          </a:p>
        </p:txBody>
      </p:sp>
    </p:spTree>
    <p:extLst>
      <p:ext uri="{BB962C8B-B14F-4D97-AF65-F5344CB8AC3E}">
        <p14:creationId xmlns:p14="http://schemas.microsoft.com/office/powerpoint/2010/main" val="2752216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8C1C5-D6F3-E5F3-C126-EF97D878F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8C253C-8D72-9299-680D-AA4EDFAC0131}"/>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3625748B-05D4-E9FD-9187-509366C3220E}"/>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7EDCA58A-2AE8-E42C-D0A6-9C5316E0E6A4}"/>
              </a:ext>
            </a:extLst>
          </p:cNvPr>
          <p:cNvSpPr>
            <a:spLocks noGrp="1"/>
          </p:cNvSpPr>
          <p:nvPr>
            <p:ph idx="1"/>
          </p:nvPr>
        </p:nvSpPr>
        <p:spPr>
          <a:xfrm>
            <a:off x="457200" y="1219200"/>
            <a:ext cx="8229600" cy="4911725"/>
          </a:xfrm>
        </p:spPr>
        <p:txBody>
          <a:bodyPr/>
          <a:lstStyle/>
          <a:p>
            <a:r>
              <a:rPr lang="en-US" sz="1800" dirty="0"/>
              <a:t>In contrast to the </a:t>
            </a:r>
            <a:r>
              <a:rPr lang="en-US" sz="1800" dirty="0">
                <a:highlight>
                  <a:srgbClr val="800000"/>
                </a:highlight>
              </a:rPr>
              <a:t>Hobbesian</a:t>
            </a:r>
            <a:r>
              <a:rPr lang="en-US" sz="1800" dirty="0"/>
              <a:t> culture, in a </a:t>
            </a:r>
            <a:r>
              <a:rPr lang="en-US" sz="1800" dirty="0">
                <a:highlight>
                  <a:srgbClr val="000080"/>
                </a:highlight>
              </a:rPr>
              <a:t>Lockean</a:t>
            </a:r>
            <a:r>
              <a:rPr lang="en-US" sz="1800" dirty="0"/>
              <a:t> culture of anarchy, member states freely agree to recognize and accept each other’s sovereign autonomy as a right while refraining from trying to conquer or dominate other states.  To be sure, states might still use violence occasionally against each other, or coercion, but since they are only rivals not enemies, they will not try completely to destroy the other or eradicate the other’s subjectivity/selfhood.</a:t>
            </a:r>
          </a:p>
          <a:p>
            <a:pPr marL="0" indent="0">
              <a:buNone/>
            </a:pPr>
            <a:endParaRPr lang="en-US" sz="1800" dirty="0"/>
          </a:p>
        </p:txBody>
      </p:sp>
    </p:spTree>
    <p:extLst>
      <p:ext uri="{BB962C8B-B14F-4D97-AF65-F5344CB8AC3E}">
        <p14:creationId xmlns:p14="http://schemas.microsoft.com/office/powerpoint/2010/main" val="2154586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28DA9-930E-4762-DF5A-B90575D98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441F2-8958-7E2B-CF18-2C998A1368B0}"/>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E6C0751B-F72B-EBC5-52E6-F45E04417DE6}"/>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BC0A71DC-1462-23C6-3AB2-0E1560FEE87D}"/>
              </a:ext>
            </a:extLst>
          </p:cNvPr>
          <p:cNvSpPr>
            <a:spLocks noGrp="1"/>
          </p:cNvSpPr>
          <p:nvPr>
            <p:ph idx="1"/>
          </p:nvPr>
        </p:nvSpPr>
        <p:spPr>
          <a:xfrm>
            <a:off x="457200" y="1219200"/>
            <a:ext cx="8229600" cy="4911725"/>
          </a:xfrm>
        </p:spPr>
        <p:txBody>
          <a:bodyPr/>
          <a:lstStyle/>
          <a:p>
            <a:r>
              <a:rPr lang="en-US" sz="1800" dirty="0"/>
              <a:t>In contrast to the </a:t>
            </a:r>
            <a:r>
              <a:rPr lang="en-US" sz="1800" dirty="0">
                <a:highlight>
                  <a:srgbClr val="800000"/>
                </a:highlight>
              </a:rPr>
              <a:t>Hobbesian</a:t>
            </a:r>
            <a:r>
              <a:rPr lang="en-US" sz="1800" dirty="0"/>
              <a:t> culture, in a </a:t>
            </a:r>
            <a:r>
              <a:rPr lang="en-US" sz="1800" dirty="0">
                <a:highlight>
                  <a:srgbClr val="000080"/>
                </a:highlight>
              </a:rPr>
              <a:t>Lockean</a:t>
            </a:r>
            <a:r>
              <a:rPr lang="en-US" sz="1800" dirty="0"/>
              <a:t> culture of anarchy, member states freely agree to recognize and accept each other’s sovereign autonomy as a right while refraining from trying to conquer or dominate other states.  To be sure, states might still use violence occasionally against each other, or coercion, but since they are only rivals not enemies, they will not try completely to destroy the other or eradicate the other’s subjectivity/selfhood.</a:t>
            </a:r>
          </a:p>
          <a:p>
            <a:endParaRPr lang="en-US" sz="1800" dirty="0"/>
          </a:p>
          <a:p>
            <a:r>
              <a:rPr lang="en-US" sz="1800" dirty="0"/>
              <a:t>When all states party to an interstate society do so recognize each other’s right to autonomous actorhood, “then we can speak of sovereignty not only as a property of individual states, but as an </a:t>
            </a:r>
            <a:r>
              <a:rPr lang="en-US" sz="1800" dirty="0">
                <a:solidFill>
                  <a:srgbClr val="FFFF00"/>
                </a:solidFill>
              </a:rPr>
              <a:t>institution</a:t>
            </a:r>
            <a:r>
              <a:rPr lang="en-US" sz="1800" dirty="0"/>
              <a:t> shared by many states.”</a:t>
            </a:r>
          </a:p>
          <a:p>
            <a:pPr marL="0" indent="0">
              <a:buNone/>
            </a:pPr>
            <a:endParaRPr lang="en-US" sz="1800" dirty="0"/>
          </a:p>
        </p:txBody>
      </p:sp>
    </p:spTree>
    <p:extLst>
      <p:ext uri="{BB962C8B-B14F-4D97-AF65-F5344CB8AC3E}">
        <p14:creationId xmlns:p14="http://schemas.microsoft.com/office/powerpoint/2010/main" val="3237740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61F8D-AB58-ED8B-25D7-D6045E1BE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6C05B-2718-6897-A11F-C26F5D97F632}"/>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3343E7BD-C717-2335-41A6-598A5A95792D}"/>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E56469CF-AA82-2D76-36A8-39DE5AF44CBF}"/>
              </a:ext>
            </a:extLst>
          </p:cNvPr>
          <p:cNvSpPr>
            <a:spLocks noGrp="1"/>
          </p:cNvSpPr>
          <p:nvPr>
            <p:ph idx="1"/>
          </p:nvPr>
        </p:nvSpPr>
        <p:spPr>
          <a:xfrm>
            <a:off x="457200" y="1219200"/>
            <a:ext cx="8229600" cy="4911725"/>
          </a:xfrm>
        </p:spPr>
        <p:txBody>
          <a:bodyPr/>
          <a:lstStyle/>
          <a:p>
            <a:r>
              <a:rPr lang="en-US" sz="1800" dirty="0"/>
              <a:t>In contrast to the </a:t>
            </a:r>
            <a:r>
              <a:rPr lang="en-US" sz="1800" dirty="0">
                <a:highlight>
                  <a:srgbClr val="800000"/>
                </a:highlight>
              </a:rPr>
              <a:t>Hobbesian</a:t>
            </a:r>
            <a:r>
              <a:rPr lang="en-US" sz="1800" dirty="0"/>
              <a:t> culture, in a </a:t>
            </a:r>
            <a:r>
              <a:rPr lang="en-US" sz="1800" dirty="0">
                <a:highlight>
                  <a:srgbClr val="000080"/>
                </a:highlight>
              </a:rPr>
              <a:t>Lockean</a:t>
            </a:r>
            <a:r>
              <a:rPr lang="en-US" sz="1800" dirty="0"/>
              <a:t> culture of anarchy, member states freely agree to recognize and accept each other’s sovereign autonomy as a right while refraining from trying to conquer or dominate other states.  To be sure, states might still use violence occasionally against each other, or coercion, but since they are only rivals not enemies, they will not try completely to destroy the other or eradicate the other’s subjectivity/selfhood.</a:t>
            </a:r>
          </a:p>
          <a:p>
            <a:pPr marL="0" indent="0">
              <a:buNone/>
            </a:pPr>
            <a:endParaRPr lang="en-US" sz="1800" dirty="0"/>
          </a:p>
          <a:p>
            <a:r>
              <a:rPr lang="en-US" sz="1800" dirty="0"/>
              <a:t>When all states party to an interstate society do so recognize each other’s right to autonomous actorhood, “then we can speak of sovereignty not only as a property of individual states, but as an </a:t>
            </a:r>
            <a:r>
              <a:rPr lang="en-US" sz="1800" dirty="0">
                <a:solidFill>
                  <a:srgbClr val="FFFF00"/>
                </a:solidFill>
              </a:rPr>
              <a:t>institution</a:t>
            </a:r>
            <a:r>
              <a:rPr lang="en-US" sz="1800" dirty="0"/>
              <a:t> shared by many states.”</a:t>
            </a:r>
          </a:p>
          <a:p>
            <a:endParaRPr lang="en-US" sz="1800" dirty="0"/>
          </a:p>
          <a:p>
            <a:r>
              <a:rPr lang="en-US" sz="1800" dirty="0">
                <a:solidFill>
                  <a:srgbClr val="FFFF00"/>
                </a:solidFill>
              </a:rPr>
              <a:t>Wendt finds that on the global level, </a:t>
            </a:r>
            <a:r>
              <a:rPr lang="en-US" sz="1800" u="sng" dirty="0">
                <a:solidFill>
                  <a:srgbClr val="FFFF00"/>
                </a:solidFill>
              </a:rPr>
              <a:t>most of the world most of the time has been characterized by a </a:t>
            </a:r>
            <a:r>
              <a:rPr lang="en-US" sz="1800" u="sng" dirty="0">
                <a:solidFill>
                  <a:srgbClr val="FFFF00"/>
                </a:solidFill>
                <a:highlight>
                  <a:srgbClr val="000080"/>
                </a:highlight>
              </a:rPr>
              <a:t>Lockean</a:t>
            </a:r>
            <a:r>
              <a:rPr lang="en-US" sz="1800" u="sng" dirty="0">
                <a:solidFill>
                  <a:srgbClr val="FFFF00"/>
                </a:solidFill>
              </a:rPr>
              <a:t> culture of anarchy since the conclusion of WWII</a:t>
            </a:r>
            <a:r>
              <a:rPr lang="en-US" sz="1800" dirty="0"/>
              <a:t>.</a:t>
            </a:r>
          </a:p>
        </p:txBody>
      </p:sp>
    </p:spTree>
    <p:extLst>
      <p:ext uri="{BB962C8B-B14F-4D97-AF65-F5344CB8AC3E}">
        <p14:creationId xmlns:p14="http://schemas.microsoft.com/office/powerpoint/2010/main" val="253133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440B9-45C4-B8EF-04D5-A81A117838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BEDB2-9E50-4A7E-FC80-33BC6BC4E162}"/>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B7FA5017-9F44-612C-497D-89B0FE1C9451}"/>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2E5DBAD0-D84D-B069-B8BF-A67420C88050}"/>
              </a:ext>
            </a:extLst>
          </p:cNvPr>
          <p:cNvSpPr>
            <a:spLocks noGrp="1"/>
          </p:cNvSpPr>
          <p:nvPr>
            <p:ph idx="1"/>
          </p:nvPr>
        </p:nvSpPr>
        <p:spPr>
          <a:xfrm>
            <a:off x="457200" y="1219200"/>
            <a:ext cx="8229600" cy="4911725"/>
          </a:xfrm>
        </p:spPr>
        <p:txBody>
          <a:bodyPr/>
          <a:lstStyle/>
          <a:p>
            <a:r>
              <a:rPr lang="en-US" sz="1800" dirty="0"/>
              <a:t>Finally there is the </a:t>
            </a:r>
            <a:r>
              <a:rPr lang="en-US" sz="1800" dirty="0">
                <a:highlight>
                  <a:srgbClr val="008000"/>
                </a:highlight>
              </a:rPr>
              <a:t>Kantian</a:t>
            </a:r>
            <a:r>
              <a:rPr lang="en-US" sz="1800" dirty="0"/>
              <a:t> culture, which Wendt perceived as of the late 1990s to have taken root among the US, Canada, most of Europe, Australia, New Zealand, Japan, South Korea, and others, a </a:t>
            </a:r>
            <a:r>
              <a:rPr lang="en-US" sz="1800" dirty="0">
                <a:solidFill>
                  <a:srgbClr val="FFFF00"/>
                </a:solidFill>
              </a:rPr>
              <a:t>security community</a:t>
            </a:r>
            <a:r>
              <a:rPr lang="en-US" sz="1800" dirty="0"/>
              <a:t> in which member states view each other not even as rivals on the most important questions but instead as friends.</a:t>
            </a:r>
          </a:p>
          <a:p>
            <a:pPr marL="0" indent="0">
              <a:buNone/>
            </a:pPr>
            <a:endParaRPr lang="en-US" sz="1800" dirty="0"/>
          </a:p>
          <a:p>
            <a:r>
              <a:rPr lang="en-US" sz="1800" dirty="0"/>
              <a:t>“</a:t>
            </a:r>
            <a:r>
              <a:rPr lang="en-US" sz="1800" dirty="0">
                <a:highlight>
                  <a:srgbClr val="008000"/>
                </a:highlight>
              </a:rPr>
              <a:t>Friendship</a:t>
            </a:r>
            <a:r>
              <a:rPr lang="en-US" sz="1800" dirty="0"/>
              <a:t> is a role structure in which states expect each other to observe two simple rules: (1) disputes will be settled without war or the threat of war (the rule of non-violence); and (2) they will fight as a team if the security of any one of them is threatened by a third part (the rule of mutual aid)."</a:t>
            </a:r>
          </a:p>
        </p:txBody>
      </p:sp>
    </p:spTree>
    <p:extLst>
      <p:ext uri="{BB962C8B-B14F-4D97-AF65-F5344CB8AC3E}">
        <p14:creationId xmlns:p14="http://schemas.microsoft.com/office/powerpoint/2010/main" val="16420739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5E8BA-F107-A7C7-062F-1D5C8D66C2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E77A8-1128-8162-0E91-C2DB459DD6F2}"/>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73B465B6-2A61-30A0-C90F-10DF5744A5F5}"/>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0E74FA5C-13DB-641C-DF71-DBDF70A2F43C}"/>
              </a:ext>
            </a:extLst>
          </p:cNvPr>
          <p:cNvSpPr>
            <a:spLocks noGrp="1"/>
          </p:cNvSpPr>
          <p:nvPr>
            <p:ph idx="1"/>
          </p:nvPr>
        </p:nvSpPr>
        <p:spPr>
          <a:xfrm>
            <a:off x="457200" y="1219200"/>
            <a:ext cx="8229600" cy="4911725"/>
          </a:xfrm>
        </p:spPr>
        <p:txBody>
          <a:bodyPr/>
          <a:lstStyle/>
          <a:p>
            <a:r>
              <a:rPr lang="en-US" sz="1800" dirty="0"/>
              <a:t>Wendt finds there to be </a:t>
            </a:r>
            <a:r>
              <a:rPr lang="en-US" sz="1800" dirty="0">
                <a:solidFill>
                  <a:srgbClr val="FFFF00"/>
                </a:solidFill>
              </a:rPr>
              <a:t>four master variables </a:t>
            </a:r>
            <a:r>
              <a:rPr lang="en-US" sz="1800" dirty="0"/>
              <a:t>that can </a:t>
            </a:r>
            <a:r>
              <a:rPr lang="en-US" sz="1800" u="sng" dirty="0"/>
              <a:t>cause</a:t>
            </a:r>
            <a:r>
              <a:rPr lang="en-US" sz="1800" dirty="0"/>
              <a:t> transition from a Lockean culture to a Kantian culture: </a:t>
            </a:r>
            <a:r>
              <a:rPr lang="en-US" sz="1800" dirty="0">
                <a:solidFill>
                  <a:srgbClr val="FFFF00"/>
                </a:solidFill>
              </a:rPr>
              <a:t>interdependence</a:t>
            </a:r>
            <a:r>
              <a:rPr lang="en-US" sz="1800" dirty="0"/>
              <a:t>, </a:t>
            </a:r>
            <a:r>
              <a:rPr lang="en-US" sz="1800" dirty="0">
                <a:solidFill>
                  <a:srgbClr val="FFFF00"/>
                </a:solidFill>
              </a:rPr>
              <a:t>common fate</a:t>
            </a:r>
            <a:r>
              <a:rPr lang="en-US" sz="1800" dirty="0"/>
              <a:t>, </a:t>
            </a:r>
            <a:r>
              <a:rPr lang="en-US" sz="1800" dirty="0">
                <a:solidFill>
                  <a:srgbClr val="FFFF00"/>
                </a:solidFill>
              </a:rPr>
              <a:t>homogeneity</a:t>
            </a:r>
            <a:r>
              <a:rPr lang="en-US" sz="1800" dirty="0"/>
              <a:t>, and </a:t>
            </a:r>
            <a:r>
              <a:rPr lang="en-US" sz="1800" dirty="0">
                <a:solidFill>
                  <a:srgbClr val="FFFF00"/>
                </a:solidFill>
              </a:rPr>
              <a:t>self-restraint</a:t>
            </a:r>
            <a:r>
              <a:rPr lang="en-US" sz="1800" dirty="0"/>
              <a:t>.  The first three (interdependence, common fate, and homogeneity) are active or efficient causes of collective identity.  The last (self-restraint) is an enabling or permissive cause.</a:t>
            </a:r>
          </a:p>
          <a:p>
            <a:pPr marL="0" indent="0">
              <a:buNone/>
            </a:pPr>
            <a:endParaRPr lang="en-US" sz="1800" dirty="0"/>
          </a:p>
        </p:txBody>
      </p:sp>
    </p:spTree>
    <p:extLst>
      <p:ext uri="{BB962C8B-B14F-4D97-AF65-F5344CB8AC3E}">
        <p14:creationId xmlns:p14="http://schemas.microsoft.com/office/powerpoint/2010/main" val="3307461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F462A-99C4-DB47-6AA6-0543EC22B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B419B-0509-4AD4-8A70-42C983FC1AC8}"/>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C42B3488-8437-DAF5-AE13-2F1232A387E0}"/>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734DFE28-76D0-BB40-420B-37E8D0AAEFDC}"/>
              </a:ext>
            </a:extLst>
          </p:cNvPr>
          <p:cNvSpPr>
            <a:spLocks noGrp="1"/>
          </p:cNvSpPr>
          <p:nvPr>
            <p:ph idx="1"/>
          </p:nvPr>
        </p:nvSpPr>
        <p:spPr>
          <a:xfrm>
            <a:off x="457200" y="1219200"/>
            <a:ext cx="8229600" cy="4911725"/>
          </a:xfrm>
        </p:spPr>
        <p:txBody>
          <a:bodyPr/>
          <a:lstStyle/>
          <a:p>
            <a:r>
              <a:rPr lang="en-US" sz="1800" dirty="0"/>
              <a:t>Wendt finds there to be </a:t>
            </a:r>
            <a:r>
              <a:rPr lang="en-US" sz="1800" dirty="0">
                <a:solidFill>
                  <a:srgbClr val="FFFF00"/>
                </a:solidFill>
              </a:rPr>
              <a:t>four master variables </a:t>
            </a:r>
            <a:r>
              <a:rPr lang="en-US" sz="1800" dirty="0"/>
              <a:t>that can </a:t>
            </a:r>
            <a:r>
              <a:rPr lang="en-US" sz="1800" u="sng" dirty="0"/>
              <a:t>cause</a:t>
            </a:r>
            <a:r>
              <a:rPr lang="en-US" sz="1800" dirty="0"/>
              <a:t> transition from a Lockean culture to a Kantian culture: </a:t>
            </a:r>
            <a:r>
              <a:rPr lang="en-US" sz="1800" dirty="0">
                <a:solidFill>
                  <a:srgbClr val="FFFF00"/>
                </a:solidFill>
              </a:rPr>
              <a:t>interdependence</a:t>
            </a:r>
            <a:r>
              <a:rPr lang="en-US" sz="1800" dirty="0"/>
              <a:t>, </a:t>
            </a:r>
            <a:r>
              <a:rPr lang="en-US" sz="1800" dirty="0">
                <a:solidFill>
                  <a:srgbClr val="FFFF00"/>
                </a:solidFill>
              </a:rPr>
              <a:t>common fate</a:t>
            </a:r>
            <a:r>
              <a:rPr lang="en-US" sz="1800" dirty="0"/>
              <a:t>, </a:t>
            </a:r>
            <a:r>
              <a:rPr lang="en-US" sz="1800" dirty="0">
                <a:solidFill>
                  <a:srgbClr val="FFFF00"/>
                </a:solidFill>
              </a:rPr>
              <a:t>homogeneity</a:t>
            </a:r>
            <a:r>
              <a:rPr lang="en-US" sz="1800" dirty="0"/>
              <a:t>, and </a:t>
            </a:r>
            <a:r>
              <a:rPr lang="en-US" sz="1800" dirty="0">
                <a:solidFill>
                  <a:srgbClr val="FFFF00"/>
                </a:solidFill>
              </a:rPr>
              <a:t>self-restraint</a:t>
            </a:r>
            <a:r>
              <a:rPr lang="en-US" sz="1800" dirty="0"/>
              <a:t>.  The first three (interdependence, common fate, and homogeneity) are active or efficient causes of collective identity.  The last (self-restraint) is an enabling or permissive cause.</a:t>
            </a:r>
          </a:p>
          <a:p>
            <a:pPr marL="0" indent="0">
              <a:buNone/>
            </a:pPr>
            <a:endParaRPr lang="en-US" sz="1800" dirty="0"/>
          </a:p>
          <a:p>
            <a:r>
              <a:rPr lang="en-US" sz="1800" dirty="0"/>
              <a:t>All four may be present in a given case, and the more that are present the more likely collective identity formation will occur.  But </a:t>
            </a:r>
            <a:r>
              <a:rPr lang="en-US" sz="1800" u="sng" dirty="0">
                <a:highlight>
                  <a:srgbClr val="800080"/>
                </a:highlight>
              </a:rPr>
              <a:t>all that is necessary for it to occur is one efficient cause combined with self-restraint</a:t>
            </a:r>
            <a:r>
              <a:rPr lang="en-US" sz="1800" dirty="0"/>
              <a:t>.”  Self-restraint has the effect of “enabling states to solve the fundamental problem of collective identity formation overcoming the fear of being engulfed by the Other."</a:t>
            </a:r>
          </a:p>
        </p:txBody>
      </p:sp>
    </p:spTree>
    <p:extLst>
      <p:ext uri="{BB962C8B-B14F-4D97-AF65-F5344CB8AC3E}">
        <p14:creationId xmlns:p14="http://schemas.microsoft.com/office/powerpoint/2010/main" val="23043795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42F39-1715-7FBD-90A2-6F6C637DA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9F441-C7CC-99FA-4F66-3593948DC028}"/>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B5BA85E4-BF81-14F7-AD20-5EC070E9346F}"/>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35ECDF60-95FD-720B-E782-6CC642E03789}"/>
              </a:ext>
            </a:extLst>
          </p:cNvPr>
          <p:cNvSpPr>
            <a:spLocks noGrp="1"/>
          </p:cNvSpPr>
          <p:nvPr>
            <p:ph idx="1"/>
          </p:nvPr>
        </p:nvSpPr>
        <p:spPr>
          <a:xfrm>
            <a:off x="457200" y="1219200"/>
            <a:ext cx="8229600" cy="4911725"/>
          </a:xfrm>
        </p:spPr>
        <p:txBody>
          <a:bodyPr/>
          <a:lstStyle/>
          <a:p>
            <a:r>
              <a:rPr lang="en-US" sz="1800" dirty="0"/>
              <a:t>1.	</a:t>
            </a:r>
            <a:r>
              <a:rPr lang="en-US" sz="1800" dirty="0">
                <a:solidFill>
                  <a:srgbClr val="FFFF00"/>
                </a:solidFill>
              </a:rPr>
              <a:t>INTERDEPENDENCE</a:t>
            </a:r>
            <a:r>
              <a:rPr lang="en-US" sz="1800" dirty="0"/>
              <a:t>.  “In order to cause collective identity, interdependence must be objective rather than subjective…The problem is changing objective into subjective interdependence."  </a:t>
            </a:r>
          </a:p>
          <a:p>
            <a:pPr marL="0" indent="0">
              <a:buNone/>
            </a:pPr>
            <a:endParaRPr lang="en-US" sz="1800" dirty="0"/>
          </a:p>
        </p:txBody>
      </p:sp>
    </p:spTree>
    <p:extLst>
      <p:ext uri="{BB962C8B-B14F-4D97-AF65-F5344CB8AC3E}">
        <p14:creationId xmlns:p14="http://schemas.microsoft.com/office/powerpoint/2010/main" val="3236012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5DE82-2536-C2DC-44CD-36E43F03A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878C63-ABC6-AB06-74BB-CFE2BF3069D0}"/>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34D4A043-AB18-6413-A7A9-9F1256AD82ED}"/>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3D66D22F-2C97-CE08-9C97-E186D02CE0FB}"/>
              </a:ext>
            </a:extLst>
          </p:cNvPr>
          <p:cNvSpPr>
            <a:spLocks noGrp="1"/>
          </p:cNvSpPr>
          <p:nvPr>
            <p:ph idx="1"/>
          </p:nvPr>
        </p:nvSpPr>
        <p:spPr>
          <a:xfrm>
            <a:off x="457200" y="1219200"/>
            <a:ext cx="8229600" cy="4911725"/>
          </a:xfrm>
        </p:spPr>
        <p:txBody>
          <a:bodyPr/>
          <a:lstStyle/>
          <a:p>
            <a:r>
              <a:rPr lang="en-US" sz="1800" dirty="0"/>
              <a:t>1.	</a:t>
            </a:r>
            <a:r>
              <a:rPr lang="en-US" sz="1800" dirty="0">
                <a:solidFill>
                  <a:srgbClr val="FFFF00"/>
                </a:solidFill>
              </a:rPr>
              <a:t>INTERDEPENDENCE</a:t>
            </a:r>
            <a:r>
              <a:rPr lang="en-US" sz="1800" dirty="0"/>
              <a:t>.  “In order to cause collective identity, interdependence must be objective rather than subjective…The problem is changing objective into subjective interdependence."  </a:t>
            </a:r>
          </a:p>
          <a:p>
            <a:endParaRPr lang="en-US" sz="1800" dirty="0"/>
          </a:p>
          <a:p>
            <a:r>
              <a:rPr lang="en-US" sz="1800" dirty="0"/>
              <a:t>“</a:t>
            </a:r>
            <a:r>
              <a:rPr lang="en-US" sz="1800" dirty="0">
                <a:highlight>
                  <a:srgbClr val="800080"/>
                </a:highlight>
              </a:rPr>
              <a:t>When people choose to ‘defect’ in a social dilemma they are simultaneously choosing to </a:t>
            </a:r>
            <a:r>
              <a:rPr lang="en-US" sz="1800" i="1" dirty="0">
                <a:highlight>
                  <a:srgbClr val="800080"/>
                </a:highlight>
              </a:rPr>
              <a:t>reproduce</a:t>
            </a:r>
            <a:r>
              <a:rPr lang="en-US" sz="1800" dirty="0">
                <a:highlight>
                  <a:srgbClr val="800080"/>
                </a:highlight>
              </a:rPr>
              <a:t> the egoistic identities that constitute the dilemma</a:t>
            </a:r>
            <a:r>
              <a:rPr lang="en-US" sz="1800" dirty="0"/>
              <a:t>.  And conversely for prosocial behavior: by choosing to cooperate in a social dilemma Ego implicitly takes a collective identity, acting ‘as if’ he cares for Alter, even if this is initially for selfish reasons, and signals to Alter, ‘I expect you to do the same in return’ (</a:t>
            </a:r>
            <a:r>
              <a:rPr lang="en-US" sz="1800" u="sng" dirty="0"/>
              <a:t>altercasting</a:t>
            </a:r>
            <a:r>
              <a:rPr lang="en-US" sz="1800" dirty="0"/>
              <a:t>).  </a:t>
            </a:r>
            <a:r>
              <a:rPr lang="en-US" sz="1800" dirty="0">
                <a:solidFill>
                  <a:srgbClr val="FFFF00"/>
                </a:solidFill>
              </a:rPr>
              <a:t>If Alter reciprocates then Ego’s tentative new identity will be reinforced, leading to further cooperation and, over time, an internalization of collective identity on both sides."</a:t>
            </a:r>
          </a:p>
        </p:txBody>
      </p:sp>
    </p:spTree>
    <p:extLst>
      <p:ext uri="{BB962C8B-B14F-4D97-AF65-F5344CB8AC3E}">
        <p14:creationId xmlns:p14="http://schemas.microsoft.com/office/powerpoint/2010/main" val="55745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15814-F261-B138-C834-78DEAD112C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24DA8B-79B5-31BE-B4C7-4AE96C1A6289}"/>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42256180-25FE-A0F0-15B9-4AA5C17C1777}"/>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8330ED07-0756-9D0F-FD1C-4060FA3F328B}"/>
              </a:ext>
            </a:extLst>
          </p:cNvPr>
          <p:cNvSpPr>
            <a:spLocks noGrp="1"/>
          </p:cNvSpPr>
          <p:nvPr>
            <p:ph idx="1"/>
          </p:nvPr>
        </p:nvSpPr>
        <p:spPr>
          <a:xfrm>
            <a:off x="457200" y="1219200"/>
            <a:ext cx="8229600" cy="4911725"/>
          </a:xfrm>
        </p:spPr>
        <p:txBody>
          <a:bodyPr/>
          <a:lstStyle/>
          <a:p>
            <a:r>
              <a:rPr lang="en-US" sz="1800" dirty="0"/>
              <a:t>2.	</a:t>
            </a:r>
            <a:r>
              <a:rPr lang="en-US" sz="1800" dirty="0">
                <a:solidFill>
                  <a:srgbClr val="FFFF00"/>
                </a:solidFill>
              </a:rPr>
              <a:t>COMMON FATE</a:t>
            </a:r>
            <a:r>
              <a:rPr lang="en-US" sz="1800" dirty="0"/>
              <a:t>.  “Actors face a common fate when their individual survival, fitness, or welfare depends on what happens to the group as a whole.  As with interdependence, this can only cause collective identity if it is an objective condition, since subjective awareness of being ‘in the same boat’ is [already] constitutive of collective identity, not a cause."  If both sides already think that subjectively, they already have the collective identity.</a:t>
            </a:r>
          </a:p>
        </p:txBody>
      </p:sp>
    </p:spTree>
    <p:extLst>
      <p:ext uri="{BB962C8B-B14F-4D97-AF65-F5344CB8AC3E}">
        <p14:creationId xmlns:p14="http://schemas.microsoft.com/office/powerpoint/2010/main" val="35501447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AD671-9D36-3F7E-FB1A-8F0E15C6B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B130AD-5023-63BB-F768-CCEAB5DC5A6C}"/>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3B5167E2-8AD3-D34D-21C4-EA446160AD6A}"/>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13521F27-8B88-25B9-7661-048D2409DB14}"/>
              </a:ext>
            </a:extLst>
          </p:cNvPr>
          <p:cNvSpPr>
            <a:spLocks noGrp="1"/>
          </p:cNvSpPr>
          <p:nvPr>
            <p:ph idx="1"/>
          </p:nvPr>
        </p:nvSpPr>
        <p:spPr>
          <a:xfrm>
            <a:off x="457200" y="1219200"/>
            <a:ext cx="8229600" cy="4911725"/>
          </a:xfrm>
        </p:spPr>
        <p:txBody>
          <a:bodyPr/>
          <a:lstStyle/>
          <a:p>
            <a:r>
              <a:rPr lang="en-US" sz="1800" dirty="0"/>
              <a:t>2.	</a:t>
            </a:r>
            <a:r>
              <a:rPr lang="en-US" sz="1800" dirty="0">
                <a:solidFill>
                  <a:srgbClr val="FFFF00"/>
                </a:solidFill>
              </a:rPr>
              <a:t>COMMON FATE</a:t>
            </a:r>
            <a:r>
              <a:rPr lang="en-US" sz="1800" dirty="0"/>
              <a:t>.  “Actors face a common fate when their individual survival, fitness, or welfare depends on what happens to the group as a whole.  As with interdependence, this can only cause collective identity if it is an objective condition, since subjective awareness of being ‘in the same boat’ is [already] constitutive of collective identity, not a cause."  If both sides already think that subjectively, they already have the collective identity.</a:t>
            </a:r>
          </a:p>
          <a:p>
            <a:endParaRPr lang="en-US" sz="1800" dirty="0"/>
          </a:p>
          <a:p>
            <a:r>
              <a:rPr lang="en-US" sz="1800" dirty="0"/>
              <a:t>	The emergence of perceptions of common fate may depend on ‘entrepreneurs’ and/or ‘epistemic communities’ who take the lead in reframing how actors understand themselves.  Such leadership is not always present.” </a:t>
            </a:r>
          </a:p>
          <a:p>
            <a:pPr marL="0" indent="0">
              <a:buNone/>
            </a:pPr>
            <a:endParaRPr lang="en-US" sz="1800" dirty="0"/>
          </a:p>
        </p:txBody>
      </p:sp>
    </p:spTree>
    <p:extLst>
      <p:ext uri="{BB962C8B-B14F-4D97-AF65-F5344CB8AC3E}">
        <p14:creationId xmlns:p14="http://schemas.microsoft.com/office/powerpoint/2010/main" val="12286140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99CC8-8C1F-E777-14E9-D300EF07D3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58B8E-0AAF-389C-826C-C625643AFFB4}"/>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C1881342-CEB5-8A8C-BE6A-E37642E896BE}"/>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4B072B0A-F46A-9A93-B9F5-8CCE41A248B5}"/>
              </a:ext>
            </a:extLst>
          </p:cNvPr>
          <p:cNvSpPr>
            <a:spLocks noGrp="1"/>
          </p:cNvSpPr>
          <p:nvPr>
            <p:ph idx="1"/>
          </p:nvPr>
        </p:nvSpPr>
        <p:spPr>
          <a:xfrm>
            <a:off x="457200" y="1219200"/>
            <a:ext cx="8229600" cy="4911725"/>
          </a:xfrm>
        </p:spPr>
        <p:txBody>
          <a:bodyPr/>
          <a:lstStyle/>
          <a:p>
            <a:r>
              <a:rPr lang="en-US" sz="1800" dirty="0"/>
              <a:t>2.	</a:t>
            </a:r>
            <a:r>
              <a:rPr lang="en-US" sz="1800" dirty="0">
                <a:solidFill>
                  <a:srgbClr val="FFFF00"/>
                </a:solidFill>
              </a:rPr>
              <a:t>COMMON FATE</a:t>
            </a:r>
            <a:r>
              <a:rPr lang="en-US" sz="1800" dirty="0"/>
              <a:t>.  “Actors face a common fate when their individual survival, fitness, or welfare depends on what happens to the group as a whole.  As with interdependence, this can only cause collective identity if it is an objective condition, since subjective awareness of being ‘in the same boat’ is [already] constitutive of collective identity, not a cause."  If both sides already think that subjectively, they already have the collective identity.</a:t>
            </a:r>
          </a:p>
          <a:p>
            <a:endParaRPr lang="en-US" sz="1800" dirty="0"/>
          </a:p>
          <a:p>
            <a:r>
              <a:rPr lang="en-US" sz="1800" dirty="0"/>
              <a:t>	The emergence of perceptions of common fate may depend on ‘entrepreneurs’ and/or ‘epistemic communities’ who take the lead in reframing how actors understand themselves.  Such leadership is not always present.” </a:t>
            </a:r>
          </a:p>
          <a:p>
            <a:endParaRPr lang="en-US" sz="1800" dirty="0"/>
          </a:p>
          <a:p>
            <a:r>
              <a:rPr lang="en-US" sz="1800" dirty="0"/>
              <a:t>	</a:t>
            </a:r>
            <a:r>
              <a:rPr lang="en-US" sz="1800" dirty="0">
                <a:solidFill>
                  <a:srgbClr val="FFFF00"/>
                </a:solidFill>
              </a:rPr>
              <a:t>But common fate is not a </a:t>
            </a:r>
            <a:r>
              <a:rPr lang="en-US" sz="1800" u="sng" dirty="0">
                <a:solidFill>
                  <a:srgbClr val="FFFF00"/>
                </a:solidFill>
              </a:rPr>
              <a:t>sufficient</a:t>
            </a:r>
            <a:r>
              <a:rPr lang="en-US" sz="1800" dirty="0">
                <a:solidFill>
                  <a:srgbClr val="FFFF00"/>
                </a:solidFill>
              </a:rPr>
              <a:t> condition for collective identity formation because as with interdependence, actors may fear exploitation by others in the collective…</a:t>
            </a:r>
            <a:r>
              <a:rPr lang="en-US" sz="1800" u="sng" dirty="0">
                <a:highlight>
                  <a:srgbClr val="000080"/>
                </a:highlight>
              </a:rPr>
              <a:t>Believing that those with whom one might cooperate will exhibit self-restraint is therefore an important condition</a:t>
            </a:r>
            <a:r>
              <a:rPr lang="en-US" sz="1800" dirty="0"/>
              <a:t>."</a:t>
            </a:r>
          </a:p>
        </p:txBody>
      </p:sp>
    </p:spTree>
    <p:extLst>
      <p:ext uri="{BB962C8B-B14F-4D97-AF65-F5344CB8AC3E}">
        <p14:creationId xmlns:p14="http://schemas.microsoft.com/office/powerpoint/2010/main" val="2626551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59DB4-DB3C-C188-2DED-894533A853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4A4F4-EEA4-22FC-15A0-711309B219D5}"/>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A75D383B-009C-B98E-2AE2-C7EF4E76C91A}"/>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D4666FAF-2C63-B9B5-7354-366F300BDA44}"/>
              </a:ext>
            </a:extLst>
          </p:cNvPr>
          <p:cNvSpPr>
            <a:spLocks noGrp="1"/>
          </p:cNvSpPr>
          <p:nvPr>
            <p:ph idx="1"/>
          </p:nvPr>
        </p:nvSpPr>
        <p:spPr>
          <a:xfrm>
            <a:off x="457200" y="1219200"/>
            <a:ext cx="8229600" cy="4911725"/>
          </a:xfrm>
        </p:spPr>
        <p:txBody>
          <a:bodyPr/>
          <a:lstStyle/>
          <a:p>
            <a:r>
              <a:rPr lang="en-US" sz="1800" dirty="0"/>
              <a:t>3.	</a:t>
            </a:r>
            <a:r>
              <a:rPr lang="en-US" sz="1800" dirty="0">
                <a:solidFill>
                  <a:srgbClr val="FFFF00"/>
                </a:solidFill>
              </a:rPr>
              <a:t>HOMOGENEITY</a:t>
            </a:r>
            <a:r>
              <a:rPr lang="en-US" sz="1800" dirty="0"/>
              <a:t>.  “The concept of collective identity presupposes that members categorize themselves as being alike along the dimensions that define the group, and as such the perception of homogeneity helps constitute collective identity.  The causal relationship, therefore, must be between ‘objective’ homogeneity and its subjective categorization...The hypothesis would be that increases in objective homogeneity cause actors to recategorize others as being like themselves."</a:t>
            </a:r>
          </a:p>
          <a:p>
            <a:pPr marL="0" indent="0">
              <a:buNone/>
            </a:pPr>
            <a:endParaRPr lang="en-US" sz="1800" dirty="0"/>
          </a:p>
        </p:txBody>
      </p:sp>
    </p:spTree>
    <p:extLst>
      <p:ext uri="{BB962C8B-B14F-4D97-AF65-F5344CB8AC3E}">
        <p14:creationId xmlns:p14="http://schemas.microsoft.com/office/powerpoint/2010/main" val="32627276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91586-FE01-75BC-1726-A46B02261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CF740-A764-EAF5-5727-ACEDEEC467F6}"/>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2A54BA6B-4847-C106-6385-C1921C8952B1}"/>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D78B0C69-FD72-D772-2E8A-094484E33D8E}"/>
              </a:ext>
            </a:extLst>
          </p:cNvPr>
          <p:cNvSpPr>
            <a:spLocks noGrp="1"/>
          </p:cNvSpPr>
          <p:nvPr>
            <p:ph idx="1"/>
          </p:nvPr>
        </p:nvSpPr>
        <p:spPr>
          <a:xfrm>
            <a:off x="457200" y="1219200"/>
            <a:ext cx="8229600" cy="4911725"/>
          </a:xfrm>
        </p:spPr>
        <p:txBody>
          <a:bodyPr/>
          <a:lstStyle/>
          <a:p>
            <a:r>
              <a:rPr lang="en-US" sz="1800" dirty="0"/>
              <a:t>3.	</a:t>
            </a:r>
            <a:r>
              <a:rPr lang="en-US" sz="1800" dirty="0">
                <a:solidFill>
                  <a:srgbClr val="FFFF00"/>
                </a:solidFill>
              </a:rPr>
              <a:t>HOMOGENEITY</a:t>
            </a:r>
            <a:r>
              <a:rPr lang="en-US" sz="1800" dirty="0"/>
              <a:t>.  “The concept of collective identity presupposes that members categorize themselves as being alike along the dimensions that define the group, and as such the perception of homogeneity helps constitute collective identity.  The causal relationship, therefore, must be between ‘objective’ homogeneity and its subjective categorization...The hypothesis would be that increases in objective homogeneity cause actors to recategorize others as being like themselves."</a:t>
            </a:r>
          </a:p>
          <a:p>
            <a:endParaRPr lang="en-US" sz="1800" dirty="0"/>
          </a:p>
          <a:p>
            <a:r>
              <a:rPr lang="en-US" sz="1800" dirty="0"/>
              <a:t>	“</a:t>
            </a:r>
            <a:r>
              <a:rPr lang="en-US" sz="1800" dirty="0">
                <a:highlight>
                  <a:srgbClr val="800000"/>
                </a:highlight>
              </a:rPr>
              <a:t>Inventing or problematizing new sources of group differentiation shores up the boundary between the group Self and the Other</a:t>
            </a:r>
            <a:r>
              <a:rPr lang="en-US" sz="1800" dirty="0"/>
              <a:t>.  This need for difference does not have to lead to aggression or disrespect toward other groups (to ‘Othering’), and need not block the formation of a collective identity on other issues.  But it does weaken the relationship between homogenization and prosocial behavior.</a:t>
            </a:r>
          </a:p>
        </p:txBody>
      </p:sp>
    </p:spTree>
    <p:extLst>
      <p:ext uri="{BB962C8B-B14F-4D97-AF65-F5344CB8AC3E}">
        <p14:creationId xmlns:p14="http://schemas.microsoft.com/office/powerpoint/2010/main" val="6909466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128EE-F7A0-B384-9489-B4EC3E7780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809B97-F2DA-2D3F-8101-EE7904009514}"/>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280D2F9C-1199-990D-A416-58454F2FB2A6}"/>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1039224D-039E-7F76-B9E3-3ED01C5AF8CE}"/>
              </a:ext>
            </a:extLst>
          </p:cNvPr>
          <p:cNvSpPr>
            <a:spLocks noGrp="1"/>
          </p:cNvSpPr>
          <p:nvPr>
            <p:ph idx="1"/>
          </p:nvPr>
        </p:nvSpPr>
        <p:spPr>
          <a:xfrm>
            <a:off x="457200" y="1219200"/>
            <a:ext cx="8229600" cy="4911725"/>
          </a:xfrm>
        </p:spPr>
        <p:txBody>
          <a:bodyPr/>
          <a:lstStyle/>
          <a:p>
            <a:r>
              <a:rPr lang="en-US" sz="1800" dirty="0"/>
              <a:t>4.	</a:t>
            </a:r>
            <a:r>
              <a:rPr lang="en-US" sz="1800" dirty="0">
                <a:solidFill>
                  <a:srgbClr val="FFFF00"/>
                </a:solidFill>
              </a:rPr>
              <a:t>SELF-RESTRAINT</a:t>
            </a:r>
            <a:r>
              <a:rPr lang="en-US" sz="1800" dirty="0"/>
              <a:t>.  “Interdependence, common fate, and homogeneity are efficient causes of collective identity formation and thus structural change.  </a:t>
            </a:r>
            <a:r>
              <a:rPr lang="en-US" sz="1800" dirty="0">
                <a:highlight>
                  <a:srgbClr val="000080"/>
                </a:highlight>
              </a:rPr>
              <a:t>As they increase actors have more incentive to engage in prosocial behavior, which erodes egoistic boundaries of the Self and expands them to include the Other</a:t>
            </a:r>
            <a:r>
              <a:rPr lang="en-US" sz="1800" dirty="0"/>
              <a:t>.  </a:t>
            </a:r>
            <a:r>
              <a:rPr lang="en-US" sz="1800" dirty="0">
                <a:highlight>
                  <a:srgbClr val="0000FF"/>
                </a:highlight>
              </a:rPr>
              <a:t>This process can only proceed, however, if actors can overcome their fear of being </a:t>
            </a:r>
            <a:r>
              <a:rPr lang="en-US" sz="1800" u="sng" dirty="0">
                <a:highlight>
                  <a:srgbClr val="0000FF"/>
                </a:highlight>
              </a:rPr>
              <a:t>engulfed</a:t>
            </a:r>
            <a:r>
              <a:rPr lang="en-US" sz="1800" dirty="0">
                <a:highlight>
                  <a:srgbClr val="0000FF"/>
                </a:highlight>
              </a:rPr>
              <a:t>, physically or psychically, by those with whom they would identify</a:t>
            </a:r>
            <a:r>
              <a:rPr lang="en-US" sz="1800" dirty="0"/>
              <a:t>.</a:t>
            </a:r>
          </a:p>
          <a:p>
            <a:pPr marL="0" indent="0">
              <a:buNone/>
            </a:pPr>
            <a:endParaRPr lang="en-US" sz="1800" dirty="0"/>
          </a:p>
        </p:txBody>
      </p:sp>
    </p:spTree>
    <p:extLst>
      <p:ext uri="{BB962C8B-B14F-4D97-AF65-F5344CB8AC3E}">
        <p14:creationId xmlns:p14="http://schemas.microsoft.com/office/powerpoint/2010/main" val="20453133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20A71-195F-0B5B-9FD8-05E16E2B1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28D4D-BAD2-BD83-15F1-83B7C4260608}"/>
              </a:ext>
            </a:extLst>
          </p:cNvPr>
          <p:cNvSpPr>
            <a:spLocks noGrp="1"/>
          </p:cNvSpPr>
          <p:nvPr>
            <p:ph type="title"/>
          </p:nvPr>
        </p:nvSpPr>
        <p:spPr>
          <a:xfrm>
            <a:off x="457200" y="0"/>
            <a:ext cx="8229600" cy="1066800"/>
          </a:xfrm>
        </p:spPr>
        <p:txBody>
          <a:bodyPr/>
          <a:lstStyle/>
          <a:p>
            <a:pPr eaLnBrk="1" hangingPunct="1">
              <a:defRPr/>
            </a:pPr>
            <a:r>
              <a:rPr lang="en-US" sz="2800" u="sng" dirty="0">
                <a:solidFill>
                  <a:schemeClr val="accent1"/>
                </a:solidFill>
                <a:effectLst>
                  <a:outerShdw blurRad="38100" dist="38100" dir="2700000" algn="tl">
                    <a:srgbClr val="010199"/>
                  </a:outerShdw>
                </a:effectLst>
                <a:highlight>
                  <a:srgbClr val="00FFFF"/>
                </a:highlight>
              </a:rPr>
              <a:t>Cultures</a:t>
            </a:r>
            <a:r>
              <a:rPr lang="en-US" sz="2800" u="sng" dirty="0">
                <a:solidFill>
                  <a:schemeClr val="accent1"/>
                </a:solidFill>
                <a:effectLst>
                  <a:outerShdw blurRad="38100" dist="38100" dir="2700000" algn="tl">
                    <a:srgbClr val="010199"/>
                  </a:outerShdw>
                </a:effectLst>
              </a:rPr>
              <a:t> of Anarchy (Alexander Wendt, 1999)</a:t>
            </a:r>
            <a:r>
              <a:rPr lang="en-US" sz="4000" u="sng" dirty="0">
                <a:solidFill>
                  <a:schemeClr val="accent1"/>
                </a:solidFill>
                <a:effectLst>
                  <a:outerShdw blurRad="38100" dist="38100" dir="2700000" algn="tl">
                    <a:srgbClr val="010199"/>
                  </a:outerShdw>
                </a:effectLst>
              </a:rPr>
              <a:t>:</a:t>
            </a:r>
            <a:endParaRPr lang="en-US" sz="3200" dirty="0">
              <a:solidFill>
                <a:schemeClr val="accent1"/>
              </a:solidFill>
              <a:effectLst>
                <a:outerShdw blurRad="38100" dist="38100" dir="2700000" algn="tl">
                  <a:srgbClr val="010199"/>
                </a:outerShdw>
              </a:effectLst>
            </a:endParaRPr>
          </a:p>
        </p:txBody>
      </p:sp>
      <p:sp>
        <p:nvSpPr>
          <p:cNvPr id="30726" name="TextBox 6">
            <a:extLst>
              <a:ext uri="{FF2B5EF4-FFF2-40B4-BE49-F238E27FC236}">
                <a16:creationId xmlns:a16="http://schemas.microsoft.com/office/drawing/2014/main" id="{22742F80-2C42-FEC2-CE07-C7CFAF84D96F}"/>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endParaRPr lang="en-US" altLang="en-US" sz="2000" dirty="0"/>
          </a:p>
        </p:txBody>
      </p:sp>
      <p:sp>
        <p:nvSpPr>
          <p:cNvPr id="4" name="Content Placeholder 3">
            <a:extLst>
              <a:ext uri="{FF2B5EF4-FFF2-40B4-BE49-F238E27FC236}">
                <a16:creationId xmlns:a16="http://schemas.microsoft.com/office/drawing/2014/main" id="{01BC02F4-D4CC-E48C-CCFB-E31AF629D1C7}"/>
              </a:ext>
            </a:extLst>
          </p:cNvPr>
          <p:cNvSpPr>
            <a:spLocks noGrp="1"/>
          </p:cNvSpPr>
          <p:nvPr>
            <p:ph idx="1"/>
          </p:nvPr>
        </p:nvSpPr>
        <p:spPr>
          <a:xfrm>
            <a:off x="457200" y="1219200"/>
            <a:ext cx="8229600" cy="4911725"/>
          </a:xfrm>
        </p:spPr>
        <p:txBody>
          <a:bodyPr/>
          <a:lstStyle/>
          <a:p>
            <a:r>
              <a:rPr lang="en-US" sz="1800" dirty="0"/>
              <a:t>4.	</a:t>
            </a:r>
            <a:r>
              <a:rPr lang="en-US" sz="1800" dirty="0">
                <a:solidFill>
                  <a:srgbClr val="FFFF00"/>
                </a:solidFill>
              </a:rPr>
              <a:t>SELF-RESTRAINT</a:t>
            </a:r>
            <a:r>
              <a:rPr lang="en-US" sz="1800" dirty="0"/>
              <a:t>.  “Interdependence, common fate, and homogeneity are efficient causes of collective identity formation and thus structural change.  </a:t>
            </a:r>
            <a:r>
              <a:rPr lang="en-US" sz="1800" dirty="0">
                <a:highlight>
                  <a:srgbClr val="000080"/>
                </a:highlight>
              </a:rPr>
              <a:t>As they increase actors have more incentive to engage in prosocial behavior, which erodes egoistic boundaries of the Self and expands them to include the Other</a:t>
            </a:r>
            <a:r>
              <a:rPr lang="en-US" sz="1800" dirty="0"/>
              <a:t>.  </a:t>
            </a:r>
            <a:r>
              <a:rPr lang="en-US" sz="1800" dirty="0">
                <a:highlight>
                  <a:srgbClr val="0000FF"/>
                </a:highlight>
              </a:rPr>
              <a:t>This process can only proceed, however, if actors can overcome their fear of being </a:t>
            </a:r>
            <a:r>
              <a:rPr lang="en-US" sz="1800" u="sng" dirty="0">
                <a:highlight>
                  <a:srgbClr val="0000FF"/>
                </a:highlight>
              </a:rPr>
              <a:t>engulfed</a:t>
            </a:r>
            <a:r>
              <a:rPr lang="en-US" sz="1800" dirty="0">
                <a:highlight>
                  <a:srgbClr val="0000FF"/>
                </a:highlight>
              </a:rPr>
              <a:t>, physically or psychically, by those with whom they would identify</a:t>
            </a:r>
            <a:r>
              <a:rPr lang="en-US" sz="1800" dirty="0"/>
              <a:t>.</a:t>
            </a:r>
          </a:p>
          <a:p>
            <a:endParaRPr lang="en-US" sz="1800" dirty="0"/>
          </a:p>
          <a:p>
            <a:r>
              <a:rPr lang="en-US" sz="1800" dirty="0"/>
              <a:t>	In order to get past this threat, which is the source of egoism and ‘Realism,’ actors must trust that their needs will be respected, that their individuality will not be wholly submerged by or sacrificed to the group.  Creating this trust is the fundamental problem of collective identity formation, and is particularly difficult in anarchy, where being engulfed can be fatal."</a:t>
            </a:r>
          </a:p>
        </p:txBody>
      </p:sp>
    </p:spTree>
    <p:extLst>
      <p:ext uri="{BB962C8B-B14F-4D97-AF65-F5344CB8AC3E}">
        <p14:creationId xmlns:p14="http://schemas.microsoft.com/office/powerpoint/2010/main" val="20095358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C0F65-E274-D408-612D-2A0982745D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F7CA4-39E8-7CAE-3464-05CD16100F9F}"/>
              </a:ext>
            </a:extLst>
          </p:cNvPr>
          <p:cNvSpPr>
            <a:spLocks noGrp="1"/>
          </p:cNvSpPr>
          <p:nvPr>
            <p:ph type="title"/>
          </p:nvPr>
        </p:nvSpPr>
        <p:spPr>
          <a:xfrm>
            <a:off x="457200" y="0"/>
            <a:ext cx="8229600" cy="1066800"/>
          </a:xfrm>
        </p:spPr>
        <p:txBody>
          <a:bodyPr/>
          <a:lstStyle/>
          <a:p>
            <a:pPr eaLnBrk="1" hangingPunct="1">
              <a:defRPr/>
            </a:pPr>
            <a:r>
              <a:rPr lang="en-US" sz="2800" u="sng" dirty="0">
                <a:solidFill>
                  <a:srgbClr val="FFFFFF"/>
                </a:solidFill>
                <a:effectLst>
                  <a:outerShdw blurRad="38100" dist="38100" dir="2700000" algn="tl">
                    <a:srgbClr val="010199"/>
                  </a:outerShdw>
                </a:effectLst>
              </a:rPr>
              <a:t>Constructivism and Military Security</a:t>
            </a:r>
            <a:endParaRPr lang="en-US" sz="2800" dirty="0">
              <a:solidFill>
                <a:srgbClr val="FFFFFF"/>
              </a:solidFill>
              <a:effectLst>
                <a:outerShdw blurRad="38100" dist="38100" dir="2700000" algn="tl">
                  <a:srgbClr val="010199"/>
                </a:outerShdw>
              </a:effectLst>
            </a:endParaRPr>
          </a:p>
        </p:txBody>
      </p:sp>
      <p:pic>
        <p:nvPicPr>
          <p:cNvPr id="30722" name="Content Placeholder 3" descr="Jepperson.jpg">
            <a:extLst>
              <a:ext uri="{FF2B5EF4-FFF2-40B4-BE49-F238E27FC236}">
                <a16:creationId xmlns:a16="http://schemas.microsoft.com/office/drawing/2014/main" id="{13BDC488-956E-A30F-D02C-764FB7EA69E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2743200"/>
            <a:ext cx="2438400" cy="1828800"/>
          </a:xfrm>
        </p:spPr>
      </p:pic>
      <p:pic>
        <p:nvPicPr>
          <p:cNvPr id="30723" name="Picture 4" descr="Wendt.jpg">
            <a:extLst>
              <a:ext uri="{FF2B5EF4-FFF2-40B4-BE49-F238E27FC236}">
                <a16:creationId xmlns:a16="http://schemas.microsoft.com/office/drawing/2014/main" id="{A2BFC052-6468-C04F-2F04-A5A263A010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648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5" descr="Katzenstein.jpg">
            <a:extLst>
              <a:ext uri="{FF2B5EF4-FFF2-40B4-BE49-F238E27FC236}">
                <a16:creationId xmlns:a16="http://schemas.microsoft.com/office/drawing/2014/main" id="{FFA981F4-B967-722E-FED8-C4277C54654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743200"/>
            <a:ext cx="246697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6" descr="Culture of National Security.jpg">
            <a:extLst>
              <a:ext uri="{FF2B5EF4-FFF2-40B4-BE49-F238E27FC236}">
                <a16:creationId xmlns:a16="http://schemas.microsoft.com/office/drawing/2014/main" id="{D0C9C0FC-693A-6A0A-7F82-FA650346129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00800" y="2743200"/>
            <a:ext cx="2474913"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6" name="TextBox 6">
            <a:extLst>
              <a:ext uri="{FF2B5EF4-FFF2-40B4-BE49-F238E27FC236}">
                <a16:creationId xmlns:a16="http://schemas.microsoft.com/office/drawing/2014/main" id="{23B2771A-2C49-884C-5A62-7741D9184283}"/>
              </a:ext>
            </a:extLst>
          </p:cNvPr>
          <p:cNvSpPr txBox="1">
            <a:spLocks noChangeArrowheads="1"/>
          </p:cNvSpPr>
          <p:nvPr/>
        </p:nvSpPr>
        <p:spPr bwMode="auto">
          <a:xfrm>
            <a:off x="304800" y="1143000"/>
            <a:ext cx="8382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2000" u="sng"/>
              <a:t>Jepperson, Wendt, and Katzenstein</a:t>
            </a:r>
            <a:r>
              <a:rPr lang="en-US" altLang="en-US" sz="2000"/>
              <a:t>:</a:t>
            </a:r>
          </a:p>
        </p:txBody>
      </p:sp>
    </p:spTree>
    <p:extLst>
      <p:ext uri="{BB962C8B-B14F-4D97-AF65-F5344CB8AC3E}">
        <p14:creationId xmlns:p14="http://schemas.microsoft.com/office/powerpoint/2010/main" val="32140198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21445-3844-A77A-F297-DA652004013B}"/>
              </a:ext>
            </a:extLst>
          </p:cNvPr>
          <p:cNvSpPr>
            <a:spLocks noGrp="1"/>
          </p:cNvSpPr>
          <p:nvPr>
            <p:ph type="title"/>
          </p:nvPr>
        </p:nvSpPr>
        <p:spPr>
          <a:xfrm>
            <a:off x="457200" y="0"/>
            <a:ext cx="8229600" cy="1066800"/>
          </a:xfrm>
        </p:spPr>
        <p:txBody>
          <a:bodyPr/>
          <a:lstStyle/>
          <a:p>
            <a:pPr eaLnBrk="1" hangingPunct="1">
              <a:defRPr/>
            </a:pPr>
            <a:r>
              <a:rPr lang="en-US" sz="2800" u="sng" dirty="0">
                <a:solidFill>
                  <a:srgbClr val="FFFFFF"/>
                </a:solidFill>
                <a:effectLst>
                  <a:outerShdw blurRad="38100" dist="38100" dir="2700000" algn="tl">
                    <a:srgbClr val="010199"/>
                  </a:outerShdw>
                </a:effectLst>
              </a:rPr>
              <a:t>Constructivism and Military Security</a:t>
            </a:r>
            <a:endParaRPr lang="en-US" sz="2800" dirty="0">
              <a:solidFill>
                <a:srgbClr val="FFFFFF"/>
              </a:solidFill>
              <a:effectLst>
                <a:outerShdw blurRad="38100" dist="38100" dir="2700000" algn="tl">
                  <a:srgbClr val="010199"/>
                </a:outerShdw>
              </a:effectLst>
            </a:endParaRPr>
          </a:p>
        </p:txBody>
      </p:sp>
      <p:pic>
        <p:nvPicPr>
          <p:cNvPr id="31746" name="Content Placeholder 3" descr="Jepperson.jpg">
            <a:extLst>
              <a:ext uri="{FF2B5EF4-FFF2-40B4-BE49-F238E27FC236}">
                <a16:creationId xmlns:a16="http://schemas.microsoft.com/office/drawing/2014/main" id="{BDE87F53-6EB2-46F4-730E-7DFB948BF42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81000" y="2743200"/>
            <a:ext cx="2438400" cy="1828800"/>
          </a:xfrm>
        </p:spPr>
      </p:pic>
      <p:pic>
        <p:nvPicPr>
          <p:cNvPr id="31747" name="Picture 4" descr="Wendt.jpg">
            <a:extLst>
              <a:ext uri="{FF2B5EF4-FFF2-40B4-BE49-F238E27FC236}">
                <a16:creationId xmlns:a16="http://schemas.microsoft.com/office/drawing/2014/main" id="{A8EEA28D-FFB8-FF53-68B3-52FBEFB031C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648200"/>
            <a:ext cx="24384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8" name="Picture 5" descr="Katzenstein.jpg">
            <a:extLst>
              <a:ext uri="{FF2B5EF4-FFF2-40B4-BE49-F238E27FC236}">
                <a16:creationId xmlns:a16="http://schemas.microsoft.com/office/drawing/2014/main" id="{B8D2B20E-4C0B-9BAE-33B0-A30F8CD67C9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352800" y="2743200"/>
            <a:ext cx="2466975"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6" descr="Culture of National Security.jpg">
            <a:extLst>
              <a:ext uri="{FF2B5EF4-FFF2-40B4-BE49-F238E27FC236}">
                <a16:creationId xmlns:a16="http://schemas.microsoft.com/office/drawing/2014/main" id="{42BDC943-8A1A-8396-2B1A-31E700B16AE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00800" y="2743200"/>
            <a:ext cx="2474913" cy="374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TextBox 6">
            <a:extLst>
              <a:ext uri="{FF2B5EF4-FFF2-40B4-BE49-F238E27FC236}">
                <a16:creationId xmlns:a16="http://schemas.microsoft.com/office/drawing/2014/main" id="{474DCD26-C369-3A75-1043-725AF29F722C}"/>
              </a:ext>
            </a:extLst>
          </p:cNvPr>
          <p:cNvSpPr txBox="1">
            <a:spLocks noChangeArrowheads="1"/>
          </p:cNvSpPr>
          <p:nvPr/>
        </p:nvSpPr>
        <p:spPr bwMode="auto">
          <a:xfrm>
            <a:off x="304800" y="1143000"/>
            <a:ext cx="83820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75000"/>
              <a:buFont typeface="Wingdings" pitchFamily="2" charset="2"/>
              <a:buChar char="l"/>
              <a:defRPr sz="32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spcBef>
                <a:spcPct val="20000"/>
              </a:spcBef>
              <a:buClr>
                <a:schemeClr val="tx2"/>
              </a:buClr>
              <a:buSzPct val="75000"/>
              <a:buFont typeface="Wingdings" pitchFamily="2" charset="2"/>
              <a:buChar char="l"/>
              <a:defRPr sz="2800">
                <a:solidFill>
                  <a:schemeClr val="tx1"/>
                </a:solidFill>
                <a:latin typeface="Arial" panose="020B0604020202020204" pitchFamily="34" charset="0"/>
                <a:ea typeface="Arial" panose="020B0604020202020204" pitchFamily="34" charset="0"/>
                <a:cs typeface="Arial" panose="020B0604020202020204" pitchFamily="34" charset="0"/>
              </a:defRPr>
            </a:lvl2pPr>
            <a:lvl3pPr marL="1143000" indent="-228600">
              <a:spcBef>
                <a:spcPct val="20000"/>
              </a:spcBef>
              <a:buClr>
                <a:schemeClr val="accent2"/>
              </a:buClr>
              <a:buSzPct val="75000"/>
              <a:buFont typeface="Wingdings" pitchFamily="2" charset="2"/>
              <a:buChar char="l"/>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lr>
                <a:schemeClr val="folHlink"/>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2000" u="sng"/>
              <a:t>Jepperson, Wendt, and Katzenstein</a:t>
            </a:r>
            <a:r>
              <a:rPr lang="en-US" altLang="en-US" sz="2000"/>
              <a:t>:  The security environments in which states find themselves embedded are NOT just </a:t>
            </a:r>
            <a:r>
              <a:rPr lang="en-US" altLang="en-US" sz="2000" i="1"/>
              <a:t>material </a:t>
            </a:r>
            <a:r>
              <a:rPr lang="en-US" altLang="en-US" sz="2000"/>
              <a:t>(e.g., balance of military power), but also—importantly, and even DECISIVELY—</a:t>
            </a:r>
            <a:r>
              <a:rPr lang="en-US" altLang="en-US" sz="2000" i="1"/>
              <a:t>cultural </a:t>
            </a:r>
            <a:r>
              <a:rPr lang="en-US" altLang="en-US" sz="2000"/>
              <a:t>or </a:t>
            </a:r>
            <a:r>
              <a:rPr lang="en-US" altLang="en-US" sz="2000" i="1"/>
              <a:t>institutional</a:t>
            </a:r>
            <a:r>
              <a:rPr lang="en-US" altLang="en-US" sz="2000"/>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7C00-BB41-5220-40A8-F774A4A82903}"/>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JWK</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ja-JP" altLang="en-US" sz="2800">
                <a:solidFill>
                  <a:srgbClr val="FFFF00"/>
                </a:solidFill>
                <a:ea typeface="ＭＳ Ｐゴシック" charset="-128"/>
              </a:rPr>
              <a:t>“</a:t>
            </a:r>
            <a:r>
              <a:rPr lang="en-US" altLang="ja-JP" sz="2800" dirty="0">
                <a:solidFill>
                  <a:srgbClr val="FFFF00"/>
                </a:solidFill>
                <a:ea typeface="ＭＳ Ｐゴシック" charset="-128"/>
              </a:rPr>
              <a:t>Three Layers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 to the</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International Cultural Environment (ICE)</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28D75A53-CB17-EDA2-F055-3D4B627F497C}"/>
              </a:ext>
            </a:extLst>
          </p:cNvPr>
          <p:cNvSpPr>
            <a:spLocks noGrp="1"/>
          </p:cNvSpPr>
          <p:nvPr>
            <p:ph idx="1"/>
          </p:nvPr>
        </p:nvSpPr>
        <p:spPr/>
        <p:txBody>
          <a:bodyPr/>
          <a:lstStyle/>
          <a:p>
            <a:pPr eaLnBrk="1" hangingPunct="1">
              <a:buFont typeface="Wingdings" charset="0"/>
              <a:buNone/>
              <a:defRPr/>
            </a:pPr>
            <a:endParaRPr lang="en-US" dirty="0"/>
          </a:p>
          <a:p>
            <a:pPr eaLnBrk="1" hangingPunct="1">
              <a:buFont typeface="Wingdings" charset="0"/>
              <a:buNone/>
              <a:defRPr/>
            </a:pPr>
            <a:endParaRPr lang="en-US" sz="1800" dirty="0"/>
          </a:p>
          <a:p>
            <a:pPr eaLnBrk="1" hangingPunct="1">
              <a:buFont typeface="Wingdings" charset="0"/>
              <a:buNone/>
              <a:defRPr/>
            </a:pP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370F6-16E9-4350-5C77-8DC99C28C8B5}"/>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JWK</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ja-JP" altLang="en-US" sz="2800">
                <a:solidFill>
                  <a:srgbClr val="FFFF00"/>
                </a:solidFill>
                <a:ea typeface="ＭＳ Ｐゴシック" charset="-128"/>
              </a:rPr>
              <a:t>“</a:t>
            </a:r>
            <a:r>
              <a:rPr lang="en-US" altLang="ja-JP" sz="2800" dirty="0">
                <a:solidFill>
                  <a:srgbClr val="FFFF00"/>
                </a:solidFill>
                <a:ea typeface="ＭＳ Ｐゴシック" charset="-128"/>
              </a:rPr>
              <a:t>Three Layers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 to the</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International Cultural Environment (ICE)</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B9F97A5A-B48A-B488-3A74-AD2FB2799E16}"/>
              </a:ext>
            </a:extLst>
          </p:cNvPr>
          <p:cNvSpPr>
            <a:spLocks noGrp="1"/>
          </p:cNvSpPr>
          <p:nvPr>
            <p:ph idx="1"/>
          </p:nvPr>
        </p:nvSpPr>
        <p:spPr/>
        <p:txBody>
          <a:bodyPr/>
          <a:lstStyle/>
          <a:p>
            <a:pPr eaLnBrk="1" hangingPunct="1">
              <a:buFont typeface="Wingdings" charset="0"/>
              <a:buNone/>
              <a:defRPr/>
            </a:pPr>
            <a:endParaRPr lang="en-US" dirty="0"/>
          </a:p>
          <a:p>
            <a:pPr eaLnBrk="1" hangingPunct="1">
              <a:buFont typeface="Wingdings" charset="0"/>
              <a:buNone/>
              <a:defRPr/>
            </a:pPr>
            <a:r>
              <a:rPr lang="en-US" sz="2400" dirty="0"/>
              <a:t>1.		The layer of formal institutions or security 	REGIMES.</a:t>
            </a:r>
          </a:p>
          <a:p>
            <a:pPr eaLnBrk="1" hangingPunct="1">
              <a:buFont typeface="Wingdings" charset="0"/>
              <a:buNone/>
              <a:defRPr/>
            </a:pPr>
            <a:endParaRPr lang="en-US" sz="1800" dirty="0"/>
          </a:p>
          <a:p>
            <a:pPr eaLnBrk="1" hangingPunct="1">
              <a:buFont typeface="Wingdings" charset="0"/>
              <a:buNone/>
              <a:defRPr/>
            </a:pP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2FC9D-A80D-9451-358D-726A5ED033AC}"/>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JWK</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ja-JP" altLang="en-US" sz="2800">
                <a:solidFill>
                  <a:srgbClr val="FFFF00"/>
                </a:solidFill>
                <a:ea typeface="ＭＳ Ｐゴシック" charset="-128"/>
              </a:rPr>
              <a:t>“</a:t>
            </a:r>
            <a:r>
              <a:rPr lang="en-US" altLang="ja-JP" sz="2800" dirty="0">
                <a:solidFill>
                  <a:srgbClr val="FFFF00"/>
                </a:solidFill>
                <a:ea typeface="ＭＳ Ｐゴシック" charset="-128"/>
              </a:rPr>
              <a:t>Three Layers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 to the</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International Cultural Environment (ICE)</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9992F113-B6B4-1003-4155-A55D2C0FF4CF}"/>
              </a:ext>
            </a:extLst>
          </p:cNvPr>
          <p:cNvSpPr>
            <a:spLocks noGrp="1"/>
          </p:cNvSpPr>
          <p:nvPr>
            <p:ph idx="1"/>
          </p:nvPr>
        </p:nvSpPr>
        <p:spPr/>
        <p:txBody>
          <a:bodyPr/>
          <a:lstStyle/>
          <a:p>
            <a:pPr eaLnBrk="1" hangingPunct="1">
              <a:buFont typeface="Wingdings" charset="0"/>
              <a:buNone/>
              <a:defRPr/>
            </a:pPr>
            <a:endParaRPr lang="en-US" dirty="0"/>
          </a:p>
          <a:p>
            <a:pPr eaLnBrk="1" hangingPunct="1">
              <a:buFont typeface="Wingdings" charset="0"/>
              <a:buNone/>
              <a:defRPr/>
            </a:pPr>
            <a:r>
              <a:rPr lang="en-US" sz="2400" dirty="0"/>
              <a:t>1.		The layer of formal institutions or security 	REGIMES.</a:t>
            </a:r>
          </a:p>
          <a:p>
            <a:pPr eaLnBrk="1" hangingPunct="1">
              <a:buFont typeface="Wingdings" charset="0"/>
              <a:buNone/>
              <a:defRPr/>
            </a:pPr>
            <a:endParaRPr lang="en-US" sz="2400" dirty="0"/>
          </a:p>
          <a:p>
            <a:pPr eaLnBrk="1" hangingPunct="1">
              <a:buFont typeface="Wingdings" charset="0"/>
              <a:buNone/>
              <a:defRPr/>
            </a:pPr>
            <a:r>
              <a:rPr lang="en-US" sz="2400" dirty="0"/>
              <a:t>2.		A world political culture layer.</a:t>
            </a:r>
          </a:p>
          <a:p>
            <a:pPr eaLnBrk="1" hangingPunct="1">
              <a:buFont typeface="Wingdings" charset="0"/>
              <a:buNone/>
              <a:defRPr/>
            </a:pPr>
            <a:endParaRPr lang="en-US" sz="1800" dirty="0"/>
          </a:p>
          <a:p>
            <a:pPr eaLnBrk="1" hangingPunct="1">
              <a:buFont typeface="Wingdings" charset="0"/>
              <a:buNone/>
              <a:defRPr/>
            </a:pP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609EA-5ECB-3B4A-AB95-FA7BEDCC7324}"/>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JWK</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ja-JP" altLang="en-US" sz="2800">
                <a:solidFill>
                  <a:srgbClr val="FFFF00"/>
                </a:solidFill>
                <a:ea typeface="ＭＳ Ｐゴシック" charset="-128"/>
              </a:rPr>
              <a:t>“</a:t>
            </a:r>
            <a:r>
              <a:rPr lang="en-US" altLang="ja-JP" sz="2800" dirty="0">
                <a:solidFill>
                  <a:srgbClr val="FFFF00"/>
                </a:solidFill>
                <a:ea typeface="ＭＳ Ｐゴシック" charset="-128"/>
              </a:rPr>
              <a:t>Three Layers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 to the</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International Cultural Environment (ICE)</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3B0AE7BD-8821-78C8-F39D-25C8E834BA6A}"/>
              </a:ext>
            </a:extLst>
          </p:cNvPr>
          <p:cNvSpPr>
            <a:spLocks noGrp="1"/>
          </p:cNvSpPr>
          <p:nvPr>
            <p:ph idx="1"/>
          </p:nvPr>
        </p:nvSpPr>
        <p:spPr/>
        <p:txBody>
          <a:bodyPr/>
          <a:lstStyle/>
          <a:p>
            <a:pPr eaLnBrk="1" hangingPunct="1">
              <a:buFont typeface="Wingdings" charset="2"/>
              <a:buNone/>
              <a:defRPr/>
            </a:pPr>
            <a:endParaRPr lang="en-US" altLang="en-US" dirty="0">
              <a:ea typeface="ＭＳ Ｐゴシック" charset="-128"/>
            </a:endParaRPr>
          </a:p>
          <a:p>
            <a:pPr eaLnBrk="1" hangingPunct="1">
              <a:buFont typeface="Wingdings" charset="2"/>
              <a:buNone/>
              <a:defRPr/>
            </a:pPr>
            <a:r>
              <a:rPr lang="en-US" altLang="en-US" sz="2400" dirty="0">
                <a:ea typeface="ＭＳ Ｐゴシック" charset="-128"/>
              </a:rPr>
              <a:t>1.		The layer of formal institutions or security </a:t>
            </a:r>
          </a:p>
          <a:p>
            <a:pPr eaLnBrk="1" hangingPunct="1">
              <a:buFont typeface="Wingdings" charset="2"/>
              <a:buNone/>
              <a:defRPr/>
            </a:pPr>
            <a:r>
              <a:rPr lang="en-US" altLang="en-US" sz="2400" dirty="0">
                <a:ea typeface="ＭＳ Ｐゴシック" charset="-128"/>
              </a:rPr>
              <a:t>		REGIMES.</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2.		A world political culture layer.</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3.		A layer consisting of enduring patterns of amity</a:t>
            </a:r>
          </a:p>
          <a:p>
            <a:pPr eaLnBrk="1" hangingPunct="1">
              <a:buFont typeface="Wingdings" charset="2"/>
              <a:buNone/>
              <a:defRPr/>
            </a:pPr>
            <a:r>
              <a:rPr lang="en-US" altLang="en-US" sz="2400" dirty="0">
                <a:ea typeface="ＭＳ Ｐゴシック" charset="-128"/>
              </a:rPr>
              <a:t>		and enmity, particularly </a:t>
            </a:r>
            <a:r>
              <a:rPr lang="en-US" altLang="en-US" sz="2400" i="1" dirty="0">
                <a:ea typeface="ＭＳ Ｐゴシック" charset="-128"/>
              </a:rPr>
              <a:t>within regions</a:t>
            </a:r>
            <a:r>
              <a:rPr lang="en-US" altLang="en-US" sz="2400" dirty="0">
                <a:ea typeface="ＭＳ Ｐゴシック" charset="-128"/>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30CE6-B783-E92E-456F-C01FF3259ABD}"/>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JWK</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a:t>
            </a:r>
            <a:r>
              <a:rPr lang="ja-JP" altLang="en-US" sz="2800">
                <a:solidFill>
                  <a:srgbClr val="FFFF00"/>
                </a:solidFill>
                <a:ea typeface="ＭＳ Ｐゴシック" charset="-128"/>
              </a:rPr>
              <a:t>“</a:t>
            </a:r>
            <a:r>
              <a:rPr lang="en-US" altLang="ja-JP" sz="2800" dirty="0">
                <a:solidFill>
                  <a:srgbClr val="FFFF00"/>
                </a:solidFill>
                <a:ea typeface="ＭＳ Ｐゴシック" charset="-128"/>
              </a:rPr>
              <a:t>Three Layers</a:t>
            </a:r>
            <a:r>
              <a:rPr lang="ja-JP" altLang="en-US" sz="2800">
                <a:solidFill>
                  <a:srgbClr val="FFFF00"/>
                </a:solidFill>
                <a:ea typeface="ＭＳ Ｐゴシック" charset="-128"/>
              </a:rPr>
              <a:t>”</a:t>
            </a:r>
            <a:r>
              <a:rPr lang="en-US" altLang="ja-JP" sz="2800" dirty="0">
                <a:solidFill>
                  <a:srgbClr val="FFFF00"/>
                </a:solidFill>
                <a:ea typeface="ＭＳ Ｐゴシック" charset="-128"/>
              </a:rPr>
              <a:t> to the</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International Cultural Environment (ICE)</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F6C955DF-98F9-6312-6F3F-3B97EFF9FF8F}"/>
              </a:ext>
            </a:extLst>
          </p:cNvPr>
          <p:cNvSpPr>
            <a:spLocks noGrp="1"/>
          </p:cNvSpPr>
          <p:nvPr>
            <p:ph idx="1"/>
          </p:nvPr>
        </p:nvSpPr>
        <p:spPr/>
        <p:txBody>
          <a:bodyPr/>
          <a:lstStyle/>
          <a:p>
            <a:pPr eaLnBrk="1" hangingPunct="1">
              <a:buFont typeface="Wingdings" charset="2"/>
              <a:buNone/>
              <a:defRPr/>
            </a:pPr>
            <a:endParaRPr lang="en-US" altLang="en-US" dirty="0">
              <a:ea typeface="ＭＳ Ｐゴシック" charset="-128"/>
            </a:endParaRPr>
          </a:p>
          <a:p>
            <a:pPr eaLnBrk="1" hangingPunct="1">
              <a:buFont typeface="Wingdings" charset="2"/>
              <a:buNone/>
              <a:defRPr/>
            </a:pPr>
            <a:r>
              <a:rPr lang="en-US" altLang="en-US" sz="2400" dirty="0">
                <a:ea typeface="ＭＳ Ｐゴシック" charset="-128"/>
              </a:rPr>
              <a:t>1.		The layer of formal institutions or security 	REGIMES.</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2.		A world political culture layer.</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3.		A layer consisting of enduring patterns of amity 	and enmity, particularly </a:t>
            </a:r>
            <a:r>
              <a:rPr lang="en-US" altLang="en-US" sz="2400" i="1" dirty="0">
                <a:ea typeface="ＭＳ Ｐゴシック" charset="-128"/>
              </a:rPr>
              <a:t>within regions.</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		FOR EXAMPLE: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D3747-41B2-917F-60DA-A03214E947C6}"/>
              </a:ext>
            </a:extLst>
          </p:cNvPr>
          <p:cNvSpPr>
            <a:spLocks noGrp="1"/>
          </p:cNvSpPr>
          <p:nvPr>
            <p:ph type="title"/>
          </p:nvPr>
        </p:nvSpPr>
        <p:spPr>
          <a:xfrm>
            <a:off x="457200" y="914400"/>
            <a:ext cx="4267200" cy="1139825"/>
          </a:xfrm>
        </p:spPr>
        <p:txBody>
          <a:bodyPr/>
          <a:lstStyle/>
          <a:p>
            <a:pPr>
              <a:defRPr/>
            </a:pPr>
            <a:r>
              <a:rPr lang="en-US" altLang="en-US" sz="2800" dirty="0">
                <a:solidFill>
                  <a:schemeClr val="tx1"/>
                </a:solidFill>
                <a:effectLst>
                  <a:outerShdw blurRad="38100" dist="38100" dir="2700000" algn="tl">
                    <a:srgbClr val="010199"/>
                  </a:outerShdw>
                </a:effectLst>
                <a:ea typeface="ＭＳ Ｐゴシック" charset="-128"/>
              </a:rPr>
              <a:t>Which country is – to the U.S. – the nice country?</a:t>
            </a:r>
          </a:p>
        </p:txBody>
      </p:sp>
      <p:pic>
        <p:nvPicPr>
          <p:cNvPr id="37890" name="Content Placeholder 3" descr="Canada.jpg">
            <a:extLst>
              <a:ext uri="{FF2B5EF4-FFF2-40B4-BE49-F238E27FC236}">
                <a16:creationId xmlns:a16="http://schemas.microsoft.com/office/drawing/2014/main" id="{5B0F3BDB-07CC-5AF1-B4C8-FE40C4441C1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299075" y="0"/>
            <a:ext cx="3844925" cy="3382963"/>
          </a:xfrm>
        </p:spPr>
      </p:pic>
      <p:pic>
        <p:nvPicPr>
          <p:cNvPr id="37891" name="Picture 4" descr="Cuba.gif">
            <a:extLst>
              <a:ext uri="{FF2B5EF4-FFF2-40B4-BE49-F238E27FC236}">
                <a16:creationId xmlns:a16="http://schemas.microsoft.com/office/drawing/2014/main" id="{FC98AE7C-BFB6-CFEE-A72B-E83E004AED6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3475038"/>
            <a:ext cx="5278438" cy="338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Picture 5" descr="Castro angry again.jpg">
            <a:extLst>
              <a:ext uri="{FF2B5EF4-FFF2-40B4-BE49-F238E27FC236}">
                <a16:creationId xmlns:a16="http://schemas.microsoft.com/office/drawing/2014/main" id="{97BB7757-5F78-B737-FB97-4B3FE1E2AB8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14400" y="5029200"/>
            <a:ext cx="18653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Picture 7" descr="Canadian mounties (nice).jpg">
            <a:extLst>
              <a:ext uri="{FF2B5EF4-FFF2-40B4-BE49-F238E27FC236}">
                <a16:creationId xmlns:a16="http://schemas.microsoft.com/office/drawing/2014/main" id="{8FD00066-ECA6-B299-35F2-42742AB7A909}"/>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059613" y="0"/>
            <a:ext cx="2084387"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F28E8-945F-43D1-676C-62D835E958AC}"/>
              </a:ext>
            </a:extLst>
          </p:cNvPr>
          <p:cNvSpPr>
            <a:spLocks noGrp="1"/>
          </p:cNvSpPr>
          <p:nvPr>
            <p:ph type="title"/>
          </p:nvPr>
        </p:nvSpPr>
        <p:spPr/>
        <p:txBody>
          <a:bodyPr/>
          <a:lstStyle/>
          <a:p>
            <a:pPr eaLnBrk="1" hangingPunct="1">
              <a:defRPr/>
            </a:pPr>
            <a:r>
              <a:rPr lang="en-US" altLang="en-US" sz="2800" dirty="0">
                <a:solidFill>
                  <a:srgbClr val="FFFF00"/>
                </a:solidFill>
                <a:ea typeface="ＭＳ Ｐゴシック" charset="-128"/>
              </a:rPr>
              <a:t>JWK</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Key Novel Argument</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BDED85E7-9E3C-A434-4DAC-043031392B88}"/>
              </a:ext>
            </a:extLst>
          </p:cNvPr>
          <p:cNvSpPr>
            <a:spLocks noGrp="1"/>
          </p:cNvSpPr>
          <p:nvPr>
            <p:ph idx="1"/>
          </p:nvPr>
        </p:nvSpPr>
        <p:spPr/>
        <p:txBody>
          <a:bodyPr/>
          <a:lstStyle/>
          <a:p>
            <a:pPr eaLnBrk="1" hangingPunct="1">
              <a:buFont typeface="Wingdings" charset="2"/>
              <a:buNone/>
              <a:defRPr/>
            </a:pPr>
            <a:endParaRPr lang="en-US" altLang="en-US" dirty="0">
              <a:ea typeface="ＭＳ Ｐゴシック" charset="-128"/>
            </a:endParaRPr>
          </a:p>
          <a:p>
            <a:pPr eaLnBrk="1" hangingPunct="1">
              <a:buFont typeface="Wingdings" charset="2"/>
              <a:buNone/>
              <a:defRPr/>
            </a:pPr>
            <a:r>
              <a:rPr lang="en-US" altLang="en-US" dirty="0">
                <a:ea typeface="ＭＳ Ｐゴシック" charset="-128"/>
              </a:rPr>
              <a:t>	</a:t>
            </a:r>
            <a:r>
              <a:rPr lang="en-US" altLang="en-US" sz="2400" dirty="0">
                <a:ea typeface="ＭＳ Ｐゴシック" charset="-128"/>
              </a:rPr>
              <a:t>Elements of the international cultural environment don</a:t>
            </a:r>
            <a:r>
              <a:rPr lang="ja-JP" altLang="en-US" sz="2400">
                <a:ea typeface="ＭＳ Ｐゴシック" charset="-128"/>
              </a:rPr>
              <a:t>’</a:t>
            </a:r>
            <a:r>
              <a:rPr lang="en-US" altLang="ja-JP" sz="2400" dirty="0">
                <a:ea typeface="ＭＳ Ｐゴシック" charset="-128"/>
              </a:rPr>
              <a:t>t just affect the </a:t>
            </a:r>
            <a:r>
              <a:rPr lang="en-US" altLang="ja-JP" sz="2400" i="1" dirty="0">
                <a:ea typeface="ＭＳ Ｐゴシック" charset="-128"/>
              </a:rPr>
              <a:t>incentives</a:t>
            </a:r>
            <a:r>
              <a:rPr lang="en-US" altLang="ja-JP" sz="2400" dirty="0">
                <a:ea typeface="ＭＳ Ｐゴシック" charset="-128"/>
              </a:rPr>
              <a:t> facing states to behave in certain kinds of ways.</a:t>
            </a:r>
          </a:p>
          <a:p>
            <a:pPr eaLnBrk="1" hangingPunct="1">
              <a:buFont typeface="Wingdings" charset="2"/>
              <a:buNone/>
              <a:defRPr/>
            </a:pPr>
            <a:endParaRPr lang="en-US" altLang="en-US" sz="2800" dirty="0">
              <a:ea typeface="ＭＳ Ｐゴシック" charset="-128"/>
            </a:endParaRPr>
          </a:p>
          <a:p>
            <a:pPr eaLnBrk="1" hangingPunct="1">
              <a:buFont typeface="Wingdings" charset="2"/>
              <a:buNone/>
              <a:defRPr/>
            </a:pPr>
            <a:r>
              <a:rPr lang="en-US" altLang="en-US" sz="2800" dirty="0">
                <a:ea typeface="ＭＳ Ｐゴシック" charset="-128"/>
              </a:rPr>
              <a: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1B809-2A8C-746E-1610-38FE6BEC594E}"/>
              </a:ext>
            </a:extLst>
          </p:cNvPr>
          <p:cNvSpPr>
            <a:spLocks noGrp="1"/>
          </p:cNvSpPr>
          <p:nvPr>
            <p:ph type="title"/>
          </p:nvPr>
        </p:nvSpPr>
        <p:spPr/>
        <p:txBody>
          <a:bodyPr/>
          <a:lstStyle/>
          <a:p>
            <a:pPr eaLnBrk="1" hangingPunct="1">
              <a:defRPr/>
            </a:pPr>
            <a:r>
              <a:rPr lang="en-US" altLang="en-US" sz="2800" dirty="0">
                <a:solidFill>
                  <a:srgbClr val="FFFF00"/>
                </a:solidFill>
                <a:ea typeface="ＭＳ Ｐゴシック" charset="-128"/>
              </a:rPr>
              <a:t>JWK</a:t>
            </a:r>
            <a:r>
              <a:rPr lang="ja-JP" altLang="en-US" sz="2800">
                <a:solidFill>
                  <a:srgbClr val="FFFF00"/>
                </a:solidFill>
                <a:ea typeface="ＭＳ Ｐゴシック" charset="-128"/>
              </a:rPr>
              <a:t>’</a:t>
            </a:r>
            <a:r>
              <a:rPr lang="en-US" altLang="ja-JP" sz="2800" dirty="0">
                <a:solidFill>
                  <a:srgbClr val="FFFF00"/>
                </a:solidFill>
                <a:ea typeface="ＭＳ Ｐゴシック" charset="-128"/>
              </a:rPr>
              <a:t>s Key Novel Argument</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EB595BB2-9BD1-DF30-4958-1FE2B4A2C7D1}"/>
              </a:ext>
            </a:extLst>
          </p:cNvPr>
          <p:cNvSpPr>
            <a:spLocks noGrp="1"/>
          </p:cNvSpPr>
          <p:nvPr>
            <p:ph idx="1"/>
          </p:nvPr>
        </p:nvSpPr>
        <p:spPr/>
        <p:txBody>
          <a:bodyPr/>
          <a:lstStyle/>
          <a:p>
            <a:pPr eaLnBrk="1" hangingPunct="1">
              <a:buFont typeface="Wingdings" charset="2"/>
              <a:buNone/>
              <a:defRPr/>
            </a:pPr>
            <a:endParaRPr lang="en-US" altLang="en-US" dirty="0">
              <a:ea typeface="ＭＳ Ｐゴシック" charset="-128"/>
            </a:endParaRPr>
          </a:p>
          <a:p>
            <a:pPr eaLnBrk="1" hangingPunct="1">
              <a:buFont typeface="Wingdings" charset="2"/>
              <a:buNone/>
              <a:defRPr/>
            </a:pPr>
            <a:r>
              <a:rPr lang="en-US" altLang="en-US" dirty="0">
                <a:ea typeface="ＭＳ Ｐゴシック" charset="-128"/>
              </a:rPr>
              <a:t>	</a:t>
            </a:r>
            <a:r>
              <a:rPr lang="en-US" altLang="en-US" sz="2400" dirty="0">
                <a:ea typeface="ＭＳ Ｐゴシック" charset="-128"/>
              </a:rPr>
              <a:t>Elements of the international cultural environment don</a:t>
            </a:r>
            <a:r>
              <a:rPr lang="ja-JP" altLang="en-US" sz="2400">
                <a:ea typeface="ＭＳ Ｐゴシック" charset="-128"/>
              </a:rPr>
              <a:t>’</a:t>
            </a:r>
            <a:r>
              <a:rPr lang="en-US" altLang="ja-JP" sz="2400" dirty="0">
                <a:ea typeface="ＭＳ Ｐゴシック" charset="-128"/>
              </a:rPr>
              <a:t>t just affect the </a:t>
            </a:r>
            <a:r>
              <a:rPr lang="en-US" altLang="ja-JP" sz="2400" i="1" dirty="0">
                <a:ea typeface="ＭＳ Ｐゴシック" charset="-128"/>
              </a:rPr>
              <a:t>incentives</a:t>
            </a:r>
            <a:r>
              <a:rPr lang="en-US" altLang="ja-JP" sz="2400" dirty="0">
                <a:ea typeface="ＭＳ Ｐゴシック" charset="-128"/>
              </a:rPr>
              <a:t> facing states to behave in certain kinds of ways.</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	The ICE also affects the basic </a:t>
            </a:r>
            <a:r>
              <a:rPr lang="en-US" altLang="en-US" sz="2400" i="1" dirty="0">
                <a:ea typeface="ＭＳ Ｐゴシック" charset="-128"/>
              </a:rPr>
              <a:t>character</a:t>
            </a:r>
            <a:r>
              <a:rPr lang="en-US" altLang="en-US" sz="2400" dirty="0">
                <a:ea typeface="ＭＳ Ｐゴシック" charset="-128"/>
              </a:rPr>
              <a:t> of the states: their </a:t>
            </a:r>
            <a:r>
              <a:rPr lang="en-US" altLang="en-US" sz="2400" i="1" dirty="0">
                <a:ea typeface="ＭＳ Ｐゴシック" charset="-128"/>
              </a:rPr>
              <a:t>identities</a:t>
            </a:r>
            <a:r>
              <a:rPr lang="en-US" altLang="en-US" sz="2400" dirty="0">
                <a:ea typeface="ＭＳ Ｐゴシック" charset="-128"/>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7E380-266F-8828-6AD1-38D070BD06BC}"/>
              </a:ext>
            </a:extLst>
          </p:cNvPr>
          <p:cNvSpPr>
            <a:spLocks noGrp="1"/>
          </p:cNvSpPr>
          <p:nvPr>
            <p:ph type="title"/>
          </p:nvPr>
        </p:nvSpPr>
        <p:spPr>
          <a:xfrm>
            <a:off x="0" y="533400"/>
            <a:ext cx="9144000" cy="1139825"/>
          </a:xfrm>
        </p:spPr>
        <p:txBody>
          <a:bodyPr/>
          <a:lstStyle/>
          <a:p>
            <a:pPr>
              <a:defRPr/>
            </a:pPr>
            <a:r>
              <a:rPr lang="en-US" altLang="en-US" sz="4000" u="sng" dirty="0">
                <a:solidFill>
                  <a:schemeClr val="tx1"/>
                </a:solidFill>
                <a:highlight>
                  <a:srgbClr val="800000"/>
                </a:highlight>
                <a:ea typeface="ＭＳ Ｐゴシック" panose="020B0600070205080204" pitchFamily="34" charset="-128"/>
              </a:rPr>
              <a:t>BREAKTHROUGH</a:t>
            </a:r>
            <a:r>
              <a:rPr lang="en-US" altLang="en-US" sz="4000" b="1" dirty="0">
                <a:solidFill>
                  <a:schemeClr val="tx1"/>
                </a:solidFill>
                <a:ea typeface="ＭＳ Ｐゴシック" panose="020B0600070205080204" pitchFamily="34" charset="-128"/>
              </a:rPr>
              <a:t>:</a:t>
            </a:r>
            <a:br>
              <a:rPr lang="en-US" altLang="en-US" sz="3200" b="1" u="sng" dirty="0">
                <a:solidFill>
                  <a:srgbClr val="92D050"/>
                </a:solidFill>
                <a:ea typeface="ＭＳ Ｐゴシック" panose="020B0600070205080204" pitchFamily="34" charset="-128"/>
              </a:rPr>
            </a:br>
            <a:br>
              <a:rPr lang="en-US" altLang="en-US" sz="2000" b="1" u="sng" dirty="0">
                <a:solidFill>
                  <a:srgbClr val="92D050"/>
                </a:solidFill>
                <a:ea typeface="ＭＳ Ｐゴシック" panose="020B0600070205080204" pitchFamily="34" charset="-128"/>
              </a:rPr>
            </a:br>
            <a:r>
              <a:rPr lang="en-US" altLang="en-US" sz="3200" b="1" dirty="0">
                <a:solidFill>
                  <a:schemeClr val="tx1"/>
                </a:solidFill>
                <a:highlight>
                  <a:srgbClr val="000080"/>
                </a:highlight>
                <a:ea typeface="ＭＳ Ｐゴシック" panose="020B0600070205080204" pitchFamily="34" charset="-128"/>
              </a:rPr>
              <a:t>From the Neo-Neo </a:t>
            </a:r>
            <a:r>
              <a:rPr lang="en-US" altLang="en-US" sz="3200" b="1" i="1" dirty="0">
                <a:solidFill>
                  <a:schemeClr val="tx1"/>
                </a:solidFill>
                <a:highlight>
                  <a:srgbClr val="000080"/>
                </a:highlight>
                <a:ea typeface="ＭＳ Ｐゴシック" panose="020B0600070205080204" pitchFamily="34" charset="-128"/>
              </a:rPr>
              <a:t>Debate</a:t>
            </a:r>
            <a:br>
              <a:rPr lang="en-US" altLang="en-US" sz="3200" b="1" i="1" dirty="0">
                <a:solidFill>
                  <a:schemeClr val="tx1"/>
                </a:solidFill>
                <a:highlight>
                  <a:srgbClr val="000080"/>
                </a:highlight>
                <a:ea typeface="ＭＳ Ｐゴシック" panose="020B0600070205080204" pitchFamily="34" charset="-128"/>
              </a:rPr>
            </a:br>
            <a:r>
              <a:rPr lang="en-US" altLang="en-US" sz="3200" b="1" dirty="0">
                <a:solidFill>
                  <a:schemeClr val="tx1"/>
                </a:solidFill>
                <a:highlight>
                  <a:srgbClr val="000080"/>
                </a:highlight>
                <a:ea typeface="ＭＳ Ｐゴシック" panose="020B0600070205080204" pitchFamily="34" charset="-128"/>
              </a:rPr>
              <a:t>to the Neo-Neo </a:t>
            </a:r>
            <a:r>
              <a:rPr lang="en-US" altLang="en-US" sz="3200" b="1" i="1" dirty="0">
                <a:solidFill>
                  <a:schemeClr val="tx1"/>
                </a:solidFill>
                <a:highlight>
                  <a:srgbClr val="000080"/>
                </a:highlight>
                <a:ea typeface="ＭＳ Ｐゴシック" panose="020B0600070205080204" pitchFamily="34" charset="-128"/>
              </a:rPr>
              <a:t>Synthesis</a:t>
            </a:r>
          </a:p>
        </p:txBody>
      </p:sp>
      <p:sp>
        <p:nvSpPr>
          <p:cNvPr id="3" name="Content Placeholder 2">
            <a:extLst>
              <a:ext uri="{FF2B5EF4-FFF2-40B4-BE49-F238E27FC236}">
                <a16:creationId xmlns:a16="http://schemas.microsoft.com/office/drawing/2014/main" id="{C2FCA76D-0060-7224-0493-73D5774EDAA2}"/>
              </a:ext>
            </a:extLst>
          </p:cNvPr>
          <p:cNvSpPr>
            <a:spLocks noGrp="1"/>
          </p:cNvSpPr>
          <p:nvPr>
            <p:ph idx="1"/>
          </p:nvPr>
        </p:nvSpPr>
        <p:spPr>
          <a:xfrm>
            <a:off x="457200" y="1981200"/>
            <a:ext cx="8229600" cy="4149725"/>
          </a:xfrm>
        </p:spPr>
        <p:txBody>
          <a:bodyPr/>
          <a:lstStyle/>
          <a:p>
            <a:pPr>
              <a:buFont typeface="Wingdings" charset="2"/>
              <a:buNone/>
              <a:defRPr/>
            </a:pPr>
            <a:endParaRPr lang="en-US" altLang="en-US" dirty="0">
              <a:ea typeface="ＭＳ Ｐゴシック" charset="-128"/>
            </a:endParaRPr>
          </a:p>
          <a:p>
            <a:pPr>
              <a:buFont typeface="Wingdings" charset="2"/>
              <a:buNone/>
              <a:defRPr/>
            </a:pPr>
            <a:r>
              <a:rPr lang="en-US" altLang="en-US" sz="2800" dirty="0">
                <a:ea typeface="ＭＳ Ｐゴシック" charset="-128"/>
              </a:rPr>
              <a:t>	</a:t>
            </a:r>
            <a:r>
              <a:rPr lang="ja-JP" altLang="en-US" sz="2400">
                <a:ea typeface="ＭＳ Ｐゴシック" charset="-128"/>
              </a:rPr>
              <a:t>“</a:t>
            </a:r>
            <a:r>
              <a:rPr lang="en-US" altLang="ja-JP" sz="2400" dirty="0">
                <a:highlight>
                  <a:srgbClr val="008080"/>
                </a:highlight>
                <a:ea typeface="ＭＳ Ｐゴシック" charset="-128"/>
              </a:rPr>
              <a:t>We reject the </a:t>
            </a:r>
            <a:r>
              <a:rPr lang="en-US" altLang="ja-JP" sz="2400" u="sng" dirty="0">
                <a:highlight>
                  <a:srgbClr val="008080"/>
                </a:highlight>
                <a:ea typeface="ＭＳ Ｐゴシック" charset="-128"/>
              </a:rPr>
              <a:t>prevailing assumption</a:t>
            </a:r>
            <a:r>
              <a:rPr lang="en-US" altLang="ja-JP" sz="2400" dirty="0">
                <a:ea typeface="ＭＳ Ｐゴシック" charset="-128"/>
              </a:rPr>
              <a:t>, </a:t>
            </a:r>
            <a:r>
              <a:rPr lang="en-US" altLang="ja-JP" sz="2400" i="1" dirty="0">
                <a:ea typeface="ＭＳ Ｐゴシック" charset="-128"/>
              </a:rPr>
              <a:t>shared by Neorealists and Neoliberals alike</a:t>
            </a:r>
            <a:r>
              <a:rPr lang="en-US" altLang="ja-JP" sz="2400" dirty="0">
                <a:ea typeface="ＭＳ Ｐゴシック" charset="-128"/>
              </a:rPr>
              <a:t>, that the </a:t>
            </a:r>
            <a:r>
              <a:rPr lang="en-US" altLang="ja-JP" sz="2400" dirty="0">
                <a:solidFill>
                  <a:srgbClr val="FFFF00"/>
                </a:solidFill>
                <a:ea typeface="ＭＳ Ｐゴシック" charset="-128"/>
              </a:rPr>
              <a:t>defining actor properties</a:t>
            </a:r>
            <a:r>
              <a:rPr lang="en-US" altLang="ja-JP" sz="2400" dirty="0">
                <a:ea typeface="ＭＳ Ｐゴシック" charset="-128"/>
              </a:rPr>
              <a:t> are </a:t>
            </a:r>
            <a:r>
              <a:rPr lang="en-US" altLang="ja-JP" sz="2400" dirty="0">
                <a:solidFill>
                  <a:srgbClr val="FFFF00"/>
                </a:solidFill>
                <a:ea typeface="ＭＳ Ｐゴシック" charset="-128"/>
              </a:rPr>
              <a:t>intrinsic</a:t>
            </a:r>
            <a:r>
              <a:rPr lang="en-US" altLang="ja-JP" sz="2400" dirty="0">
                <a:ea typeface="ＭＳ Ｐゴシック" charset="-128"/>
              </a:rPr>
              <a:t> to states, </a:t>
            </a:r>
            <a:r>
              <a:rPr lang="en-US" altLang="ja-JP" sz="2400" i="1" dirty="0">
                <a:highlight>
                  <a:srgbClr val="008080"/>
                </a:highlight>
                <a:ea typeface="ＭＳ Ｐゴシック" charset="-128"/>
              </a:rPr>
              <a:t>that they are all power-seeking and (material) interest-maximizing rational actors</a:t>
            </a:r>
            <a:r>
              <a:rPr lang="en-US" altLang="ja-JP" sz="2400" dirty="0">
                <a:highlight>
                  <a:srgbClr val="008080"/>
                </a:highlight>
                <a:ea typeface="ＭＳ Ｐゴシック" charset="-128"/>
              </a:rPr>
              <a:t>.</a:t>
            </a:r>
            <a:r>
              <a:rPr lang="ja-JP" altLang="en-US" sz="2400">
                <a:highlight>
                  <a:srgbClr val="008080"/>
                </a:highlight>
                <a:ea typeface="ＭＳ Ｐゴシック" charset="-128"/>
              </a:rPr>
              <a:t>”</a:t>
            </a:r>
            <a:endParaRPr lang="en-US" altLang="en-US" sz="2400" dirty="0">
              <a:highlight>
                <a:srgbClr val="008080"/>
              </a:highlight>
              <a:ea typeface="ＭＳ Ｐゴシック" charset="-128"/>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DAA3D-D049-1F37-230B-076401A939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75553-44CB-EB5B-2ABB-55FA332F49EE}"/>
              </a:ext>
            </a:extLst>
          </p:cNvPr>
          <p:cNvSpPr>
            <a:spLocks noGrp="1"/>
          </p:cNvSpPr>
          <p:nvPr>
            <p:ph type="title"/>
          </p:nvPr>
        </p:nvSpPr>
        <p:spPr>
          <a:xfrm>
            <a:off x="0" y="533400"/>
            <a:ext cx="9144000" cy="1139825"/>
          </a:xfrm>
        </p:spPr>
        <p:txBody>
          <a:bodyPr/>
          <a:lstStyle/>
          <a:p>
            <a:pPr>
              <a:defRPr/>
            </a:pPr>
            <a:r>
              <a:rPr lang="en-US" altLang="en-US" sz="4000" u="sng" dirty="0">
                <a:solidFill>
                  <a:schemeClr val="tx1"/>
                </a:solidFill>
                <a:highlight>
                  <a:srgbClr val="800000"/>
                </a:highlight>
                <a:ea typeface="ＭＳ Ｐゴシック" panose="020B0600070205080204" pitchFamily="34" charset="-128"/>
              </a:rPr>
              <a:t>BREAKTHROUGH</a:t>
            </a:r>
            <a:r>
              <a:rPr lang="en-US" altLang="en-US" sz="4000" b="1" dirty="0">
                <a:solidFill>
                  <a:schemeClr val="tx1"/>
                </a:solidFill>
                <a:ea typeface="ＭＳ Ｐゴシック" panose="020B0600070205080204" pitchFamily="34" charset="-128"/>
              </a:rPr>
              <a:t>:</a:t>
            </a:r>
            <a:br>
              <a:rPr lang="en-US" altLang="en-US" sz="3200" b="1" u="sng" dirty="0">
                <a:solidFill>
                  <a:srgbClr val="92D050"/>
                </a:solidFill>
                <a:ea typeface="ＭＳ Ｐゴシック" panose="020B0600070205080204" pitchFamily="34" charset="-128"/>
              </a:rPr>
            </a:br>
            <a:br>
              <a:rPr lang="en-US" altLang="en-US" sz="2000" b="1" u="sng" dirty="0">
                <a:solidFill>
                  <a:srgbClr val="92D050"/>
                </a:solidFill>
                <a:ea typeface="ＭＳ Ｐゴシック" panose="020B0600070205080204" pitchFamily="34" charset="-128"/>
              </a:rPr>
            </a:br>
            <a:r>
              <a:rPr lang="en-US" altLang="en-US" sz="3200" b="1" dirty="0">
                <a:solidFill>
                  <a:schemeClr val="tx1"/>
                </a:solidFill>
                <a:highlight>
                  <a:srgbClr val="000080"/>
                </a:highlight>
                <a:ea typeface="ＭＳ Ｐゴシック" panose="020B0600070205080204" pitchFamily="34" charset="-128"/>
              </a:rPr>
              <a:t>From the Neo-Neo </a:t>
            </a:r>
            <a:r>
              <a:rPr lang="en-US" altLang="en-US" sz="3200" b="1" i="1" dirty="0">
                <a:solidFill>
                  <a:schemeClr val="tx1"/>
                </a:solidFill>
                <a:highlight>
                  <a:srgbClr val="000080"/>
                </a:highlight>
                <a:ea typeface="ＭＳ Ｐゴシック" panose="020B0600070205080204" pitchFamily="34" charset="-128"/>
              </a:rPr>
              <a:t>Debate</a:t>
            </a:r>
            <a:br>
              <a:rPr lang="en-US" altLang="en-US" sz="3200" b="1" i="1" dirty="0">
                <a:solidFill>
                  <a:schemeClr val="tx1"/>
                </a:solidFill>
                <a:highlight>
                  <a:srgbClr val="000080"/>
                </a:highlight>
                <a:ea typeface="ＭＳ Ｐゴシック" panose="020B0600070205080204" pitchFamily="34" charset="-128"/>
              </a:rPr>
            </a:br>
            <a:r>
              <a:rPr lang="en-US" altLang="en-US" sz="3200" b="1" dirty="0">
                <a:solidFill>
                  <a:schemeClr val="tx1"/>
                </a:solidFill>
                <a:highlight>
                  <a:srgbClr val="000080"/>
                </a:highlight>
                <a:ea typeface="ＭＳ Ｐゴシック" panose="020B0600070205080204" pitchFamily="34" charset="-128"/>
              </a:rPr>
              <a:t>to the Neo-Neo </a:t>
            </a:r>
            <a:r>
              <a:rPr lang="en-US" altLang="en-US" sz="3200" b="1" i="1" dirty="0">
                <a:solidFill>
                  <a:schemeClr val="tx1"/>
                </a:solidFill>
                <a:highlight>
                  <a:srgbClr val="000080"/>
                </a:highlight>
                <a:ea typeface="ＭＳ Ｐゴシック" panose="020B0600070205080204" pitchFamily="34" charset="-128"/>
              </a:rPr>
              <a:t>Synthesis</a:t>
            </a:r>
          </a:p>
        </p:txBody>
      </p:sp>
      <p:sp>
        <p:nvSpPr>
          <p:cNvPr id="3" name="Content Placeholder 2">
            <a:extLst>
              <a:ext uri="{FF2B5EF4-FFF2-40B4-BE49-F238E27FC236}">
                <a16:creationId xmlns:a16="http://schemas.microsoft.com/office/drawing/2014/main" id="{E67E6152-5D9E-7264-B5F5-88A25A824C64}"/>
              </a:ext>
            </a:extLst>
          </p:cNvPr>
          <p:cNvSpPr>
            <a:spLocks noGrp="1"/>
          </p:cNvSpPr>
          <p:nvPr>
            <p:ph idx="1"/>
          </p:nvPr>
        </p:nvSpPr>
        <p:spPr>
          <a:xfrm>
            <a:off x="457200" y="1981200"/>
            <a:ext cx="8229600" cy="4149725"/>
          </a:xfrm>
        </p:spPr>
        <p:txBody>
          <a:bodyPr/>
          <a:lstStyle/>
          <a:p>
            <a:pPr>
              <a:buFont typeface="Wingdings" charset="2"/>
              <a:buNone/>
              <a:defRPr/>
            </a:pPr>
            <a:endParaRPr lang="en-US" altLang="en-US" dirty="0">
              <a:ea typeface="ＭＳ Ｐゴシック" charset="-128"/>
            </a:endParaRPr>
          </a:p>
          <a:p>
            <a:pPr>
              <a:buFont typeface="Wingdings" charset="2"/>
              <a:buNone/>
              <a:defRPr/>
            </a:pPr>
            <a:r>
              <a:rPr lang="en-US" altLang="en-US" sz="2800" dirty="0">
                <a:ea typeface="ＭＳ Ｐゴシック" charset="-128"/>
              </a:rPr>
              <a:t>	</a:t>
            </a:r>
            <a:r>
              <a:rPr lang="ja-JP" altLang="en-US" sz="2400">
                <a:ea typeface="ＭＳ Ｐゴシック" charset="-128"/>
              </a:rPr>
              <a:t>“</a:t>
            </a:r>
            <a:r>
              <a:rPr lang="en-US" altLang="ja-JP" sz="2400" dirty="0">
                <a:highlight>
                  <a:srgbClr val="008080"/>
                </a:highlight>
                <a:ea typeface="ＭＳ Ｐゴシック" charset="-128"/>
              </a:rPr>
              <a:t>We reject the </a:t>
            </a:r>
            <a:r>
              <a:rPr lang="en-US" altLang="ja-JP" sz="2400" u="sng" dirty="0">
                <a:highlight>
                  <a:srgbClr val="008080"/>
                </a:highlight>
                <a:ea typeface="ＭＳ Ｐゴシック" charset="-128"/>
              </a:rPr>
              <a:t>prevailing assumption</a:t>
            </a:r>
            <a:r>
              <a:rPr lang="en-US" altLang="ja-JP" sz="2400" dirty="0">
                <a:ea typeface="ＭＳ Ｐゴシック" charset="-128"/>
              </a:rPr>
              <a:t>, </a:t>
            </a:r>
            <a:r>
              <a:rPr lang="en-US" altLang="ja-JP" sz="2400" i="1" dirty="0">
                <a:ea typeface="ＭＳ Ｐゴシック" charset="-128"/>
              </a:rPr>
              <a:t>shared by Neorealists and Neoliberals alike</a:t>
            </a:r>
            <a:r>
              <a:rPr lang="en-US" altLang="ja-JP" sz="2400" dirty="0">
                <a:ea typeface="ＭＳ Ｐゴシック" charset="-128"/>
              </a:rPr>
              <a:t>, that the </a:t>
            </a:r>
            <a:r>
              <a:rPr lang="en-US" altLang="ja-JP" sz="2400" dirty="0">
                <a:solidFill>
                  <a:srgbClr val="FFFF00"/>
                </a:solidFill>
                <a:ea typeface="ＭＳ Ｐゴシック" charset="-128"/>
              </a:rPr>
              <a:t>defining actor properties</a:t>
            </a:r>
            <a:r>
              <a:rPr lang="en-US" altLang="ja-JP" sz="2400" dirty="0">
                <a:ea typeface="ＭＳ Ｐゴシック" charset="-128"/>
              </a:rPr>
              <a:t> are </a:t>
            </a:r>
            <a:r>
              <a:rPr lang="en-US" altLang="ja-JP" sz="2400" dirty="0">
                <a:solidFill>
                  <a:srgbClr val="FFFF00"/>
                </a:solidFill>
                <a:ea typeface="ＭＳ Ｐゴシック" charset="-128"/>
              </a:rPr>
              <a:t>intrinsic</a:t>
            </a:r>
            <a:r>
              <a:rPr lang="en-US" altLang="ja-JP" sz="2400" dirty="0">
                <a:ea typeface="ＭＳ Ｐゴシック" charset="-128"/>
              </a:rPr>
              <a:t> to states, </a:t>
            </a:r>
            <a:r>
              <a:rPr lang="en-US" altLang="ja-JP" sz="2400" i="1" dirty="0">
                <a:highlight>
                  <a:srgbClr val="008080"/>
                </a:highlight>
                <a:ea typeface="ＭＳ Ｐゴシック" charset="-128"/>
              </a:rPr>
              <a:t>that they are all power-seeking and (material) interest-maximizing rational actors</a:t>
            </a:r>
            <a:r>
              <a:rPr lang="en-US" altLang="ja-JP" sz="2400" dirty="0">
                <a:highlight>
                  <a:srgbClr val="008080"/>
                </a:highlight>
                <a:ea typeface="ＭＳ Ｐゴシック" charset="-128"/>
              </a:rPr>
              <a:t>.</a:t>
            </a:r>
            <a:r>
              <a:rPr lang="ja-JP" altLang="en-US" sz="2400">
                <a:highlight>
                  <a:srgbClr val="008080"/>
                </a:highlight>
                <a:ea typeface="ＭＳ Ｐゴシック" charset="-128"/>
              </a:rPr>
              <a:t>”</a:t>
            </a:r>
            <a:endParaRPr lang="en-US" altLang="en-US" sz="2400" dirty="0">
              <a:highlight>
                <a:srgbClr val="008080"/>
              </a:highlight>
              <a:ea typeface="ＭＳ Ｐゴシック" charset="-128"/>
            </a:endParaRPr>
          </a:p>
        </p:txBody>
      </p:sp>
      <p:sp>
        <p:nvSpPr>
          <p:cNvPr id="5" name="TextBox 4">
            <a:extLst>
              <a:ext uri="{FF2B5EF4-FFF2-40B4-BE49-F238E27FC236}">
                <a16:creationId xmlns:a16="http://schemas.microsoft.com/office/drawing/2014/main" id="{C227C874-54F4-9CAC-5B64-A8B3E8FE2F6C}"/>
              </a:ext>
            </a:extLst>
          </p:cNvPr>
          <p:cNvSpPr txBox="1"/>
          <p:nvPr/>
        </p:nvSpPr>
        <p:spPr>
          <a:xfrm>
            <a:off x="838200" y="5024788"/>
            <a:ext cx="7467600" cy="1107996"/>
          </a:xfrm>
          <a:prstGeom prst="rect">
            <a:avLst/>
          </a:prstGeom>
          <a:noFill/>
        </p:spPr>
        <p:txBody>
          <a:bodyPr wrap="square" rtlCol="0">
            <a:spAutoFit/>
          </a:bodyPr>
          <a:lstStyle/>
          <a:p>
            <a:pPr algn="ctr"/>
            <a:r>
              <a:rPr lang="en-US" sz="6600" dirty="0"/>
              <a:t>🤯</a:t>
            </a:r>
          </a:p>
        </p:txBody>
      </p:sp>
    </p:spTree>
    <p:extLst>
      <p:ext uri="{BB962C8B-B14F-4D97-AF65-F5344CB8AC3E}">
        <p14:creationId xmlns:p14="http://schemas.microsoft.com/office/powerpoint/2010/main" val="19581972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33D6F-88CF-8A6F-53A4-C9356F6255B3}"/>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The ICE’</a:t>
            </a:r>
            <a:r>
              <a:rPr lang="en-US" altLang="ja-JP" sz="2800" dirty="0">
                <a:solidFill>
                  <a:srgbClr val="FFFF00"/>
                </a:solidFill>
                <a:ea typeface="ＭＳ Ｐゴシック" charset="-128"/>
              </a:rPr>
              <a:t>s Three Effects on </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State Identities</a:t>
            </a:r>
            <a:endParaRPr lang="en-US" altLang="en-US" sz="2800" dirty="0">
              <a:solidFill>
                <a:srgbClr val="FFFF00"/>
              </a:solidFill>
              <a:ea typeface="ＭＳ Ｐゴシック" charset="-128"/>
            </a:endParaRPr>
          </a:p>
        </p:txBody>
      </p:sp>
      <p:sp>
        <p:nvSpPr>
          <p:cNvPr id="3" name="Content Placeholder 2">
            <a:extLst>
              <a:ext uri="{FF2B5EF4-FFF2-40B4-BE49-F238E27FC236}">
                <a16:creationId xmlns:a16="http://schemas.microsoft.com/office/drawing/2014/main" id="{0F4016EA-C4B9-1CE2-ABF5-E610C5E37017}"/>
              </a:ext>
            </a:extLst>
          </p:cNvPr>
          <p:cNvSpPr>
            <a:spLocks noGrp="1"/>
          </p:cNvSpPr>
          <p:nvPr>
            <p:ph idx="1"/>
          </p:nvPr>
        </p:nvSpPr>
        <p:spPr/>
        <p:txBody>
          <a:bodyPr/>
          <a:lstStyle/>
          <a:p>
            <a:pPr eaLnBrk="1" hangingPunct="1">
              <a:buFont typeface="Wingdings" charset="0"/>
              <a:buNone/>
              <a:defRPr/>
            </a:pPr>
            <a:endParaRPr lang="en-US" sz="1800" dirty="0"/>
          </a:p>
          <a:p>
            <a:pPr eaLnBrk="1" hangingPunct="1">
              <a:buFont typeface="Wingdings" charset="0"/>
              <a:buNone/>
              <a:defRPr/>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6229A-D540-3361-2D9D-F278CA1ADC14}"/>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The ICE’</a:t>
            </a:r>
            <a:r>
              <a:rPr lang="en-US" altLang="ja-JP" sz="2800" dirty="0">
                <a:solidFill>
                  <a:srgbClr val="FFFF00"/>
                </a:solidFill>
                <a:ea typeface="ＭＳ Ｐゴシック" charset="-128"/>
              </a:rPr>
              <a:t>s Three Effects on </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State Identities</a:t>
            </a:r>
            <a:endParaRPr lang="en-US" altLang="en-US" sz="2800" dirty="0">
              <a:ea typeface="ＭＳ Ｐゴシック" charset="-128"/>
            </a:endParaRPr>
          </a:p>
        </p:txBody>
      </p:sp>
      <p:sp>
        <p:nvSpPr>
          <p:cNvPr id="3" name="Content Placeholder 2">
            <a:extLst>
              <a:ext uri="{FF2B5EF4-FFF2-40B4-BE49-F238E27FC236}">
                <a16:creationId xmlns:a16="http://schemas.microsoft.com/office/drawing/2014/main" id="{F9770436-C222-B9B3-6FD9-0BB232E4E26E}"/>
              </a:ext>
            </a:extLst>
          </p:cNvPr>
          <p:cNvSpPr>
            <a:spLocks noGrp="1"/>
          </p:cNvSpPr>
          <p:nvPr>
            <p:ph idx="1"/>
          </p:nvPr>
        </p:nvSpPr>
        <p:spPr/>
        <p:txBody>
          <a:bodyPr/>
          <a:lstStyle/>
          <a:p>
            <a:pPr eaLnBrk="1" hangingPunct="1">
              <a:buFont typeface="Wingdings" charset="2"/>
              <a:buNone/>
              <a:defRPr/>
            </a:pPr>
            <a:r>
              <a:rPr lang="en-US" altLang="en-US" sz="2400" dirty="0">
                <a:ea typeface="ＭＳ Ｐゴシック" charset="-128"/>
              </a:rPr>
              <a:t>1.		Elements of it can affect some states</a:t>
            </a:r>
            <a:r>
              <a:rPr lang="ja-JP" altLang="en-US" sz="2400">
                <a:ea typeface="ＭＳ Ｐゴシック" charset="-128"/>
              </a:rPr>
              <a:t>’</a:t>
            </a:r>
            <a:r>
              <a:rPr lang="en-US" altLang="ja-JP" sz="2400" dirty="0">
                <a:ea typeface="ＭＳ Ｐゴシック" charset="-128"/>
              </a:rPr>
              <a:t> very 	prospects for survival.</a:t>
            </a:r>
          </a:p>
          <a:p>
            <a:pPr eaLnBrk="1" hangingPunct="1">
              <a:buFont typeface="Wingdings" charset="2"/>
              <a:buNone/>
              <a:defRPr/>
            </a:pPr>
            <a:endParaRPr lang="en-US" altLang="en-US" sz="1600" dirty="0">
              <a:ea typeface="ＭＳ Ｐゴシック" charset="-128"/>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CD96C-E867-8C1E-3E40-98AE3DD6122B}"/>
              </a:ext>
            </a:extLst>
          </p:cNvPr>
          <p:cNvSpPr>
            <a:spLocks noGrp="1"/>
          </p:cNvSpPr>
          <p:nvPr>
            <p:ph type="title"/>
          </p:nvPr>
        </p:nvSpPr>
        <p:spPr/>
        <p:txBody>
          <a:bodyPr/>
          <a:lstStyle/>
          <a:p>
            <a:pPr eaLnBrk="1" hangingPunct="1">
              <a:defRPr/>
            </a:pPr>
            <a:endParaRPr lang="en-US" altLang="en-US" dirty="0">
              <a:ea typeface="ＭＳ Ｐゴシック" panose="020B0600070205080204" pitchFamily="34" charset="-128"/>
            </a:endParaRPr>
          </a:p>
        </p:txBody>
      </p:sp>
      <p:pic>
        <p:nvPicPr>
          <p:cNvPr id="44034" name="Content Placeholder 6" descr="world-map-political.jpg">
            <a:extLst>
              <a:ext uri="{FF2B5EF4-FFF2-40B4-BE49-F238E27FC236}">
                <a16:creationId xmlns:a16="http://schemas.microsoft.com/office/drawing/2014/main" id="{63A7201C-93DB-DC7D-E91C-AFD27A9991E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0" y="685800"/>
            <a:ext cx="9161463" cy="5394325"/>
          </a:xfr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2285A-4885-E22C-66D1-80E6F08366E4}"/>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The ICE’</a:t>
            </a:r>
            <a:r>
              <a:rPr lang="en-US" altLang="ja-JP" sz="2800" dirty="0">
                <a:solidFill>
                  <a:srgbClr val="FFFF00"/>
                </a:solidFill>
                <a:ea typeface="ＭＳ Ｐゴシック" charset="-128"/>
              </a:rPr>
              <a:t>s Three Effects on </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State Identities</a:t>
            </a:r>
            <a:endParaRPr lang="en-US" altLang="en-US" sz="2800" dirty="0">
              <a:ea typeface="ＭＳ Ｐゴシック" charset="-128"/>
            </a:endParaRPr>
          </a:p>
        </p:txBody>
      </p:sp>
      <p:sp>
        <p:nvSpPr>
          <p:cNvPr id="3" name="Content Placeholder 2">
            <a:extLst>
              <a:ext uri="{FF2B5EF4-FFF2-40B4-BE49-F238E27FC236}">
                <a16:creationId xmlns:a16="http://schemas.microsoft.com/office/drawing/2014/main" id="{005D6A4C-2EC7-5E68-F221-E9C490B75D60}"/>
              </a:ext>
            </a:extLst>
          </p:cNvPr>
          <p:cNvSpPr>
            <a:spLocks noGrp="1"/>
          </p:cNvSpPr>
          <p:nvPr>
            <p:ph idx="1"/>
          </p:nvPr>
        </p:nvSpPr>
        <p:spPr/>
        <p:txBody>
          <a:bodyPr/>
          <a:lstStyle/>
          <a:p>
            <a:pPr eaLnBrk="1" hangingPunct="1">
              <a:buFont typeface="Wingdings" charset="2"/>
              <a:buNone/>
              <a:defRPr/>
            </a:pPr>
            <a:r>
              <a:rPr lang="en-US" altLang="en-US" sz="2400" dirty="0">
                <a:ea typeface="ＭＳ Ｐゴシック" charset="-128"/>
              </a:rPr>
              <a:t>1.		Elements of it can affect some states</a:t>
            </a:r>
            <a:r>
              <a:rPr lang="ja-JP" altLang="en-US" sz="2400">
                <a:ea typeface="ＭＳ Ｐゴシック" charset="-128"/>
              </a:rPr>
              <a:t>’</a:t>
            </a:r>
            <a:r>
              <a:rPr lang="en-US" altLang="ja-JP" sz="2400" dirty="0">
                <a:ea typeface="ＭＳ Ｐゴシック" charset="-128"/>
              </a:rPr>
              <a:t> very 	prospects for survival.</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2.		Changing ICE elements may change </a:t>
            </a:r>
            <a:r>
              <a:rPr lang="ja-JP" altLang="en-US" sz="2400">
                <a:ea typeface="ＭＳ Ｐゴシック" charset="-128"/>
              </a:rPr>
              <a:t>“</a:t>
            </a:r>
            <a:r>
              <a:rPr lang="en-US" altLang="ja-JP" sz="2400" dirty="0">
                <a:ea typeface="ＭＳ Ｐゴシック" charset="-128"/>
              </a:rPr>
              <a:t>the 	modal character of statehood</a:t>
            </a:r>
            <a:r>
              <a:rPr lang="ja-JP" altLang="en-US" sz="2400">
                <a:ea typeface="ＭＳ Ｐゴシック" charset="-128"/>
              </a:rPr>
              <a:t>”</a:t>
            </a:r>
            <a:r>
              <a:rPr lang="en-US" altLang="ja-JP" sz="2400" dirty="0">
                <a:ea typeface="ＭＳ Ｐゴシック" charset="-128"/>
              </a:rPr>
              <a:t> over time.</a:t>
            </a:r>
          </a:p>
          <a:p>
            <a:pPr eaLnBrk="1" hangingPunct="1">
              <a:buFont typeface="Wingdings" charset="2"/>
              <a:buNone/>
              <a:defRPr/>
            </a:pPr>
            <a:endParaRPr lang="en-US" altLang="en-US" sz="1600" dirty="0">
              <a:ea typeface="ＭＳ Ｐゴシック" charset="-128"/>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88212-3B58-F81C-379E-D7C86A6A61D8}"/>
              </a:ext>
            </a:extLst>
          </p:cNvPr>
          <p:cNvSpPr>
            <a:spLocks noGrp="1"/>
          </p:cNvSpPr>
          <p:nvPr>
            <p:ph type="title"/>
          </p:nvPr>
        </p:nvSpPr>
        <p:spPr>
          <a:xfrm>
            <a:off x="152400" y="277813"/>
            <a:ext cx="8839200" cy="1139825"/>
          </a:xfrm>
        </p:spPr>
        <p:txBody>
          <a:bodyPr/>
          <a:lstStyle/>
          <a:p>
            <a:pPr eaLnBrk="1" hangingPunct="1">
              <a:defRPr/>
            </a:pPr>
            <a:r>
              <a:rPr lang="en-US" altLang="en-US" sz="2800" dirty="0">
                <a:solidFill>
                  <a:srgbClr val="FFFF00"/>
                </a:solidFill>
                <a:ea typeface="ＭＳ Ｐゴシック" charset="-128"/>
              </a:rPr>
              <a:t>The ICE’</a:t>
            </a:r>
            <a:r>
              <a:rPr lang="en-US" altLang="ja-JP" sz="2800" dirty="0">
                <a:solidFill>
                  <a:srgbClr val="FFFF00"/>
                </a:solidFill>
                <a:ea typeface="ＭＳ Ｐゴシック" charset="-128"/>
              </a:rPr>
              <a:t>s Three Effects on </a:t>
            </a:r>
            <a:br>
              <a:rPr lang="en-US" altLang="ja-JP" sz="2800" dirty="0">
                <a:solidFill>
                  <a:srgbClr val="FFFF00"/>
                </a:solidFill>
                <a:ea typeface="ＭＳ Ｐゴシック" charset="-128"/>
              </a:rPr>
            </a:br>
            <a:r>
              <a:rPr lang="en-US" altLang="ja-JP" sz="2800" dirty="0">
                <a:solidFill>
                  <a:srgbClr val="FFFF00"/>
                </a:solidFill>
                <a:ea typeface="ＭＳ Ｐゴシック" charset="-128"/>
              </a:rPr>
              <a:t>State Identities</a:t>
            </a:r>
            <a:endParaRPr lang="en-US" altLang="en-US" sz="2800" dirty="0">
              <a:ea typeface="ＭＳ Ｐゴシック" charset="-128"/>
            </a:endParaRPr>
          </a:p>
        </p:txBody>
      </p:sp>
      <p:sp>
        <p:nvSpPr>
          <p:cNvPr id="3" name="Content Placeholder 2">
            <a:extLst>
              <a:ext uri="{FF2B5EF4-FFF2-40B4-BE49-F238E27FC236}">
                <a16:creationId xmlns:a16="http://schemas.microsoft.com/office/drawing/2014/main" id="{E693A0B6-734C-B11A-E720-929B250CA647}"/>
              </a:ext>
            </a:extLst>
          </p:cNvPr>
          <p:cNvSpPr>
            <a:spLocks noGrp="1"/>
          </p:cNvSpPr>
          <p:nvPr>
            <p:ph idx="1"/>
          </p:nvPr>
        </p:nvSpPr>
        <p:spPr/>
        <p:txBody>
          <a:bodyPr/>
          <a:lstStyle/>
          <a:p>
            <a:pPr eaLnBrk="1" hangingPunct="1">
              <a:buFont typeface="Wingdings" charset="2"/>
              <a:buNone/>
              <a:defRPr/>
            </a:pPr>
            <a:r>
              <a:rPr lang="en-US" altLang="en-US" sz="2400" dirty="0">
                <a:ea typeface="ＭＳ Ｐゴシック" charset="-128"/>
              </a:rPr>
              <a:t>1.		Elements of it can affect some states</a:t>
            </a:r>
            <a:r>
              <a:rPr lang="ja-JP" altLang="en-US" sz="2400">
                <a:ea typeface="ＭＳ Ｐゴシック" charset="-128"/>
              </a:rPr>
              <a:t>’</a:t>
            </a:r>
            <a:r>
              <a:rPr lang="en-US" altLang="ja-JP" sz="2400" dirty="0">
                <a:ea typeface="ＭＳ Ｐゴシック" charset="-128"/>
              </a:rPr>
              <a:t> very 	prospects for survival.</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2.		Changing ICE elements may change </a:t>
            </a:r>
            <a:r>
              <a:rPr lang="ja-JP" altLang="en-US" sz="2400">
                <a:ea typeface="ＭＳ Ｐゴシック" charset="-128"/>
              </a:rPr>
              <a:t>“</a:t>
            </a:r>
            <a:r>
              <a:rPr lang="en-US" altLang="ja-JP" sz="2400" dirty="0">
                <a:ea typeface="ＭＳ Ｐゴシック" charset="-128"/>
              </a:rPr>
              <a:t>the 	modal character of statehood</a:t>
            </a:r>
            <a:r>
              <a:rPr lang="ja-JP" altLang="en-US" sz="2400">
                <a:ea typeface="ＭＳ Ｐゴシック" charset="-128"/>
              </a:rPr>
              <a:t>”</a:t>
            </a:r>
            <a:r>
              <a:rPr lang="en-US" altLang="ja-JP" sz="2400" dirty="0">
                <a:ea typeface="ＭＳ Ｐゴシック" charset="-128"/>
              </a:rPr>
              <a:t> over time.</a:t>
            </a:r>
          </a:p>
          <a:p>
            <a:pPr eaLnBrk="1" hangingPunct="1">
              <a:buFont typeface="Wingdings" charset="2"/>
              <a:buNone/>
              <a:defRPr/>
            </a:pPr>
            <a:endParaRPr lang="en-US" altLang="en-US" sz="2400" dirty="0">
              <a:ea typeface="ＭＳ Ｐゴシック" charset="-128"/>
            </a:endParaRPr>
          </a:p>
          <a:p>
            <a:pPr eaLnBrk="1" hangingPunct="1">
              <a:buFont typeface="Wingdings" charset="2"/>
              <a:buNone/>
              <a:defRPr/>
            </a:pPr>
            <a:r>
              <a:rPr lang="en-US" altLang="en-US" sz="2400" dirty="0">
                <a:ea typeface="ＭＳ Ｐゴシック" charset="-128"/>
              </a:rPr>
              <a:t>3.		ICE elements may cause variation in the 	character of statehood </a:t>
            </a:r>
            <a:r>
              <a:rPr lang="en-US" altLang="en-US" sz="2400" i="1" dirty="0">
                <a:ea typeface="ＭＳ Ｐゴシック" charset="-128"/>
              </a:rPr>
              <a:t>within</a:t>
            </a:r>
            <a:r>
              <a:rPr lang="en-US" altLang="en-US" sz="2400" dirty="0">
                <a:ea typeface="ＭＳ Ｐゴシック" charset="-128"/>
              </a:rPr>
              <a:t> a given 	international society: so states may be similar in 	structure and function, </a:t>
            </a:r>
            <a:r>
              <a:rPr lang="en-US" altLang="en-US" sz="2400" i="1" dirty="0">
                <a:ea typeface="ＭＳ Ｐゴシック" charset="-128"/>
              </a:rPr>
              <a:t>but be compelled by 	norms to play different roles.</a:t>
            </a:r>
            <a:endParaRPr lang="en-US" altLang="en-US" sz="2400" dirty="0">
              <a:ea typeface="ＭＳ Ｐゴシック" charset="-128"/>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9D0DC-93D6-EA02-DD73-55AC82E89864}"/>
            </a:ext>
          </a:extLst>
        </p:cNvPr>
        <p:cNvGrpSpPr/>
        <p:nvPr/>
      </p:nvGrpSpPr>
      <p:grpSpPr>
        <a:xfrm>
          <a:off x="0" y="0"/>
          <a:ext cx="0" cy="0"/>
          <a:chOff x="0" y="0"/>
          <a:chExt cx="0" cy="0"/>
        </a:xfrm>
      </p:grpSpPr>
      <p:sp>
        <p:nvSpPr>
          <p:cNvPr id="752642" name="Rectangle 2">
            <a:extLst>
              <a:ext uri="{FF2B5EF4-FFF2-40B4-BE49-F238E27FC236}">
                <a16:creationId xmlns:a16="http://schemas.microsoft.com/office/drawing/2014/main" id="{EC406197-9CEF-F091-6332-CF9358F87FAE}"/>
              </a:ext>
            </a:extLst>
          </p:cNvPr>
          <p:cNvSpPr>
            <a:spLocks noGrp="1" noChangeArrowheads="1"/>
          </p:cNvSpPr>
          <p:nvPr>
            <p:ph type="title"/>
          </p:nvPr>
        </p:nvSpPr>
        <p:spPr/>
        <p:txBody>
          <a:bodyPr/>
          <a:lstStyle/>
          <a:p>
            <a:pPr eaLnBrk="1" hangingPunct="1">
              <a:defRPr/>
            </a:pPr>
            <a:r>
              <a:rPr lang="en-US" sz="2800" dirty="0">
                <a:solidFill>
                  <a:srgbClr val="FFFF00"/>
                </a:solidFill>
                <a:ea typeface="Arial" charset="0"/>
              </a:rPr>
              <a:t>6 Primary Norms of Imperialism</a:t>
            </a:r>
          </a:p>
        </p:txBody>
      </p:sp>
      <p:sp>
        <p:nvSpPr>
          <p:cNvPr id="752643" name="Rectangle 3">
            <a:extLst>
              <a:ext uri="{FF2B5EF4-FFF2-40B4-BE49-F238E27FC236}">
                <a16:creationId xmlns:a16="http://schemas.microsoft.com/office/drawing/2014/main" id="{004EA78C-7226-EE82-BBE7-7BBC017FCBEB}"/>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30001435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1325F-567F-AFFB-33B8-C0A5DBB7E0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F595CC-64D7-D0E1-E193-9A65A8B3A965}"/>
              </a:ext>
            </a:extLst>
          </p:cNvPr>
          <p:cNvSpPr>
            <a:spLocks noGrp="1"/>
          </p:cNvSpPr>
          <p:nvPr>
            <p:ph idx="1"/>
          </p:nvPr>
        </p:nvSpPr>
        <p:spPr/>
        <p:txBody>
          <a:bodyPr/>
          <a:lstStyle/>
          <a:p>
            <a:endParaRPr lang="en-US"/>
          </a:p>
        </p:txBody>
      </p:sp>
      <p:pic>
        <p:nvPicPr>
          <p:cNvPr id="4" name="Picture 3" descr="CDN media">
            <a:extLst>
              <a:ext uri="{FF2B5EF4-FFF2-40B4-BE49-F238E27FC236}">
                <a16:creationId xmlns:a16="http://schemas.microsoft.com/office/drawing/2014/main" id="{8BF08326-5538-7957-F8FF-8EFEFF758F7C}"/>
              </a:ext>
            </a:extLst>
          </p:cNvPr>
          <p:cNvPicPr>
            <a:picLocks noChangeAspect="1"/>
          </p:cNvPicPr>
          <p:nvPr/>
        </p:nvPicPr>
        <p:blipFill>
          <a:blip r:embed="rId2"/>
          <a:stretch>
            <a:fillRect/>
          </a:stretch>
        </p:blipFill>
        <p:spPr>
          <a:xfrm>
            <a:off x="0" y="533400"/>
            <a:ext cx="9140408" cy="6463284"/>
          </a:xfrm>
          <a:prstGeom prst="rect">
            <a:avLst/>
          </a:prstGeom>
        </p:spPr>
      </p:pic>
    </p:spTree>
    <p:extLst>
      <p:ext uri="{BB962C8B-B14F-4D97-AF65-F5344CB8AC3E}">
        <p14:creationId xmlns:p14="http://schemas.microsoft.com/office/powerpoint/2010/main" val="9188086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2642" name="Rectangle 2">
            <a:extLst>
              <a:ext uri="{FF2B5EF4-FFF2-40B4-BE49-F238E27FC236}">
                <a16:creationId xmlns:a16="http://schemas.microsoft.com/office/drawing/2014/main" id="{3755252E-CF64-2342-6F9F-85CC59DC04B3}"/>
              </a:ext>
            </a:extLst>
          </p:cNvPr>
          <p:cNvSpPr>
            <a:spLocks noGrp="1" noChangeArrowheads="1"/>
          </p:cNvSpPr>
          <p:nvPr>
            <p:ph type="title"/>
          </p:nvPr>
        </p:nvSpPr>
        <p:spPr/>
        <p:txBody>
          <a:bodyPr/>
          <a:lstStyle/>
          <a:p>
            <a:pPr eaLnBrk="1" hangingPunct="1">
              <a:defRPr/>
            </a:pPr>
            <a:r>
              <a:rPr lang="en-US" sz="2800" dirty="0">
                <a:solidFill>
                  <a:srgbClr val="FFFF00"/>
                </a:solidFill>
                <a:ea typeface="Arial" charset="0"/>
              </a:rPr>
              <a:t>6 Primary Norms of Imperialism</a:t>
            </a:r>
          </a:p>
        </p:txBody>
      </p:sp>
      <p:sp>
        <p:nvSpPr>
          <p:cNvPr id="752643" name="Rectangle 3">
            <a:extLst>
              <a:ext uri="{FF2B5EF4-FFF2-40B4-BE49-F238E27FC236}">
                <a16:creationId xmlns:a16="http://schemas.microsoft.com/office/drawing/2014/main" id="{13B6403A-9F79-BF8D-DDED-E82167D2B229}"/>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r>
              <a:rPr lang="en-US" altLang="en-US" sz="2400" dirty="0">
                <a:ea typeface="ＭＳ Ｐゴシック" panose="020B0600070205080204" pitchFamily="34" charset="-128"/>
              </a:rPr>
              <a:t>1.		The world is divided into civilized and uncivilized 	realms.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4690" name="Rectangle 2">
            <a:extLst>
              <a:ext uri="{FF2B5EF4-FFF2-40B4-BE49-F238E27FC236}">
                <a16:creationId xmlns:a16="http://schemas.microsoft.com/office/drawing/2014/main" id="{9BAA89AC-8A98-D98C-C871-456E7D298A89}"/>
              </a:ext>
            </a:extLst>
          </p:cNvPr>
          <p:cNvSpPr>
            <a:spLocks noGrp="1" noChangeArrowheads="1"/>
          </p:cNvSpPr>
          <p:nvPr>
            <p:ph type="title"/>
          </p:nvPr>
        </p:nvSpPr>
        <p:spPr/>
        <p:txBody>
          <a:bodyPr/>
          <a:lstStyle/>
          <a:p>
            <a:pPr eaLnBrk="1" hangingPunct="1">
              <a:defRPr/>
            </a:pPr>
            <a:r>
              <a:rPr lang="en-US" sz="2800" dirty="0">
                <a:solidFill>
                  <a:srgbClr val="FFFF00"/>
                </a:solidFill>
                <a:ea typeface="Arial" charset="0"/>
              </a:rPr>
              <a:t>6 Primary Norms of Imperialism</a:t>
            </a:r>
          </a:p>
        </p:txBody>
      </p:sp>
      <p:sp>
        <p:nvSpPr>
          <p:cNvPr id="754691" name="Rectangle 3">
            <a:extLst>
              <a:ext uri="{FF2B5EF4-FFF2-40B4-BE49-F238E27FC236}">
                <a16:creationId xmlns:a16="http://schemas.microsoft.com/office/drawing/2014/main" id="{43C05D9D-F3ED-1EF6-178D-BBBE9ADA49AF}"/>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r>
              <a:rPr lang="en-US" altLang="en-US" sz="2400" dirty="0">
                <a:ea typeface="ＭＳ Ｐゴシック" panose="020B0600070205080204" pitchFamily="34" charset="-128"/>
              </a:rPr>
              <a:t>2.		To rule over foreigners was acceptable.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5714" name="Rectangle 2">
            <a:extLst>
              <a:ext uri="{FF2B5EF4-FFF2-40B4-BE49-F238E27FC236}">
                <a16:creationId xmlns:a16="http://schemas.microsoft.com/office/drawing/2014/main" id="{EFEF7990-DD13-6576-BCBD-5D92F14D7DA9}"/>
              </a:ext>
            </a:extLst>
          </p:cNvPr>
          <p:cNvSpPr>
            <a:spLocks noGrp="1" noChangeArrowheads="1"/>
          </p:cNvSpPr>
          <p:nvPr>
            <p:ph type="title"/>
          </p:nvPr>
        </p:nvSpPr>
        <p:spPr/>
        <p:txBody>
          <a:bodyPr/>
          <a:lstStyle/>
          <a:p>
            <a:pPr eaLnBrk="1" hangingPunct="1">
              <a:defRPr/>
            </a:pPr>
            <a:r>
              <a:rPr lang="en-US" sz="2800" dirty="0">
                <a:solidFill>
                  <a:srgbClr val="FFFF00"/>
                </a:solidFill>
                <a:ea typeface="Arial" charset="0"/>
              </a:rPr>
              <a:t>6 Primary Norms of Imperialism</a:t>
            </a:r>
          </a:p>
        </p:txBody>
      </p:sp>
      <p:sp>
        <p:nvSpPr>
          <p:cNvPr id="755715" name="Rectangle 3">
            <a:extLst>
              <a:ext uri="{FF2B5EF4-FFF2-40B4-BE49-F238E27FC236}">
                <a16:creationId xmlns:a16="http://schemas.microsoft.com/office/drawing/2014/main" id="{146FCE03-6A73-201F-6DC0-D962E7641ABF}"/>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r>
              <a:rPr lang="en-US" altLang="en-US" sz="2400" dirty="0">
                <a:ea typeface="ＭＳ Ｐゴシック" panose="020B0600070205080204" pitchFamily="34" charset="-128"/>
              </a:rPr>
              <a:t>3.		Accumulating a domain was a legitimate state 	pursuit.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594" name="Rectangle 2">
            <a:extLst>
              <a:ext uri="{FF2B5EF4-FFF2-40B4-BE49-F238E27FC236}">
                <a16:creationId xmlns:a16="http://schemas.microsoft.com/office/drawing/2014/main" id="{0C1CE9EC-8CD9-11E9-5B14-B33B9D2FE3D6}"/>
              </a:ext>
            </a:extLst>
          </p:cNvPr>
          <p:cNvSpPr>
            <a:spLocks noGrp="1" noChangeArrowheads="1"/>
          </p:cNvSpPr>
          <p:nvPr>
            <p:ph type="title"/>
          </p:nvPr>
        </p:nvSpPr>
        <p:spPr>
          <a:xfrm>
            <a:off x="0" y="277813"/>
            <a:ext cx="9144000" cy="255587"/>
          </a:xfrm>
        </p:spPr>
        <p:txBody>
          <a:bodyPr/>
          <a:lstStyle/>
          <a:p>
            <a:pPr eaLnBrk="1" hangingPunct="1">
              <a:defRPr/>
            </a:pPr>
            <a:r>
              <a:rPr lang="en-US" altLang="en-US" sz="2800" dirty="0"/>
              <a:t>US imperialism in the Pacific and in “its own backyard”</a:t>
            </a:r>
          </a:p>
        </p:txBody>
      </p:sp>
      <p:sp>
        <p:nvSpPr>
          <p:cNvPr id="750595" name="Rectangle 3">
            <a:extLst>
              <a:ext uri="{FF2B5EF4-FFF2-40B4-BE49-F238E27FC236}">
                <a16:creationId xmlns:a16="http://schemas.microsoft.com/office/drawing/2014/main" id="{5B8A0E7E-B477-A314-A226-C33A495038D6}"/>
              </a:ext>
            </a:extLst>
          </p:cNvPr>
          <p:cNvSpPr>
            <a:spLocks noGrp="1" noChangeArrowheads="1"/>
          </p:cNvSpPr>
          <p:nvPr>
            <p:ph type="body" idx="1"/>
          </p:nvPr>
        </p:nvSpPr>
        <p:spPr/>
        <p:txBody>
          <a:bodyPr/>
          <a:lstStyle/>
          <a:p>
            <a:pPr eaLnBrk="1" hangingPunct="1">
              <a:defRPr/>
            </a:pPr>
            <a:endParaRPr lang="en-US" altLang="en-US" dirty="0">
              <a:ea typeface="ＭＳ Ｐゴシック" panose="020B0600070205080204" pitchFamily="34" charset="-128"/>
            </a:endParaRPr>
          </a:p>
        </p:txBody>
      </p:sp>
      <p:pic>
        <p:nvPicPr>
          <p:cNvPr id="60419" name="Picture 4" descr="Imperialism in 1900 (map)">
            <a:extLst>
              <a:ext uri="{FF2B5EF4-FFF2-40B4-BE49-F238E27FC236}">
                <a16:creationId xmlns:a16="http://schemas.microsoft.com/office/drawing/2014/main" id="{E8EF0B81-BFF6-D506-0D02-943202F991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 y="822325"/>
            <a:ext cx="9058275" cy="603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738" name="Rectangle 2">
            <a:extLst>
              <a:ext uri="{FF2B5EF4-FFF2-40B4-BE49-F238E27FC236}">
                <a16:creationId xmlns:a16="http://schemas.microsoft.com/office/drawing/2014/main" id="{12E73616-4971-9B9B-CCFE-637575A10844}"/>
              </a:ext>
            </a:extLst>
          </p:cNvPr>
          <p:cNvSpPr>
            <a:spLocks noGrp="1" noChangeArrowheads="1"/>
          </p:cNvSpPr>
          <p:nvPr>
            <p:ph type="title"/>
          </p:nvPr>
        </p:nvSpPr>
        <p:spPr/>
        <p:txBody>
          <a:bodyPr/>
          <a:lstStyle/>
          <a:p>
            <a:pPr eaLnBrk="1" hangingPunct="1">
              <a:defRPr/>
            </a:pPr>
            <a:r>
              <a:rPr lang="en-US" sz="2800" dirty="0">
                <a:solidFill>
                  <a:srgbClr val="FFFF00"/>
                </a:solidFill>
                <a:ea typeface="Arial" charset="0"/>
              </a:rPr>
              <a:t>6 Primary Norms of Imperialism</a:t>
            </a:r>
          </a:p>
        </p:txBody>
      </p:sp>
      <p:sp>
        <p:nvSpPr>
          <p:cNvPr id="756739" name="Rectangle 3">
            <a:extLst>
              <a:ext uri="{FF2B5EF4-FFF2-40B4-BE49-F238E27FC236}">
                <a16:creationId xmlns:a16="http://schemas.microsoft.com/office/drawing/2014/main" id="{4B53740C-EF7C-4103-5298-56F602AA3F02}"/>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r>
              <a:rPr lang="en-US" altLang="en-US" sz="2400" dirty="0">
                <a:ea typeface="ＭＳ Ｐゴシック" panose="020B0600070205080204" pitchFamily="34" charset="-128"/>
              </a:rPr>
              <a:t>4.		Power should be balanced.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9E57B-1BD9-4554-8800-D2A32A1656F8}"/>
              </a:ext>
            </a:extLst>
          </p:cNvPr>
          <p:cNvSpPr>
            <a:spLocks noGrp="1"/>
          </p:cNvSpPr>
          <p:nvPr>
            <p:ph type="title"/>
          </p:nvPr>
        </p:nvSpPr>
        <p:spPr/>
        <p:txBody>
          <a:bodyPr/>
          <a:lstStyle/>
          <a:p>
            <a:endParaRPr lang="en-HK"/>
          </a:p>
        </p:txBody>
      </p:sp>
      <p:pic>
        <p:nvPicPr>
          <p:cNvPr id="5" name="Content Placeholder 4">
            <a:extLst>
              <a:ext uri="{FF2B5EF4-FFF2-40B4-BE49-F238E27FC236}">
                <a16:creationId xmlns:a16="http://schemas.microsoft.com/office/drawing/2014/main" id="{9063C233-A4B1-4B23-B138-DBB41756D1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766" y="685800"/>
            <a:ext cx="9056467" cy="5216525"/>
          </a:xfrm>
        </p:spPr>
      </p:pic>
    </p:spTree>
    <p:extLst>
      <p:ext uri="{BB962C8B-B14F-4D97-AF65-F5344CB8AC3E}">
        <p14:creationId xmlns:p14="http://schemas.microsoft.com/office/powerpoint/2010/main" val="24875803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0834" name="Rectangle 2">
            <a:extLst>
              <a:ext uri="{FF2B5EF4-FFF2-40B4-BE49-F238E27FC236}">
                <a16:creationId xmlns:a16="http://schemas.microsoft.com/office/drawing/2014/main" id="{CEA8D27B-3BAB-B08B-0D26-B0D116CF9939}"/>
              </a:ext>
            </a:extLst>
          </p:cNvPr>
          <p:cNvSpPr>
            <a:spLocks noGrp="1" noChangeArrowheads="1"/>
          </p:cNvSpPr>
          <p:nvPr>
            <p:ph type="title"/>
          </p:nvPr>
        </p:nvSpPr>
        <p:spPr/>
        <p:txBody>
          <a:bodyPr/>
          <a:lstStyle/>
          <a:p>
            <a:pPr eaLnBrk="1" hangingPunct="1">
              <a:defRPr/>
            </a:pPr>
            <a:r>
              <a:rPr lang="en-US" sz="2800" dirty="0">
                <a:solidFill>
                  <a:srgbClr val="FFFF00"/>
                </a:solidFill>
                <a:ea typeface="Arial" charset="0"/>
              </a:rPr>
              <a:t>6 Primary Norms of Imperialism</a:t>
            </a:r>
          </a:p>
        </p:txBody>
      </p:sp>
      <p:sp>
        <p:nvSpPr>
          <p:cNvPr id="760835" name="Rectangle 3">
            <a:extLst>
              <a:ext uri="{FF2B5EF4-FFF2-40B4-BE49-F238E27FC236}">
                <a16:creationId xmlns:a16="http://schemas.microsoft.com/office/drawing/2014/main" id="{F1AA3D63-E928-5F4C-B7F3-81395C81974A}"/>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endParaRPr lang="en-US" altLang="en-US" dirty="0">
              <a:ea typeface="ＭＳ Ｐゴシック" panose="020B0600070205080204" pitchFamily="34" charset="-128"/>
            </a:endParaRPr>
          </a:p>
          <a:p>
            <a:pPr eaLnBrk="1" hangingPunct="1">
              <a:buFont typeface="Wingdings" pitchFamily="2" charset="2"/>
              <a:buNone/>
              <a:defRPr/>
            </a:pPr>
            <a:r>
              <a:rPr lang="en-US" altLang="en-US" sz="2400" dirty="0">
                <a:ea typeface="ＭＳ Ｐゴシック" panose="020B0600070205080204" pitchFamily="34" charset="-128"/>
              </a:rPr>
              <a:t>5.		Mercantilist economic policies were legitimate.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1858" name="Rectangle 2">
            <a:extLst>
              <a:ext uri="{FF2B5EF4-FFF2-40B4-BE49-F238E27FC236}">
                <a16:creationId xmlns:a16="http://schemas.microsoft.com/office/drawing/2014/main" id="{6307310D-4163-DBE0-168A-B53A9BCBB1B2}"/>
              </a:ext>
            </a:extLst>
          </p:cNvPr>
          <p:cNvSpPr>
            <a:spLocks noGrp="1" noChangeArrowheads="1"/>
          </p:cNvSpPr>
          <p:nvPr>
            <p:ph type="title"/>
          </p:nvPr>
        </p:nvSpPr>
        <p:spPr/>
        <p:txBody>
          <a:bodyPr/>
          <a:lstStyle/>
          <a:p>
            <a:pPr eaLnBrk="1" hangingPunct="1">
              <a:defRPr/>
            </a:pPr>
            <a:r>
              <a:rPr lang="en-US" sz="2800" dirty="0">
                <a:solidFill>
                  <a:srgbClr val="FFFF00"/>
                </a:solidFill>
                <a:ea typeface="Arial" charset="0"/>
              </a:rPr>
              <a:t>6 Primary Norms of Imperialism</a:t>
            </a:r>
          </a:p>
        </p:txBody>
      </p:sp>
      <p:sp>
        <p:nvSpPr>
          <p:cNvPr id="761859" name="Rectangle 3">
            <a:extLst>
              <a:ext uri="{FF2B5EF4-FFF2-40B4-BE49-F238E27FC236}">
                <a16:creationId xmlns:a16="http://schemas.microsoft.com/office/drawing/2014/main" id="{B7315291-073B-4551-1E6F-D493C3BB3A3A}"/>
              </a:ext>
            </a:extLst>
          </p:cNvPr>
          <p:cNvSpPr>
            <a:spLocks noGrp="1" noChangeArrowheads="1"/>
          </p:cNvSpPr>
          <p:nvPr>
            <p:ph type="body" idx="1"/>
          </p:nvPr>
        </p:nvSpPr>
        <p:spPr/>
        <p:txBody>
          <a:bodyPr/>
          <a:lstStyle/>
          <a:p>
            <a:pPr eaLnBrk="1" hangingPunct="1">
              <a:buFont typeface="Wingdings" pitchFamily="2" charset="2"/>
              <a:buNone/>
              <a:defRPr/>
            </a:pPr>
            <a:endParaRPr lang="en-US" altLang="en-US" dirty="0"/>
          </a:p>
          <a:p>
            <a:pPr eaLnBrk="1" hangingPunct="1">
              <a:buFont typeface="Wingdings" pitchFamily="2" charset="2"/>
              <a:buNone/>
              <a:defRPr/>
            </a:pPr>
            <a:endParaRPr lang="en-US" altLang="en-US" dirty="0"/>
          </a:p>
          <a:p>
            <a:pPr eaLnBrk="1" hangingPunct="1">
              <a:buFont typeface="Wingdings" pitchFamily="2" charset="2"/>
              <a:buNone/>
              <a:defRPr/>
            </a:pPr>
            <a:r>
              <a:rPr lang="en-US" altLang="en-US" sz="2400" dirty="0"/>
              <a:t>6.		States should not interfere in other states’ 	colonial administration.</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C0068-F58D-7E68-8F10-1E23CAEDDB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186A0-3ABC-1378-9FED-7A6DCC7F084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E8A14E-69C5-25F2-D6AF-77FE25525168}"/>
              </a:ext>
            </a:extLst>
          </p:cNvPr>
          <p:cNvSpPr>
            <a:spLocks noGrp="1"/>
          </p:cNvSpPr>
          <p:nvPr>
            <p:ph idx="1"/>
          </p:nvPr>
        </p:nvSpPr>
        <p:spPr/>
        <p:txBody>
          <a:bodyPr/>
          <a:lstStyle/>
          <a:p>
            <a:endParaRPr lang="en-US"/>
          </a:p>
        </p:txBody>
      </p:sp>
      <p:pic>
        <p:nvPicPr>
          <p:cNvPr id="4" name="Picture 3" descr="CDN media">
            <a:extLst>
              <a:ext uri="{FF2B5EF4-FFF2-40B4-BE49-F238E27FC236}">
                <a16:creationId xmlns:a16="http://schemas.microsoft.com/office/drawing/2014/main" id="{54E89AE7-2498-55D1-26B5-5949C06F2D51}"/>
              </a:ext>
            </a:extLst>
          </p:cNvPr>
          <p:cNvPicPr>
            <a:picLocks noChangeAspect="1"/>
          </p:cNvPicPr>
          <p:nvPr/>
        </p:nvPicPr>
        <p:blipFill>
          <a:blip r:embed="rId2"/>
          <a:stretch>
            <a:fillRect/>
          </a:stretch>
        </p:blipFill>
        <p:spPr>
          <a:xfrm>
            <a:off x="0" y="533400"/>
            <a:ext cx="9140408" cy="6463284"/>
          </a:xfrm>
          <a:prstGeom prst="rect">
            <a:avLst/>
          </a:prstGeom>
        </p:spPr>
      </p:pic>
    </p:spTree>
    <p:extLst>
      <p:ext uri="{BB962C8B-B14F-4D97-AF65-F5344CB8AC3E}">
        <p14:creationId xmlns:p14="http://schemas.microsoft.com/office/powerpoint/2010/main" val="265402892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7EB2-C385-5FFD-D1EC-FD7A3DC69F74}"/>
              </a:ext>
            </a:extLst>
          </p:cNvPr>
          <p:cNvSpPr>
            <a:spLocks noGrp="1"/>
          </p:cNvSpPr>
          <p:nvPr>
            <p:ph type="title"/>
          </p:nvPr>
        </p:nvSpPr>
        <p:spPr>
          <a:xfrm>
            <a:off x="457200" y="277813"/>
            <a:ext cx="8229600" cy="788987"/>
          </a:xfrm>
        </p:spPr>
        <p:txBody>
          <a:bodyPr/>
          <a:lstStyle/>
          <a:p>
            <a:r>
              <a:rPr lang="en-US" sz="3200" dirty="0">
                <a:solidFill>
                  <a:srgbClr val="FFFF00"/>
                </a:solidFill>
              </a:rPr>
              <a:t>Challenges to Constructivism</a:t>
            </a:r>
          </a:p>
        </p:txBody>
      </p:sp>
      <p:sp>
        <p:nvSpPr>
          <p:cNvPr id="3" name="Content Placeholder 2">
            <a:extLst>
              <a:ext uri="{FF2B5EF4-FFF2-40B4-BE49-F238E27FC236}">
                <a16:creationId xmlns:a16="http://schemas.microsoft.com/office/drawing/2014/main" id="{F3723023-2DAA-5445-2E14-48FE06E855CF}"/>
              </a:ext>
            </a:extLst>
          </p:cNvPr>
          <p:cNvSpPr>
            <a:spLocks noGrp="1"/>
          </p:cNvSpPr>
          <p:nvPr>
            <p:ph idx="1"/>
          </p:nvPr>
        </p:nvSpPr>
        <p:spPr>
          <a:xfrm>
            <a:off x="457200" y="1295400"/>
            <a:ext cx="8229600" cy="4530725"/>
          </a:xfrm>
        </p:spPr>
        <p:txBody>
          <a:bodyPr/>
          <a:lstStyle/>
          <a:p>
            <a:pPr marL="0" indent="0">
              <a:buNone/>
            </a:pPr>
            <a:endParaRPr lang="en-US" sz="1800" dirty="0"/>
          </a:p>
        </p:txBody>
      </p:sp>
    </p:spTree>
    <p:extLst>
      <p:ext uri="{BB962C8B-B14F-4D97-AF65-F5344CB8AC3E}">
        <p14:creationId xmlns:p14="http://schemas.microsoft.com/office/powerpoint/2010/main" val="1278970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75F92-11CE-AEB4-5CBD-C783ECB6D2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C23E18-3361-AF2A-B776-5CB337926E07}"/>
              </a:ext>
            </a:extLst>
          </p:cNvPr>
          <p:cNvSpPr>
            <a:spLocks noGrp="1"/>
          </p:cNvSpPr>
          <p:nvPr>
            <p:ph type="title"/>
          </p:nvPr>
        </p:nvSpPr>
        <p:spPr>
          <a:xfrm>
            <a:off x="457200" y="277813"/>
            <a:ext cx="8229600" cy="788987"/>
          </a:xfrm>
        </p:spPr>
        <p:txBody>
          <a:bodyPr/>
          <a:lstStyle/>
          <a:p>
            <a:r>
              <a:rPr lang="en-US" sz="3200" dirty="0">
                <a:solidFill>
                  <a:srgbClr val="FFFF00"/>
                </a:solidFill>
              </a:rPr>
              <a:t>Challenges to Constructivism</a:t>
            </a:r>
          </a:p>
        </p:txBody>
      </p:sp>
      <p:sp>
        <p:nvSpPr>
          <p:cNvPr id="3" name="Content Placeholder 2">
            <a:extLst>
              <a:ext uri="{FF2B5EF4-FFF2-40B4-BE49-F238E27FC236}">
                <a16:creationId xmlns:a16="http://schemas.microsoft.com/office/drawing/2014/main" id="{8D8516DB-DB7A-0109-EB1D-DE8A375DF634}"/>
              </a:ext>
            </a:extLst>
          </p:cNvPr>
          <p:cNvSpPr>
            <a:spLocks noGrp="1"/>
          </p:cNvSpPr>
          <p:nvPr>
            <p:ph idx="1"/>
          </p:nvPr>
        </p:nvSpPr>
        <p:spPr>
          <a:xfrm>
            <a:off x="457200" y="1295400"/>
            <a:ext cx="8229600" cy="4530725"/>
          </a:xfrm>
        </p:spPr>
        <p:txBody>
          <a:bodyPr/>
          <a:lstStyle/>
          <a:p>
            <a:pPr marL="0" indent="0">
              <a:buNone/>
            </a:pPr>
            <a:r>
              <a:rPr lang="en-US" sz="1800" u="sng" dirty="0">
                <a:highlight>
                  <a:srgbClr val="800000"/>
                </a:highlight>
              </a:rPr>
              <a:t>The Realist Critique</a:t>
            </a:r>
            <a:r>
              <a:rPr lang="en-US" sz="1800" dirty="0"/>
              <a:t>:  Does constructivism pay enough attention to the hard realities of military and economic power?  Realists argue that while norms are nice, they are ultimately secondary to material capabilities and survival instincts.</a:t>
            </a:r>
          </a:p>
          <a:p>
            <a:pPr marL="0" indent="0">
              <a:buNone/>
            </a:pPr>
            <a:endParaRPr lang="en-US" sz="1800" dirty="0"/>
          </a:p>
        </p:txBody>
      </p:sp>
    </p:spTree>
    <p:extLst>
      <p:ext uri="{BB962C8B-B14F-4D97-AF65-F5344CB8AC3E}">
        <p14:creationId xmlns:p14="http://schemas.microsoft.com/office/powerpoint/2010/main" val="4614018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40665-14B0-18F0-4C20-5109864D2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3D312-3DB6-9C24-4AB8-0CA92D161828}"/>
              </a:ext>
            </a:extLst>
          </p:cNvPr>
          <p:cNvSpPr>
            <a:spLocks noGrp="1"/>
          </p:cNvSpPr>
          <p:nvPr>
            <p:ph type="title"/>
          </p:nvPr>
        </p:nvSpPr>
        <p:spPr>
          <a:xfrm>
            <a:off x="457200" y="277813"/>
            <a:ext cx="8229600" cy="788987"/>
          </a:xfrm>
        </p:spPr>
        <p:txBody>
          <a:bodyPr/>
          <a:lstStyle/>
          <a:p>
            <a:r>
              <a:rPr lang="en-US" sz="3200" dirty="0">
                <a:solidFill>
                  <a:srgbClr val="FFFF00"/>
                </a:solidFill>
              </a:rPr>
              <a:t>Challenges to Constructivism</a:t>
            </a:r>
          </a:p>
        </p:txBody>
      </p:sp>
      <p:sp>
        <p:nvSpPr>
          <p:cNvPr id="3" name="Content Placeholder 2">
            <a:extLst>
              <a:ext uri="{FF2B5EF4-FFF2-40B4-BE49-F238E27FC236}">
                <a16:creationId xmlns:a16="http://schemas.microsoft.com/office/drawing/2014/main" id="{FE2DC3FD-56D7-368C-6EFA-46A98C0B4799}"/>
              </a:ext>
            </a:extLst>
          </p:cNvPr>
          <p:cNvSpPr>
            <a:spLocks noGrp="1"/>
          </p:cNvSpPr>
          <p:nvPr>
            <p:ph idx="1"/>
          </p:nvPr>
        </p:nvSpPr>
        <p:spPr>
          <a:xfrm>
            <a:off x="457200" y="1295400"/>
            <a:ext cx="8229600" cy="4530725"/>
          </a:xfrm>
        </p:spPr>
        <p:txBody>
          <a:bodyPr/>
          <a:lstStyle/>
          <a:p>
            <a:pPr marL="0" indent="0">
              <a:buNone/>
            </a:pPr>
            <a:r>
              <a:rPr lang="en-US" sz="1800" u="sng" dirty="0">
                <a:highlight>
                  <a:srgbClr val="800000"/>
                </a:highlight>
              </a:rPr>
              <a:t>The Realist Critique</a:t>
            </a:r>
            <a:r>
              <a:rPr lang="en-US" sz="1800" dirty="0"/>
              <a:t>:  Does constructivism pay enough attention to the hard realities of military and economic power?  Realists argue that while norms are nice, they are ultimately secondary to material capabilities and survival instincts.</a:t>
            </a:r>
          </a:p>
          <a:p>
            <a:pPr marL="0" indent="0">
              <a:buNone/>
            </a:pPr>
            <a:endParaRPr lang="en-US" sz="1800" dirty="0"/>
          </a:p>
          <a:p>
            <a:pPr marL="0" indent="0">
              <a:buNone/>
            </a:pPr>
            <a:r>
              <a:rPr lang="en-US" sz="1800" u="sng" dirty="0">
                <a:highlight>
                  <a:srgbClr val="000080"/>
                </a:highlight>
              </a:rPr>
              <a:t>The Rationalist Critique</a:t>
            </a:r>
            <a:r>
              <a:rPr lang="en-US" sz="1800" dirty="0"/>
              <a:t>:  Are concepts like identity and culture too vague and difficult to measure?  Critics from neoliberalism and neorealism argue that constructivism lacks the predictive power of rational-choice models.</a:t>
            </a:r>
          </a:p>
          <a:p>
            <a:pPr marL="0" indent="0">
              <a:buNone/>
            </a:pPr>
            <a:endParaRPr lang="en-US" sz="1800" dirty="0"/>
          </a:p>
        </p:txBody>
      </p:sp>
    </p:spTree>
    <p:extLst>
      <p:ext uri="{BB962C8B-B14F-4D97-AF65-F5344CB8AC3E}">
        <p14:creationId xmlns:p14="http://schemas.microsoft.com/office/powerpoint/2010/main" val="36488378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AD73F-D405-025D-7EC6-2DBFD37E7F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34136-23DA-1640-BD0C-9D11CA2D43F8}"/>
              </a:ext>
            </a:extLst>
          </p:cNvPr>
          <p:cNvSpPr>
            <a:spLocks noGrp="1"/>
          </p:cNvSpPr>
          <p:nvPr>
            <p:ph type="title"/>
          </p:nvPr>
        </p:nvSpPr>
        <p:spPr>
          <a:xfrm>
            <a:off x="457200" y="277813"/>
            <a:ext cx="8229600" cy="788987"/>
          </a:xfrm>
        </p:spPr>
        <p:txBody>
          <a:bodyPr/>
          <a:lstStyle/>
          <a:p>
            <a:r>
              <a:rPr lang="en-US" sz="3200" dirty="0">
                <a:solidFill>
                  <a:srgbClr val="FFFF00"/>
                </a:solidFill>
              </a:rPr>
              <a:t>Challenges to Constructivism</a:t>
            </a:r>
          </a:p>
        </p:txBody>
      </p:sp>
      <p:sp>
        <p:nvSpPr>
          <p:cNvPr id="3" name="Content Placeholder 2">
            <a:extLst>
              <a:ext uri="{FF2B5EF4-FFF2-40B4-BE49-F238E27FC236}">
                <a16:creationId xmlns:a16="http://schemas.microsoft.com/office/drawing/2014/main" id="{12AAC861-C4A0-EC16-1927-82E7AF014EBD}"/>
              </a:ext>
            </a:extLst>
          </p:cNvPr>
          <p:cNvSpPr>
            <a:spLocks noGrp="1"/>
          </p:cNvSpPr>
          <p:nvPr>
            <p:ph idx="1"/>
          </p:nvPr>
        </p:nvSpPr>
        <p:spPr>
          <a:xfrm>
            <a:off x="457200" y="1295400"/>
            <a:ext cx="8229600" cy="4530725"/>
          </a:xfrm>
        </p:spPr>
        <p:txBody>
          <a:bodyPr/>
          <a:lstStyle/>
          <a:p>
            <a:pPr marL="0" indent="0">
              <a:buNone/>
            </a:pPr>
            <a:r>
              <a:rPr lang="en-US" sz="1800" u="sng" dirty="0">
                <a:highlight>
                  <a:srgbClr val="800000"/>
                </a:highlight>
              </a:rPr>
              <a:t>The Realist Critique</a:t>
            </a:r>
            <a:r>
              <a:rPr lang="en-US" sz="1800" dirty="0"/>
              <a:t>:  Does constructivism pay enough attention to the hard realities of military and economic power?  Realists argue that while norms are nice, they are ultimately secondary to material capabilities and survival instincts.</a:t>
            </a:r>
          </a:p>
          <a:p>
            <a:pPr marL="0" indent="0">
              <a:buNone/>
            </a:pPr>
            <a:endParaRPr lang="en-US" sz="1800" dirty="0"/>
          </a:p>
          <a:p>
            <a:pPr marL="0" indent="0">
              <a:buNone/>
            </a:pPr>
            <a:r>
              <a:rPr lang="en-US" sz="1800" u="sng" dirty="0">
                <a:highlight>
                  <a:srgbClr val="000080"/>
                </a:highlight>
              </a:rPr>
              <a:t>The Rationalist Critique</a:t>
            </a:r>
            <a:r>
              <a:rPr lang="en-US" sz="1800" dirty="0"/>
              <a:t>:  Are concepts like identity and culture too vague and difficult to measure?  Critics from neoliberalism and neorealism argue that constructivism lacks the predictive power of rational-choice models.</a:t>
            </a:r>
          </a:p>
          <a:p>
            <a:pPr marL="0" indent="0">
              <a:buNone/>
            </a:pPr>
            <a:endParaRPr lang="en-US" sz="1800" dirty="0"/>
          </a:p>
          <a:p>
            <a:pPr marL="0" indent="0">
              <a:buNone/>
            </a:pPr>
            <a:r>
              <a:rPr lang="en-US" sz="1800" u="sng" dirty="0">
                <a:highlight>
                  <a:srgbClr val="800080"/>
                </a:highlight>
              </a:rPr>
              <a:t>The Problem of Change</a:t>
            </a:r>
            <a:r>
              <a:rPr lang="en-US" sz="1800" dirty="0"/>
              <a:t>:  Constructivism is great at explaining how norms create stability and constrain actors.  It is often seen as weaker at explaining where norms come from in the first place or why they sometimes collapse suddenly.</a:t>
            </a:r>
          </a:p>
          <a:p>
            <a:pPr marL="0" indent="0">
              <a:buNone/>
            </a:pPr>
            <a:endParaRPr lang="en-US" sz="1800" dirty="0"/>
          </a:p>
        </p:txBody>
      </p:sp>
    </p:spTree>
    <p:extLst>
      <p:ext uri="{BB962C8B-B14F-4D97-AF65-F5344CB8AC3E}">
        <p14:creationId xmlns:p14="http://schemas.microsoft.com/office/powerpoint/2010/main" val="17498653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D8945-F1E7-C703-5162-45A2C060D3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425EC-A34D-273D-EACB-2344F8C63689}"/>
              </a:ext>
            </a:extLst>
          </p:cNvPr>
          <p:cNvSpPr>
            <a:spLocks noGrp="1"/>
          </p:cNvSpPr>
          <p:nvPr>
            <p:ph type="title"/>
          </p:nvPr>
        </p:nvSpPr>
        <p:spPr>
          <a:xfrm>
            <a:off x="457200" y="277813"/>
            <a:ext cx="8229600" cy="788987"/>
          </a:xfrm>
        </p:spPr>
        <p:txBody>
          <a:bodyPr/>
          <a:lstStyle/>
          <a:p>
            <a:r>
              <a:rPr lang="en-US" sz="3200" dirty="0">
                <a:solidFill>
                  <a:srgbClr val="FFFF00"/>
                </a:solidFill>
              </a:rPr>
              <a:t>Challenges to Constructivism</a:t>
            </a:r>
          </a:p>
        </p:txBody>
      </p:sp>
      <p:sp>
        <p:nvSpPr>
          <p:cNvPr id="3" name="Content Placeholder 2">
            <a:extLst>
              <a:ext uri="{FF2B5EF4-FFF2-40B4-BE49-F238E27FC236}">
                <a16:creationId xmlns:a16="http://schemas.microsoft.com/office/drawing/2014/main" id="{B246CC15-2F02-0999-F2AB-D7A04078511A}"/>
              </a:ext>
            </a:extLst>
          </p:cNvPr>
          <p:cNvSpPr>
            <a:spLocks noGrp="1"/>
          </p:cNvSpPr>
          <p:nvPr>
            <p:ph idx="1"/>
          </p:nvPr>
        </p:nvSpPr>
        <p:spPr>
          <a:xfrm>
            <a:off x="457200" y="1295400"/>
            <a:ext cx="8229600" cy="4530725"/>
          </a:xfrm>
        </p:spPr>
        <p:txBody>
          <a:bodyPr/>
          <a:lstStyle/>
          <a:p>
            <a:pPr marL="0" indent="0">
              <a:buNone/>
            </a:pPr>
            <a:r>
              <a:rPr lang="en-US" sz="1800" u="sng" dirty="0">
                <a:highlight>
                  <a:srgbClr val="800000"/>
                </a:highlight>
              </a:rPr>
              <a:t>The Realist Critique</a:t>
            </a:r>
            <a:r>
              <a:rPr lang="en-US" sz="1800" dirty="0"/>
              <a:t>:  Does constructivism pay enough attention to the hard realities of military and economic power?  Realists argue that while norms are nice, they are ultimately secondary to material capabilities and survival instincts.</a:t>
            </a:r>
          </a:p>
          <a:p>
            <a:pPr marL="0" indent="0">
              <a:buNone/>
            </a:pPr>
            <a:endParaRPr lang="en-US" sz="1800" dirty="0"/>
          </a:p>
          <a:p>
            <a:pPr marL="0" indent="0">
              <a:buNone/>
            </a:pPr>
            <a:r>
              <a:rPr lang="en-US" sz="1800" u="sng" dirty="0">
                <a:highlight>
                  <a:srgbClr val="000080"/>
                </a:highlight>
              </a:rPr>
              <a:t>The Rationalist Critique</a:t>
            </a:r>
            <a:r>
              <a:rPr lang="en-US" sz="1800" dirty="0"/>
              <a:t>:  Are concepts like identity and culture too vague and difficult to measure?  Critics from neoliberalism and neorealism argue that constructivism lacks the predictive power of rational-choice models.</a:t>
            </a:r>
          </a:p>
          <a:p>
            <a:pPr marL="0" indent="0">
              <a:buNone/>
            </a:pPr>
            <a:endParaRPr lang="en-US" sz="1800" dirty="0"/>
          </a:p>
          <a:p>
            <a:pPr marL="0" indent="0">
              <a:buNone/>
            </a:pPr>
            <a:r>
              <a:rPr lang="en-US" sz="1800" u="sng" dirty="0">
                <a:highlight>
                  <a:srgbClr val="800080"/>
                </a:highlight>
              </a:rPr>
              <a:t>The Problem of Change</a:t>
            </a:r>
            <a:r>
              <a:rPr lang="en-US" sz="1800" dirty="0"/>
              <a:t>:  Constructivism is great at explaining how norms create stability and constrain actors.  It is often seen as weaker at explaining where norms come from in the first place or why they sometimes collapse suddenly.</a:t>
            </a:r>
          </a:p>
          <a:p>
            <a:pPr marL="0" indent="0">
              <a:buNone/>
            </a:pPr>
            <a:endParaRPr lang="en-US" sz="1800" dirty="0"/>
          </a:p>
          <a:p>
            <a:pPr marL="0" indent="0">
              <a:buNone/>
            </a:pPr>
            <a:r>
              <a:rPr lang="en-US" sz="1800" u="sng" dirty="0">
                <a:highlight>
                  <a:srgbClr val="008000"/>
                </a:highlight>
              </a:rPr>
              <a:t>The “Good Norms” Problem</a:t>
            </a:r>
            <a:r>
              <a:rPr lang="en-US" sz="1800" dirty="0"/>
              <a:t>:  The theory effectively explains the spread of both good norms (human rights) and bad norms (imperialism, slavery).  It provides a tool for understanding process, but not for assessing the moral content of ideas.</a:t>
            </a:r>
          </a:p>
        </p:txBody>
      </p:sp>
    </p:spTree>
    <p:extLst>
      <p:ext uri="{BB962C8B-B14F-4D97-AF65-F5344CB8AC3E}">
        <p14:creationId xmlns:p14="http://schemas.microsoft.com/office/powerpoint/2010/main" val="3560371198"/>
      </p:ext>
    </p:extLst>
  </p:cSld>
  <p:clrMapOvr>
    <a:masterClrMapping/>
  </p:clrMapOvr>
</p:sld>
</file>

<file path=ppt/theme/theme1.xml><?xml version="1.0" encoding="utf-8"?>
<a:theme xmlns:a="http://schemas.openxmlformats.org/drawingml/2006/main" name="Orbit">
  <a:themeElements>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fontScheme name="Orbit">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bit 1">
        <a:dk1>
          <a:srgbClr val="010199"/>
        </a:dk1>
        <a:lt1>
          <a:srgbClr val="FFFFFF"/>
        </a:lt1>
        <a:dk2>
          <a:srgbClr val="000000"/>
        </a:dk2>
        <a:lt2>
          <a:srgbClr val="B2B2B2"/>
        </a:lt2>
        <a:accent1>
          <a:srgbClr val="3399FF"/>
        </a:accent1>
        <a:accent2>
          <a:srgbClr val="666699"/>
        </a:accent2>
        <a:accent3>
          <a:srgbClr val="AAAAAA"/>
        </a:accent3>
        <a:accent4>
          <a:srgbClr val="DADADA"/>
        </a:accent4>
        <a:accent5>
          <a:srgbClr val="ADCAFF"/>
        </a:accent5>
        <a:accent6>
          <a:srgbClr val="5C5C8A"/>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Orbit 2">
        <a:dk1>
          <a:srgbClr val="008000"/>
        </a:dk1>
        <a:lt1>
          <a:srgbClr val="FFFFFF"/>
        </a:lt1>
        <a:dk2>
          <a:srgbClr val="003300"/>
        </a:dk2>
        <a:lt2>
          <a:srgbClr val="C0C0C0"/>
        </a:lt2>
        <a:accent1>
          <a:srgbClr val="99CC00"/>
        </a:accent1>
        <a:accent2>
          <a:srgbClr val="527C3A"/>
        </a:accent2>
        <a:accent3>
          <a:srgbClr val="AAADAA"/>
        </a:accent3>
        <a:accent4>
          <a:srgbClr val="DADADA"/>
        </a:accent4>
        <a:accent5>
          <a:srgbClr val="CAE2AA"/>
        </a:accent5>
        <a:accent6>
          <a:srgbClr val="497034"/>
        </a:accent6>
        <a:hlink>
          <a:srgbClr val="33CC33"/>
        </a:hlink>
        <a:folHlink>
          <a:srgbClr val="C1FF83"/>
        </a:folHlink>
      </a:clrScheme>
      <a:clrMap bg1="dk2" tx1="lt1" bg2="dk1" tx2="lt2" accent1="accent1" accent2="accent2" accent3="accent3" accent4="accent4" accent5="accent5" accent6="accent6" hlink="hlink" folHlink="folHlink"/>
    </a:extraClrScheme>
    <a:extraClrScheme>
      <a:clrScheme name="Orbit 3">
        <a:dk1>
          <a:srgbClr val="000066"/>
        </a:dk1>
        <a:lt1>
          <a:srgbClr val="FFFFFF"/>
        </a:lt1>
        <a:dk2>
          <a:srgbClr val="000099"/>
        </a:dk2>
        <a:lt2>
          <a:srgbClr val="9FBFFF"/>
        </a:lt2>
        <a:accent1>
          <a:srgbClr val="0099CC"/>
        </a:accent1>
        <a:accent2>
          <a:srgbClr val="00CC66"/>
        </a:accent2>
        <a:accent3>
          <a:srgbClr val="AAAACA"/>
        </a:accent3>
        <a:accent4>
          <a:srgbClr val="DADADA"/>
        </a:accent4>
        <a:accent5>
          <a:srgbClr val="AACAE2"/>
        </a:accent5>
        <a:accent6>
          <a:srgbClr val="00B95C"/>
        </a:accent6>
        <a:hlink>
          <a:srgbClr val="00FFFF"/>
        </a:hlink>
        <a:folHlink>
          <a:srgbClr val="CDE6FF"/>
        </a:folHlink>
      </a:clrScheme>
      <a:clrMap bg1="dk2" tx1="lt1" bg2="dk1" tx2="lt2" accent1="accent1" accent2="accent2" accent3="accent3" accent4="accent4" accent5="accent5" accent6="accent6" hlink="hlink" folHlink="folHlink"/>
    </a:extraClrScheme>
    <a:extraClrScheme>
      <a:clrScheme name="Orbit 4">
        <a:dk1>
          <a:srgbClr val="00ACA8"/>
        </a:dk1>
        <a:lt1>
          <a:srgbClr val="FFFFFF"/>
        </a:lt1>
        <a:dk2>
          <a:srgbClr val="006666"/>
        </a:dk2>
        <a:lt2>
          <a:srgbClr val="FFFF99"/>
        </a:lt2>
        <a:accent1>
          <a:srgbClr val="0099CC"/>
        </a:accent1>
        <a:accent2>
          <a:srgbClr val="6D6FC7"/>
        </a:accent2>
        <a:accent3>
          <a:srgbClr val="AAB8B8"/>
        </a:accent3>
        <a:accent4>
          <a:srgbClr val="DADADA"/>
        </a:accent4>
        <a:accent5>
          <a:srgbClr val="AACAE2"/>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bit 5">
        <a:dk1>
          <a:srgbClr val="BA0023"/>
        </a:dk1>
        <a:lt1>
          <a:srgbClr val="FFFFFF"/>
        </a:lt1>
        <a:dk2>
          <a:srgbClr val="800000"/>
        </a:dk2>
        <a:lt2>
          <a:srgbClr val="FFFF99"/>
        </a:lt2>
        <a:accent1>
          <a:srgbClr val="FF6600"/>
        </a:accent1>
        <a:accent2>
          <a:srgbClr val="C5543D"/>
        </a:accent2>
        <a:accent3>
          <a:srgbClr val="C0AAAA"/>
        </a:accent3>
        <a:accent4>
          <a:srgbClr val="DADADA"/>
        </a:accent4>
        <a:accent5>
          <a:srgbClr val="FFB8AA"/>
        </a:accent5>
        <a:accent6>
          <a:srgbClr val="B24B36"/>
        </a:accent6>
        <a:hlink>
          <a:srgbClr val="FFFF00"/>
        </a:hlink>
        <a:folHlink>
          <a:srgbClr val="FF9900"/>
        </a:folHlink>
      </a:clrScheme>
      <a:clrMap bg1="dk2" tx1="lt1" bg2="dk1" tx2="lt2" accent1="accent1" accent2="accent2" accent3="accent3" accent4="accent4" accent5="accent5" accent6="accent6" hlink="hlink" folHlink="folHlink"/>
    </a:extraClrScheme>
    <a:extraClrScheme>
      <a:clrScheme name="Orbit 6">
        <a:dk1>
          <a:srgbClr val="6D776E"/>
        </a:dk1>
        <a:lt1>
          <a:srgbClr val="FFFFFF"/>
        </a:lt1>
        <a:dk2>
          <a:srgbClr val="575863"/>
        </a:dk2>
        <a:lt2>
          <a:srgbClr val="DDDDDD"/>
        </a:lt2>
        <a:accent1>
          <a:srgbClr val="0099CC"/>
        </a:accent1>
        <a:accent2>
          <a:srgbClr val="939EA9"/>
        </a:accent2>
        <a:accent3>
          <a:srgbClr val="B4B4B7"/>
        </a:accent3>
        <a:accent4>
          <a:srgbClr val="DADADA"/>
        </a:accent4>
        <a:accent5>
          <a:srgbClr val="AACAE2"/>
        </a:accent5>
        <a:accent6>
          <a:srgbClr val="858F99"/>
        </a:accent6>
        <a:hlink>
          <a:srgbClr val="FFCC00"/>
        </a:hlink>
        <a:folHlink>
          <a:srgbClr val="BD8949"/>
        </a:folHlink>
      </a:clrScheme>
      <a:clrMap bg1="dk2" tx1="lt1" bg2="dk1" tx2="lt2" accent1="accent1" accent2="accent2" accent3="accent3" accent4="accent4" accent5="accent5" accent6="accent6" hlink="hlink" folHlink="folHlink"/>
    </a:extraClrScheme>
    <a:extraClrScheme>
      <a:clrScheme name="Orbit 7">
        <a:dk1>
          <a:srgbClr val="A28A84"/>
        </a:dk1>
        <a:lt1>
          <a:srgbClr val="FFFFFF"/>
        </a:lt1>
        <a:dk2>
          <a:srgbClr val="765E58"/>
        </a:dk2>
        <a:lt2>
          <a:srgbClr val="DDDDDD"/>
        </a:lt2>
        <a:accent1>
          <a:srgbClr val="CC6600"/>
        </a:accent1>
        <a:accent2>
          <a:srgbClr val="CC9900"/>
        </a:accent2>
        <a:accent3>
          <a:srgbClr val="BDB6B4"/>
        </a:accent3>
        <a:accent4>
          <a:srgbClr val="DADADA"/>
        </a:accent4>
        <a:accent5>
          <a:srgbClr val="E2B8AA"/>
        </a:accent5>
        <a:accent6>
          <a:srgbClr val="B98A00"/>
        </a:accent6>
        <a:hlink>
          <a:srgbClr val="FFCC00"/>
        </a:hlink>
        <a:folHlink>
          <a:srgbClr val="FFFFBD"/>
        </a:folHlink>
      </a:clrScheme>
      <a:clrMap bg1="dk2" tx1="lt1" bg2="dk1" tx2="lt2" accent1="accent1" accent2="accent2" accent3="accent3" accent4="accent4" accent5="accent5" accent6="accent6" hlink="hlink" folHlink="folHlink"/>
    </a:extraClrScheme>
    <a:extraClrScheme>
      <a:clrScheme name="Orbit 8">
        <a:dk1>
          <a:srgbClr val="000000"/>
        </a:dk1>
        <a:lt1>
          <a:srgbClr val="C5D9ED"/>
        </a:lt1>
        <a:dk2>
          <a:srgbClr val="000000"/>
        </a:dk2>
        <a:lt2>
          <a:srgbClr val="FFFFFF"/>
        </a:lt2>
        <a:accent1>
          <a:srgbClr val="F3F6FF"/>
        </a:accent1>
        <a:accent2>
          <a:srgbClr val="33CCCC"/>
        </a:accent2>
        <a:accent3>
          <a:srgbClr val="DFE9F4"/>
        </a:accent3>
        <a:accent4>
          <a:srgbClr val="000000"/>
        </a:accent4>
        <a:accent5>
          <a:srgbClr val="F8FAFF"/>
        </a:accent5>
        <a:accent6>
          <a:srgbClr val="2DB9B9"/>
        </a:accent6>
        <a:hlink>
          <a:srgbClr val="0000FF"/>
        </a:hlink>
        <a:folHlink>
          <a:srgbClr val="006699"/>
        </a:folHlink>
      </a:clrScheme>
      <a:clrMap bg1="lt1" tx1="dk1" bg2="lt2" tx2="dk2" accent1="accent1" accent2="accent2" accent3="accent3" accent4="accent4" accent5="accent5" accent6="accent6" hlink="hlink" folHlink="folHlink"/>
    </a:extraClrScheme>
    <a:extraClrScheme>
      <a:clrScheme name="Orbit 9">
        <a:dk1>
          <a:srgbClr val="FFFFFF"/>
        </a:dk1>
        <a:lt1>
          <a:srgbClr val="FFFFFF"/>
        </a:lt1>
        <a:dk2>
          <a:srgbClr val="AAAAC6"/>
        </a:dk2>
        <a:lt2>
          <a:srgbClr val="FFFFCC"/>
        </a:lt2>
        <a:accent1>
          <a:srgbClr val="66667E"/>
        </a:accent1>
        <a:accent2>
          <a:srgbClr val="629157"/>
        </a:accent2>
        <a:accent3>
          <a:srgbClr val="D2D2DF"/>
        </a:accent3>
        <a:accent4>
          <a:srgbClr val="DADADA"/>
        </a:accent4>
        <a:accent5>
          <a:srgbClr val="B8B8C0"/>
        </a:accent5>
        <a:accent6>
          <a:srgbClr val="58834E"/>
        </a:accent6>
        <a:hlink>
          <a:srgbClr val="6600CC"/>
        </a:hlink>
        <a:folHlink>
          <a:srgbClr val="3399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Orbit</Template>
  <TotalTime>12754</TotalTime>
  <Words>4736</Words>
  <Application>Microsoft Macintosh PowerPoint</Application>
  <PresentationFormat>On-screen Show (4:3)</PresentationFormat>
  <Paragraphs>294</Paragraphs>
  <Slides>72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72</vt:i4>
      </vt:variant>
    </vt:vector>
  </HeadingPairs>
  <TitlesOfParts>
    <vt:vector size="76" baseType="lpstr">
      <vt:lpstr>ＭＳ Ｐゴシック</vt:lpstr>
      <vt:lpstr>Arial</vt:lpstr>
      <vt:lpstr>Wingdings</vt:lpstr>
      <vt:lpstr>Orbit</vt:lpstr>
      <vt:lpstr>PIA 3121  6 October 2026</vt:lpstr>
      <vt:lpstr>PIA 3121 Schedule</vt:lpstr>
      <vt:lpstr>PowerPoint Presentation</vt:lpstr>
      <vt:lpstr>Constructivism </vt:lpstr>
      <vt:lpstr>Constructivism </vt:lpstr>
      <vt:lpstr>PowerPoint Presentation</vt:lpstr>
      <vt:lpstr>PowerPoint Presentation</vt:lpstr>
      <vt:lpstr>Constructivism </vt:lpstr>
      <vt:lpstr>Constructivism </vt:lpstr>
      <vt:lpstr>Constructivism </vt:lpstr>
      <vt:lpstr>STRUCTURATION</vt:lpstr>
      <vt:lpstr>PowerPoint Presentation</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Cultures of Anarchy (Alexander Wendt, 1999):</vt:lpstr>
      <vt:lpstr>Constructivism and Military Security</vt:lpstr>
      <vt:lpstr>Constructivism and Military Security</vt:lpstr>
      <vt:lpstr>JWK’s “Three Layers” to the International Cultural Environment (ICE)</vt:lpstr>
      <vt:lpstr>JWK’s “Three Layers” to the International Cultural Environment (ICE)</vt:lpstr>
      <vt:lpstr>JWK’s “Three Layers” to the International Cultural Environment (ICE)</vt:lpstr>
      <vt:lpstr>JWK’s “Three Layers” to the International Cultural Environment (ICE)</vt:lpstr>
      <vt:lpstr>JWK’s “Three Layers” to the International Cultural Environment (ICE)</vt:lpstr>
      <vt:lpstr>Which country is – to the U.S. – the nice country?</vt:lpstr>
      <vt:lpstr>JWK’s Key Novel Argument</vt:lpstr>
      <vt:lpstr>JWK’s Key Novel Argument</vt:lpstr>
      <vt:lpstr>BREAKTHROUGH:  From the Neo-Neo Debate to the Neo-Neo Synthesis</vt:lpstr>
      <vt:lpstr>BREAKTHROUGH:  From the Neo-Neo Debate to the Neo-Neo Synthesis</vt:lpstr>
      <vt:lpstr>The ICE’s Three Effects on  State Identities</vt:lpstr>
      <vt:lpstr>The ICE’s Three Effects on  State Identities</vt:lpstr>
      <vt:lpstr>PowerPoint Presentation</vt:lpstr>
      <vt:lpstr>The ICE’s Three Effects on  State Identities</vt:lpstr>
      <vt:lpstr>The ICE’s Three Effects on  State Identities</vt:lpstr>
      <vt:lpstr>6 Primary Norms of Imperialism</vt:lpstr>
      <vt:lpstr>PowerPoint Presentation</vt:lpstr>
      <vt:lpstr>6 Primary Norms of Imperialism</vt:lpstr>
      <vt:lpstr>6 Primary Norms of Imperialism</vt:lpstr>
      <vt:lpstr>6 Primary Norms of Imperialism</vt:lpstr>
      <vt:lpstr>US imperialism in the Pacific and in “its own backyard”</vt:lpstr>
      <vt:lpstr>6 Primary Norms of Imperialism</vt:lpstr>
      <vt:lpstr>PowerPoint Presentation</vt:lpstr>
      <vt:lpstr>6 Primary Norms of Imperialism</vt:lpstr>
      <vt:lpstr>6 Primary Norms of Imperialism</vt:lpstr>
      <vt:lpstr>PowerPoint Presentation</vt:lpstr>
      <vt:lpstr>Challenges to Constructivism</vt:lpstr>
      <vt:lpstr>Challenges to Constructivism</vt:lpstr>
      <vt:lpstr>Challenges to Constructivism</vt:lpstr>
      <vt:lpstr>Challenges to Constructivism</vt:lpstr>
      <vt:lpstr>Challenges to Constructivism</vt:lpstr>
    </vt:vector>
  </TitlesOfParts>
  <Company>SIR@USC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IR 210  12 September 2006</dc:title>
  <dc:creator>Daniel C. Lynch</dc:creator>
  <cp:lastModifiedBy>Daniel Lynch</cp:lastModifiedBy>
  <cp:revision>155</cp:revision>
  <cp:lastPrinted>1601-01-01T00:00:00Z</cp:lastPrinted>
  <dcterms:created xsi:type="dcterms:W3CDTF">2010-10-06T01:46:36Z</dcterms:created>
  <dcterms:modified xsi:type="dcterms:W3CDTF">2026-10-06T05:20:32Z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7</vt:i4>
  </property>
</Properties>
</file>