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79"/>
  </p:notesMasterIdLst>
  <p:handoutMasterIdLst>
    <p:handoutMasterId r:id="rId80"/>
  </p:handoutMasterIdLst>
  <p:sldIdLst>
    <p:sldId id="278" r:id="rId2"/>
    <p:sldId id="529" r:id="rId3"/>
    <p:sldId id="451" r:id="rId4"/>
    <p:sldId id="500" r:id="rId5"/>
    <p:sldId id="326" r:id="rId6"/>
    <p:sldId id="327" r:id="rId7"/>
    <p:sldId id="503" r:id="rId8"/>
    <p:sldId id="280" r:id="rId9"/>
    <p:sldId id="491" r:id="rId10"/>
    <p:sldId id="492" r:id="rId11"/>
    <p:sldId id="493" r:id="rId12"/>
    <p:sldId id="494" r:id="rId13"/>
    <p:sldId id="328" r:id="rId14"/>
    <p:sldId id="258" r:id="rId15"/>
    <p:sldId id="384" r:id="rId16"/>
    <p:sldId id="385" r:id="rId17"/>
    <p:sldId id="386" r:id="rId18"/>
    <p:sldId id="484" r:id="rId19"/>
    <p:sldId id="390" r:id="rId20"/>
    <p:sldId id="391" r:id="rId21"/>
    <p:sldId id="479" r:id="rId22"/>
    <p:sldId id="480" r:id="rId23"/>
    <p:sldId id="481" r:id="rId24"/>
    <p:sldId id="482" r:id="rId25"/>
    <p:sldId id="469" r:id="rId26"/>
    <p:sldId id="403" r:id="rId27"/>
    <p:sldId id="405" r:id="rId28"/>
    <p:sldId id="504" r:id="rId29"/>
    <p:sldId id="406" r:id="rId30"/>
    <p:sldId id="490" r:id="rId31"/>
    <p:sldId id="472" r:id="rId32"/>
    <p:sldId id="407" r:id="rId33"/>
    <p:sldId id="485" r:id="rId34"/>
    <p:sldId id="409" r:id="rId35"/>
    <p:sldId id="486" r:id="rId36"/>
    <p:sldId id="411" r:id="rId37"/>
    <p:sldId id="412" r:id="rId38"/>
    <p:sldId id="414" r:id="rId39"/>
    <p:sldId id="415" r:id="rId40"/>
    <p:sldId id="417" r:id="rId41"/>
    <p:sldId id="419" r:id="rId42"/>
    <p:sldId id="421" r:id="rId43"/>
    <p:sldId id="422" r:id="rId44"/>
    <p:sldId id="423" r:id="rId45"/>
    <p:sldId id="473" r:id="rId46"/>
    <p:sldId id="273" r:id="rId47"/>
    <p:sldId id="507" r:id="rId48"/>
    <p:sldId id="508" r:id="rId49"/>
    <p:sldId id="509" r:id="rId50"/>
    <p:sldId id="510" r:id="rId51"/>
    <p:sldId id="511" r:id="rId52"/>
    <p:sldId id="512" r:id="rId53"/>
    <p:sldId id="513" r:id="rId54"/>
    <p:sldId id="514" r:id="rId55"/>
    <p:sldId id="523" r:id="rId56"/>
    <p:sldId id="524" r:id="rId57"/>
    <p:sldId id="525" r:id="rId58"/>
    <p:sldId id="475" r:id="rId59"/>
    <p:sldId id="427" r:id="rId60"/>
    <p:sldId id="429" r:id="rId61"/>
    <p:sldId id="430" r:id="rId62"/>
    <p:sldId id="431" r:id="rId63"/>
    <p:sldId id="432" r:id="rId64"/>
    <p:sldId id="515" r:id="rId65"/>
    <p:sldId id="526" r:id="rId66"/>
    <p:sldId id="516" r:id="rId67"/>
    <p:sldId id="517" r:id="rId68"/>
    <p:sldId id="518" r:id="rId69"/>
    <p:sldId id="519" r:id="rId70"/>
    <p:sldId id="520" r:id="rId71"/>
    <p:sldId id="521" r:id="rId72"/>
    <p:sldId id="522" r:id="rId73"/>
    <p:sldId id="527" r:id="rId74"/>
    <p:sldId id="332" r:id="rId75"/>
    <p:sldId id="294" r:id="rId76"/>
    <p:sldId id="267" r:id="rId77"/>
    <p:sldId id="340" r:id="rId7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74"/>
    <p:restoredTop sz="94188"/>
  </p:normalViewPr>
  <p:slideViewPr>
    <p:cSldViewPr>
      <p:cViewPr varScale="1">
        <p:scale>
          <a:sx n="117" d="100"/>
          <a:sy n="117" d="100"/>
        </p:scale>
        <p:origin x="210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B9B72C-C52A-0D5B-DC73-EF96C6205F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dirty="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5188B49F-6FCF-0FBC-B776-741A459FC2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D0859937-3145-8B4A-B673-74340FE29040}" type="datetimeFigureOut">
              <a:rPr lang="en-US"/>
              <a:pPr>
                <a:defRPr/>
              </a:pPr>
              <a:t>9/7/26</a:t>
            </a:fld>
            <a:endParaRPr lang="en-US" dirty="0"/>
          </a:p>
        </p:txBody>
      </p:sp>
      <p:sp>
        <p:nvSpPr>
          <p:cNvPr id="4" name="Footer Placeholder 3">
            <a:extLst>
              <a:ext uri="{FF2B5EF4-FFF2-40B4-BE49-F238E27FC236}">
                <a16:creationId xmlns:a16="http://schemas.microsoft.com/office/drawing/2014/main" id="{18E338C3-4642-DC3E-6E5F-21980A9B6E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dirty="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59033C57-FA6D-18F4-8061-DF480BC67FD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3E8C712-42E2-724E-BFBA-BC756852AC0F}"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58F6AC43-E090-58C8-7B34-08550C790C9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cs typeface="Arial" panose="020B0604020202020204" pitchFamily="34" charset="0"/>
              </a:defRPr>
            </a:lvl1pPr>
          </a:lstStyle>
          <a:p>
            <a:pPr>
              <a:defRPr/>
            </a:pPr>
            <a:endParaRPr lang="en-US" altLang="en-US"/>
          </a:p>
        </p:txBody>
      </p:sp>
      <p:sp>
        <p:nvSpPr>
          <p:cNvPr id="363523" name="Rectangle 3">
            <a:extLst>
              <a:ext uri="{FF2B5EF4-FFF2-40B4-BE49-F238E27FC236}">
                <a16:creationId xmlns:a16="http://schemas.microsoft.com/office/drawing/2014/main" id="{9B6640AE-BEFC-2FD6-A162-57374E0610A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cs typeface="Arial" panose="020B0604020202020204" pitchFamily="34" charset="0"/>
              </a:defRPr>
            </a:lvl1pPr>
          </a:lstStyle>
          <a:p>
            <a:pPr>
              <a:defRPr/>
            </a:pPr>
            <a:endParaRPr lang="en-US" altLang="en-US"/>
          </a:p>
        </p:txBody>
      </p:sp>
      <p:sp>
        <p:nvSpPr>
          <p:cNvPr id="13316" name="Rectangle 4">
            <a:extLst>
              <a:ext uri="{FF2B5EF4-FFF2-40B4-BE49-F238E27FC236}">
                <a16:creationId xmlns:a16="http://schemas.microsoft.com/office/drawing/2014/main" id="{65DDE46A-5696-A202-6A24-7E4BA61FC52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5" name="Rectangle 5">
            <a:extLst>
              <a:ext uri="{FF2B5EF4-FFF2-40B4-BE49-F238E27FC236}">
                <a16:creationId xmlns:a16="http://schemas.microsoft.com/office/drawing/2014/main" id="{85C168E5-E2B5-F294-28CD-F878496609D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3526" name="Rectangle 6">
            <a:extLst>
              <a:ext uri="{FF2B5EF4-FFF2-40B4-BE49-F238E27FC236}">
                <a16:creationId xmlns:a16="http://schemas.microsoft.com/office/drawing/2014/main" id="{D2D0C6AA-BE90-90FA-50DD-5F5A2665184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cs typeface="Arial" panose="020B0604020202020204" pitchFamily="34" charset="0"/>
              </a:defRPr>
            </a:lvl1pPr>
          </a:lstStyle>
          <a:p>
            <a:pPr>
              <a:defRPr/>
            </a:pPr>
            <a:endParaRPr lang="en-US" altLang="en-US"/>
          </a:p>
        </p:txBody>
      </p:sp>
      <p:sp>
        <p:nvSpPr>
          <p:cNvPr id="363527" name="Rectangle 7">
            <a:extLst>
              <a:ext uri="{FF2B5EF4-FFF2-40B4-BE49-F238E27FC236}">
                <a16:creationId xmlns:a16="http://schemas.microsoft.com/office/drawing/2014/main" id="{E80D9D7C-AA94-AE5C-36D5-57F7E39A8FCA}"/>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776CDA0-E3C7-8D49-956C-B31F1A1E827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B18FDFB0-9F59-70EF-78EE-8ECFBAA8BF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417128A-8E75-C547-9E10-3C26E0D005A8}" type="slidenum">
              <a:rPr lang="en-US" altLang="en-US" smtClean="0"/>
              <a:pPr>
                <a:spcBef>
                  <a:spcPct val="0"/>
                </a:spcBef>
              </a:pPr>
              <a:t>1</a:t>
            </a:fld>
            <a:endParaRPr lang="en-US" altLang="en-US"/>
          </a:p>
        </p:txBody>
      </p:sp>
      <p:sp>
        <p:nvSpPr>
          <p:cNvPr id="16386" name="Rectangle 2">
            <a:extLst>
              <a:ext uri="{FF2B5EF4-FFF2-40B4-BE49-F238E27FC236}">
                <a16:creationId xmlns:a16="http://schemas.microsoft.com/office/drawing/2014/main" id="{15813FAB-9B50-30F7-AE2F-E72A39146F4A}"/>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E0B844D-DEC1-B1A5-9F03-8FA4BA205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fld id="{0FBFFF3F-B221-6143-BD69-EAE050A15E75}" type="slidenum">
              <a:rPr lang="en-US" sz="1200"/>
              <a:pPr eaLnBrk="1" hangingPunct="1"/>
              <a:t>4</a:t>
            </a:fld>
            <a:endParaRPr lang="en-US" sz="1200" dirty="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1588171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eaLnBrk="1" hangingPunct="1"/>
            <a:fld id="{611C0F6B-0474-A942-8272-83DAABAD0F5B}" type="slidenum">
              <a:rPr lang="en-US" sz="1200"/>
              <a:pPr eaLnBrk="1" hangingPunct="1"/>
              <a:t>5</a:t>
            </a:fld>
            <a:endParaRPr lang="en-US" sz="1200" dirty="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p>
        </p:txBody>
      </p:sp>
    </p:spTree>
    <p:extLst>
      <p:ext uri="{BB962C8B-B14F-4D97-AF65-F5344CB8AC3E}">
        <p14:creationId xmlns:p14="http://schemas.microsoft.com/office/powerpoint/2010/main" val="2055257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D6A4E7C4-7016-FE27-E1CD-D81E7BC269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51C5DC0-39D3-1449-B269-B9C2C5DF6E6F}" type="slidenum">
              <a:rPr lang="en-US" altLang="en-US" smtClean="0"/>
              <a:pPr>
                <a:spcBef>
                  <a:spcPct val="0"/>
                </a:spcBef>
              </a:pPr>
              <a:t>6</a:t>
            </a:fld>
            <a:endParaRPr lang="en-US" altLang="en-US"/>
          </a:p>
        </p:txBody>
      </p:sp>
      <p:sp>
        <p:nvSpPr>
          <p:cNvPr id="19458" name="Rectangle 2">
            <a:extLst>
              <a:ext uri="{FF2B5EF4-FFF2-40B4-BE49-F238E27FC236}">
                <a16:creationId xmlns:a16="http://schemas.microsoft.com/office/drawing/2014/main" id="{2E707D77-7D58-8121-9CB7-11479123BE12}"/>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69A25744-FF66-C0DD-23AF-01DA0C539A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D6A4E7C4-7016-FE27-E1CD-D81E7BC269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51C5DC0-39D3-1449-B269-B9C2C5DF6E6F}" type="slidenum">
              <a:rPr lang="en-US" altLang="en-US" smtClean="0"/>
              <a:pPr>
                <a:spcBef>
                  <a:spcPct val="0"/>
                </a:spcBef>
              </a:pPr>
              <a:t>7</a:t>
            </a:fld>
            <a:endParaRPr lang="en-US" altLang="en-US"/>
          </a:p>
        </p:txBody>
      </p:sp>
      <p:sp>
        <p:nvSpPr>
          <p:cNvPr id="19458" name="Rectangle 2">
            <a:extLst>
              <a:ext uri="{FF2B5EF4-FFF2-40B4-BE49-F238E27FC236}">
                <a16:creationId xmlns:a16="http://schemas.microsoft.com/office/drawing/2014/main" id="{2E707D77-7D58-8121-9CB7-11479123BE12}"/>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69A25744-FF66-C0DD-23AF-01DA0C539A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34745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AC5453A4-B731-F2C1-401F-7E5C1EDE56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EA68B26-45B6-8C43-A7E0-9B9183889B1E}" type="slidenum">
              <a:rPr lang="en-US" altLang="en-US" smtClean="0"/>
              <a:pPr>
                <a:spcBef>
                  <a:spcPct val="0"/>
                </a:spcBef>
              </a:pPr>
              <a:t>8</a:t>
            </a:fld>
            <a:endParaRPr lang="en-US" altLang="en-US"/>
          </a:p>
        </p:txBody>
      </p:sp>
      <p:sp>
        <p:nvSpPr>
          <p:cNvPr id="21506" name="Rectangle 2">
            <a:extLst>
              <a:ext uri="{FF2B5EF4-FFF2-40B4-BE49-F238E27FC236}">
                <a16:creationId xmlns:a16="http://schemas.microsoft.com/office/drawing/2014/main" id="{2A05DF25-3DF8-32F9-1BBA-9F37D3A2FE5E}"/>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D81D2255-D6DF-2D22-4153-119EB7C05A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3EF69021-AC79-7647-2C87-9F62563A55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51E51B2-7B86-CE4C-8D2D-FE7E890ABA90}" type="slidenum">
              <a:rPr lang="en-US" altLang="en-US" smtClean="0"/>
              <a:pPr>
                <a:spcBef>
                  <a:spcPct val="0"/>
                </a:spcBef>
              </a:pPr>
              <a:t>13</a:t>
            </a:fld>
            <a:endParaRPr lang="en-US" altLang="en-US"/>
          </a:p>
        </p:txBody>
      </p:sp>
      <p:sp>
        <p:nvSpPr>
          <p:cNvPr id="25602" name="Rectangle 2">
            <a:extLst>
              <a:ext uri="{FF2B5EF4-FFF2-40B4-BE49-F238E27FC236}">
                <a16:creationId xmlns:a16="http://schemas.microsoft.com/office/drawing/2014/main" id="{620A4482-2865-5C0B-AD72-74B761390B6D}"/>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AEE84C90-A4B3-6E64-9128-19036279A9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5402027-9271-9F3A-35CB-5AB1EFCE54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2631FEF-BBB4-1347-8970-7DCA11B5DECC}" type="slidenum">
              <a:rPr lang="en-US" altLang="en-US" smtClean="0"/>
              <a:pPr>
                <a:spcBef>
                  <a:spcPct val="0"/>
                </a:spcBef>
              </a:pPr>
              <a:t>14</a:t>
            </a:fld>
            <a:endParaRPr lang="en-US" altLang="en-US"/>
          </a:p>
        </p:txBody>
      </p:sp>
      <p:sp>
        <p:nvSpPr>
          <p:cNvPr id="27650" name="Rectangle 2">
            <a:extLst>
              <a:ext uri="{FF2B5EF4-FFF2-40B4-BE49-F238E27FC236}">
                <a16:creationId xmlns:a16="http://schemas.microsoft.com/office/drawing/2014/main" id="{97CE6D31-3421-09BC-353A-8BFF65A0AABB}"/>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9956E029-C285-B05F-570F-D48A6C1BF5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828B3714-F971-9F64-87B9-6308FB5BB3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5D496AF-7FA1-6C4A-9169-B9743BDEBD0F}" type="slidenum">
              <a:rPr lang="en-US" altLang="en-US" smtClean="0"/>
              <a:pPr>
                <a:spcBef>
                  <a:spcPct val="0"/>
                </a:spcBef>
              </a:pPr>
              <a:t>18</a:t>
            </a:fld>
            <a:endParaRPr lang="en-US" altLang="en-US"/>
          </a:p>
        </p:txBody>
      </p:sp>
      <p:sp>
        <p:nvSpPr>
          <p:cNvPr id="32770" name="Rectangle 2">
            <a:extLst>
              <a:ext uri="{FF2B5EF4-FFF2-40B4-BE49-F238E27FC236}">
                <a16:creationId xmlns:a16="http://schemas.microsoft.com/office/drawing/2014/main" id="{891B90DA-9979-432C-30A6-DC0BBDA4CFB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BBEA4BF1-5F18-4765-739C-842A9EFC8D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B979F2EC-3FF1-4ED7-B9E7-19DE2A0F1F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0DFC691-CAFC-3E4D-B70F-68F813A053C9}" type="slidenum">
              <a:rPr lang="en-US" altLang="en-US" smtClean="0"/>
              <a:pPr>
                <a:spcBef>
                  <a:spcPct val="0"/>
                </a:spcBef>
              </a:pPr>
              <a:t>21</a:t>
            </a:fld>
            <a:endParaRPr lang="en-US" altLang="en-US"/>
          </a:p>
        </p:txBody>
      </p:sp>
      <p:sp>
        <p:nvSpPr>
          <p:cNvPr id="36866" name="Rectangle 2">
            <a:extLst>
              <a:ext uri="{FF2B5EF4-FFF2-40B4-BE49-F238E27FC236}">
                <a16:creationId xmlns:a16="http://schemas.microsoft.com/office/drawing/2014/main" id="{B8179CA4-E7FF-F821-8C89-9386876B59AE}"/>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70FED39-39C2-1536-E4E1-2ACA6D043B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6C34E8C3-DAD7-C14F-9D9A-C72B9C39A8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B6EDE533-FD16-F14B-9E05-9E8B8776B772}" type="slidenum">
              <a:rPr lang="en-US" altLang="en-US" smtClean="0"/>
              <a:pPr>
                <a:spcBef>
                  <a:spcPct val="0"/>
                </a:spcBef>
              </a:pPr>
              <a:t>22</a:t>
            </a:fld>
            <a:endParaRPr lang="en-US" altLang="en-US"/>
          </a:p>
        </p:txBody>
      </p:sp>
      <p:sp>
        <p:nvSpPr>
          <p:cNvPr id="38914" name="Rectangle 2">
            <a:extLst>
              <a:ext uri="{FF2B5EF4-FFF2-40B4-BE49-F238E27FC236}">
                <a16:creationId xmlns:a16="http://schemas.microsoft.com/office/drawing/2014/main" id="{EFB71744-1759-1520-3266-8FD146DF3C20}"/>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52CCED7F-802A-D276-92D7-3DA07C9943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4F4479CF-B9AB-7CDF-E2DC-FB22D1036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DB85828-C5E0-7347-90CD-AEEBC18A5A02}" type="slidenum">
              <a:rPr lang="en-US" altLang="en-US" smtClean="0"/>
              <a:pPr>
                <a:spcBef>
                  <a:spcPct val="0"/>
                </a:spcBef>
              </a:pPr>
              <a:t>23</a:t>
            </a:fld>
            <a:endParaRPr lang="en-US" altLang="en-US"/>
          </a:p>
        </p:txBody>
      </p:sp>
      <p:sp>
        <p:nvSpPr>
          <p:cNvPr id="40962" name="Rectangle 2">
            <a:extLst>
              <a:ext uri="{FF2B5EF4-FFF2-40B4-BE49-F238E27FC236}">
                <a16:creationId xmlns:a16="http://schemas.microsoft.com/office/drawing/2014/main" id="{E4A7EEA6-D444-F9AA-9B52-89CAB1040CD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50637502-933A-E196-ACF4-F4ABC3095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6697ECDD-F47A-03EC-AE46-104C092BA5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98423BC-AFE7-E746-8D28-E1AC48E90EBF}" type="slidenum">
              <a:rPr lang="en-US" altLang="en-US" smtClean="0"/>
              <a:pPr>
                <a:spcBef>
                  <a:spcPct val="0"/>
                </a:spcBef>
              </a:pPr>
              <a:t>24</a:t>
            </a:fld>
            <a:endParaRPr lang="en-US" altLang="en-US"/>
          </a:p>
        </p:txBody>
      </p:sp>
      <p:sp>
        <p:nvSpPr>
          <p:cNvPr id="43010" name="Rectangle 2">
            <a:extLst>
              <a:ext uri="{FF2B5EF4-FFF2-40B4-BE49-F238E27FC236}">
                <a16:creationId xmlns:a16="http://schemas.microsoft.com/office/drawing/2014/main" id="{ACEC5EFD-214B-461A-2F46-7CC71C9637DF}"/>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6648D609-653D-D3C3-46D4-4B70843FFC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293AE1F8-3504-C14C-8AF7-72929F42E8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4FCC6654-F19F-FC44-A12F-821F3D77D3BD}" type="slidenum">
              <a:rPr lang="en-US" altLang="en-US" smtClean="0"/>
              <a:pPr>
                <a:spcBef>
                  <a:spcPct val="0"/>
                </a:spcBef>
              </a:pPr>
              <a:t>26</a:t>
            </a:fld>
            <a:endParaRPr lang="en-US" altLang="en-US"/>
          </a:p>
        </p:txBody>
      </p:sp>
      <p:sp>
        <p:nvSpPr>
          <p:cNvPr id="46082" name="Rectangle 2">
            <a:extLst>
              <a:ext uri="{FF2B5EF4-FFF2-40B4-BE49-F238E27FC236}">
                <a16:creationId xmlns:a16="http://schemas.microsoft.com/office/drawing/2014/main" id="{B2B62995-FF7B-2A54-ECB0-27FEAEF9890C}"/>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D150E024-967E-2AE2-59A0-F71B3E4086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898D53F9-0B53-89DB-D0F4-D6D01A1D70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C6CA227-02E3-6E4C-9B97-50CBCE0F1D3A}" type="slidenum">
              <a:rPr lang="en-US" altLang="en-US" smtClean="0"/>
              <a:pPr>
                <a:spcBef>
                  <a:spcPct val="0"/>
                </a:spcBef>
              </a:pPr>
              <a:t>27</a:t>
            </a:fld>
            <a:endParaRPr lang="en-US" altLang="en-US"/>
          </a:p>
        </p:txBody>
      </p:sp>
      <p:sp>
        <p:nvSpPr>
          <p:cNvPr id="48130" name="Rectangle 2">
            <a:extLst>
              <a:ext uri="{FF2B5EF4-FFF2-40B4-BE49-F238E27FC236}">
                <a16:creationId xmlns:a16="http://schemas.microsoft.com/office/drawing/2014/main" id="{05891166-9DA7-E1CB-CD91-5271076273E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FB09863D-E6AE-C4EF-E437-7297AD148D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898D53F9-0B53-89DB-D0F4-D6D01A1D70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C6CA227-02E3-6E4C-9B97-50CBCE0F1D3A}" type="slidenum">
              <a:rPr lang="en-US" altLang="en-US" smtClean="0"/>
              <a:pPr>
                <a:spcBef>
                  <a:spcPct val="0"/>
                </a:spcBef>
              </a:pPr>
              <a:t>28</a:t>
            </a:fld>
            <a:endParaRPr lang="en-US" altLang="en-US"/>
          </a:p>
        </p:txBody>
      </p:sp>
      <p:sp>
        <p:nvSpPr>
          <p:cNvPr id="48130" name="Rectangle 2">
            <a:extLst>
              <a:ext uri="{FF2B5EF4-FFF2-40B4-BE49-F238E27FC236}">
                <a16:creationId xmlns:a16="http://schemas.microsoft.com/office/drawing/2014/main" id="{05891166-9DA7-E1CB-CD91-5271076273EE}"/>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FB09863D-E6AE-C4EF-E437-7297AD148D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617658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13849FA-8485-FD40-9EAC-BCC7813104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FE65299-7570-B147-B6E7-4FE22C2E1C34}" type="slidenum">
              <a:rPr lang="en-US" altLang="en-US" smtClean="0"/>
              <a:pPr>
                <a:spcBef>
                  <a:spcPct val="0"/>
                </a:spcBef>
              </a:pPr>
              <a:t>29</a:t>
            </a:fld>
            <a:endParaRPr lang="en-US" altLang="en-US"/>
          </a:p>
        </p:txBody>
      </p:sp>
      <p:sp>
        <p:nvSpPr>
          <p:cNvPr id="50178" name="Rectangle 2">
            <a:extLst>
              <a:ext uri="{FF2B5EF4-FFF2-40B4-BE49-F238E27FC236}">
                <a16:creationId xmlns:a16="http://schemas.microsoft.com/office/drawing/2014/main" id="{081B1E69-2E24-C10B-05A7-4C1079822CC5}"/>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23B612DD-C164-37A2-B11E-BA53ECE76D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20BA4BC3-8DC0-73BD-6022-8DD7D0EFF5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B2EB7CD-7E3E-DB46-86A2-BF721449854D}" type="slidenum">
              <a:rPr lang="en-US" altLang="en-US" smtClean="0"/>
              <a:pPr>
                <a:spcBef>
                  <a:spcPct val="0"/>
                </a:spcBef>
              </a:pPr>
              <a:t>30</a:t>
            </a:fld>
            <a:endParaRPr lang="en-US" altLang="en-US"/>
          </a:p>
        </p:txBody>
      </p:sp>
      <p:sp>
        <p:nvSpPr>
          <p:cNvPr id="52226" name="Rectangle 2">
            <a:extLst>
              <a:ext uri="{FF2B5EF4-FFF2-40B4-BE49-F238E27FC236}">
                <a16:creationId xmlns:a16="http://schemas.microsoft.com/office/drawing/2014/main" id="{D4416D71-00C2-2E06-99B7-470B1A4C3025}"/>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3C6A23B8-F628-1F8C-EAEA-5ED4CE47E7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82161554-05D7-CAFD-6A06-ACF37CE8FB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0321186-AC60-9242-9A50-6080F89236FD}" type="slidenum">
              <a:rPr lang="en-US" altLang="en-US" smtClean="0"/>
              <a:pPr>
                <a:spcBef>
                  <a:spcPct val="0"/>
                </a:spcBef>
              </a:pPr>
              <a:t>32</a:t>
            </a:fld>
            <a:endParaRPr lang="en-US" altLang="en-US"/>
          </a:p>
        </p:txBody>
      </p:sp>
      <p:sp>
        <p:nvSpPr>
          <p:cNvPr id="55298" name="Rectangle 2">
            <a:extLst>
              <a:ext uri="{FF2B5EF4-FFF2-40B4-BE49-F238E27FC236}">
                <a16:creationId xmlns:a16="http://schemas.microsoft.com/office/drawing/2014/main" id="{25ACC99E-37A9-88FC-A6DB-09DA3CA962C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DE2DD02E-ED50-3C4E-AB12-87C63EDB61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FB9B0BCE-D641-3E82-2334-599FC41E84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34AE4F4-B811-3F42-8A12-33E011775631}" type="slidenum">
              <a:rPr lang="en-US" altLang="en-US" smtClean="0"/>
              <a:pPr>
                <a:spcBef>
                  <a:spcPct val="0"/>
                </a:spcBef>
              </a:pPr>
              <a:t>34</a:t>
            </a:fld>
            <a:endParaRPr lang="en-US" altLang="en-US"/>
          </a:p>
        </p:txBody>
      </p:sp>
      <p:sp>
        <p:nvSpPr>
          <p:cNvPr id="58370" name="Rectangle 2">
            <a:extLst>
              <a:ext uri="{FF2B5EF4-FFF2-40B4-BE49-F238E27FC236}">
                <a16:creationId xmlns:a16="http://schemas.microsoft.com/office/drawing/2014/main" id="{1330FA5E-083A-190C-C3D0-A1A27A67043D}"/>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476840A-D9B0-D2C6-AB6C-CA68196F8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85CA62E2-BF3E-7092-F9A7-C7610B033B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17017AF-FDC1-D348-8626-8C090F0C19A7}" type="slidenum">
              <a:rPr lang="en-US" altLang="en-US" smtClean="0"/>
              <a:pPr>
                <a:spcBef>
                  <a:spcPct val="0"/>
                </a:spcBef>
              </a:pPr>
              <a:t>35</a:t>
            </a:fld>
            <a:endParaRPr lang="en-US" altLang="en-US"/>
          </a:p>
        </p:txBody>
      </p:sp>
      <p:sp>
        <p:nvSpPr>
          <p:cNvPr id="60418" name="Rectangle 2">
            <a:extLst>
              <a:ext uri="{FF2B5EF4-FFF2-40B4-BE49-F238E27FC236}">
                <a16:creationId xmlns:a16="http://schemas.microsoft.com/office/drawing/2014/main" id="{14BCCEF8-EABE-6D8E-275D-2EF12891B437}"/>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6A3899AE-CDD1-FE99-5D87-A427F3B216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4FA9327D-71D1-8334-CF6E-4B14A9863E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BAAA66E-AC09-DE42-AB02-9C2C7D04DDA0}" type="slidenum">
              <a:rPr lang="en-US" altLang="en-US" smtClean="0"/>
              <a:pPr>
                <a:spcBef>
                  <a:spcPct val="0"/>
                </a:spcBef>
              </a:pPr>
              <a:t>36</a:t>
            </a:fld>
            <a:endParaRPr lang="en-US" altLang="en-US"/>
          </a:p>
        </p:txBody>
      </p:sp>
      <p:sp>
        <p:nvSpPr>
          <p:cNvPr id="63490" name="Rectangle 2">
            <a:extLst>
              <a:ext uri="{FF2B5EF4-FFF2-40B4-BE49-F238E27FC236}">
                <a16:creationId xmlns:a16="http://schemas.microsoft.com/office/drawing/2014/main" id="{78091261-1EEF-B932-C9D3-976A0B7EE673}"/>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43D39E7E-70EC-D023-18E9-F93AE03EDC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79EA7692-C280-84ED-3C08-A5ED0D1998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CBA13A1-0C90-FA4D-8CFD-3D872988EEB1}" type="slidenum">
              <a:rPr lang="en-US" altLang="en-US" smtClean="0"/>
              <a:pPr>
                <a:spcBef>
                  <a:spcPct val="0"/>
                </a:spcBef>
              </a:pPr>
              <a:t>37</a:t>
            </a:fld>
            <a:endParaRPr lang="en-US" altLang="en-US"/>
          </a:p>
        </p:txBody>
      </p:sp>
      <p:sp>
        <p:nvSpPr>
          <p:cNvPr id="65538" name="Rectangle 2">
            <a:extLst>
              <a:ext uri="{FF2B5EF4-FFF2-40B4-BE49-F238E27FC236}">
                <a16:creationId xmlns:a16="http://schemas.microsoft.com/office/drawing/2014/main" id="{FE62645E-5FC4-8045-F5EF-3598C1E14AB4}"/>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DBF3FA4-5737-A612-EEFD-20955D1B56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691B8117-93E6-F1F2-A600-2904E886E7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94D416E3-6583-914A-A4D5-D2D3ECD6926C}" type="slidenum">
              <a:rPr lang="en-US" altLang="en-US" smtClean="0"/>
              <a:pPr>
                <a:spcBef>
                  <a:spcPct val="0"/>
                </a:spcBef>
              </a:pPr>
              <a:t>38</a:t>
            </a:fld>
            <a:endParaRPr lang="en-US" altLang="en-US"/>
          </a:p>
        </p:txBody>
      </p:sp>
      <p:sp>
        <p:nvSpPr>
          <p:cNvPr id="67586" name="Rectangle 2">
            <a:extLst>
              <a:ext uri="{FF2B5EF4-FFF2-40B4-BE49-F238E27FC236}">
                <a16:creationId xmlns:a16="http://schemas.microsoft.com/office/drawing/2014/main" id="{5DF52490-D274-705B-266F-7B80EA452A8A}"/>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9E119D08-A8A9-07AC-8689-1608FD47D4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95EEAF1B-2910-A4BC-3FC9-9349E62CFB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36690F8-F38C-3144-9119-EB63D1A6E0E8}" type="slidenum">
              <a:rPr lang="en-US" altLang="en-US" smtClean="0"/>
              <a:pPr>
                <a:spcBef>
                  <a:spcPct val="0"/>
                </a:spcBef>
              </a:pPr>
              <a:t>40</a:t>
            </a:fld>
            <a:endParaRPr lang="en-US" altLang="en-US"/>
          </a:p>
        </p:txBody>
      </p:sp>
      <p:sp>
        <p:nvSpPr>
          <p:cNvPr id="72706" name="Rectangle 2">
            <a:extLst>
              <a:ext uri="{FF2B5EF4-FFF2-40B4-BE49-F238E27FC236}">
                <a16:creationId xmlns:a16="http://schemas.microsoft.com/office/drawing/2014/main" id="{72FF3D18-7A80-FBDF-BC47-0114C8A9C697}"/>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29AD4370-07E2-DBEA-6375-36A3BDD8CB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FA88DB4A-4392-1AC7-089C-AA8B105FCC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46</a:t>
            </a:fld>
            <a:endParaRPr lang="en-US" altLang="en-US"/>
          </a:p>
        </p:txBody>
      </p:sp>
      <p:sp>
        <p:nvSpPr>
          <p:cNvPr id="79874" name="Rectangle 2">
            <a:extLst>
              <a:ext uri="{FF2B5EF4-FFF2-40B4-BE49-F238E27FC236}">
                <a16:creationId xmlns:a16="http://schemas.microsoft.com/office/drawing/2014/main" id="{0828FBAD-32AC-6C8D-1F9A-CF9E5306072C}"/>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B91068F1-F112-BD56-6B89-8131B37ED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E139E-B7EA-5FC5-7F04-DBD190688FE9}"/>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F17A19DC-18D0-DB65-93F8-62C3A58F64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47</a:t>
            </a:fld>
            <a:endParaRPr lang="en-US" altLang="en-US"/>
          </a:p>
        </p:txBody>
      </p:sp>
      <p:sp>
        <p:nvSpPr>
          <p:cNvPr id="79874" name="Rectangle 2">
            <a:extLst>
              <a:ext uri="{FF2B5EF4-FFF2-40B4-BE49-F238E27FC236}">
                <a16:creationId xmlns:a16="http://schemas.microsoft.com/office/drawing/2014/main" id="{726BBFDD-892A-67DD-4BFD-277137C93F66}"/>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EB6C146E-F198-6DE2-CBE7-0DC35EB03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2863294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7DAA6-B73E-B971-B15C-C1F265EC35F0}"/>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8177826B-2953-CAB1-E1C7-AF51C42C0A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48</a:t>
            </a:fld>
            <a:endParaRPr lang="en-US" altLang="en-US"/>
          </a:p>
        </p:txBody>
      </p:sp>
      <p:sp>
        <p:nvSpPr>
          <p:cNvPr id="79874" name="Rectangle 2">
            <a:extLst>
              <a:ext uri="{FF2B5EF4-FFF2-40B4-BE49-F238E27FC236}">
                <a16:creationId xmlns:a16="http://schemas.microsoft.com/office/drawing/2014/main" id="{58E81724-C199-82DB-92F1-77E2C5841FF1}"/>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67F031F-F120-9099-84C9-6E3F0DD30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15811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BF8AF-75C5-8112-BB56-33A9BD4ECD88}"/>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82A3619D-40D1-FAC9-0213-7C522632DB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49</a:t>
            </a:fld>
            <a:endParaRPr lang="en-US" altLang="en-US"/>
          </a:p>
        </p:txBody>
      </p:sp>
      <p:sp>
        <p:nvSpPr>
          <p:cNvPr id="79874" name="Rectangle 2">
            <a:extLst>
              <a:ext uri="{FF2B5EF4-FFF2-40B4-BE49-F238E27FC236}">
                <a16:creationId xmlns:a16="http://schemas.microsoft.com/office/drawing/2014/main" id="{D50AD9A9-EAE8-51C1-DC49-D964A96C73A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40E4978C-B1EA-7B62-57B5-11525CC9A5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143801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0C710-A47E-78AB-6AD7-450E9C53C97A}"/>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D482A5AB-5929-E27A-5DF4-9CB8B90320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50</a:t>
            </a:fld>
            <a:endParaRPr lang="en-US" altLang="en-US"/>
          </a:p>
        </p:txBody>
      </p:sp>
      <p:sp>
        <p:nvSpPr>
          <p:cNvPr id="79874" name="Rectangle 2">
            <a:extLst>
              <a:ext uri="{FF2B5EF4-FFF2-40B4-BE49-F238E27FC236}">
                <a16:creationId xmlns:a16="http://schemas.microsoft.com/office/drawing/2014/main" id="{526A3BDC-5765-9C28-CB1E-84AC7216C253}"/>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470D1BFB-EA92-C298-D055-B09B286477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528681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97DD-5452-0056-AEDF-918FBAB1BB59}"/>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9B092FE5-18C8-204F-B94B-A2ADCB1921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51</a:t>
            </a:fld>
            <a:endParaRPr lang="en-US" altLang="en-US"/>
          </a:p>
        </p:txBody>
      </p:sp>
      <p:sp>
        <p:nvSpPr>
          <p:cNvPr id="79874" name="Rectangle 2">
            <a:extLst>
              <a:ext uri="{FF2B5EF4-FFF2-40B4-BE49-F238E27FC236}">
                <a16:creationId xmlns:a16="http://schemas.microsoft.com/office/drawing/2014/main" id="{473E4684-FBF6-995B-2A38-B60D475186E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ED1CF493-6763-9679-C58C-99D8DD0D0A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666106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5656C-FCB1-9EB7-04C9-4513A70847D2}"/>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B7A2092A-792D-AE78-3515-3CB6B99899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52</a:t>
            </a:fld>
            <a:endParaRPr lang="en-US" altLang="en-US"/>
          </a:p>
        </p:txBody>
      </p:sp>
      <p:sp>
        <p:nvSpPr>
          <p:cNvPr id="79874" name="Rectangle 2">
            <a:extLst>
              <a:ext uri="{FF2B5EF4-FFF2-40B4-BE49-F238E27FC236}">
                <a16:creationId xmlns:a16="http://schemas.microsoft.com/office/drawing/2014/main" id="{23D77F7F-2E29-24F4-04C6-DF304C24E771}"/>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3BE4FD56-A4BA-66E5-685A-C646A147A3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772999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1DFAC-0B14-22D1-34A6-9068F26D6C98}"/>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ABF12C6C-93AC-C332-6122-164C93F7BC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53</a:t>
            </a:fld>
            <a:endParaRPr lang="en-US" altLang="en-US"/>
          </a:p>
        </p:txBody>
      </p:sp>
      <p:sp>
        <p:nvSpPr>
          <p:cNvPr id="79874" name="Rectangle 2">
            <a:extLst>
              <a:ext uri="{FF2B5EF4-FFF2-40B4-BE49-F238E27FC236}">
                <a16:creationId xmlns:a16="http://schemas.microsoft.com/office/drawing/2014/main" id="{8031F7EC-BA22-0B5E-48BC-DBFBD5343975}"/>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8125678E-23BC-64D9-C253-280DB2132E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498665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AC5DD-EE3B-0D8A-4F49-87E7FD67D5E1}"/>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ABE67BA6-8396-9EBD-9882-2677063AC9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54</a:t>
            </a:fld>
            <a:endParaRPr lang="en-US" altLang="en-US"/>
          </a:p>
        </p:txBody>
      </p:sp>
      <p:sp>
        <p:nvSpPr>
          <p:cNvPr id="79874" name="Rectangle 2">
            <a:extLst>
              <a:ext uri="{FF2B5EF4-FFF2-40B4-BE49-F238E27FC236}">
                <a16:creationId xmlns:a16="http://schemas.microsoft.com/office/drawing/2014/main" id="{9A717912-2AFF-33F0-5D4B-28119F0BE706}"/>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C69AA82B-3BFB-5521-A49C-9D9B03E4D2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335368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1C742-8D4A-80A2-5CBB-4C4C9BF97FC9}"/>
            </a:ext>
          </a:extLst>
        </p:cNvPr>
        <p:cNvGrpSpPr/>
        <p:nvPr/>
      </p:nvGrpSpPr>
      <p:grpSpPr>
        <a:xfrm>
          <a:off x="0" y="0"/>
          <a:ext cx="0" cy="0"/>
          <a:chOff x="0" y="0"/>
          <a:chExt cx="0" cy="0"/>
        </a:xfrm>
      </p:grpSpPr>
      <p:sp>
        <p:nvSpPr>
          <p:cNvPr id="79873" name="Rectangle 7">
            <a:extLst>
              <a:ext uri="{FF2B5EF4-FFF2-40B4-BE49-F238E27FC236}">
                <a16:creationId xmlns:a16="http://schemas.microsoft.com/office/drawing/2014/main" id="{03D804E5-59D1-484F-7825-030F8F4A84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4AA5EAF-6E4E-804A-A638-62DED33DCBE5}" type="slidenum">
              <a:rPr lang="en-US" altLang="en-US" smtClean="0"/>
              <a:pPr>
                <a:spcBef>
                  <a:spcPct val="0"/>
                </a:spcBef>
              </a:pPr>
              <a:t>55</a:t>
            </a:fld>
            <a:endParaRPr lang="en-US" altLang="en-US"/>
          </a:p>
        </p:txBody>
      </p:sp>
      <p:sp>
        <p:nvSpPr>
          <p:cNvPr id="79874" name="Rectangle 2">
            <a:extLst>
              <a:ext uri="{FF2B5EF4-FFF2-40B4-BE49-F238E27FC236}">
                <a16:creationId xmlns:a16="http://schemas.microsoft.com/office/drawing/2014/main" id="{BD6983A6-D4C4-A114-92D2-80DE299BCFF6}"/>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12E39821-E426-2818-478D-B258B90B2B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0770283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C07DB7E6-6630-2360-C9EF-FACAD805F8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CCCC779-2157-5843-A08A-B8D8167E7CA4}" type="slidenum">
              <a:rPr lang="en-US" altLang="en-US" smtClean="0"/>
              <a:pPr>
                <a:spcBef>
                  <a:spcPct val="0"/>
                </a:spcBef>
              </a:pPr>
              <a:t>58</a:t>
            </a:fld>
            <a:endParaRPr lang="en-US" altLang="en-US"/>
          </a:p>
        </p:txBody>
      </p:sp>
      <p:sp>
        <p:nvSpPr>
          <p:cNvPr id="82946" name="Rectangle 2">
            <a:extLst>
              <a:ext uri="{FF2B5EF4-FFF2-40B4-BE49-F238E27FC236}">
                <a16:creationId xmlns:a16="http://schemas.microsoft.com/office/drawing/2014/main" id="{36596818-A216-C3BB-A7C3-8B24D4FE0F8D}"/>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7AA5081D-2E0E-AA1C-AEB0-59FB46FEB4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4B7A23C3-F6B3-0C3A-A97F-09B80ACA2E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1E25B8D-2536-2743-B45D-0E3C8F0A99C0}" type="slidenum">
              <a:rPr lang="en-US" altLang="en-US" smtClean="0"/>
              <a:pPr>
                <a:spcBef>
                  <a:spcPct val="0"/>
                </a:spcBef>
              </a:pPr>
              <a:t>60</a:t>
            </a:fld>
            <a:endParaRPr lang="en-US" altLang="en-US"/>
          </a:p>
        </p:txBody>
      </p:sp>
      <p:sp>
        <p:nvSpPr>
          <p:cNvPr id="86018" name="Rectangle 2">
            <a:extLst>
              <a:ext uri="{FF2B5EF4-FFF2-40B4-BE49-F238E27FC236}">
                <a16:creationId xmlns:a16="http://schemas.microsoft.com/office/drawing/2014/main" id="{8A6FC950-9E45-1B00-1166-59ADF22DE312}"/>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F56C0DE5-7F8B-4C7D-63F7-6B24747981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1451D6C7-4D24-3C7D-7EFC-A2798D6D42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CE608F0-0EDD-1D4B-95C9-72F5C287281B}" type="slidenum">
              <a:rPr lang="en-US" altLang="en-US" smtClean="0"/>
              <a:pPr>
                <a:spcBef>
                  <a:spcPct val="0"/>
                </a:spcBef>
              </a:pPr>
              <a:t>61</a:t>
            </a:fld>
            <a:endParaRPr lang="en-US" altLang="en-US"/>
          </a:p>
        </p:txBody>
      </p:sp>
      <p:sp>
        <p:nvSpPr>
          <p:cNvPr id="88066" name="Rectangle 2">
            <a:extLst>
              <a:ext uri="{FF2B5EF4-FFF2-40B4-BE49-F238E27FC236}">
                <a16:creationId xmlns:a16="http://schemas.microsoft.com/office/drawing/2014/main" id="{348C640F-9A34-F81B-B873-38DE7290A91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BF2E96A9-FECE-2043-5F2E-250E5934FE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D5B41D4F-15EF-E106-7A83-998A09D20C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4B4EC98-9367-4A40-974D-FF2552D24431}" type="slidenum">
              <a:rPr lang="en-US" altLang="en-US" smtClean="0"/>
              <a:pPr>
                <a:spcBef>
                  <a:spcPct val="0"/>
                </a:spcBef>
              </a:pPr>
              <a:t>62</a:t>
            </a:fld>
            <a:endParaRPr lang="en-US" altLang="en-US"/>
          </a:p>
        </p:txBody>
      </p:sp>
      <p:sp>
        <p:nvSpPr>
          <p:cNvPr id="90114" name="Rectangle 2">
            <a:extLst>
              <a:ext uri="{FF2B5EF4-FFF2-40B4-BE49-F238E27FC236}">
                <a16:creationId xmlns:a16="http://schemas.microsoft.com/office/drawing/2014/main" id="{8F33D23E-2991-D01C-9EB8-08DD5F3FF5E1}"/>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1D9931BF-C4FF-5D81-7704-8EBD5B3F27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a:extLst>
              <a:ext uri="{FF2B5EF4-FFF2-40B4-BE49-F238E27FC236}">
                <a16:creationId xmlns:a16="http://schemas.microsoft.com/office/drawing/2014/main" id="{421E49BB-67E2-D214-F007-A9B63496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63</a:t>
            </a:fld>
            <a:endParaRPr lang="en-US" altLang="en-US"/>
          </a:p>
        </p:txBody>
      </p:sp>
      <p:sp>
        <p:nvSpPr>
          <p:cNvPr id="92162" name="Rectangle 2">
            <a:extLst>
              <a:ext uri="{FF2B5EF4-FFF2-40B4-BE49-F238E27FC236}">
                <a16:creationId xmlns:a16="http://schemas.microsoft.com/office/drawing/2014/main" id="{0C0BCB4C-5BE2-AC8D-66E0-CD5DCA8BDBA2}"/>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C380AA93-8F94-6B54-7124-CAE3A8F77B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283D-3FFA-779E-0716-0B746FDD0691}"/>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17A1B386-46AE-655E-79B2-5AB20E957D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64</a:t>
            </a:fld>
            <a:endParaRPr lang="en-US" altLang="en-US"/>
          </a:p>
        </p:txBody>
      </p:sp>
      <p:sp>
        <p:nvSpPr>
          <p:cNvPr id="92162" name="Rectangle 2">
            <a:extLst>
              <a:ext uri="{FF2B5EF4-FFF2-40B4-BE49-F238E27FC236}">
                <a16:creationId xmlns:a16="http://schemas.microsoft.com/office/drawing/2014/main" id="{3DFD6E33-F3C4-B7D7-6814-09C2A8BEB6F9}"/>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8B9F8E83-CAD4-20A1-26CA-2E8198D50E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4918211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D5788-8679-5B58-C8BF-C3E653F532C0}"/>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D8804469-C307-5472-CF7E-D790F8A02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65</a:t>
            </a:fld>
            <a:endParaRPr lang="en-US" altLang="en-US"/>
          </a:p>
        </p:txBody>
      </p:sp>
      <p:sp>
        <p:nvSpPr>
          <p:cNvPr id="92162" name="Rectangle 2">
            <a:extLst>
              <a:ext uri="{FF2B5EF4-FFF2-40B4-BE49-F238E27FC236}">
                <a16:creationId xmlns:a16="http://schemas.microsoft.com/office/drawing/2014/main" id="{08FD3C3E-0004-915C-EA6E-FCF2214D1FFA}"/>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E3116DA7-FAB7-202A-3E44-C66335C9A1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819256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BD808-A7F7-D16A-3BAD-19AE17C8A1EC}"/>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8F7C18B7-B57B-E82E-D4E9-1C8F5F8705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66</a:t>
            </a:fld>
            <a:endParaRPr lang="en-US" altLang="en-US"/>
          </a:p>
        </p:txBody>
      </p:sp>
      <p:sp>
        <p:nvSpPr>
          <p:cNvPr id="92162" name="Rectangle 2">
            <a:extLst>
              <a:ext uri="{FF2B5EF4-FFF2-40B4-BE49-F238E27FC236}">
                <a16:creationId xmlns:a16="http://schemas.microsoft.com/office/drawing/2014/main" id="{18901883-D965-809A-07E2-1C50AFE56B62}"/>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2F3E764-4632-83BC-7C6B-B819521C9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4874428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3C6EC-B780-1B6F-287F-5E078B5325D6}"/>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DB3B2A17-49A2-F589-A7DF-E2E732AA93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67</a:t>
            </a:fld>
            <a:endParaRPr lang="en-US" altLang="en-US"/>
          </a:p>
        </p:txBody>
      </p:sp>
      <p:sp>
        <p:nvSpPr>
          <p:cNvPr id="92162" name="Rectangle 2">
            <a:extLst>
              <a:ext uri="{FF2B5EF4-FFF2-40B4-BE49-F238E27FC236}">
                <a16:creationId xmlns:a16="http://schemas.microsoft.com/office/drawing/2014/main" id="{A02C41F5-F0F0-0401-FAAC-C2D633E655F0}"/>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9F50F9DA-A9CB-115C-CAC2-02765FED3D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837830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203B8-E7A1-FEA6-98A0-B79EF0DE8035}"/>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8E0E2059-ED72-B85F-DFDA-A989CE8ED3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68</a:t>
            </a:fld>
            <a:endParaRPr lang="en-US" altLang="en-US"/>
          </a:p>
        </p:txBody>
      </p:sp>
      <p:sp>
        <p:nvSpPr>
          <p:cNvPr id="92162" name="Rectangle 2">
            <a:extLst>
              <a:ext uri="{FF2B5EF4-FFF2-40B4-BE49-F238E27FC236}">
                <a16:creationId xmlns:a16="http://schemas.microsoft.com/office/drawing/2014/main" id="{40072939-9003-86F1-1643-6B491DEFAAEF}"/>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2F52AC5C-C083-80B1-E535-0B66BB1EA4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013627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4C0B2-79CB-16E6-79CE-55947D3E305A}"/>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8DB07800-6AFF-52A3-2EC2-C0255A1CF4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69</a:t>
            </a:fld>
            <a:endParaRPr lang="en-US" altLang="en-US"/>
          </a:p>
        </p:txBody>
      </p:sp>
      <p:sp>
        <p:nvSpPr>
          <p:cNvPr id="92162" name="Rectangle 2">
            <a:extLst>
              <a:ext uri="{FF2B5EF4-FFF2-40B4-BE49-F238E27FC236}">
                <a16:creationId xmlns:a16="http://schemas.microsoft.com/office/drawing/2014/main" id="{FE00B83C-FED0-C6F8-D043-1B4557E3617C}"/>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D28BF686-0799-C155-2E6B-3E12B5BE4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874202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E759-B1E8-89AF-11F2-B6ADBCFD7159}"/>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A659B5A3-DD77-8687-8BB8-3DA916ECB8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70</a:t>
            </a:fld>
            <a:endParaRPr lang="en-US" altLang="en-US"/>
          </a:p>
        </p:txBody>
      </p:sp>
      <p:sp>
        <p:nvSpPr>
          <p:cNvPr id="92162" name="Rectangle 2">
            <a:extLst>
              <a:ext uri="{FF2B5EF4-FFF2-40B4-BE49-F238E27FC236}">
                <a16:creationId xmlns:a16="http://schemas.microsoft.com/office/drawing/2014/main" id="{D2BF8EB3-57C2-3275-3BF8-D9A01C1D6239}"/>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C4D751C-3F9B-BAAF-5F87-ABC19A1491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1950122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112C-23EB-2DB0-57AA-E95AC6FF7575}"/>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FDCFB259-659A-262C-6DF7-C1E8A78F33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71</a:t>
            </a:fld>
            <a:endParaRPr lang="en-US" altLang="en-US"/>
          </a:p>
        </p:txBody>
      </p:sp>
      <p:sp>
        <p:nvSpPr>
          <p:cNvPr id="92162" name="Rectangle 2">
            <a:extLst>
              <a:ext uri="{FF2B5EF4-FFF2-40B4-BE49-F238E27FC236}">
                <a16:creationId xmlns:a16="http://schemas.microsoft.com/office/drawing/2014/main" id="{459A5237-462F-6B39-ACC0-1A94C637AFF7}"/>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30AD7E6B-0C64-A76F-66B3-E44CE164C9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050122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4B247-1A1F-4ACA-EB8E-6B0C13A1FBA9}"/>
            </a:ext>
          </a:extLst>
        </p:cNvPr>
        <p:cNvGrpSpPr/>
        <p:nvPr/>
      </p:nvGrpSpPr>
      <p:grpSpPr>
        <a:xfrm>
          <a:off x="0" y="0"/>
          <a:ext cx="0" cy="0"/>
          <a:chOff x="0" y="0"/>
          <a:chExt cx="0" cy="0"/>
        </a:xfrm>
      </p:grpSpPr>
      <p:sp>
        <p:nvSpPr>
          <p:cNvPr id="92161" name="Rectangle 7">
            <a:extLst>
              <a:ext uri="{FF2B5EF4-FFF2-40B4-BE49-F238E27FC236}">
                <a16:creationId xmlns:a16="http://schemas.microsoft.com/office/drawing/2014/main" id="{32A5977A-44F6-CF13-5A96-8051327621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6810786D-7BD6-5C47-9429-598997FC35E4}" type="slidenum">
              <a:rPr lang="en-US" altLang="en-US" smtClean="0"/>
              <a:pPr>
                <a:spcBef>
                  <a:spcPct val="0"/>
                </a:spcBef>
              </a:pPr>
              <a:t>72</a:t>
            </a:fld>
            <a:endParaRPr lang="en-US" altLang="en-US"/>
          </a:p>
        </p:txBody>
      </p:sp>
      <p:sp>
        <p:nvSpPr>
          <p:cNvPr id="92162" name="Rectangle 2">
            <a:extLst>
              <a:ext uri="{FF2B5EF4-FFF2-40B4-BE49-F238E27FC236}">
                <a16:creationId xmlns:a16="http://schemas.microsoft.com/office/drawing/2014/main" id="{0E39FA7E-0813-0366-649C-995EDC78CB8B}"/>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9946C974-C956-E30A-A83B-827C74FF9F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569364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1C7-AD3E-3AA7-5F4C-6948B7879455}"/>
            </a:ext>
          </a:extLst>
        </p:cNvPr>
        <p:cNvGrpSpPr/>
        <p:nvPr/>
      </p:nvGrpSpPr>
      <p:grpSpPr>
        <a:xfrm>
          <a:off x="0" y="0"/>
          <a:ext cx="0" cy="0"/>
          <a:chOff x="0" y="0"/>
          <a:chExt cx="0" cy="0"/>
        </a:xfrm>
      </p:grpSpPr>
      <p:sp>
        <p:nvSpPr>
          <p:cNvPr id="82945" name="Rectangle 7">
            <a:extLst>
              <a:ext uri="{FF2B5EF4-FFF2-40B4-BE49-F238E27FC236}">
                <a16:creationId xmlns:a16="http://schemas.microsoft.com/office/drawing/2014/main" id="{6FDC2F3D-7FF3-A943-CB4B-01E11802CF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CCCC779-2157-5843-A08A-B8D8167E7CA4}" type="slidenum">
              <a:rPr lang="en-US" altLang="en-US" smtClean="0"/>
              <a:pPr>
                <a:spcBef>
                  <a:spcPct val="0"/>
                </a:spcBef>
              </a:pPr>
              <a:t>73</a:t>
            </a:fld>
            <a:endParaRPr lang="en-US" altLang="en-US"/>
          </a:p>
        </p:txBody>
      </p:sp>
      <p:sp>
        <p:nvSpPr>
          <p:cNvPr id="82946" name="Rectangle 2">
            <a:extLst>
              <a:ext uri="{FF2B5EF4-FFF2-40B4-BE49-F238E27FC236}">
                <a16:creationId xmlns:a16="http://schemas.microsoft.com/office/drawing/2014/main" id="{1A32B2FB-B787-A3E1-2E22-77C712627E44}"/>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83FAADC2-E307-03B8-4614-1950926106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8784208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a:extLst>
              <a:ext uri="{FF2B5EF4-FFF2-40B4-BE49-F238E27FC236}">
                <a16:creationId xmlns:a16="http://schemas.microsoft.com/office/drawing/2014/main" id="{6148766C-3D31-02A0-B696-1B3407E36A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F208392C-28FB-134C-A9C1-20CE58D9E916}" type="slidenum">
              <a:rPr lang="en-US" altLang="en-US" smtClean="0"/>
              <a:pPr>
                <a:spcBef>
                  <a:spcPct val="0"/>
                </a:spcBef>
              </a:pPr>
              <a:t>75</a:t>
            </a:fld>
            <a:endParaRPr lang="en-US" altLang="en-US"/>
          </a:p>
        </p:txBody>
      </p:sp>
      <p:sp>
        <p:nvSpPr>
          <p:cNvPr id="120834" name="Rectangle 2">
            <a:extLst>
              <a:ext uri="{FF2B5EF4-FFF2-40B4-BE49-F238E27FC236}">
                <a16:creationId xmlns:a16="http://schemas.microsoft.com/office/drawing/2014/main" id="{5A1FC8C9-421E-64BE-DC5B-4F81AC94C966}"/>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DA69A5EB-A6DF-2FF8-AA2E-03C1ABE36D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964252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a:extLst>
              <a:ext uri="{FF2B5EF4-FFF2-40B4-BE49-F238E27FC236}">
                <a16:creationId xmlns:a16="http://schemas.microsoft.com/office/drawing/2014/main" id="{71A8A4A1-200C-B59D-2F25-818036147F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D61116D-D02C-C944-A8BC-0945F20D62A4}" type="slidenum">
              <a:rPr lang="en-US" altLang="en-US" smtClean="0"/>
              <a:pPr>
                <a:spcBef>
                  <a:spcPct val="0"/>
                </a:spcBef>
              </a:pPr>
              <a:t>76</a:t>
            </a:fld>
            <a:endParaRPr lang="en-US" altLang="en-US"/>
          </a:p>
        </p:txBody>
      </p:sp>
      <p:sp>
        <p:nvSpPr>
          <p:cNvPr id="118786" name="Rectangle 2">
            <a:extLst>
              <a:ext uri="{FF2B5EF4-FFF2-40B4-BE49-F238E27FC236}">
                <a16:creationId xmlns:a16="http://schemas.microsoft.com/office/drawing/2014/main" id="{F2810E47-CFC6-CDD4-C58E-D3D8ADEDFEED}"/>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4508335A-DF0A-D153-9B96-C285096CED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762319B-03EF-91A5-8B4D-16AA6A4F7588}"/>
              </a:ext>
            </a:extLst>
          </p:cNvPr>
          <p:cNvGrpSpPr>
            <a:grpSpLocks/>
          </p:cNvGrpSpPr>
          <p:nvPr/>
        </p:nvGrpSpPr>
        <p:grpSpPr bwMode="auto">
          <a:xfrm>
            <a:off x="0" y="3902075"/>
            <a:ext cx="3400425" cy="2949575"/>
            <a:chOff x="0" y="2458"/>
            <a:chExt cx="2142" cy="1858"/>
          </a:xfrm>
        </p:grpSpPr>
        <p:sp>
          <p:nvSpPr>
            <p:cNvPr id="3" name="Freeform 3">
              <a:extLst>
                <a:ext uri="{FF2B5EF4-FFF2-40B4-BE49-F238E27FC236}">
                  <a16:creationId xmlns:a16="http://schemas.microsoft.com/office/drawing/2014/main" id="{C9803E35-172F-1331-D378-F9951A9D4B72}"/>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4" name="Freeform 4">
              <a:extLst>
                <a:ext uri="{FF2B5EF4-FFF2-40B4-BE49-F238E27FC236}">
                  <a16:creationId xmlns:a16="http://schemas.microsoft.com/office/drawing/2014/main" id="{6A4DEF96-4C9B-31FD-3173-CF7BFAD5625F}"/>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5" name="Freeform 5">
              <a:extLst>
                <a:ext uri="{FF2B5EF4-FFF2-40B4-BE49-F238E27FC236}">
                  <a16:creationId xmlns:a16="http://schemas.microsoft.com/office/drawing/2014/main" id="{B3A64037-CB0D-B1C1-5D5B-919A3A718ACB}"/>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6" name="Freeform 6">
              <a:extLst>
                <a:ext uri="{FF2B5EF4-FFF2-40B4-BE49-F238E27FC236}">
                  <a16:creationId xmlns:a16="http://schemas.microsoft.com/office/drawing/2014/main" id="{261821F9-EB1C-0075-4A15-2AC7EF1FA96D}"/>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7" name="Oval 7">
              <a:extLst>
                <a:ext uri="{FF2B5EF4-FFF2-40B4-BE49-F238E27FC236}">
                  <a16:creationId xmlns:a16="http://schemas.microsoft.com/office/drawing/2014/main" id="{6DE52AD7-DE21-00A9-45C6-0739E78BFCEF}"/>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8" name="Oval 8">
              <a:extLst>
                <a:ext uri="{FF2B5EF4-FFF2-40B4-BE49-F238E27FC236}">
                  <a16:creationId xmlns:a16="http://schemas.microsoft.com/office/drawing/2014/main" id="{D9981A75-348D-0BDD-9FEB-70DEF75B6897}"/>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9" name="Oval 9">
              <a:extLst>
                <a:ext uri="{FF2B5EF4-FFF2-40B4-BE49-F238E27FC236}">
                  <a16:creationId xmlns:a16="http://schemas.microsoft.com/office/drawing/2014/main" id="{2256657B-C6E3-634E-6334-DEDB2EDDAEA9}"/>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8954"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338955"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0" name="Rectangle 12">
            <a:extLst>
              <a:ext uri="{FF2B5EF4-FFF2-40B4-BE49-F238E27FC236}">
                <a16:creationId xmlns:a16="http://schemas.microsoft.com/office/drawing/2014/main" id="{49514AEC-CF68-261B-7412-472DC65523B3}"/>
              </a:ext>
            </a:extLst>
          </p:cNvPr>
          <p:cNvSpPr>
            <a:spLocks noGrp="1" noChangeArrowheads="1"/>
          </p:cNvSpPr>
          <p:nvPr>
            <p:ph type="dt" sz="quarter" idx="10"/>
          </p:nvPr>
        </p:nvSpPr>
        <p:spPr/>
        <p:txBody>
          <a:bodyPr/>
          <a:lstStyle>
            <a:lvl1pPr>
              <a:defRPr dirty="0"/>
            </a:lvl1pPr>
          </a:lstStyle>
          <a:p>
            <a:pPr>
              <a:defRPr/>
            </a:pPr>
            <a:endParaRPr lang="en-US" altLang="en-US"/>
          </a:p>
        </p:txBody>
      </p:sp>
      <p:sp>
        <p:nvSpPr>
          <p:cNvPr id="11" name="Rectangle 13">
            <a:extLst>
              <a:ext uri="{FF2B5EF4-FFF2-40B4-BE49-F238E27FC236}">
                <a16:creationId xmlns:a16="http://schemas.microsoft.com/office/drawing/2014/main" id="{BEEE0E29-B574-8F1B-DC9F-5FB3F00E9AC1}"/>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12" name="Rectangle 14">
            <a:extLst>
              <a:ext uri="{FF2B5EF4-FFF2-40B4-BE49-F238E27FC236}">
                <a16:creationId xmlns:a16="http://schemas.microsoft.com/office/drawing/2014/main" id="{D1D7E42B-2197-76F9-455F-A6CB5F37260C}"/>
              </a:ext>
            </a:extLst>
          </p:cNvPr>
          <p:cNvSpPr>
            <a:spLocks noGrp="1" noChangeArrowheads="1"/>
          </p:cNvSpPr>
          <p:nvPr>
            <p:ph type="sldNum" sz="quarter" idx="12"/>
          </p:nvPr>
        </p:nvSpPr>
        <p:spPr/>
        <p:txBody>
          <a:bodyPr/>
          <a:lstStyle>
            <a:lvl1pPr>
              <a:defRPr/>
            </a:lvl1pPr>
          </a:lstStyle>
          <a:p>
            <a:pPr>
              <a:defRPr/>
            </a:pPr>
            <a:fld id="{C26924CD-0442-5F44-9178-D239678BDE21}" type="slidenum">
              <a:rPr lang="en-US" altLang="en-US"/>
              <a:pPr>
                <a:defRPr/>
              </a:pPr>
              <a:t>‹#›</a:t>
            </a:fld>
            <a:endParaRPr lang="en-US" altLang="en-US" dirty="0"/>
          </a:p>
        </p:txBody>
      </p:sp>
    </p:spTree>
    <p:extLst>
      <p:ext uri="{BB962C8B-B14F-4D97-AF65-F5344CB8AC3E}">
        <p14:creationId xmlns:p14="http://schemas.microsoft.com/office/powerpoint/2010/main" val="4027051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77D0046E-5580-8648-7968-814620648494}"/>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5" name="Rectangle 13">
            <a:extLst>
              <a:ext uri="{FF2B5EF4-FFF2-40B4-BE49-F238E27FC236}">
                <a16:creationId xmlns:a16="http://schemas.microsoft.com/office/drawing/2014/main" id="{92C1E68C-08E6-87CC-F88C-CF3DFD8336CB}"/>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14">
            <a:extLst>
              <a:ext uri="{FF2B5EF4-FFF2-40B4-BE49-F238E27FC236}">
                <a16:creationId xmlns:a16="http://schemas.microsoft.com/office/drawing/2014/main" id="{2485E107-A4E0-4256-F324-50422F26C22E}"/>
              </a:ext>
            </a:extLst>
          </p:cNvPr>
          <p:cNvSpPr>
            <a:spLocks noGrp="1" noChangeArrowheads="1"/>
          </p:cNvSpPr>
          <p:nvPr>
            <p:ph type="sldNum" sz="quarter" idx="12"/>
          </p:nvPr>
        </p:nvSpPr>
        <p:spPr/>
        <p:txBody>
          <a:bodyPr/>
          <a:lstStyle>
            <a:lvl1pPr>
              <a:defRPr/>
            </a:lvl1pPr>
          </a:lstStyle>
          <a:p>
            <a:pPr>
              <a:defRPr/>
            </a:pPr>
            <a:fld id="{2D6357C3-667B-0A42-84A3-0BA190A4224A}" type="slidenum">
              <a:rPr lang="en-US" altLang="en-US"/>
              <a:pPr>
                <a:defRPr/>
              </a:pPr>
              <a:t>‹#›</a:t>
            </a:fld>
            <a:endParaRPr lang="en-US" altLang="en-US" dirty="0"/>
          </a:p>
        </p:txBody>
      </p:sp>
    </p:spTree>
    <p:extLst>
      <p:ext uri="{BB962C8B-B14F-4D97-AF65-F5344CB8AC3E}">
        <p14:creationId xmlns:p14="http://schemas.microsoft.com/office/powerpoint/2010/main" val="297080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62260D85-E893-6F03-1300-B22444CB278C}"/>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5" name="Rectangle 13">
            <a:extLst>
              <a:ext uri="{FF2B5EF4-FFF2-40B4-BE49-F238E27FC236}">
                <a16:creationId xmlns:a16="http://schemas.microsoft.com/office/drawing/2014/main" id="{E8D5F0EF-7642-E9CD-0940-EC6F71F9A324}"/>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14">
            <a:extLst>
              <a:ext uri="{FF2B5EF4-FFF2-40B4-BE49-F238E27FC236}">
                <a16:creationId xmlns:a16="http://schemas.microsoft.com/office/drawing/2014/main" id="{8C012613-F62F-8C8F-57A9-4DC5E5DE412E}"/>
              </a:ext>
            </a:extLst>
          </p:cNvPr>
          <p:cNvSpPr>
            <a:spLocks noGrp="1" noChangeArrowheads="1"/>
          </p:cNvSpPr>
          <p:nvPr>
            <p:ph type="sldNum" sz="quarter" idx="12"/>
          </p:nvPr>
        </p:nvSpPr>
        <p:spPr/>
        <p:txBody>
          <a:bodyPr/>
          <a:lstStyle>
            <a:lvl1pPr>
              <a:defRPr/>
            </a:lvl1pPr>
          </a:lstStyle>
          <a:p>
            <a:pPr>
              <a:defRPr/>
            </a:pPr>
            <a:fld id="{63F1493D-26C1-1C46-B01F-927FA56E52D4}" type="slidenum">
              <a:rPr lang="en-US" altLang="en-US"/>
              <a:pPr>
                <a:defRPr/>
              </a:pPr>
              <a:t>‹#›</a:t>
            </a:fld>
            <a:endParaRPr lang="en-US" altLang="en-US" dirty="0"/>
          </a:p>
        </p:txBody>
      </p:sp>
    </p:spTree>
    <p:extLst>
      <p:ext uri="{BB962C8B-B14F-4D97-AF65-F5344CB8AC3E}">
        <p14:creationId xmlns:p14="http://schemas.microsoft.com/office/powerpoint/2010/main" val="261516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23D155F4-7886-32CB-231B-10152C9F7D46}"/>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6" name="Rectangle 13">
            <a:extLst>
              <a:ext uri="{FF2B5EF4-FFF2-40B4-BE49-F238E27FC236}">
                <a16:creationId xmlns:a16="http://schemas.microsoft.com/office/drawing/2014/main" id="{FF48F341-0EF7-11A3-CA1F-11ADFA387B20}"/>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7" name="Rectangle 14">
            <a:extLst>
              <a:ext uri="{FF2B5EF4-FFF2-40B4-BE49-F238E27FC236}">
                <a16:creationId xmlns:a16="http://schemas.microsoft.com/office/drawing/2014/main" id="{B1B93CC4-04BB-2E95-C07D-C97593E5F2DE}"/>
              </a:ext>
            </a:extLst>
          </p:cNvPr>
          <p:cNvSpPr>
            <a:spLocks noGrp="1" noChangeArrowheads="1"/>
          </p:cNvSpPr>
          <p:nvPr>
            <p:ph type="sldNum" sz="quarter" idx="12"/>
          </p:nvPr>
        </p:nvSpPr>
        <p:spPr/>
        <p:txBody>
          <a:bodyPr/>
          <a:lstStyle>
            <a:lvl1pPr>
              <a:defRPr/>
            </a:lvl1pPr>
          </a:lstStyle>
          <a:p>
            <a:pPr>
              <a:defRPr/>
            </a:pPr>
            <a:fld id="{BFF403DB-7F6A-8845-A13C-4121BD4B203E}" type="slidenum">
              <a:rPr lang="en-US" altLang="en-US"/>
              <a:pPr>
                <a:defRPr/>
              </a:pPr>
              <a:t>‹#›</a:t>
            </a:fld>
            <a:endParaRPr lang="en-US" altLang="en-US" dirty="0"/>
          </a:p>
        </p:txBody>
      </p:sp>
    </p:spTree>
    <p:extLst>
      <p:ext uri="{BB962C8B-B14F-4D97-AF65-F5344CB8AC3E}">
        <p14:creationId xmlns:p14="http://schemas.microsoft.com/office/powerpoint/2010/main" val="602122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AFC7C1FC-4E5A-D6EF-7C54-088C351ACF0F}"/>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8" name="Rectangle 13">
            <a:extLst>
              <a:ext uri="{FF2B5EF4-FFF2-40B4-BE49-F238E27FC236}">
                <a16:creationId xmlns:a16="http://schemas.microsoft.com/office/drawing/2014/main" id="{930B9E02-1929-2FB3-6819-08AFE1823FEB}"/>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9" name="Rectangle 14">
            <a:extLst>
              <a:ext uri="{FF2B5EF4-FFF2-40B4-BE49-F238E27FC236}">
                <a16:creationId xmlns:a16="http://schemas.microsoft.com/office/drawing/2014/main" id="{E2797241-4694-9B44-4D03-A6718296BA72}"/>
              </a:ext>
            </a:extLst>
          </p:cNvPr>
          <p:cNvSpPr>
            <a:spLocks noGrp="1" noChangeArrowheads="1"/>
          </p:cNvSpPr>
          <p:nvPr>
            <p:ph type="sldNum" sz="quarter" idx="12"/>
          </p:nvPr>
        </p:nvSpPr>
        <p:spPr/>
        <p:txBody>
          <a:bodyPr/>
          <a:lstStyle>
            <a:lvl1pPr>
              <a:defRPr/>
            </a:lvl1pPr>
          </a:lstStyle>
          <a:p>
            <a:pPr>
              <a:defRPr/>
            </a:pPr>
            <a:fld id="{8D8A5FFA-8FA6-5047-B2A9-F52A91140771}" type="slidenum">
              <a:rPr lang="en-US" altLang="en-US"/>
              <a:pPr>
                <a:defRPr/>
              </a:pPr>
              <a:t>‹#›</a:t>
            </a:fld>
            <a:endParaRPr lang="en-US" altLang="en-US" dirty="0"/>
          </a:p>
        </p:txBody>
      </p:sp>
    </p:spTree>
    <p:extLst>
      <p:ext uri="{BB962C8B-B14F-4D97-AF65-F5344CB8AC3E}">
        <p14:creationId xmlns:p14="http://schemas.microsoft.com/office/powerpoint/2010/main" val="319864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2AB37C97-DECB-9325-3DAA-E3FE97A427C9}"/>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4" name="Rectangle 13">
            <a:extLst>
              <a:ext uri="{FF2B5EF4-FFF2-40B4-BE49-F238E27FC236}">
                <a16:creationId xmlns:a16="http://schemas.microsoft.com/office/drawing/2014/main" id="{39E92062-843D-67AA-17C3-1D886A9E0EBB}"/>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5" name="Rectangle 14">
            <a:extLst>
              <a:ext uri="{FF2B5EF4-FFF2-40B4-BE49-F238E27FC236}">
                <a16:creationId xmlns:a16="http://schemas.microsoft.com/office/drawing/2014/main" id="{12A0E752-16CE-A312-86A7-B2EF674BEDDC}"/>
              </a:ext>
            </a:extLst>
          </p:cNvPr>
          <p:cNvSpPr>
            <a:spLocks noGrp="1" noChangeArrowheads="1"/>
          </p:cNvSpPr>
          <p:nvPr>
            <p:ph type="sldNum" sz="quarter" idx="12"/>
          </p:nvPr>
        </p:nvSpPr>
        <p:spPr/>
        <p:txBody>
          <a:bodyPr/>
          <a:lstStyle>
            <a:lvl1pPr>
              <a:defRPr/>
            </a:lvl1pPr>
          </a:lstStyle>
          <a:p>
            <a:pPr>
              <a:defRPr/>
            </a:pPr>
            <a:fld id="{1D61FEE2-BDF3-9F4E-96BB-36A6F10D0DC4}" type="slidenum">
              <a:rPr lang="en-US" altLang="en-US"/>
              <a:pPr>
                <a:defRPr/>
              </a:pPr>
              <a:t>‹#›</a:t>
            </a:fld>
            <a:endParaRPr lang="en-US" altLang="en-US" dirty="0"/>
          </a:p>
        </p:txBody>
      </p:sp>
    </p:spTree>
    <p:extLst>
      <p:ext uri="{BB962C8B-B14F-4D97-AF65-F5344CB8AC3E}">
        <p14:creationId xmlns:p14="http://schemas.microsoft.com/office/powerpoint/2010/main" val="1704828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6C4E6BDD-DBA0-6455-B145-20B782671C76}"/>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3" name="Rectangle 13">
            <a:extLst>
              <a:ext uri="{FF2B5EF4-FFF2-40B4-BE49-F238E27FC236}">
                <a16:creationId xmlns:a16="http://schemas.microsoft.com/office/drawing/2014/main" id="{BB104B8A-FDF9-034A-5DE0-8CAC5BDD5008}"/>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4" name="Rectangle 14">
            <a:extLst>
              <a:ext uri="{FF2B5EF4-FFF2-40B4-BE49-F238E27FC236}">
                <a16:creationId xmlns:a16="http://schemas.microsoft.com/office/drawing/2014/main" id="{1F782631-2AAE-7828-9781-BC31EF2F4162}"/>
              </a:ext>
            </a:extLst>
          </p:cNvPr>
          <p:cNvSpPr>
            <a:spLocks noGrp="1" noChangeArrowheads="1"/>
          </p:cNvSpPr>
          <p:nvPr>
            <p:ph type="sldNum" sz="quarter" idx="12"/>
          </p:nvPr>
        </p:nvSpPr>
        <p:spPr/>
        <p:txBody>
          <a:bodyPr/>
          <a:lstStyle>
            <a:lvl1pPr>
              <a:defRPr/>
            </a:lvl1pPr>
          </a:lstStyle>
          <a:p>
            <a:pPr>
              <a:defRPr/>
            </a:pPr>
            <a:fld id="{2A9CF613-4395-1645-ACF8-300D8F40A936}" type="slidenum">
              <a:rPr lang="en-US" altLang="en-US"/>
              <a:pPr>
                <a:defRPr/>
              </a:pPr>
              <a:t>‹#›</a:t>
            </a:fld>
            <a:endParaRPr lang="en-US" altLang="en-US" dirty="0"/>
          </a:p>
        </p:txBody>
      </p:sp>
    </p:spTree>
    <p:extLst>
      <p:ext uri="{BB962C8B-B14F-4D97-AF65-F5344CB8AC3E}">
        <p14:creationId xmlns:p14="http://schemas.microsoft.com/office/powerpoint/2010/main" val="2835697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CE1D1F9F-5B65-8322-CC88-B40364700AD7}"/>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6" name="Rectangle 13">
            <a:extLst>
              <a:ext uri="{FF2B5EF4-FFF2-40B4-BE49-F238E27FC236}">
                <a16:creationId xmlns:a16="http://schemas.microsoft.com/office/drawing/2014/main" id="{BB1A1DA3-BFFD-7F34-D0E3-6CA7B18B2976}"/>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7" name="Rectangle 14">
            <a:extLst>
              <a:ext uri="{FF2B5EF4-FFF2-40B4-BE49-F238E27FC236}">
                <a16:creationId xmlns:a16="http://schemas.microsoft.com/office/drawing/2014/main" id="{8758E918-39AA-AC5B-7201-4EC58ED66A3A}"/>
              </a:ext>
            </a:extLst>
          </p:cNvPr>
          <p:cNvSpPr>
            <a:spLocks noGrp="1" noChangeArrowheads="1"/>
          </p:cNvSpPr>
          <p:nvPr>
            <p:ph type="sldNum" sz="quarter" idx="12"/>
          </p:nvPr>
        </p:nvSpPr>
        <p:spPr/>
        <p:txBody>
          <a:bodyPr/>
          <a:lstStyle>
            <a:lvl1pPr>
              <a:defRPr/>
            </a:lvl1pPr>
          </a:lstStyle>
          <a:p>
            <a:pPr>
              <a:defRPr/>
            </a:pPr>
            <a:fld id="{E7E171E5-A5E7-5E4C-B3DF-B93A06325C29}" type="slidenum">
              <a:rPr lang="en-US" altLang="en-US"/>
              <a:pPr>
                <a:defRPr/>
              </a:pPr>
              <a:t>‹#›</a:t>
            </a:fld>
            <a:endParaRPr lang="en-US" altLang="en-US" dirty="0"/>
          </a:p>
        </p:txBody>
      </p:sp>
    </p:spTree>
    <p:extLst>
      <p:ext uri="{BB962C8B-B14F-4D97-AF65-F5344CB8AC3E}">
        <p14:creationId xmlns:p14="http://schemas.microsoft.com/office/powerpoint/2010/main" val="3270498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E7F51A94-F89A-55BA-A6A2-E622A0D42508}"/>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6" name="Rectangle 13">
            <a:extLst>
              <a:ext uri="{FF2B5EF4-FFF2-40B4-BE49-F238E27FC236}">
                <a16:creationId xmlns:a16="http://schemas.microsoft.com/office/drawing/2014/main" id="{05283DC1-C586-AA39-5562-7121AE17D949}"/>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7" name="Rectangle 14">
            <a:extLst>
              <a:ext uri="{FF2B5EF4-FFF2-40B4-BE49-F238E27FC236}">
                <a16:creationId xmlns:a16="http://schemas.microsoft.com/office/drawing/2014/main" id="{E65D7768-090E-7FC7-A3AD-A4474E6CB466}"/>
              </a:ext>
            </a:extLst>
          </p:cNvPr>
          <p:cNvSpPr>
            <a:spLocks noGrp="1" noChangeArrowheads="1"/>
          </p:cNvSpPr>
          <p:nvPr>
            <p:ph type="sldNum" sz="quarter" idx="12"/>
          </p:nvPr>
        </p:nvSpPr>
        <p:spPr/>
        <p:txBody>
          <a:bodyPr/>
          <a:lstStyle>
            <a:lvl1pPr>
              <a:defRPr/>
            </a:lvl1pPr>
          </a:lstStyle>
          <a:p>
            <a:pPr>
              <a:defRPr/>
            </a:pPr>
            <a:fld id="{15A6684C-13D8-474F-AF11-A0E3F0002948}" type="slidenum">
              <a:rPr lang="en-US" altLang="en-US"/>
              <a:pPr>
                <a:defRPr/>
              </a:pPr>
              <a:t>‹#›</a:t>
            </a:fld>
            <a:endParaRPr lang="en-US" altLang="en-US" dirty="0"/>
          </a:p>
        </p:txBody>
      </p:sp>
    </p:spTree>
    <p:extLst>
      <p:ext uri="{BB962C8B-B14F-4D97-AF65-F5344CB8AC3E}">
        <p14:creationId xmlns:p14="http://schemas.microsoft.com/office/powerpoint/2010/main" val="2938214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FB1F5F68-8313-F648-E751-C040D5A0262A}"/>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5" name="Rectangle 13">
            <a:extLst>
              <a:ext uri="{FF2B5EF4-FFF2-40B4-BE49-F238E27FC236}">
                <a16:creationId xmlns:a16="http://schemas.microsoft.com/office/drawing/2014/main" id="{D66611E7-6716-C956-EB78-3F1E8B994AD0}"/>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14">
            <a:extLst>
              <a:ext uri="{FF2B5EF4-FFF2-40B4-BE49-F238E27FC236}">
                <a16:creationId xmlns:a16="http://schemas.microsoft.com/office/drawing/2014/main" id="{D40E8E7A-FE55-55A7-1ADC-F118432ECF60}"/>
              </a:ext>
            </a:extLst>
          </p:cNvPr>
          <p:cNvSpPr>
            <a:spLocks noGrp="1" noChangeArrowheads="1"/>
          </p:cNvSpPr>
          <p:nvPr>
            <p:ph type="sldNum" sz="quarter" idx="12"/>
          </p:nvPr>
        </p:nvSpPr>
        <p:spPr/>
        <p:txBody>
          <a:bodyPr/>
          <a:lstStyle>
            <a:lvl1pPr>
              <a:defRPr/>
            </a:lvl1pPr>
          </a:lstStyle>
          <a:p>
            <a:pPr>
              <a:defRPr/>
            </a:pPr>
            <a:fld id="{81B6BC3B-7FD2-924A-AA59-ACFB5009E832}" type="slidenum">
              <a:rPr lang="en-US" altLang="en-US"/>
              <a:pPr>
                <a:defRPr/>
              </a:pPr>
              <a:t>‹#›</a:t>
            </a:fld>
            <a:endParaRPr lang="en-US" altLang="en-US" dirty="0"/>
          </a:p>
        </p:txBody>
      </p:sp>
    </p:spTree>
    <p:extLst>
      <p:ext uri="{BB962C8B-B14F-4D97-AF65-F5344CB8AC3E}">
        <p14:creationId xmlns:p14="http://schemas.microsoft.com/office/powerpoint/2010/main" val="2336066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217237A8-2733-A524-E305-472C9FFDF816}"/>
              </a:ext>
            </a:extLst>
          </p:cNvPr>
          <p:cNvSpPr>
            <a:spLocks noGrp="1" noChangeArrowheads="1"/>
          </p:cNvSpPr>
          <p:nvPr>
            <p:ph type="dt" sz="half" idx="10"/>
          </p:nvPr>
        </p:nvSpPr>
        <p:spPr/>
        <p:txBody>
          <a:bodyPr/>
          <a:lstStyle>
            <a:lvl1pPr>
              <a:defRPr dirty="0"/>
            </a:lvl1pPr>
          </a:lstStyle>
          <a:p>
            <a:pPr>
              <a:defRPr/>
            </a:pPr>
            <a:endParaRPr lang="en-US" altLang="en-US"/>
          </a:p>
        </p:txBody>
      </p:sp>
      <p:sp>
        <p:nvSpPr>
          <p:cNvPr id="5" name="Rectangle 13">
            <a:extLst>
              <a:ext uri="{FF2B5EF4-FFF2-40B4-BE49-F238E27FC236}">
                <a16:creationId xmlns:a16="http://schemas.microsoft.com/office/drawing/2014/main" id="{7077049C-5635-1536-7D9F-4D6B159F2F8F}"/>
              </a:ext>
            </a:extLst>
          </p:cNvPr>
          <p:cNvSpPr>
            <a:spLocks noGrp="1" noChangeArrowheads="1"/>
          </p:cNvSpPr>
          <p:nvPr>
            <p:ph type="ftr" sz="quarter" idx="11"/>
          </p:nvPr>
        </p:nvSpPr>
        <p:spPr/>
        <p:txBody>
          <a:bodyPr/>
          <a:lstStyle>
            <a:lvl1pPr>
              <a:defRPr dirty="0"/>
            </a:lvl1pPr>
          </a:lstStyle>
          <a:p>
            <a:pPr>
              <a:defRPr/>
            </a:pPr>
            <a:endParaRPr lang="en-US" altLang="en-US"/>
          </a:p>
        </p:txBody>
      </p:sp>
      <p:sp>
        <p:nvSpPr>
          <p:cNvPr id="6" name="Rectangle 14">
            <a:extLst>
              <a:ext uri="{FF2B5EF4-FFF2-40B4-BE49-F238E27FC236}">
                <a16:creationId xmlns:a16="http://schemas.microsoft.com/office/drawing/2014/main" id="{677E4588-85A5-1E3F-B284-9E733AEA9C36}"/>
              </a:ext>
            </a:extLst>
          </p:cNvPr>
          <p:cNvSpPr>
            <a:spLocks noGrp="1" noChangeArrowheads="1"/>
          </p:cNvSpPr>
          <p:nvPr>
            <p:ph type="sldNum" sz="quarter" idx="12"/>
          </p:nvPr>
        </p:nvSpPr>
        <p:spPr/>
        <p:txBody>
          <a:bodyPr/>
          <a:lstStyle>
            <a:lvl1pPr>
              <a:defRPr/>
            </a:lvl1pPr>
          </a:lstStyle>
          <a:p>
            <a:pPr>
              <a:defRPr/>
            </a:pPr>
            <a:fld id="{CC072DF6-2B85-1B4A-A32C-EA68C89A5476}" type="slidenum">
              <a:rPr lang="en-US" altLang="en-US"/>
              <a:pPr>
                <a:defRPr/>
              </a:pPr>
              <a:t>‹#›</a:t>
            </a:fld>
            <a:endParaRPr lang="en-US" altLang="en-US" dirty="0"/>
          </a:p>
        </p:txBody>
      </p:sp>
    </p:spTree>
    <p:extLst>
      <p:ext uri="{BB962C8B-B14F-4D97-AF65-F5344CB8AC3E}">
        <p14:creationId xmlns:p14="http://schemas.microsoft.com/office/powerpoint/2010/main" val="4153472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5FE6BD8F-34D1-27E0-57F5-EF52FE645504}"/>
              </a:ext>
            </a:extLst>
          </p:cNvPr>
          <p:cNvGrpSpPr>
            <a:grpSpLocks/>
          </p:cNvGrpSpPr>
          <p:nvPr/>
        </p:nvGrpSpPr>
        <p:grpSpPr bwMode="auto">
          <a:xfrm>
            <a:off x="0" y="3902075"/>
            <a:ext cx="3400425" cy="2949575"/>
            <a:chOff x="0" y="2458"/>
            <a:chExt cx="2142" cy="1858"/>
          </a:xfrm>
        </p:grpSpPr>
        <p:sp>
          <p:nvSpPr>
            <p:cNvPr id="337923" name="Freeform 3">
              <a:extLst>
                <a:ext uri="{FF2B5EF4-FFF2-40B4-BE49-F238E27FC236}">
                  <a16:creationId xmlns:a16="http://schemas.microsoft.com/office/drawing/2014/main" id="{4E697AC6-B513-B6D6-2639-D7AB00709B77}"/>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4" name="Freeform 4">
              <a:extLst>
                <a:ext uri="{FF2B5EF4-FFF2-40B4-BE49-F238E27FC236}">
                  <a16:creationId xmlns:a16="http://schemas.microsoft.com/office/drawing/2014/main" id="{3D181267-95BB-8C66-9C9F-6F58B359EE56}"/>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5" name="Freeform 5">
              <a:extLst>
                <a:ext uri="{FF2B5EF4-FFF2-40B4-BE49-F238E27FC236}">
                  <a16:creationId xmlns:a16="http://schemas.microsoft.com/office/drawing/2014/main" id="{93D57F14-7B11-2BAF-EC8E-889258969834}"/>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6" name="Freeform 6">
              <a:extLst>
                <a:ext uri="{FF2B5EF4-FFF2-40B4-BE49-F238E27FC236}">
                  <a16:creationId xmlns:a16="http://schemas.microsoft.com/office/drawing/2014/main" id="{9FB66B4E-4D05-ABD0-2026-C294602CE3A3}"/>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1036" name="Oval 7">
              <a:extLst>
                <a:ext uri="{FF2B5EF4-FFF2-40B4-BE49-F238E27FC236}">
                  <a16:creationId xmlns:a16="http://schemas.microsoft.com/office/drawing/2014/main" id="{6DA26EBF-F4EB-DB51-7E6C-2A8669580710}"/>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7" name="Oval 8">
              <a:extLst>
                <a:ext uri="{FF2B5EF4-FFF2-40B4-BE49-F238E27FC236}">
                  <a16:creationId xmlns:a16="http://schemas.microsoft.com/office/drawing/2014/main" id="{5C9DBDAF-22E2-4A2B-E98C-8B0A9C370B27}"/>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8" name="Oval 9">
              <a:extLst>
                <a:ext uri="{FF2B5EF4-FFF2-40B4-BE49-F238E27FC236}">
                  <a16:creationId xmlns:a16="http://schemas.microsoft.com/office/drawing/2014/main" id="{DB86EA4F-F19D-4299-1216-29AB4BD2DE10}"/>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7930" name="Rectangle 10">
            <a:extLst>
              <a:ext uri="{FF2B5EF4-FFF2-40B4-BE49-F238E27FC236}">
                <a16:creationId xmlns:a16="http://schemas.microsoft.com/office/drawing/2014/main" id="{B6A3D039-8926-3066-6CB9-7E5032E0A37E}"/>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337931" name="Rectangle 11">
            <a:extLst>
              <a:ext uri="{FF2B5EF4-FFF2-40B4-BE49-F238E27FC236}">
                <a16:creationId xmlns:a16="http://schemas.microsoft.com/office/drawing/2014/main" id="{A13957A4-4FF9-B14E-16FF-CED25F07F818}"/>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7932" name="Rectangle 12">
            <a:extLst>
              <a:ext uri="{FF2B5EF4-FFF2-40B4-BE49-F238E27FC236}">
                <a16:creationId xmlns:a16="http://schemas.microsoft.com/office/drawing/2014/main" id="{D3478849-0013-895E-350B-B7320E9E5914}"/>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dirty="0">
                <a:effectLst>
                  <a:outerShdw blurRad="38100" dist="38100" dir="2700000" algn="tl">
                    <a:srgbClr val="010199"/>
                  </a:outerShdw>
                </a:effectLst>
              </a:defRPr>
            </a:lvl1pPr>
          </a:lstStyle>
          <a:p>
            <a:pPr>
              <a:defRPr/>
            </a:pPr>
            <a:endParaRPr lang="en-US" altLang="en-US"/>
          </a:p>
        </p:txBody>
      </p:sp>
      <p:sp>
        <p:nvSpPr>
          <p:cNvPr id="337933" name="Rectangle 13">
            <a:extLst>
              <a:ext uri="{FF2B5EF4-FFF2-40B4-BE49-F238E27FC236}">
                <a16:creationId xmlns:a16="http://schemas.microsoft.com/office/drawing/2014/main" id="{AFC467E2-77F1-55FA-174A-9E2B211D4BAC}"/>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dirty="0">
                <a:effectLst>
                  <a:outerShdw blurRad="38100" dist="38100" dir="2700000" algn="tl">
                    <a:srgbClr val="010199"/>
                  </a:outerShdw>
                </a:effectLst>
              </a:defRPr>
            </a:lvl1pPr>
          </a:lstStyle>
          <a:p>
            <a:pPr>
              <a:defRPr/>
            </a:pPr>
            <a:endParaRPr lang="en-US" altLang="en-US"/>
          </a:p>
        </p:txBody>
      </p:sp>
      <p:sp>
        <p:nvSpPr>
          <p:cNvPr id="337934" name="Rectangle 14">
            <a:extLst>
              <a:ext uri="{FF2B5EF4-FFF2-40B4-BE49-F238E27FC236}">
                <a16:creationId xmlns:a16="http://schemas.microsoft.com/office/drawing/2014/main" id="{49A2FDDD-3862-7248-437F-75D9DBFF618D}"/>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65B03520-9BF7-114D-B396-79BF502A7474}" type="slidenum">
              <a:rPr lang="en-US" altLang="en-US"/>
              <a:pPr>
                <a:defRPr/>
              </a:pPr>
              <a:t>‹#›</a:t>
            </a:fld>
            <a:endParaRPr lang="en-US" altLang="en-US" dirty="0"/>
          </a:p>
        </p:txBody>
      </p:sp>
    </p:spTree>
  </p:cSld>
  <p:clrMap bg1="dk2" tx1="lt1" bg2="dk1" tx2="lt2" accent1="accent1" accent2="accent2" accent3="accent3" accent4="accent4" accent5="accent5" accent6="accent6" hlink="hlink" folHlink="folHlink"/>
  <p:sldLayoutIdLst>
    <p:sldLayoutId id="2147484172" r:id="rId1"/>
    <p:sldLayoutId id="2147484173" r:id="rId2"/>
    <p:sldLayoutId id="2147484174" r:id="rId3"/>
    <p:sldLayoutId id="2147484175" r:id="rId4"/>
    <p:sldLayoutId id="2147484176" r:id="rId5"/>
    <p:sldLayoutId id="2147484177" r:id="rId6"/>
    <p:sldLayoutId id="2147484178" r:id="rId7"/>
    <p:sldLayoutId id="2147484179" r:id="rId8"/>
    <p:sldLayoutId id="2147484180" r:id="rId9"/>
    <p:sldLayoutId id="2147484181" r:id="rId10"/>
    <p:sldLayoutId id="214748418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ＭＳ Ｐゴシック"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ＭＳ Ｐゴシック" charset="0"/>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ea typeface="Arial" pitchFamily="-65" charset="0"/>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ea typeface="Arial" pitchFamily="-65" charset="0"/>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15345F3E-B755-C0C5-8E47-0FF88D90A78E}"/>
              </a:ext>
            </a:extLst>
          </p:cNvPr>
          <p:cNvSpPr>
            <a:spLocks noGrp="1" noChangeArrowheads="1"/>
          </p:cNvSpPr>
          <p:nvPr>
            <p:ph type="ctrTitle"/>
          </p:nvPr>
        </p:nvSpPr>
        <p:spPr>
          <a:xfrm>
            <a:off x="685800" y="990600"/>
            <a:ext cx="7772400" cy="1905000"/>
          </a:xfrm>
        </p:spPr>
        <p:txBody>
          <a:bodyPr/>
          <a:lstStyle/>
          <a:p>
            <a:pPr eaLnBrk="1" hangingPunct="1">
              <a:defRPr/>
            </a:pPr>
            <a:r>
              <a:rPr lang="en-US" altLang="x-none" dirty="0">
                <a:solidFill>
                  <a:srgbClr val="FFFF00"/>
                </a:solidFill>
                <a:ea typeface="ＭＳ Ｐゴシック" charset="-128"/>
              </a:rPr>
              <a:t>PIA 3121</a:t>
            </a:r>
            <a:br>
              <a:rPr lang="en-US" altLang="x-none" dirty="0">
                <a:ea typeface="ＭＳ Ｐゴシック" charset="-128"/>
              </a:rPr>
            </a:br>
            <a:br>
              <a:rPr lang="en-US" altLang="x-none" sz="2800" dirty="0">
                <a:ea typeface="ＭＳ Ｐゴシック" charset="-128"/>
              </a:rPr>
            </a:br>
            <a:r>
              <a:rPr lang="en-US" altLang="x-none" sz="2400" dirty="0">
                <a:ea typeface="ＭＳ Ｐゴシック" charset="-128"/>
              </a:rPr>
              <a:t>8 September 2026</a:t>
            </a:r>
          </a:p>
        </p:txBody>
      </p:sp>
      <p:sp>
        <p:nvSpPr>
          <p:cNvPr id="362499" name="Rectangle 3">
            <a:extLst>
              <a:ext uri="{FF2B5EF4-FFF2-40B4-BE49-F238E27FC236}">
                <a16:creationId xmlns:a16="http://schemas.microsoft.com/office/drawing/2014/main" id="{802D8593-A0DA-FFA0-B10E-F39F2D859AB7}"/>
              </a:ext>
            </a:extLst>
          </p:cNvPr>
          <p:cNvSpPr>
            <a:spLocks noGrp="1" noChangeArrowheads="1"/>
          </p:cNvSpPr>
          <p:nvPr>
            <p:ph type="subTitle" idx="1"/>
          </p:nvPr>
        </p:nvSpPr>
        <p:spPr>
          <a:xfrm>
            <a:off x="228600" y="3505200"/>
            <a:ext cx="8686800" cy="1600200"/>
          </a:xfrm>
        </p:spPr>
        <p:txBody>
          <a:bodyPr/>
          <a:lstStyle/>
          <a:p>
            <a:pPr eaLnBrk="1" hangingPunct="1">
              <a:buFont typeface="Wingdings" charset="2"/>
              <a:buNone/>
              <a:defRPr/>
            </a:pPr>
            <a:r>
              <a:rPr lang="en-US" altLang="x-none" sz="3600" dirty="0">
                <a:ea typeface="ＭＳ Ｐゴシック" charset="-128"/>
              </a:rPr>
              <a:t>Root Discourses:</a:t>
            </a:r>
          </a:p>
          <a:p>
            <a:pPr eaLnBrk="1" hangingPunct="1">
              <a:buFont typeface="Wingdings" charset="2"/>
              <a:buNone/>
              <a:defRPr/>
            </a:pPr>
            <a:r>
              <a:rPr lang="en-US" altLang="x-none" sz="3600" dirty="0">
                <a:ea typeface="ＭＳ Ｐゴシック" charset="-128"/>
              </a:rPr>
              <a:t>Realism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sz="3600" u="sng" dirty="0">
                <a:solidFill>
                  <a:schemeClr val="tx1"/>
                </a:solidFill>
              </a:rPr>
              <a:t>PIA 3121 Schedule</a:t>
            </a:r>
          </a:p>
        </p:txBody>
      </p:sp>
      <p:sp>
        <p:nvSpPr>
          <p:cNvPr id="3" name="Content Placeholder 2"/>
          <p:cNvSpPr>
            <a:spLocks noGrp="1"/>
          </p:cNvSpPr>
          <p:nvPr>
            <p:ph idx="1"/>
          </p:nvPr>
        </p:nvSpPr>
        <p:spPr>
          <a:xfrm>
            <a:off x="445265" y="1447800"/>
            <a:ext cx="8229600" cy="4713287"/>
          </a:xfrm>
        </p:spPr>
        <p:txBody>
          <a:bodyPr/>
          <a:lstStyle/>
          <a:p>
            <a:pPr marL="0" indent="0" eaLnBrk="1" fontAlgn="auto" hangingPunct="1">
              <a:spcBef>
                <a:spcPts val="0"/>
              </a:spcBef>
              <a:spcAft>
                <a:spcPts val="0"/>
              </a:spcAft>
              <a:buClrTx/>
              <a:buSzTx/>
              <a:buNone/>
              <a:defRPr/>
            </a:pPr>
            <a:r>
              <a:rPr lang="en-US" sz="1800" dirty="0">
                <a:solidFill>
                  <a:srgbClr val="FFFF00"/>
                </a:solidFill>
              </a:rPr>
              <a:t>1 Sept:		</a:t>
            </a:r>
            <a:r>
              <a:rPr lang="en-US" sz="1800" dirty="0"/>
              <a:t>Tools of Analysis / Foundational Concepts</a:t>
            </a:r>
            <a:endParaRPr lang="en-US" sz="1800" dirty="0">
              <a:solidFill>
                <a:srgbClr val="FFFF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8 Sept</a:t>
            </a:r>
            <a:r>
              <a:rPr lang="en-US" sz="1800" dirty="0"/>
              <a:t>:		Realism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15 Sept</a:t>
            </a:r>
            <a:r>
              <a:rPr lang="en-US" sz="1800" dirty="0"/>
              <a:t>:		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22 Sept</a:t>
            </a:r>
            <a:r>
              <a:rPr lang="en-US" sz="1800" dirty="0"/>
              <a:t>:		Neorealism and Neoliberalism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29 Sept:</a:t>
            </a:r>
            <a:r>
              <a:rPr lang="en-US" sz="1800" dirty="0"/>
              <a:t>		Economic Structuralism and Globalization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6 Oct</a:t>
            </a:r>
            <a:r>
              <a:rPr lang="en-US" sz="1800" dirty="0"/>
              <a:t>:		Constructivism</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13 Oct</a:t>
            </a:r>
            <a:r>
              <a:rPr lang="en-US" sz="1800" dirty="0"/>
              <a:t>:		MIDTERM QUIZ</a:t>
            </a:r>
          </a:p>
          <a:p>
            <a:pPr marL="0" indent="0" eaLnBrk="1" fontAlgn="auto" hangingPunct="1">
              <a:spcBef>
                <a:spcPts val="0"/>
              </a:spcBef>
              <a:spcAft>
                <a:spcPts val="0"/>
              </a:spcAft>
              <a:buClrTx/>
              <a:buSzTx/>
              <a:buNone/>
              <a:defRPr/>
            </a:pPr>
            <a:endParaRPr lang="en-US" sz="1800" dirty="0"/>
          </a:p>
          <a:p>
            <a:pPr marL="0" indent="0" eaLnBrk="1" fontAlgn="auto" hangingPunct="1">
              <a:spcBef>
                <a:spcPts val="0"/>
              </a:spcBef>
              <a:spcAft>
                <a:spcPts val="0"/>
              </a:spcAft>
              <a:buClrTx/>
              <a:buSzTx/>
              <a:buNone/>
              <a:defRPr/>
            </a:pPr>
            <a:r>
              <a:rPr lang="en-US" sz="1800" dirty="0">
                <a:solidFill>
                  <a:srgbClr val="FFFF00"/>
                </a:solidFill>
              </a:rPr>
              <a:t>20 Oct</a:t>
            </a:r>
            <a:r>
              <a:rPr lang="en-US" sz="1800" dirty="0"/>
              <a:t>:		Ontological Security Theory</a:t>
            </a:r>
          </a:p>
          <a:p>
            <a:pPr marL="0" indent="0" eaLnBrk="1" fontAlgn="auto" hangingPunct="1">
              <a:spcBef>
                <a:spcPts val="0"/>
              </a:spcBef>
              <a:spcAft>
                <a:spcPts val="0"/>
              </a:spcAft>
              <a:buClrTx/>
              <a:buSzTx/>
              <a:buNone/>
              <a:defRPr/>
            </a:pPr>
            <a:r>
              <a:rPr lang="en-US" sz="1800" dirty="0">
                <a:solidFill>
                  <a:srgbClr val="FFFF00"/>
                </a:solidFill>
              </a:rPr>
              <a:t>27 Oct</a:t>
            </a:r>
            <a:r>
              <a:rPr lang="en-US" sz="1800" dirty="0"/>
              <a:t>:		The English School</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3 Nov</a:t>
            </a:r>
            <a:r>
              <a:rPr lang="en-US" sz="1800" dirty="0"/>
              <a:t>:		Democratization / Global Culture / Revolution</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10 Nov</a:t>
            </a:r>
            <a:r>
              <a:rPr lang="en-US" sz="1800" dirty="0"/>
              <a:t>:		Critical Theory / Gender in IR / Global Civil Society</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17 Nov</a:t>
            </a:r>
            <a:r>
              <a:rPr lang="en-US" sz="1800" dirty="0"/>
              <a:t>:		Chaos and Complexity in IR / Existential Risks</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24 Nov</a:t>
            </a:r>
            <a:r>
              <a:rPr lang="en-US" sz="1800" dirty="0"/>
              <a:t>:		FINAL QUIZ DUE / Discussion of Group Projects</a:t>
            </a:r>
            <a:endParaRPr lang="en-US" sz="1400" dirty="0"/>
          </a:p>
          <a:p>
            <a:pPr marL="0" indent="0" eaLnBrk="1" fontAlgn="auto" hangingPunct="1">
              <a:spcBef>
                <a:spcPts val="0"/>
              </a:spcBef>
              <a:spcAft>
                <a:spcPts val="0"/>
              </a:spcAft>
              <a:buClrTx/>
              <a:buSzTx/>
              <a:buNone/>
              <a:defRPr/>
            </a:pPr>
            <a:endParaRPr lang="en-US" sz="1400" dirty="0"/>
          </a:p>
          <a:p>
            <a:pPr marL="0" indent="0" eaLnBrk="1" fontAlgn="auto" hangingPunct="1">
              <a:spcBef>
                <a:spcPts val="0"/>
              </a:spcBef>
              <a:spcAft>
                <a:spcPts val="0"/>
              </a:spcAft>
              <a:buClrTx/>
              <a:buSzTx/>
              <a:buNone/>
              <a:defRPr/>
            </a:pPr>
            <a:r>
              <a:rPr lang="en-US" sz="1800" dirty="0">
                <a:solidFill>
                  <a:srgbClr val="FFFF00"/>
                </a:solidFill>
              </a:rPr>
              <a:t>8 Dec</a:t>
            </a:r>
            <a:r>
              <a:rPr lang="en-US" sz="1800" dirty="0"/>
              <a:t>:		GROUP PAPER PROJECT DUE</a:t>
            </a:r>
            <a:endParaRPr lang="en-US" sz="1800" dirty="0">
              <a:solidFill>
                <a:srgbClr val="FFFF00"/>
              </a:solidFill>
            </a:endParaRPr>
          </a:p>
        </p:txBody>
      </p:sp>
    </p:spTree>
    <p:extLst>
      <p:ext uri="{BB962C8B-B14F-4D97-AF65-F5344CB8AC3E}">
        <p14:creationId xmlns:p14="http://schemas.microsoft.com/office/powerpoint/2010/main" val="2985363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sz="4000" dirty="0">
              <a:ea typeface="Arial" charset="0"/>
            </a:endParaRPr>
          </a:p>
        </p:txBody>
      </p:sp>
      <p:pic>
        <p:nvPicPr>
          <p:cNvPr id="38914" name="Content Placeholder 3" descr="Security dilemma.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685800"/>
            <a:ext cx="7423150" cy="5486400"/>
          </a:xfrm>
        </p:spPr>
      </p:pic>
    </p:spTree>
    <p:extLst>
      <p:ext uri="{BB962C8B-B14F-4D97-AF65-F5344CB8AC3E}">
        <p14:creationId xmlns:p14="http://schemas.microsoft.com/office/powerpoint/2010/main" val="1345877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pPr eaLnBrk="1" hangingPunct="1"/>
            <a:r>
              <a:rPr lang="en-US" sz="4000" dirty="0">
                <a:solidFill>
                  <a:srgbClr val="FFFF00"/>
                </a:solidFill>
                <a:latin typeface="Arial" charset="0"/>
                <a:cs typeface="Arial" charset="0"/>
              </a:rPr>
              <a:t>The 5 Sectors: Lenses for Analysis</a:t>
            </a:r>
          </a:p>
        </p:txBody>
      </p:sp>
      <p:sp>
        <p:nvSpPr>
          <p:cNvPr id="1071107" name="Rectangle 3"/>
          <p:cNvSpPr>
            <a:spLocks noGrp="1" noChangeArrowheads="1"/>
          </p:cNvSpPr>
          <p:nvPr>
            <p:ph type="body" idx="1"/>
          </p:nvPr>
        </p:nvSpPr>
        <p:spPr/>
        <p:txBody>
          <a:bodyPr/>
          <a:lstStyle/>
          <a:p>
            <a:pPr eaLnBrk="1" hangingPunct="1">
              <a:buFont typeface="Wingdings" charset="0"/>
              <a:buNone/>
            </a:pPr>
            <a:endParaRPr lang="en-US" dirty="0">
              <a:latin typeface="Arial" charset="0"/>
              <a:cs typeface="Arial" charset="0"/>
            </a:endParaRPr>
          </a:p>
          <a:p>
            <a:pPr eaLnBrk="1" hangingPunct="1">
              <a:buFont typeface="Wingdings" charset="0"/>
              <a:buNone/>
            </a:pPr>
            <a:r>
              <a:rPr lang="en-US" dirty="0">
                <a:latin typeface="Arial" charset="0"/>
                <a:cs typeface="Arial" charset="0"/>
              </a:rPr>
              <a:t>Military</a:t>
            </a:r>
          </a:p>
          <a:p>
            <a:pPr eaLnBrk="1" hangingPunct="1">
              <a:buFont typeface="Wingdings" charset="0"/>
              <a:buNone/>
            </a:pPr>
            <a:r>
              <a:rPr lang="en-US" dirty="0">
                <a:latin typeface="Arial" charset="0"/>
                <a:cs typeface="Arial" charset="0"/>
              </a:rPr>
              <a:t>Political</a:t>
            </a:r>
          </a:p>
          <a:p>
            <a:pPr eaLnBrk="1" hangingPunct="1">
              <a:buFont typeface="Wingdings" charset="0"/>
              <a:buNone/>
            </a:pPr>
            <a:r>
              <a:rPr lang="en-US" dirty="0">
                <a:latin typeface="Arial" charset="0"/>
                <a:cs typeface="Arial" charset="0"/>
              </a:rPr>
              <a:t>Economic</a:t>
            </a:r>
          </a:p>
          <a:p>
            <a:pPr eaLnBrk="1" hangingPunct="1">
              <a:buFont typeface="Wingdings" charset="0"/>
              <a:buNone/>
            </a:pPr>
            <a:r>
              <a:rPr lang="en-US" dirty="0">
                <a:latin typeface="Arial" charset="0"/>
                <a:cs typeface="Arial" charset="0"/>
              </a:rPr>
              <a:t>Socio-Cultural</a:t>
            </a:r>
          </a:p>
          <a:p>
            <a:pPr eaLnBrk="1" hangingPunct="1">
              <a:buFont typeface="Wingdings" charset="0"/>
              <a:buNone/>
            </a:pPr>
            <a:r>
              <a:rPr lang="en-US" dirty="0">
                <a:latin typeface="Arial" charset="0"/>
                <a:cs typeface="Arial" charset="0"/>
              </a:rPr>
              <a:t>Environmental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394" name="Rectangle 2"/>
          <p:cNvSpPr>
            <a:spLocks noGrp="1" noChangeArrowheads="1"/>
          </p:cNvSpPr>
          <p:nvPr>
            <p:ph type="title"/>
          </p:nvPr>
        </p:nvSpPr>
        <p:spPr/>
        <p:txBody>
          <a:bodyPr/>
          <a:lstStyle/>
          <a:p>
            <a:pPr eaLnBrk="1" hangingPunct="1"/>
            <a:r>
              <a:rPr lang="en-US" dirty="0">
                <a:solidFill>
                  <a:srgbClr val="FFFF00"/>
                </a:solidFill>
                <a:latin typeface="Arial" charset="0"/>
                <a:cs typeface="Arial" charset="0"/>
              </a:rPr>
              <a:t>A </a:t>
            </a:r>
            <a:r>
              <a:rPr lang="en-US" dirty="0">
                <a:solidFill>
                  <a:srgbClr val="C00000"/>
                </a:solidFill>
                <a:latin typeface="Arial" charset="0"/>
                <a:cs typeface="Arial" charset="0"/>
              </a:rPr>
              <a:t>Danger</a:t>
            </a:r>
            <a:r>
              <a:rPr lang="en-US" dirty="0">
                <a:solidFill>
                  <a:srgbClr val="FFFF00"/>
                </a:solidFill>
                <a:latin typeface="Arial" charset="0"/>
                <a:cs typeface="Arial" charset="0"/>
              </a:rPr>
              <a:t> in Sectoral Analysis!</a:t>
            </a:r>
          </a:p>
        </p:txBody>
      </p:sp>
      <p:sp>
        <p:nvSpPr>
          <p:cNvPr id="1083395" name="Rectangle 3"/>
          <p:cNvSpPr>
            <a:spLocks noGrp="1" noChangeArrowheads="1"/>
          </p:cNvSpPr>
          <p:nvPr>
            <p:ph type="body" idx="1"/>
          </p:nvPr>
        </p:nvSpPr>
        <p:spPr/>
        <p:txBody>
          <a:bodyPr/>
          <a:lstStyle/>
          <a:p>
            <a:pPr eaLnBrk="1" hangingPunct="1">
              <a:buFont typeface="Wingdings" charset="0"/>
              <a:buNone/>
            </a:pPr>
            <a:endParaRPr lang="en-US" dirty="0">
              <a:latin typeface="Arial" charset="0"/>
              <a:cs typeface="Arial" charset="0"/>
            </a:endParaRPr>
          </a:p>
          <a:p>
            <a:pPr eaLnBrk="1" hangingPunct="1">
              <a:buFont typeface="Wingdings" charset="0"/>
              <a:buNone/>
            </a:pPr>
            <a:endParaRPr lang="en-US" dirty="0">
              <a:latin typeface="Arial" charset="0"/>
              <a:cs typeface="Arial" charset="0"/>
            </a:endParaRPr>
          </a:p>
          <a:p>
            <a:pPr eaLnBrk="1" hangingPunct="1">
              <a:buFont typeface="Wingdings" charset="0"/>
              <a:buNone/>
            </a:pPr>
            <a:r>
              <a:rPr lang="en-US" dirty="0">
                <a:latin typeface="Arial" charset="0"/>
                <a:cs typeface="Arial" charset="0"/>
              </a:rPr>
              <a:t>		The observer begins to confuse the 	</a:t>
            </a:r>
            <a:r>
              <a:rPr lang="en-US" i="1" dirty="0">
                <a:latin typeface="Arial" charset="0"/>
                <a:cs typeface="Arial" charset="0"/>
              </a:rPr>
              <a:t>partial</a:t>
            </a:r>
            <a:r>
              <a:rPr lang="en-US" dirty="0">
                <a:latin typeface="Arial" charset="0"/>
                <a:cs typeface="Arial" charset="0"/>
              </a:rPr>
              <a:t> reality of the sector with the </a:t>
            </a:r>
            <a:r>
              <a:rPr lang="en-US" i="1" dirty="0">
                <a:latin typeface="Arial" charset="0"/>
                <a:cs typeface="Arial" charset="0"/>
              </a:rPr>
              <a:t>total</a:t>
            </a:r>
            <a:r>
              <a:rPr lang="en-US" dirty="0">
                <a:latin typeface="Arial" charset="0"/>
                <a:cs typeface="Arial" charset="0"/>
              </a:rPr>
              <a:t> 	reality of the whole international 	system.</a:t>
            </a:r>
          </a:p>
        </p:txBody>
      </p:sp>
    </p:spTree>
    <p:extLst>
      <p:ext uri="{BB962C8B-B14F-4D97-AF65-F5344CB8AC3E}">
        <p14:creationId xmlns:p14="http://schemas.microsoft.com/office/powerpoint/2010/main" val="2880910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A73611FD-E43A-FCA2-30EE-5FEECD8D1151}"/>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Defining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Discourse</a:t>
            </a:r>
            <a:r>
              <a:rPr lang="ja-JP" altLang="en-US" sz="4000">
                <a:solidFill>
                  <a:srgbClr val="FFFF00"/>
                </a:solidFill>
                <a:ea typeface="ＭＳ Ｐゴシック" charset="-128"/>
              </a:rPr>
              <a:t>”</a:t>
            </a:r>
            <a:r>
              <a:rPr lang="en-US" altLang="ja-JP" sz="4000" dirty="0">
                <a:solidFill>
                  <a:srgbClr val="FFFF00"/>
                </a:solidFill>
                <a:ea typeface="ＭＳ Ｐゴシック" charset="-128"/>
              </a:rPr>
              <a:t> and Specifying Its Importance</a:t>
            </a:r>
            <a:endParaRPr lang="en-US" altLang="x-none" sz="4000" dirty="0">
              <a:solidFill>
                <a:srgbClr val="FFFF00"/>
              </a:solidFill>
              <a:ea typeface="ＭＳ Ｐゴシック" charset="-128"/>
            </a:endParaRPr>
          </a:p>
        </p:txBody>
      </p:sp>
      <p:sp>
        <p:nvSpPr>
          <p:cNvPr id="369667" name="Rectangle 3">
            <a:extLst>
              <a:ext uri="{FF2B5EF4-FFF2-40B4-BE49-F238E27FC236}">
                <a16:creationId xmlns:a16="http://schemas.microsoft.com/office/drawing/2014/main" id="{EDA9BECB-1F8D-11BF-B54B-63CAD2A1B14D}"/>
              </a:ext>
            </a:extLst>
          </p:cNvPr>
          <p:cNvSpPr>
            <a:spLocks noGrp="1" noChangeArrowheads="1"/>
          </p:cNvSpPr>
          <p:nvPr>
            <p:ph type="body" idx="1"/>
          </p:nvPr>
        </p:nvSpPr>
        <p:spPr/>
        <p:txBody>
          <a:bodyPr/>
          <a:lstStyle/>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a:p>
            <a:pPr marL="0" indent="0" eaLnBrk="1" hangingPunct="1">
              <a:lnSpc>
                <a:spcPct val="90000"/>
              </a:lnSpc>
              <a:buNone/>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A73611FD-E43A-FCA2-30EE-5FEECD8D1151}"/>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Defining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Discourse</a:t>
            </a:r>
            <a:r>
              <a:rPr lang="ja-JP" altLang="en-US" sz="4000">
                <a:solidFill>
                  <a:srgbClr val="FFFF00"/>
                </a:solidFill>
                <a:ea typeface="ＭＳ Ｐゴシック" charset="-128"/>
              </a:rPr>
              <a:t>”</a:t>
            </a:r>
            <a:r>
              <a:rPr lang="en-US" altLang="ja-JP" sz="4000" dirty="0">
                <a:solidFill>
                  <a:srgbClr val="FFFF00"/>
                </a:solidFill>
                <a:ea typeface="ＭＳ Ｐゴシック" charset="-128"/>
              </a:rPr>
              <a:t> and Specifying Its Importance</a:t>
            </a:r>
            <a:endParaRPr lang="en-US" altLang="x-none" sz="4000" dirty="0">
              <a:solidFill>
                <a:srgbClr val="FFFF00"/>
              </a:solidFill>
              <a:ea typeface="ＭＳ Ｐゴシック" charset="-128"/>
            </a:endParaRPr>
          </a:p>
        </p:txBody>
      </p:sp>
      <p:sp>
        <p:nvSpPr>
          <p:cNvPr id="369667" name="Rectangle 3">
            <a:extLst>
              <a:ext uri="{FF2B5EF4-FFF2-40B4-BE49-F238E27FC236}">
                <a16:creationId xmlns:a16="http://schemas.microsoft.com/office/drawing/2014/main" id="{EDA9BECB-1F8D-11BF-B54B-63CAD2A1B14D}"/>
              </a:ext>
            </a:extLst>
          </p:cNvPr>
          <p:cNvSpPr>
            <a:spLocks noGrp="1" noChangeArrowheads="1"/>
          </p:cNvSpPr>
          <p:nvPr>
            <p:ph type="body" idx="1"/>
          </p:nvPr>
        </p:nvSpPr>
        <p:spPr/>
        <p:txBody>
          <a:bodyPr/>
          <a:lstStyle/>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Char char="l"/>
              <a:defRPr/>
            </a:pPr>
            <a:r>
              <a:rPr lang="en-US" altLang="ja-JP" sz="2800" dirty="0">
                <a:ea typeface="ＭＳ Ｐゴシック" charset="-128"/>
              </a:rPr>
              <a:t>It could be defined simply as what people are writing and saying about a phenomenon.</a:t>
            </a: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p:txBody>
      </p:sp>
    </p:spTree>
    <p:extLst>
      <p:ext uri="{BB962C8B-B14F-4D97-AF65-F5344CB8AC3E}">
        <p14:creationId xmlns:p14="http://schemas.microsoft.com/office/powerpoint/2010/main" val="541199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36914329-96E6-B25C-0BC8-80282233F7D2}"/>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Defining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Discourse</a:t>
            </a:r>
            <a:r>
              <a:rPr lang="ja-JP" altLang="en-US" sz="4000">
                <a:solidFill>
                  <a:srgbClr val="FFFF00"/>
                </a:solidFill>
                <a:ea typeface="ＭＳ Ｐゴシック" charset="-128"/>
              </a:rPr>
              <a:t>”</a:t>
            </a:r>
            <a:r>
              <a:rPr lang="en-US" altLang="ja-JP" sz="4000" dirty="0">
                <a:solidFill>
                  <a:srgbClr val="FFFF00"/>
                </a:solidFill>
                <a:ea typeface="ＭＳ Ｐゴシック" charset="-128"/>
              </a:rPr>
              <a:t> and Specifying Its Importance</a:t>
            </a:r>
            <a:endParaRPr lang="en-US" altLang="x-none" sz="4000" dirty="0">
              <a:solidFill>
                <a:srgbClr val="FFFF00"/>
              </a:solidFill>
              <a:ea typeface="ＭＳ Ｐゴシック" charset="-128"/>
            </a:endParaRPr>
          </a:p>
        </p:txBody>
      </p:sp>
      <p:sp>
        <p:nvSpPr>
          <p:cNvPr id="369667" name="Rectangle 3">
            <a:extLst>
              <a:ext uri="{FF2B5EF4-FFF2-40B4-BE49-F238E27FC236}">
                <a16:creationId xmlns:a16="http://schemas.microsoft.com/office/drawing/2014/main" id="{6F92D09C-D323-E961-C414-A4DF5F111705}"/>
              </a:ext>
            </a:extLst>
          </p:cNvPr>
          <p:cNvSpPr>
            <a:spLocks noGrp="1" noChangeArrowheads="1"/>
          </p:cNvSpPr>
          <p:nvPr>
            <p:ph type="body" idx="1"/>
          </p:nvPr>
        </p:nvSpPr>
        <p:spPr/>
        <p:txBody>
          <a:bodyPr/>
          <a:lstStyle/>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Char char="l"/>
              <a:defRPr/>
            </a:pPr>
            <a:r>
              <a:rPr lang="en-US" altLang="ja-JP" sz="2800" dirty="0">
                <a:ea typeface="ＭＳ Ｐゴシック" charset="-128"/>
              </a:rPr>
              <a:t>It could be defined simply as what people are writing and saying about a phenomenon.</a:t>
            </a: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Char char="l"/>
              <a:defRPr/>
            </a:pPr>
            <a:r>
              <a:rPr lang="en-US" altLang="x-none" sz="2800" dirty="0">
                <a:ea typeface="ＭＳ Ｐゴシック" charset="-128"/>
              </a:rPr>
              <a:t>But the discourses of culturally powerful individuals and groups become dominant and start shaping the understandings of others.</a:t>
            </a: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8987-84FE-D738-1565-8244CE438187}"/>
              </a:ext>
            </a:extLst>
          </p:cNvPr>
          <p:cNvSpPr>
            <a:spLocks noGrp="1"/>
          </p:cNvSpPr>
          <p:nvPr>
            <p:ph type="title"/>
          </p:nvPr>
        </p:nvSpPr>
        <p:spPr/>
        <p:txBody>
          <a:bodyPr/>
          <a:lstStyle/>
          <a:p>
            <a:pPr>
              <a:defRPr/>
            </a:pPr>
            <a:endParaRPr lang="en-US" dirty="0"/>
          </a:p>
        </p:txBody>
      </p:sp>
      <p:pic>
        <p:nvPicPr>
          <p:cNvPr id="149506" name="Content Placeholder 4" descr="Chart&#10;&#10;Description automatically generated">
            <a:extLst>
              <a:ext uri="{FF2B5EF4-FFF2-40B4-BE49-F238E27FC236}">
                <a16:creationId xmlns:a16="http://schemas.microsoft.com/office/drawing/2014/main" id="{0C63C980-E18B-8779-F216-5FEC456086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 y="762000"/>
            <a:ext cx="9067800" cy="4805363"/>
          </a:xfrm>
        </p:spPr>
      </p:pic>
      <p:sp>
        <p:nvSpPr>
          <p:cNvPr id="149507" name="TextBox 5">
            <a:extLst>
              <a:ext uri="{FF2B5EF4-FFF2-40B4-BE49-F238E27FC236}">
                <a16:creationId xmlns:a16="http://schemas.microsoft.com/office/drawing/2014/main" id="{498BF708-758A-D142-A474-FD562ACDE8A8}"/>
              </a:ext>
            </a:extLst>
          </p:cNvPr>
          <p:cNvSpPr txBox="1">
            <a:spLocks noChangeArrowheads="1"/>
          </p:cNvSpPr>
          <p:nvPr/>
        </p:nvSpPr>
        <p:spPr bwMode="auto">
          <a:xfrm>
            <a:off x="1485900" y="6034088"/>
            <a:ext cx="6172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SOURCE:  https://www.visualcapitalist.com/2000-years-economic-history-one-chart/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5213-0D3F-F88F-07D7-F999D36B1028}"/>
              </a:ext>
            </a:extLst>
          </p:cNvPr>
          <p:cNvSpPr>
            <a:spLocks noGrp="1"/>
          </p:cNvSpPr>
          <p:nvPr>
            <p:ph type="title"/>
          </p:nvPr>
        </p:nvSpPr>
        <p:spPr/>
        <p:txBody>
          <a:bodyPr/>
          <a:lstStyle/>
          <a:p>
            <a:pPr>
              <a:defRPr/>
            </a:pPr>
            <a:endParaRPr lang="en-US" dirty="0"/>
          </a:p>
        </p:txBody>
      </p:sp>
      <p:pic>
        <p:nvPicPr>
          <p:cNvPr id="150530" name="Content Placeholder 4" descr="Chart, line chart&#10;&#10;Description automatically generated">
            <a:extLst>
              <a:ext uri="{FF2B5EF4-FFF2-40B4-BE49-F238E27FC236}">
                <a16:creationId xmlns:a16="http://schemas.microsoft.com/office/drawing/2014/main" id="{94862483-BC59-F3D5-11E5-E20D3850493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84200" y="457200"/>
            <a:ext cx="7975600" cy="5205413"/>
          </a:xfrm>
        </p:spPr>
      </p:pic>
      <p:sp>
        <p:nvSpPr>
          <p:cNvPr id="150531" name="TextBox 5">
            <a:extLst>
              <a:ext uri="{FF2B5EF4-FFF2-40B4-BE49-F238E27FC236}">
                <a16:creationId xmlns:a16="http://schemas.microsoft.com/office/drawing/2014/main" id="{0670BA07-7EA2-0A1B-7A16-7C01E8E74B34}"/>
              </a:ext>
            </a:extLst>
          </p:cNvPr>
          <p:cNvSpPr txBox="1">
            <a:spLocks noChangeArrowheads="1"/>
          </p:cNvSpPr>
          <p:nvPr/>
        </p:nvSpPr>
        <p:spPr bwMode="auto">
          <a:xfrm>
            <a:off x="584200" y="6096000"/>
            <a:ext cx="797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SOURCE:  https://www.researchgate.net/figure/GDP-per-capita-ppp-selected-countries-1900-2010-GK-international-US-dollars_fig2_309030226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5B9B3-6BC6-11BC-687D-782F4C8618B0}"/>
              </a:ext>
            </a:extLst>
          </p:cNvPr>
          <p:cNvSpPr>
            <a:spLocks noGrp="1"/>
          </p:cNvSpPr>
          <p:nvPr>
            <p:ph type="title"/>
          </p:nvPr>
        </p:nvSpPr>
        <p:spPr/>
        <p:txBody>
          <a:bodyPr/>
          <a:lstStyle/>
          <a:p>
            <a:pPr>
              <a:defRPr/>
            </a:pPr>
            <a:endParaRPr lang="en-US" dirty="0"/>
          </a:p>
        </p:txBody>
      </p:sp>
      <p:pic>
        <p:nvPicPr>
          <p:cNvPr id="22530" name="Picture 2" descr="Infographic: US military presence around the world | Infographic News | Al  Jazeera">
            <a:extLst>
              <a:ext uri="{FF2B5EF4-FFF2-40B4-BE49-F238E27FC236}">
                <a16:creationId xmlns:a16="http://schemas.microsoft.com/office/drawing/2014/main" id="{42E9DFAA-A834-CE4C-B80D-8BCAC21D47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71625" y="277813"/>
            <a:ext cx="5999163" cy="5999162"/>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083DD-4889-CD90-E3AD-CADD31F22EBD}"/>
              </a:ext>
            </a:extLst>
          </p:cNvPr>
          <p:cNvSpPr>
            <a:spLocks noGrp="1"/>
          </p:cNvSpPr>
          <p:nvPr>
            <p:ph type="title"/>
          </p:nvPr>
        </p:nvSpPr>
        <p:spPr>
          <a:xfrm>
            <a:off x="457200" y="0"/>
            <a:ext cx="8229600" cy="476250"/>
          </a:xfrm>
        </p:spPr>
        <p:txBody>
          <a:bodyPr/>
          <a:lstStyle/>
          <a:p>
            <a:pPr>
              <a:defRPr/>
            </a:pPr>
            <a:r>
              <a:rPr lang="en-US" sz="2000" dirty="0">
                <a:solidFill>
                  <a:schemeClr val="tx1"/>
                </a:solidFill>
              </a:rPr>
              <a:t>SOFT POWER: The Ability to Coax and Persuade</a:t>
            </a:r>
          </a:p>
        </p:txBody>
      </p:sp>
      <p:pic>
        <p:nvPicPr>
          <p:cNvPr id="23554" name="Picture 2">
            <a:extLst>
              <a:ext uri="{FF2B5EF4-FFF2-40B4-BE49-F238E27FC236}">
                <a16:creationId xmlns:a16="http://schemas.microsoft.com/office/drawing/2014/main" id="{79FD218A-D719-5F56-2E05-5F1B6B7F18D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282950" y="604838"/>
            <a:ext cx="2578100" cy="5818187"/>
          </a:xfrm>
          <a:noFill/>
          <a:extLst>
            <a:ext uri="{909E8E84-426E-40DD-AFC4-6F175D3DCCD1}">
              <a14:hiddenFill xmlns:a14="http://schemas.microsoft.com/office/drawing/2010/main">
                <a:solidFill>
                  <a:srgbClr val="FFFFFF"/>
                </a:solidFill>
              </a14:hiddenFill>
            </a:ext>
          </a:extLst>
        </p:spPr>
      </p:pic>
      <p:sp>
        <p:nvSpPr>
          <p:cNvPr id="23555" name="TextBox 3">
            <a:extLst>
              <a:ext uri="{FF2B5EF4-FFF2-40B4-BE49-F238E27FC236}">
                <a16:creationId xmlns:a16="http://schemas.microsoft.com/office/drawing/2014/main" id="{E123E75D-57A3-45B7-D19B-6DA95BE2EB67}"/>
              </a:ext>
            </a:extLst>
          </p:cNvPr>
          <p:cNvSpPr txBox="1">
            <a:spLocks noChangeArrowheads="1"/>
          </p:cNvSpPr>
          <p:nvPr/>
        </p:nvSpPr>
        <p:spPr bwMode="auto">
          <a:xfrm>
            <a:off x="0" y="6553200"/>
            <a:ext cx="9144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1200"/>
              <a:t>SOURCE:  https://www.economist.com/britain/2015/07/18/softly-does-it</a:t>
            </a:r>
          </a:p>
        </p:txBody>
      </p:sp>
      <p:sp>
        <p:nvSpPr>
          <p:cNvPr id="5" name="TextBox 4">
            <a:extLst>
              <a:ext uri="{FF2B5EF4-FFF2-40B4-BE49-F238E27FC236}">
                <a16:creationId xmlns:a16="http://schemas.microsoft.com/office/drawing/2014/main" id="{1578978A-07C7-2D96-8565-B6ECE437641A}"/>
              </a:ext>
            </a:extLst>
          </p:cNvPr>
          <p:cNvSpPr txBox="1"/>
          <p:nvPr/>
        </p:nvSpPr>
        <p:spPr>
          <a:xfrm>
            <a:off x="6705600" y="3276600"/>
            <a:ext cx="1981200" cy="1384995"/>
          </a:xfrm>
          <a:prstGeom prst="rect">
            <a:avLst/>
          </a:prstGeom>
          <a:noFill/>
        </p:spPr>
        <p:txBody>
          <a:bodyPr>
            <a:spAutoFit/>
          </a:bodyPr>
          <a:lstStyle/>
          <a:p>
            <a:pPr>
              <a:defRPr/>
            </a:pPr>
            <a:r>
              <a:rPr lang="en-US" sz="1200" i="1" dirty="0"/>
              <a:t>Three critical factors here:</a:t>
            </a:r>
          </a:p>
          <a:p>
            <a:pPr>
              <a:defRPr/>
            </a:pPr>
            <a:endParaRPr lang="en-US" sz="1200" i="1" dirty="0"/>
          </a:p>
          <a:p>
            <a:pPr marL="228600" indent="-228600">
              <a:buFontTx/>
              <a:buAutoNum type="arabicPeriod"/>
              <a:defRPr/>
            </a:pPr>
            <a:r>
              <a:rPr lang="en-US" sz="1200" i="1" dirty="0"/>
              <a:t>Universities</a:t>
            </a:r>
          </a:p>
          <a:p>
            <a:pPr marL="228600" indent="-228600">
              <a:buFontTx/>
              <a:buAutoNum type="arabicPeriod"/>
              <a:defRPr/>
            </a:pPr>
            <a:endParaRPr lang="en-US" sz="1200" i="1" dirty="0"/>
          </a:p>
          <a:p>
            <a:pPr marL="228600" indent="-228600">
              <a:buFontTx/>
              <a:buAutoNum type="arabicPeriod"/>
              <a:defRPr/>
            </a:pPr>
            <a:r>
              <a:rPr lang="en-US" sz="1200" i="1" dirty="0"/>
              <a:t>Sports</a:t>
            </a:r>
          </a:p>
          <a:p>
            <a:pPr marL="228600" indent="-228600">
              <a:buFontTx/>
              <a:buAutoNum type="arabicPeriod"/>
              <a:defRPr/>
            </a:pPr>
            <a:endParaRPr lang="en-US" sz="1200" i="1" dirty="0"/>
          </a:p>
          <a:p>
            <a:pPr marL="228600" indent="-228600">
              <a:buFontTx/>
              <a:buAutoNum type="arabicPeriod"/>
              <a:defRPr/>
            </a:pPr>
            <a:r>
              <a:rPr lang="en-US" sz="1200" i="1" dirty="0"/>
              <a:t>Arts and Entertainment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F80E8F7A-E049-1237-CB20-C44216900584}"/>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Defining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Discourse</a:t>
            </a:r>
            <a:r>
              <a:rPr lang="ja-JP" altLang="en-US" sz="4000">
                <a:solidFill>
                  <a:srgbClr val="FFFF00"/>
                </a:solidFill>
                <a:ea typeface="ＭＳ Ｐゴシック" charset="-128"/>
              </a:rPr>
              <a:t>”</a:t>
            </a:r>
            <a:r>
              <a:rPr lang="en-US" altLang="ja-JP" sz="4000" dirty="0">
                <a:solidFill>
                  <a:srgbClr val="FFFF00"/>
                </a:solidFill>
                <a:ea typeface="ＭＳ Ｐゴシック" charset="-128"/>
              </a:rPr>
              <a:t> and Specifying Its Importance</a:t>
            </a:r>
            <a:endParaRPr lang="en-US" altLang="x-none" sz="4000" dirty="0">
              <a:solidFill>
                <a:srgbClr val="FFFF00"/>
              </a:solidFill>
              <a:ea typeface="ＭＳ Ｐゴシック" charset="-128"/>
            </a:endParaRPr>
          </a:p>
        </p:txBody>
      </p:sp>
      <p:sp>
        <p:nvSpPr>
          <p:cNvPr id="369667" name="Rectangle 3">
            <a:extLst>
              <a:ext uri="{FF2B5EF4-FFF2-40B4-BE49-F238E27FC236}">
                <a16:creationId xmlns:a16="http://schemas.microsoft.com/office/drawing/2014/main" id="{A5D037C2-F882-300F-912D-56B15F7E9E77}"/>
              </a:ext>
            </a:extLst>
          </p:cNvPr>
          <p:cNvSpPr>
            <a:spLocks noGrp="1" noChangeArrowheads="1"/>
          </p:cNvSpPr>
          <p:nvPr>
            <p:ph type="body" idx="1"/>
          </p:nvPr>
        </p:nvSpPr>
        <p:spPr/>
        <p:txBody>
          <a:bodyPr/>
          <a:lstStyle/>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Char char="l"/>
              <a:defRPr/>
            </a:pPr>
            <a:r>
              <a:rPr lang="en-US" altLang="x-none" sz="2800" dirty="0">
                <a:ea typeface="ＭＳ Ｐゴシック" charset="-128"/>
              </a:rPr>
              <a:t>It could be defined </a:t>
            </a:r>
            <a:r>
              <a:rPr lang="en-US" altLang="ja-JP" sz="2800" dirty="0">
                <a:ea typeface="ＭＳ Ｐゴシック" charset="-128"/>
              </a:rPr>
              <a:t>simply as what people are writing and saying about a phenomenon.</a:t>
            </a: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Char char="l"/>
              <a:defRPr/>
            </a:pPr>
            <a:r>
              <a:rPr lang="en-US" altLang="x-none" sz="2800" dirty="0">
                <a:ea typeface="ＭＳ Ｐゴシック" charset="-128"/>
              </a:rPr>
              <a:t>But the discourses of culturally powerful individuals and groups become dominant and start shaping the understandings of others.</a:t>
            </a: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r>
              <a:rPr lang="en-US" altLang="x-none" sz="2800" u="sng" dirty="0">
                <a:ea typeface="ＭＳ Ｐゴシック" charset="-128"/>
              </a:rPr>
              <a:t>Then it gets deeper</a:t>
            </a:r>
            <a:r>
              <a:rPr lang="en-US" altLang="x-none" sz="2800" dirty="0">
                <a:ea typeface="ＭＳ Ｐゴシック" charset="-128"/>
              </a:rPr>
              <a:t>:</a:t>
            </a:r>
          </a:p>
          <a:p>
            <a:pPr eaLnBrk="1" hangingPunct="1">
              <a:lnSpc>
                <a:spcPct val="90000"/>
              </a:lnSpc>
              <a:buFont typeface="Wingdings" charset="2"/>
              <a:buChar char="l"/>
              <a:defRPr/>
            </a:pPr>
            <a:endParaRPr lang="en-US" altLang="x-none" sz="2800" dirty="0">
              <a:ea typeface="ＭＳ Ｐゴシック" charset="-128"/>
            </a:endParaRPr>
          </a:p>
          <a:p>
            <a:pPr eaLnBrk="1" hangingPunct="1">
              <a:lnSpc>
                <a:spcPct val="90000"/>
              </a:lnSpc>
              <a:buFont typeface="Wingdings" charset="2"/>
              <a:buNone/>
              <a:defRPr/>
            </a:pPr>
            <a:endParaRPr lang="en-US" altLang="x-none" sz="2800" dirty="0">
              <a:ea typeface="ＭＳ Ｐゴシック" charset="-128"/>
            </a:endParaRPr>
          </a:p>
          <a:p>
            <a:pPr eaLnBrk="1" hangingPunct="1">
              <a:lnSpc>
                <a:spcPct val="90000"/>
              </a:lnSpc>
              <a:buFont typeface="Wingdings" charset="2"/>
              <a:buChar char="l"/>
              <a:defRPr/>
            </a:pPr>
            <a:endParaRPr lang="en-US" altLang="x-none" sz="2800" dirty="0">
              <a:ea typeface="ＭＳ Ｐゴシック"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9F610C79-340D-BF3B-2809-18F4DADDDD28}"/>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367619" name="Rectangle 3">
            <a:extLst>
              <a:ext uri="{FF2B5EF4-FFF2-40B4-BE49-F238E27FC236}">
                <a16:creationId xmlns:a16="http://schemas.microsoft.com/office/drawing/2014/main" id="{FCE71FF4-85BD-46B7-1E03-370E207FB15D}"/>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26627" name="Picture 4" descr="Foucault, Michel">
            <a:extLst>
              <a:ext uri="{FF2B5EF4-FFF2-40B4-BE49-F238E27FC236}">
                <a16:creationId xmlns:a16="http://schemas.microsoft.com/office/drawing/2014/main" id="{2D64D65F-C194-275E-FA8F-9CAF6B6A9A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3657600" cy="418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5" descr="Foucault (book cover 1)">
            <a:extLst>
              <a:ext uri="{FF2B5EF4-FFF2-40B4-BE49-F238E27FC236}">
                <a16:creationId xmlns:a16="http://schemas.microsoft.com/office/drawing/2014/main" id="{40181016-ADF8-D7A7-2E0E-6F5825AE3C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762000"/>
            <a:ext cx="3657600" cy="55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222C2-AF3E-F9A7-5F86-7E8E13EA9719}"/>
              </a:ext>
            </a:extLst>
          </p:cNvPr>
          <p:cNvSpPr>
            <a:spLocks noGrp="1"/>
          </p:cNvSpPr>
          <p:nvPr>
            <p:ph type="title"/>
          </p:nvPr>
        </p:nvSpPr>
        <p:spPr>
          <a:xfrm>
            <a:off x="457200" y="277813"/>
            <a:ext cx="8229600" cy="941387"/>
          </a:xfrm>
        </p:spPr>
        <p:txBody>
          <a:bodyPr/>
          <a:lstStyle/>
          <a:p>
            <a:pPr eaLnBrk="1" hangingPunct="1">
              <a:defRPr/>
            </a:pPr>
            <a:r>
              <a:rPr lang="en-US" altLang="x-none" sz="4000" dirty="0">
                <a:solidFill>
                  <a:srgbClr val="FFFF00"/>
                </a:solidFill>
                <a:ea typeface="ＭＳ Ｐゴシック" charset="-128"/>
              </a:rPr>
              <a:t>Discourses</a:t>
            </a:r>
          </a:p>
        </p:txBody>
      </p:sp>
      <p:sp>
        <p:nvSpPr>
          <p:cNvPr id="3" name="Content Placeholder 2">
            <a:extLst>
              <a:ext uri="{FF2B5EF4-FFF2-40B4-BE49-F238E27FC236}">
                <a16:creationId xmlns:a16="http://schemas.microsoft.com/office/drawing/2014/main" id="{C7F24E69-C6A5-688B-07F9-A94A2507A1E4}"/>
              </a:ext>
            </a:extLst>
          </p:cNvPr>
          <p:cNvSpPr>
            <a:spLocks noGrp="1"/>
          </p:cNvSpPr>
          <p:nvPr>
            <p:ph idx="1"/>
          </p:nvPr>
        </p:nvSpPr>
        <p:spPr>
          <a:xfrm>
            <a:off x="457200" y="1371600"/>
            <a:ext cx="8229600" cy="4759325"/>
          </a:xfrm>
        </p:spPr>
        <p:txBody>
          <a:bodyPr/>
          <a:lstStyle/>
          <a:p>
            <a:pPr eaLnBrk="1" hangingPunct="1">
              <a:spcBef>
                <a:spcPct val="0"/>
              </a:spcBef>
              <a:buFont typeface="Wingdings" charset="2"/>
              <a:buNone/>
              <a:defRPr/>
            </a:pPr>
            <a:r>
              <a:rPr lang="en-US" altLang="x-none" sz="2600" dirty="0">
                <a:ea typeface="ＭＳ Ｐゴシック" charset="-128"/>
              </a:rPr>
              <a:t>Foucault argued that discourses</a:t>
            </a:r>
          </a:p>
          <a:p>
            <a:pPr eaLnBrk="1" hangingPunct="1">
              <a:spcBef>
                <a:spcPct val="0"/>
              </a:spcBef>
              <a:buFont typeface="Wingdings" charset="2"/>
              <a:buNone/>
              <a:defRPr/>
            </a:pPr>
            <a:r>
              <a:rPr lang="en-US" altLang="x-none" sz="2600" u="sng" dirty="0">
                <a:solidFill>
                  <a:srgbClr val="00B0F0"/>
                </a:solidFill>
                <a:ea typeface="ＭＳ Ｐゴシック" charset="-128"/>
              </a:rPr>
              <a:t>produce</a:t>
            </a:r>
            <a:r>
              <a:rPr lang="en-US" altLang="x-none" sz="2600" dirty="0">
                <a:ea typeface="ＭＳ Ｐゴシック" charset="-128"/>
              </a:rPr>
              <a:t> what we come to see as</a:t>
            </a:r>
          </a:p>
          <a:p>
            <a:pPr eaLnBrk="1" hangingPunct="1">
              <a:spcBef>
                <a:spcPct val="0"/>
              </a:spcBef>
              <a:buFont typeface="Wingdings" charset="2"/>
              <a:buNone/>
              <a:defRPr/>
            </a:pPr>
            <a:r>
              <a:rPr lang="en-US" altLang="x-none" sz="2600" dirty="0">
                <a:ea typeface="ＭＳ Ｐゴシック" charset="-128"/>
              </a:rPr>
              <a:t>real, and therefore what becomes real.</a:t>
            </a:r>
          </a:p>
          <a:p>
            <a:pPr eaLnBrk="1" hangingPunct="1">
              <a:spcBef>
                <a:spcPct val="0"/>
              </a:spcBef>
              <a:buFont typeface="Wingdings" charset="2"/>
              <a:buNone/>
              <a:defRPr/>
            </a:pPr>
            <a:endParaRPr lang="en-US" altLang="x-none" sz="2600" dirty="0">
              <a:ea typeface="ＭＳ Ｐゴシック" charset="-128"/>
            </a:endParaRPr>
          </a:p>
          <a:p>
            <a:pPr eaLnBrk="1" hangingPunct="1">
              <a:spcBef>
                <a:spcPct val="0"/>
              </a:spcBef>
              <a:buFont typeface="Wingdings" charset="2"/>
              <a:buNone/>
              <a:defRPr/>
            </a:pPr>
            <a:r>
              <a:rPr lang="en-US" altLang="x-none" sz="2600" dirty="0">
                <a:ea typeface="ＭＳ Ｐゴシック" charset="-128"/>
              </a:rPr>
              <a:t>They determine what </a:t>
            </a:r>
            <a:r>
              <a:rPr lang="en-US" altLang="x-none" sz="2600" i="1" dirty="0">
                <a:ea typeface="ＭＳ Ｐゴシック" charset="-128"/>
              </a:rPr>
              <a:t>can</a:t>
            </a:r>
            <a:r>
              <a:rPr lang="en-US" altLang="x-none" sz="2600" dirty="0">
                <a:ea typeface="ＭＳ Ｐゴシック" charset="-128"/>
              </a:rPr>
              <a:t> (not just </a:t>
            </a:r>
            <a:r>
              <a:rPr lang="ja-JP" altLang="en-US" sz="2600">
                <a:ea typeface="ＭＳ Ｐゴシック" charset="-128"/>
              </a:rPr>
              <a:t>“</a:t>
            </a:r>
            <a:r>
              <a:rPr lang="en-US" altLang="ja-JP" sz="2600" dirty="0">
                <a:ea typeface="ＭＳ Ｐゴシック" charset="-128"/>
              </a:rPr>
              <a:t>may</a:t>
            </a:r>
            <a:r>
              <a:rPr lang="ja-JP" altLang="en-US" sz="2600">
                <a:ea typeface="ＭＳ Ｐゴシック" charset="-128"/>
              </a:rPr>
              <a:t>”</a:t>
            </a:r>
            <a:r>
              <a:rPr lang="en-US" altLang="ja-JP" sz="2600" dirty="0">
                <a:ea typeface="ＭＳ Ｐゴシック" charset="-128"/>
              </a:rPr>
              <a:t>)</a:t>
            </a:r>
          </a:p>
          <a:p>
            <a:pPr eaLnBrk="1" hangingPunct="1">
              <a:spcBef>
                <a:spcPct val="0"/>
              </a:spcBef>
              <a:buFont typeface="Wingdings" charset="2"/>
              <a:buNone/>
              <a:defRPr/>
            </a:pPr>
            <a:r>
              <a:rPr lang="en-US" altLang="x-none" sz="2600" dirty="0">
                <a:ea typeface="ＭＳ Ｐゴシック" charset="-128"/>
              </a:rPr>
              <a:t>be said, and even what can be thought.</a:t>
            </a:r>
          </a:p>
          <a:p>
            <a:pPr eaLnBrk="1" hangingPunct="1">
              <a:spcBef>
                <a:spcPct val="0"/>
              </a:spcBef>
              <a:buFont typeface="Wingdings" charset="2"/>
              <a:buNone/>
              <a:defRPr/>
            </a:pPr>
            <a:endParaRPr lang="en-US" altLang="x-none" sz="2600" dirty="0">
              <a:ea typeface="ＭＳ Ｐゴシック" charset="-128"/>
            </a:endParaRPr>
          </a:p>
        </p:txBody>
      </p:sp>
      <p:pic>
        <p:nvPicPr>
          <p:cNvPr id="28675" name="Picture 4" descr="Foucault, Michel">
            <a:extLst>
              <a:ext uri="{FF2B5EF4-FFF2-40B4-BE49-F238E27FC236}">
                <a16:creationId xmlns:a16="http://schemas.microsoft.com/office/drawing/2014/main" id="{220A38E9-A700-259A-3D6F-DF8755C519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75" y="609600"/>
            <a:ext cx="23971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0BE4-E984-8710-BA9A-DBCD664EF733}"/>
              </a:ext>
            </a:extLst>
          </p:cNvPr>
          <p:cNvSpPr>
            <a:spLocks noGrp="1"/>
          </p:cNvSpPr>
          <p:nvPr>
            <p:ph type="title"/>
          </p:nvPr>
        </p:nvSpPr>
        <p:spPr>
          <a:xfrm>
            <a:off x="457200" y="277813"/>
            <a:ext cx="8229600" cy="941387"/>
          </a:xfrm>
        </p:spPr>
        <p:txBody>
          <a:bodyPr/>
          <a:lstStyle/>
          <a:p>
            <a:pPr eaLnBrk="1" hangingPunct="1">
              <a:defRPr/>
            </a:pPr>
            <a:r>
              <a:rPr lang="en-US" altLang="x-none" sz="4000" dirty="0">
                <a:solidFill>
                  <a:srgbClr val="FFFF00"/>
                </a:solidFill>
                <a:ea typeface="ＭＳ Ｐゴシック" charset="-128"/>
              </a:rPr>
              <a:t>Discourses</a:t>
            </a:r>
          </a:p>
        </p:txBody>
      </p:sp>
      <p:sp>
        <p:nvSpPr>
          <p:cNvPr id="3" name="Content Placeholder 2">
            <a:extLst>
              <a:ext uri="{FF2B5EF4-FFF2-40B4-BE49-F238E27FC236}">
                <a16:creationId xmlns:a16="http://schemas.microsoft.com/office/drawing/2014/main" id="{05A4F7E8-B3F5-929F-5BDF-1161ADF8D286}"/>
              </a:ext>
            </a:extLst>
          </p:cNvPr>
          <p:cNvSpPr>
            <a:spLocks noGrp="1"/>
          </p:cNvSpPr>
          <p:nvPr>
            <p:ph idx="1"/>
          </p:nvPr>
        </p:nvSpPr>
        <p:spPr>
          <a:xfrm>
            <a:off x="457200" y="1371600"/>
            <a:ext cx="8229600" cy="4759325"/>
          </a:xfrm>
        </p:spPr>
        <p:txBody>
          <a:bodyPr/>
          <a:lstStyle/>
          <a:p>
            <a:pPr eaLnBrk="1" hangingPunct="1">
              <a:spcBef>
                <a:spcPct val="0"/>
              </a:spcBef>
              <a:buFont typeface="Wingdings" charset="2"/>
              <a:buNone/>
              <a:defRPr/>
            </a:pPr>
            <a:r>
              <a:rPr lang="en-US" altLang="x-none" sz="2600" dirty="0">
                <a:ea typeface="ＭＳ Ｐゴシック" charset="-128"/>
              </a:rPr>
              <a:t>Foucault argued that discourses</a:t>
            </a:r>
          </a:p>
          <a:p>
            <a:pPr eaLnBrk="1" hangingPunct="1">
              <a:spcBef>
                <a:spcPct val="0"/>
              </a:spcBef>
              <a:buFont typeface="Wingdings" charset="2"/>
              <a:buNone/>
              <a:defRPr/>
            </a:pPr>
            <a:r>
              <a:rPr lang="en-US" altLang="x-none" sz="2600" u="sng" dirty="0">
                <a:solidFill>
                  <a:srgbClr val="00B0F0"/>
                </a:solidFill>
                <a:ea typeface="ＭＳ Ｐゴシック" charset="-128"/>
              </a:rPr>
              <a:t>produce</a:t>
            </a:r>
            <a:r>
              <a:rPr lang="en-US" altLang="x-none" sz="2600" dirty="0">
                <a:ea typeface="ＭＳ Ｐゴシック" charset="-128"/>
              </a:rPr>
              <a:t> what we come to see as</a:t>
            </a:r>
          </a:p>
          <a:p>
            <a:pPr eaLnBrk="1" hangingPunct="1">
              <a:spcBef>
                <a:spcPct val="0"/>
              </a:spcBef>
              <a:buFont typeface="Wingdings" charset="2"/>
              <a:buNone/>
              <a:defRPr/>
            </a:pPr>
            <a:r>
              <a:rPr lang="en-US" altLang="x-none" sz="2600" dirty="0">
                <a:ea typeface="ＭＳ Ｐゴシック" charset="-128"/>
              </a:rPr>
              <a:t>real, and therefore what becomes real.</a:t>
            </a:r>
          </a:p>
          <a:p>
            <a:pPr eaLnBrk="1" hangingPunct="1">
              <a:spcBef>
                <a:spcPct val="0"/>
              </a:spcBef>
              <a:buFont typeface="Wingdings" charset="2"/>
              <a:buNone/>
              <a:defRPr/>
            </a:pPr>
            <a:endParaRPr lang="en-US" altLang="x-none" sz="2600" dirty="0">
              <a:ea typeface="ＭＳ Ｐゴシック" charset="-128"/>
            </a:endParaRPr>
          </a:p>
          <a:p>
            <a:pPr eaLnBrk="1" hangingPunct="1">
              <a:spcBef>
                <a:spcPct val="0"/>
              </a:spcBef>
              <a:buFont typeface="Wingdings" charset="2"/>
              <a:buNone/>
              <a:defRPr/>
            </a:pPr>
            <a:r>
              <a:rPr lang="en-US" altLang="x-none" sz="2600" dirty="0">
                <a:ea typeface="ＭＳ Ｐゴシック" charset="-128"/>
              </a:rPr>
              <a:t>They determine what </a:t>
            </a:r>
            <a:r>
              <a:rPr lang="en-US" altLang="x-none" sz="2600" i="1" dirty="0">
                <a:ea typeface="ＭＳ Ｐゴシック" charset="-128"/>
              </a:rPr>
              <a:t>can</a:t>
            </a:r>
            <a:r>
              <a:rPr lang="en-US" altLang="x-none" sz="2600" dirty="0">
                <a:ea typeface="ＭＳ Ｐゴシック" charset="-128"/>
              </a:rPr>
              <a:t> (not just </a:t>
            </a:r>
            <a:r>
              <a:rPr lang="ja-JP" altLang="en-US" sz="2600">
                <a:ea typeface="ＭＳ Ｐゴシック" charset="-128"/>
              </a:rPr>
              <a:t>“</a:t>
            </a:r>
            <a:r>
              <a:rPr lang="en-US" altLang="ja-JP" sz="2600" dirty="0">
                <a:ea typeface="ＭＳ Ｐゴシック" charset="-128"/>
              </a:rPr>
              <a:t>may</a:t>
            </a:r>
            <a:r>
              <a:rPr lang="ja-JP" altLang="en-US" sz="2600">
                <a:ea typeface="ＭＳ Ｐゴシック" charset="-128"/>
              </a:rPr>
              <a:t>”</a:t>
            </a:r>
            <a:r>
              <a:rPr lang="en-US" altLang="ja-JP" sz="2600" dirty="0">
                <a:ea typeface="ＭＳ Ｐゴシック" charset="-128"/>
              </a:rPr>
              <a:t>)</a:t>
            </a:r>
          </a:p>
          <a:p>
            <a:pPr eaLnBrk="1" hangingPunct="1">
              <a:spcBef>
                <a:spcPct val="0"/>
              </a:spcBef>
              <a:buFont typeface="Wingdings" charset="2"/>
              <a:buNone/>
              <a:defRPr/>
            </a:pPr>
            <a:r>
              <a:rPr lang="en-US" altLang="x-none" sz="2600" dirty="0">
                <a:ea typeface="ＭＳ Ｐゴシック" charset="-128"/>
              </a:rPr>
              <a:t>be said, and even what can be thought.</a:t>
            </a:r>
          </a:p>
          <a:p>
            <a:pPr eaLnBrk="1" hangingPunct="1">
              <a:spcBef>
                <a:spcPct val="0"/>
              </a:spcBef>
              <a:buFont typeface="Wingdings" charset="2"/>
              <a:buNone/>
              <a:defRPr/>
            </a:pPr>
            <a:endParaRPr lang="en-US" altLang="x-none" sz="2600" dirty="0">
              <a:ea typeface="ＭＳ Ｐゴシック" charset="-128"/>
            </a:endParaRPr>
          </a:p>
          <a:p>
            <a:pPr eaLnBrk="1" hangingPunct="1">
              <a:spcBef>
                <a:spcPct val="0"/>
              </a:spcBef>
              <a:buFont typeface="Wingdings" charset="2"/>
              <a:buNone/>
              <a:defRPr/>
            </a:pPr>
            <a:r>
              <a:rPr lang="en-US" altLang="x-none" sz="2400" i="1" dirty="0">
                <a:solidFill>
                  <a:srgbClr val="FFFF00"/>
                </a:solidFill>
                <a:effectLst>
                  <a:outerShdw blurRad="38100" dist="38100" dir="2700000" algn="tl">
                    <a:srgbClr val="FFFFFF"/>
                  </a:outerShdw>
                </a:effectLst>
                <a:ea typeface="ＭＳ Ｐゴシック" charset="-128"/>
              </a:rPr>
              <a:t>IR theories such as Realism and Liberalism can be regarded as </a:t>
            </a:r>
            <a:r>
              <a:rPr lang="ja-JP" altLang="en-US" sz="2400" i="1">
                <a:solidFill>
                  <a:srgbClr val="FFFF00"/>
                </a:solidFill>
                <a:effectLst>
                  <a:outerShdw blurRad="38100" dist="38100" dir="2700000" algn="tl">
                    <a:srgbClr val="FFFFFF"/>
                  </a:outerShdw>
                </a:effectLst>
                <a:ea typeface="ＭＳ Ｐゴシック" charset="-128"/>
              </a:rPr>
              <a:t>“</a:t>
            </a:r>
            <a:r>
              <a:rPr lang="en-US" altLang="ja-JP" sz="2400" i="1" dirty="0">
                <a:solidFill>
                  <a:srgbClr val="FFFF00"/>
                </a:solidFill>
                <a:effectLst>
                  <a:outerShdw blurRad="38100" dist="38100" dir="2700000" algn="tl">
                    <a:srgbClr val="FFFFFF"/>
                  </a:outerShdw>
                </a:effectLst>
                <a:ea typeface="ＭＳ Ｐゴシック" charset="-128"/>
              </a:rPr>
              <a:t>root discourses"</a:t>
            </a:r>
            <a:r>
              <a:rPr lang="en-US" altLang="ja-JP" sz="2400" dirty="0">
                <a:solidFill>
                  <a:srgbClr val="FFFF00"/>
                </a:solidFill>
                <a:effectLst>
                  <a:outerShdw blurRad="38100" dist="38100" dir="2700000" algn="tl">
                    <a:srgbClr val="FFFFFF"/>
                  </a:outerShdw>
                </a:effectLst>
                <a:ea typeface="ＭＳ Ｐゴシック" charset="-128"/>
              </a:rPr>
              <a:t> </a:t>
            </a:r>
            <a:r>
              <a:rPr lang="en-US" altLang="ja-JP" sz="2400" dirty="0">
                <a:ea typeface="ＭＳ Ｐゴシック" charset="-128"/>
              </a:rPr>
              <a:t>that established what became deep-seated, historically-rooted grooves of thought.  </a:t>
            </a:r>
            <a:endParaRPr lang="en-US" altLang="x-none" sz="2400" dirty="0">
              <a:ea typeface="ＭＳ Ｐゴシック" charset="-128"/>
            </a:endParaRPr>
          </a:p>
        </p:txBody>
      </p:sp>
      <p:pic>
        <p:nvPicPr>
          <p:cNvPr id="29699" name="Picture 4" descr="Foucault, Michel">
            <a:extLst>
              <a:ext uri="{FF2B5EF4-FFF2-40B4-BE49-F238E27FC236}">
                <a16:creationId xmlns:a16="http://schemas.microsoft.com/office/drawing/2014/main" id="{057A9DE4-9923-8D1C-1BEF-F5A1CBCA9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75" y="609600"/>
            <a:ext cx="23971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01A1-4F99-1225-90F4-BD8D727387C4}"/>
              </a:ext>
            </a:extLst>
          </p:cNvPr>
          <p:cNvSpPr>
            <a:spLocks noGrp="1"/>
          </p:cNvSpPr>
          <p:nvPr>
            <p:ph type="title"/>
          </p:nvPr>
        </p:nvSpPr>
        <p:spPr>
          <a:xfrm>
            <a:off x="457200" y="277813"/>
            <a:ext cx="8229600" cy="941387"/>
          </a:xfrm>
        </p:spPr>
        <p:txBody>
          <a:bodyPr/>
          <a:lstStyle/>
          <a:p>
            <a:pPr eaLnBrk="1" hangingPunct="1">
              <a:defRPr/>
            </a:pPr>
            <a:r>
              <a:rPr lang="en-US" altLang="x-none" sz="4000" dirty="0">
                <a:solidFill>
                  <a:srgbClr val="FFFF00"/>
                </a:solidFill>
                <a:ea typeface="ＭＳ Ｐゴシック" charset="-128"/>
              </a:rPr>
              <a:t>Discourses</a:t>
            </a:r>
          </a:p>
        </p:txBody>
      </p:sp>
      <p:sp>
        <p:nvSpPr>
          <p:cNvPr id="3" name="Content Placeholder 2">
            <a:extLst>
              <a:ext uri="{FF2B5EF4-FFF2-40B4-BE49-F238E27FC236}">
                <a16:creationId xmlns:a16="http://schemas.microsoft.com/office/drawing/2014/main" id="{F020C181-D3FF-E9C9-BD49-26FC7D600FE6}"/>
              </a:ext>
            </a:extLst>
          </p:cNvPr>
          <p:cNvSpPr>
            <a:spLocks noGrp="1"/>
          </p:cNvSpPr>
          <p:nvPr>
            <p:ph idx="1"/>
          </p:nvPr>
        </p:nvSpPr>
        <p:spPr>
          <a:xfrm>
            <a:off x="457200" y="1371600"/>
            <a:ext cx="8229600" cy="4759325"/>
          </a:xfrm>
        </p:spPr>
        <p:txBody>
          <a:bodyPr/>
          <a:lstStyle/>
          <a:p>
            <a:pPr eaLnBrk="1" hangingPunct="1">
              <a:spcBef>
                <a:spcPct val="0"/>
              </a:spcBef>
              <a:buFont typeface="Wingdings" charset="2"/>
              <a:buNone/>
              <a:defRPr/>
            </a:pPr>
            <a:r>
              <a:rPr lang="en-US" altLang="x-none" sz="2600" dirty="0">
                <a:ea typeface="ＭＳ Ｐゴシック" charset="-128"/>
              </a:rPr>
              <a:t>Foucault argued that discourses</a:t>
            </a:r>
          </a:p>
          <a:p>
            <a:pPr eaLnBrk="1" hangingPunct="1">
              <a:spcBef>
                <a:spcPct val="0"/>
              </a:spcBef>
              <a:buFont typeface="Wingdings" charset="2"/>
              <a:buNone/>
              <a:defRPr/>
            </a:pPr>
            <a:r>
              <a:rPr lang="en-US" altLang="x-none" sz="2600" u="sng" dirty="0">
                <a:solidFill>
                  <a:srgbClr val="00B0F0"/>
                </a:solidFill>
                <a:ea typeface="ＭＳ Ｐゴシック" charset="-128"/>
              </a:rPr>
              <a:t>produce</a:t>
            </a:r>
            <a:r>
              <a:rPr lang="en-US" altLang="x-none" sz="2600" dirty="0">
                <a:ea typeface="ＭＳ Ｐゴシック" charset="-128"/>
              </a:rPr>
              <a:t> what we come to see as</a:t>
            </a:r>
          </a:p>
          <a:p>
            <a:pPr eaLnBrk="1" hangingPunct="1">
              <a:spcBef>
                <a:spcPct val="0"/>
              </a:spcBef>
              <a:buFont typeface="Wingdings" charset="2"/>
              <a:buNone/>
              <a:defRPr/>
            </a:pPr>
            <a:r>
              <a:rPr lang="en-US" altLang="x-none" sz="2600" dirty="0">
                <a:ea typeface="ＭＳ Ｐゴシック" charset="-128"/>
              </a:rPr>
              <a:t>real, and therefore what becomes real.</a:t>
            </a:r>
          </a:p>
          <a:p>
            <a:pPr eaLnBrk="1" hangingPunct="1">
              <a:spcBef>
                <a:spcPct val="0"/>
              </a:spcBef>
              <a:buFont typeface="Wingdings" charset="2"/>
              <a:buNone/>
              <a:defRPr/>
            </a:pPr>
            <a:endParaRPr lang="en-US" altLang="x-none" sz="2600" dirty="0">
              <a:ea typeface="ＭＳ Ｐゴシック" charset="-128"/>
            </a:endParaRPr>
          </a:p>
          <a:p>
            <a:pPr eaLnBrk="1" hangingPunct="1">
              <a:spcBef>
                <a:spcPct val="0"/>
              </a:spcBef>
              <a:buFont typeface="Wingdings" charset="2"/>
              <a:buNone/>
              <a:defRPr/>
            </a:pPr>
            <a:r>
              <a:rPr lang="en-US" altLang="x-none" sz="2600" dirty="0">
                <a:ea typeface="ＭＳ Ｐゴシック" charset="-128"/>
              </a:rPr>
              <a:t>They determine what </a:t>
            </a:r>
            <a:r>
              <a:rPr lang="en-US" altLang="x-none" sz="2600" i="1" dirty="0">
                <a:ea typeface="ＭＳ Ｐゴシック" charset="-128"/>
              </a:rPr>
              <a:t>can</a:t>
            </a:r>
            <a:r>
              <a:rPr lang="en-US" altLang="x-none" sz="2600" dirty="0">
                <a:ea typeface="ＭＳ Ｐゴシック" charset="-128"/>
              </a:rPr>
              <a:t> (not just </a:t>
            </a:r>
            <a:r>
              <a:rPr lang="ja-JP" altLang="en-US" sz="2600">
                <a:ea typeface="ＭＳ Ｐゴシック" charset="-128"/>
              </a:rPr>
              <a:t>“</a:t>
            </a:r>
            <a:r>
              <a:rPr lang="en-US" altLang="ja-JP" sz="2600" dirty="0">
                <a:ea typeface="ＭＳ Ｐゴシック" charset="-128"/>
              </a:rPr>
              <a:t>may</a:t>
            </a:r>
            <a:r>
              <a:rPr lang="ja-JP" altLang="en-US" sz="2600">
                <a:ea typeface="ＭＳ Ｐゴシック" charset="-128"/>
              </a:rPr>
              <a:t>”</a:t>
            </a:r>
            <a:r>
              <a:rPr lang="en-US" altLang="ja-JP" sz="2600" dirty="0">
                <a:ea typeface="ＭＳ Ｐゴシック" charset="-128"/>
              </a:rPr>
              <a:t>)</a:t>
            </a:r>
          </a:p>
          <a:p>
            <a:pPr eaLnBrk="1" hangingPunct="1">
              <a:spcBef>
                <a:spcPct val="0"/>
              </a:spcBef>
              <a:buFont typeface="Wingdings" charset="2"/>
              <a:buNone/>
              <a:defRPr/>
            </a:pPr>
            <a:r>
              <a:rPr lang="en-US" altLang="x-none" sz="2600" dirty="0">
                <a:ea typeface="ＭＳ Ｐゴシック" charset="-128"/>
              </a:rPr>
              <a:t>be said, and even what can be thought.</a:t>
            </a:r>
          </a:p>
          <a:p>
            <a:pPr eaLnBrk="1" hangingPunct="1">
              <a:spcBef>
                <a:spcPct val="0"/>
              </a:spcBef>
              <a:buFont typeface="Wingdings" charset="2"/>
              <a:buNone/>
              <a:defRPr/>
            </a:pPr>
            <a:endParaRPr lang="en-US" altLang="x-none" sz="2600" dirty="0">
              <a:ea typeface="ＭＳ Ｐゴシック" charset="-128"/>
            </a:endParaRPr>
          </a:p>
          <a:p>
            <a:pPr eaLnBrk="1" hangingPunct="1">
              <a:spcBef>
                <a:spcPct val="0"/>
              </a:spcBef>
              <a:buFont typeface="Wingdings" charset="2"/>
              <a:buNone/>
              <a:defRPr/>
            </a:pPr>
            <a:r>
              <a:rPr lang="en-US" altLang="x-none" sz="2400" i="1" dirty="0">
                <a:solidFill>
                  <a:srgbClr val="FFFF00"/>
                </a:solidFill>
                <a:effectLst>
                  <a:outerShdw blurRad="38100" dist="38100" dir="2700000" algn="tl">
                    <a:srgbClr val="FFFFFF"/>
                  </a:outerShdw>
                </a:effectLst>
                <a:ea typeface="ＭＳ Ｐゴシック" charset="-128"/>
              </a:rPr>
              <a:t>IR theories such as Realism and Liberalism can be regarded as </a:t>
            </a:r>
            <a:r>
              <a:rPr lang="ja-JP" altLang="en-US" sz="2400" i="1">
                <a:solidFill>
                  <a:srgbClr val="FFFF00"/>
                </a:solidFill>
                <a:effectLst>
                  <a:outerShdw blurRad="38100" dist="38100" dir="2700000" algn="tl">
                    <a:srgbClr val="FFFFFF"/>
                  </a:outerShdw>
                </a:effectLst>
                <a:ea typeface="ＭＳ Ｐゴシック" charset="-128"/>
              </a:rPr>
              <a:t>“</a:t>
            </a:r>
            <a:r>
              <a:rPr lang="en-US" altLang="ja-JP" sz="2400" i="1" dirty="0">
                <a:solidFill>
                  <a:srgbClr val="FFFF00"/>
                </a:solidFill>
                <a:effectLst>
                  <a:outerShdw blurRad="38100" dist="38100" dir="2700000" algn="tl">
                    <a:srgbClr val="FFFFFF"/>
                  </a:outerShdw>
                </a:effectLst>
                <a:ea typeface="ＭＳ Ｐゴシック" charset="-128"/>
              </a:rPr>
              <a:t>root discourses” </a:t>
            </a:r>
            <a:r>
              <a:rPr lang="en-US" altLang="ja-JP" sz="2400" dirty="0">
                <a:ea typeface="ＭＳ Ｐゴシック" charset="-128"/>
              </a:rPr>
              <a:t>that established what became deep-seated, historically-rooted grooves of thought.  </a:t>
            </a:r>
            <a:r>
              <a:rPr lang="en-US" altLang="ja-JP" sz="2400" i="1" dirty="0">
                <a:ea typeface="ＭＳ Ｐゴシック" charset="-128"/>
              </a:rPr>
              <a:t>These grooves powerfully channeled and conditioned later thinking after they became, through repetition, </a:t>
            </a:r>
            <a:r>
              <a:rPr lang="ja-JP" altLang="en-US" sz="2400" i="1">
                <a:ea typeface="ＭＳ Ｐゴシック" charset="-128"/>
              </a:rPr>
              <a:t>“</a:t>
            </a:r>
            <a:r>
              <a:rPr lang="en-US" altLang="ja-JP" sz="2400" i="1" dirty="0">
                <a:ea typeface="ＭＳ Ｐゴシック" charset="-128"/>
              </a:rPr>
              <a:t>obvious,</a:t>
            </a:r>
            <a:r>
              <a:rPr lang="ja-JP" altLang="en-US" sz="2400" i="1">
                <a:ea typeface="ＭＳ Ｐゴシック" charset="-128"/>
              </a:rPr>
              <a:t>”</a:t>
            </a:r>
            <a:r>
              <a:rPr lang="en-US" altLang="ja-JP" sz="2400" i="1" dirty="0">
                <a:ea typeface="ＭＳ Ｐゴシック" charset="-128"/>
              </a:rPr>
              <a:t> </a:t>
            </a:r>
            <a:r>
              <a:rPr lang="ja-JP" altLang="en-US" sz="2400" i="1">
                <a:ea typeface="ＭＳ Ｐゴシック" charset="-128"/>
              </a:rPr>
              <a:t>“</a:t>
            </a:r>
            <a:r>
              <a:rPr lang="en-US" altLang="ja-JP" sz="2400" i="1" dirty="0">
                <a:ea typeface="ＭＳ Ｐゴシック" charset="-128"/>
              </a:rPr>
              <a:t>natural,</a:t>
            </a:r>
            <a:r>
              <a:rPr lang="ja-JP" altLang="en-US" sz="2400" i="1">
                <a:ea typeface="ＭＳ Ｐゴシック" charset="-128"/>
              </a:rPr>
              <a:t>”</a:t>
            </a:r>
            <a:r>
              <a:rPr lang="en-US" altLang="ja-JP" sz="2400" i="1" dirty="0">
                <a:ea typeface="ＭＳ Ｐゴシック" charset="-128"/>
              </a:rPr>
              <a:t> self-evident truths.</a:t>
            </a:r>
            <a:endParaRPr lang="en-US" altLang="x-none" sz="2400" i="1" dirty="0">
              <a:ea typeface="ＭＳ Ｐゴシック" charset="-128"/>
            </a:endParaRPr>
          </a:p>
        </p:txBody>
      </p:sp>
      <p:pic>
        <p:nvPicPr>
          <p:cNvPr id="30723" name="Picture 4" descr="Foucault, Michel">
            <a:extLst>
              <a:ext uri="{FF2B5EF4-FFF2-40B4-BE49-F238E27FC236}">
                <a16:creationId xmlns:a16="http://schemas.microsoft.com/office/drawing/2014/main" id="{E4143560-273A-E349-1F7D-533AA44C5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75" y="609600"/>
            <a:ext cx="23971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DA257E6-0C3D-ABAD-2061-95CCAA9527D8}"/>
              </a:ext>
            </a:extLst>
          </p:cNvPr>
          <p:cNvSpPr>
            <a:spLocks noGrp="1" noChangeArrowheads="1"/>
          </p:cNvSpPr>
          <p:nvPr>
            <p:ph type="title"/>
          </p:nvPr>
        </p:nvSpPr>
        <p:spPr>
          <a:xfrm>
            <a:off x="0" y="76200"/>
            <a:ext cx="9144000" cy="838200"/>
          </a:xfrm>
        </p:spPr>
        <p:txBody>
          <a:bodyPr/>
          <a:lstStyle/>
          <a:p>
            <a:pPr eaLnBrk="1" hangingPunct="1">
              <a:defRPr/>
            </a:pPr>
            <a:r>
              <a:rPr lang="en-US" altLang="x-none" sz="3200" dirty="0">
                <a:solidFill>
                  <a:srgbClr val="FFFF00"/>
                </a:solidFill>
                <a:ea typeface="ＭＳ Ｐゴシック" charset="-128"/>
              </a:rPr>
              <a:t>What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so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root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about Realism </a:t>
            </a:r>
            <a:br>
              <a:rPr lang="en-US" altLang="ja-JP" sz="3200" dirty="0">
                <a:solidFill>
                  <a:srgbClr val="FFFF00"/>
                </a:solidFill>
                <a:ea typeface="ＭＳ Ｐゴシック" charset="-128"/>
              </a:rPr>
            </a:br>
            <a:r>
              <a:rPr lang="en-US" altLang="ja-JP" sz="3200" dirty="0">
                <a:solidFill>
                  <a:srgbClr val="FFFF00"/>
                </a:solidFill>
                <a:ea typeface="ＭＳ Ｐゴシック" charset="-128"/>
              </a:rPr>
              <a:t>as an IR Discourse?</a:t>
            </a:r>
            <a:endParaRPr lang="en-US" altLang="x-none" sz="3200" dirty="0">
              <a:solidFill>
                <a:srgbClr val="FFFF00"/>
              </a:solidFill>
              <a:ea typeface="ＭＳ Ｐゴシック" charset="-128"/>
            </a:endParaRPr>
          </a:p>
        </p:txBody>
      </p:sp>
      <p:sp>
        <p:nvSpPr>
          <p:cNvPr id="7171" name="Rectangle 3">
            <a:extLst>
              <a:ext uri="{FF2B5EF4-FFF2-40B4-BE49-F238E27FC236}">
                <a16:creationId xmlns:a16="http://schemas.microsoft.com/office/drawing/2014/main" id="{00FEDA61-8704-C89A-FD62-058BA344CC39}"/>
              </a:ext>
            </a:extLst>
          </p:cNvPr>
          <p:cNvSpPr>
            <a:spLocks noGrp="1" noChangeArrowheads="1"/>
          </p:cNvSpPr>
          <p:nvPr>
            <p:ph type="body" idx="1"/>
          </p:nvPr>
        </p:nvSpPr>
        <p:spPr>
          <a:xfrm>
            <a:off x="457200" y="990600"/>
            <a:ext cx="8229600" cy="4800600"/>
          </a:xfrm>
        </p:spPr>
        <p:txBody>
          <a:bodyPr/>
          <a:lstStyle/>
          <a:p>
            <a:pPr eaLnBrk="1" hangingPunct="1">
              <a:lnSpc>
                <a:spcPct val="90000"/>
              </a:lnSpc>
              <a:buFont typeface="Wingdings" charset="2"/>
              <a:buChar char="l"/>
              <a:defRPr/>
            </a:pPr>
            <a:endParaRPr lang="en-US" altLang="x-none" sz="12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is the oldest </a:t>
            </a:r>
            <a:r>
              <a:rPr lang="ja-JP" altLang="en-US" sz="2000">
                <a:ea typeface="ＭＳ Ｐゴシック" charset="-128"/>
              </a:rPr>
              <a:t>“</a:t>
            </a:r>
            <a:r>
              <a:rPr lang="en-US" altLang="ja-JP" sz="2000" dirty="0">
                <a:ea typeface="ＭＳ Ｐゴシック" charset="-128"/>
              </a:rPr>
              <a:t>school</a:t>
            </a:r>
            <a:r>
              <a:rPr lang="ja-JP" altLang="en-US" sz="2000">
                <a:ea typeface="ＭＳ Ｐゴシック" charset="-128"/>
              </a:rPr>
              <a:t>”</a:t>
            </a:r>
            <a:r>
              <a:rPr lang="en-US" altLang="ja-JP" sz="2000" dirty="0">
                <a:ea typeface="ＭＳ Ｐゴシック" charset="-128"/>
              </a:rPr>
              <a:t> of thought in IR</a:t>
            </a:r>
          </a:p>
          <a:p>
            <a:pPr eaLnBrk="1" hangingPunct="1">
              <a:lnSpc>
                <a:spcPct val="90000"/>
              </a:lnSpc>
              <a:buFont typeface="Wingdings" charset="2"/>
              <a:buNone/>
              <a:defRPr/>
            </a:pPr>
            <a:endParaRPr lang="en-US" altLang="x-none" sz="2000" dirty="0">
              <a:ea typeface="ＭＳ Ｐゴシック" charset="-128"/>
            </a:endParaRPr>
          </a:p>
          <a:p>
            <a:pPr eaLnBrk="1" hangingPunct="1">
              <a:lnSpc>
                <a:spcPct val="90000"/>
              </a:lnSpc>
              <a:buFont typeface="Wingdings" charset="2"/>
              <a:buNone/>
              <a:defRPr/>
            </a:pPr>
            <a:endParaRPr lang="en-US" altLang="x-none" sz="1600" dirty="0">
              <a:ea typeface="ＭＳ Ｐゴシック"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E29A-3D4E-4C0B-A77C-8A3FF6B1E2F6}"/>
              </a:ext>
            </a:extLst>
          </p:cNvPr>
          <p:cNvSpPr>
            <a:spLocks noGrp="1"/>
          </p:cNvSpPr>
          <p:nvPr>
            <p:ph type="title"/>
          </p:nvPr>
        </p:nvSpPr>
        <p:spPr>
          <a:xfrm>
            <a:off x="457200" y="277813"/>
            <a:ext cx="8229600" cy="636587"/>
          </a:xfrm>
        </p:spPr>
        <p:txBody>
          <a:bodyPr/>
          <a:lstStyle/>
          <a:p>
            <a:pPr>
              <a:defRPr/>
            </a:pPr>
            <a:r>
              <a:rPr lang="en-US" altLang="x-none" sz="4000" dirty="0">
                <a:solidFill>
                  <a:srgbClr val="FFFF00"/>
                </a:solidFill>
                <a:ea typeface="ＭＳ Ｐゴシック" charset="-128"/>
              </a:rPr>
              <a:t>Thucydides</a:t>
            </a:r>
            <a:br>
              <a:rPr lang="en-US" altLang="x-none" sz="3600" dirty="0">
                <a:ea typeface="ＭＳ Ｐゴシック" charset="-128"/>
              </a:rPr>
            </a:br>
            <a:r>
              <a:rPr lang="en-US" altLang="x-none" sz="2400" dirty="0">
                <a:ea typeface="ＭＳ Ｐゴシック" charset="-128"/>
              </a:rPr>
              <a:t>(c. 460 BCE - 395 BCE)</a:t>
            </a:r>
          </a:p>
        </p:txBody>
      </p:sp>
      <p:pic>
        <p:nvPicPr>
          <p:cNvPr id="33794" name="Content Placeholder 3" descr="Thucydides.jpg">
            <a:extLst>
              <a:ext uri="{FF2B5EF4-FFF2-40B4-BE49-F238E27FC236}">
                <a16:creationId xmlns:a16="http://schemas.microsoft.com/office/drawing/2014/main" id="{C87037B3-1777-953F-F953-3457ECF603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1868" r="-51868"/>
          <a:stretch>
            <a:fillRect/>
          </a:stretch>
        </p:blipFill>
        <p:spPr>
          <a:xfrm>
            <a:off x="1219200" y="1335088"/>
            <a:ext cx="6694488" cy="3657600"/>
          </a:xfrm>
        </p:spPr>
      </p:pic>
      <p:sp>
        <p:nvSpPr>
          <p:cNvPr id="33795" name="TextBox 4">
            <a:extLst>
              <a:ext uri="{FF2B5EF4-FFF2-40B4-BE49-F238E27FC236}">
                <a16:creationId xmlns:a16="http://schemas.microsoft.com/office/drawing/2014/main" id="{2528C850-EC9F-0220-66D1-5442571D45AF}"/>
              </a:ext>
            </a:extLst>
          </p:cNvPr>
          <p:cNvSpPr txBox="1">
            <a:spLocks noChangeArrowheads="1"/>
          </p:cNvSpPr>
          <p:nvPr/>
        </p:nvSpPr>
        <p:spPr bwMode="auto">
          <a:xfrm>
            <a:off x="261938" y="5257800"/>
            <a:ext cx="8610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1600" i="1"/>
              <a:t>First </a:t>
            </a:r>
            <a:r>
              <a:rPr lang="en-US" altLang="en-US" sz="1600" i="1" u="sng"/>
              <a:t>known</a:t>
            </a:r>
            <a:r>
              <a:rPr lang="en-US" altLang="en-US" sz="1600" i="1"/>
              <a:t> Realist in the history of humanity—although very shortly thereafter, people thinking along similar lines appeared in China and elsewhere.  Thucydides analyzed the Peloponnesian War (431-404 BCE) and concluded (among many other things):</a:t>
            </a:r>
          </a:p>
          <a:p>
            <a:pPr algn="just" eaLnBrk="1" hangingPunct="1">
              <a:spcBef>
                <a:spcPct val="0"/>
              </a:spcBef>
              <a:buClrTx/>
              <a:buSzTx/>
              <a:buFontTx/>
              <a:buNone/>
            </a:pPr>
            <a:endParaRPr lang="en-US" altLang="en-US" sz="1600" i="1"/>
          </a:p>
          <a:p>
            <a:pPr algn="ctr" eaLnBrk="1" hangingPunct="1">
              <a:spcBef>
                <a:spcPct val="0"/>
              </a:spcBef>
              <a:buClrTx/>
              <a:buSzTx/>
              <a:buFontTx/>
              <a:buNone/>
            </a:pPr>
            <a:r>
              <a:rPr lang="en-US" altLang="en-US" sz="1600" b="1" i="1">
                <a:solidFill>
                  <a:srgbClr val="FFFF00"/>
                </a:solidFill>
              </a:rPr>
              <a:t>“The strong do what they can, and the weak suffer what they must.”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9AFB4-76CC-E704-B6B8-2F4F52B986E7}"/>
              </a:ext>
            </a:extLst>
          </p:cNvPr>
          <p:cNvSpPr>
            <a:spLocks noGrp="1"/>
          </p:cNvSpPr>
          <p:nvPr>
            <p:ph type="title" idx="4294967295"/>
          </p:nvPr>
        </p:nvSpPr>
        <p:spPr/>
        <p:txBody>
          <a:bodyPr/>
          <a:lstStyle/>
          <a:p>
            <a:pPr eaLnBrk="1" hangingPunct="1">
              <a:defRPr/>
            </a:pPr>
            <a:endParaRPr lang="en-US" altLang="en-US" sz="4000" dirty="0">
              <a:ea typeface="ＭＳ Ｐゴシック" panose="020B0600070205080204" pitchFamily="34" charset="-128"/>
            </a:endParaRPr>
          </a:p>
        </p:txBody>
      </p:sp>
      <p:pic>
        <p:nvPicPr>
          <p:cNvPr id="34818" name="Content Placeholder 3" descr="Security dilemma.jpg">
            <a:extLst>
              <a:ext uri="{FF2B5EF4-FFF2-40B4-BE49-F238E27FC236}">
                <a16:creationId xmlns:a16="http://schemas.microsoft.com/office/drawing/2014/main" id="{D688706A-E9DB-577E-C1BA-72B0469F5BF6}"/>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447800" y="381000"/>
            <a:ext cx="6248400" cy="4618038"/>
          </a:xfrm>
        </p:spPr>
      </p:pic>
      <p:sp>
        <p:nvSpPr>
          <p:cNvPr id="34819" name="TextBox 2">
            <a:extLst>
              <a:ext uri="{FF2B5EF4-FFF2-40B4-BE49-F238E27FC236}">
                <a16:creationId xmlns:a16="http://schemas.microsoft.com/office/drawing/2014/main" id="{3A5271DB-DFE3-D1F9-887F-F1AE9EDAEF06}"/>
              </a:ext>
            </a:extLst>
          </p:cNvPr>
          <p:cNvSpPr txBox="1">
            <a:spLocks noChangeArrowheads="1"/>
          </p:cNvSpPr>
          <p:nvPr/>
        </p:nvSpPr>
        <p:spPr bwMode="auto">
          <a:xfrm>
            <a:off x="952500" y="5334000"/>
            <a:ext cx="7239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sz="1800" u="sng">
                <a:solidFill>
                  <a:srgbClr val="92D050"/>
                </a:solidFill>
              </a:rPr>
              <a:t>Thucydides</a:t>
            </a:r>
            <a:r>
              <a:rPr lang="en-US" altLang="en-US" sz="1800">
                <a:solidFill>
                  <a:srgbClr val="92D050"/>
                </a:solidFill>
              </a:rPr>
              <a:t>:  </a:t>
            </a:r>
            <a:r>
              <a:rPr lang="en-HK" altLang="en-US" sz="1800">
                <a:solidFill>
                  <a:srgbClr val="92D050"/>
                </a:solidFill>
              </a:rPr>
              <a:t>"The growth in the power of Athens, and the alarm which this inspired in [Sparta], made war inevitable.”</a:t>
            </a:r>
          </a:p>
          <a:p>
            <a:pPr algn="ctr">
              <a:spcBef>
                <a:spcPct val="0"/>
              </a:spcBef>
              <a:buClrTx/>
              <a:buSzTx/>
              <a:buFontTx/>
              <a:buNone/>
            </a:pPr>
            <a:endParaRPr lang="en-HK" altLang="en-US" sz="1800"/>
          </a:p>
          <a:p>
            <a:pPr algn="ctr">
              <a:spcBef>
                <a:spcPct val="0"/>
              </a:spcBef>
              <a:buClrTx/>
              <a:buSzTx/>
              <a:buFontTx/>
              <a:buNone/>
            </a:pPr>
            <a:r>
              <a:rPr lang="en-HK" altLang="en-US" sz="1800" i="1">
                <a:solidFill>
                  <a:srgbClr val="00B0F0"/>
                </a:solidFill>
              </a:rPr>
              <a:t>But was Athens’ acquisition of power purely for defensive reasons?</a:t>
            </a:r>
            <a:endParaRPr lang="en-US" altLang="en-US" sz="1800" i="1">
              <a:solidFill>
                <a:srgbClr val="00B0F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B1519AB-21A3-DE17-6FF8-9F8190946549}"/>
              </a:ext>
            </a:extLst>
          </p:cNvPr>
          <p:cNvSpPr>
            <a:spLocks noGrp="1" noChangeArrowheads="1"/>
          </p:cNvSpPr>
          <p:nvPr>
            <p:ph type="title"/>
          </p:nvPr>
        </p:nvSpPr>
        <p:spPr>
          <a:xfrm>
            <a:off x="0" y="76200"/>
            <a:ext cx="9144000" cy="838200"/>
          </a:xfrm>
        </p:spPr>
        <p:txBody>
          <a:bodyPr/>
          <a:lstStyle/>
          <a:p>
            <a:pPr eaLnBrk="1" hangingPunct="1">
              <a:defRPr/>
            </a:pPr>
            <a:r>
              <a:rPr lang="en-US" altLang="x-none" sz="3200" dirty="0">
                <a:solidFill>
                  <a:srgbClr val="FFFF00"/>
                </a:solidFill>
                <a:ea typeface="ＭＳ Ｐゴシック" charset="-128"/>
              </a:rPr>
              <a:t>What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so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root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about Realism </a:t>
            </a:r>
            <a:br>
              <a:rPr lang="en-US" altLang="ja-JP" sz="3200" dirty="0">
                <a:solidFill>
                  <a:srgbClr val="FFFF00"/>
                </a:solidFill>
                <a:ea typeface="ＭＳ Ｐゴシック" charset="-128"/>
              </a:rPr>
            </a:br>
            <a:r>
              <a:rPr lang="en-US" altLang="ja-JP" sz="3200" dirty="0">
                <a:solidFill>
                  <a:srgbClr val="FFFF00"/>
                </a:solidFill>
                <a:ea typeface="ＭＳ Ｐゴシック" charset="-128"/>
              </a:rPr>
              <a:t>as an IR Discourse?</a:t>
            </a:r>
            <a:endParaRPr lang="en-US" altLang="x-none" sz="3200" dirty="0">
              <a:solidFill>
                <a:srgbClr val="FFFF00"/>
              </a:solidFill>
              <a:ea typeface="ＭＳ Ｐゴシック" charset="-128"/>
            </a:endParaRPr>
          </a:p>
        </p:txBody>
      </p:sp>
      <p:sp>
        <p:nvSpPr>
          <p:cNvPr id="7171" name="Rectangle 3">
            <a:extLst>
              <a:ext uri="{FF2B5EF4-FFF2-40B4-BE49-F238E27FC236}">
                <a16:creationId xmlns:a16="http://schemas.microsoft.com/office/drawing/2014/main" id="{B335398C-8657-5FB3-3B74-C51616558018}"/>
              </a:ext>
            </a:extLst>
          </p:cNvPr>
          <p:cNvSpPr>
            <a:spLocks noGrp="1" noChangeArrowheads="1"/>
          </p:cNvSpPr>
          <p:nvPr>
            <p:ph type="body" idx="1"/>
          </p:nvPr>
        </p:nvSpPr>
        <p:spPr>
          <a:xfrm>
            <a:off x="457200" y="990600"/>
            <a:ext cx="8229600" cy="4800600"/>
          </a:xfrm>
        </p:spPr>
        <p:txBody>
          <a:bodyPr/>
          <a:lstStyle/>
          <a:p>
            <a:pPr eaLnBrk="1" hangingPunct="1">
              <a:lnSpc>
                <a:spcPct val="90000"/>
              </a:lnSpc>
              <a:buFont typeface="Wingdings" charset="2"/>
              <a:buChar char="l"/>
              <a:defRPr/>
            </a:pPr>
            <a:endParaRPr lang="en-US" altLang="x-none" sz="12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is the oldest </a:t>
            </a:r>
            <a:r>
              <a:rPr lang="ja-JP" altLang="en-US" sz="2000">
                <a:ea typeface="ＭＳ Ｐゴシック" charset="-128"/>
              </a:rPr>
              <a:t>“</a:t>
            </a:r>
            <a:r>
              <a:rPr lang="en-US" altLang="ja-JP" sz="2000" dirty="0">
                <a:ea typeface="ＭＳ Ｐゴシック" charset="-128"/>
              </a:rPr>
              <a:t>school</a:t>
            </a:r>
            <a:r>
              <a:rPr lang="ja-JP" altLang="en-US" sz="2000">
                <a:ea typeface="ＭＳ Ｐゴシック" charset="-128"/>
              </a:rPr>
              <a:t>”</a:t>
            </a:r>
            <a:r>
              <a:rPr lang="en-US" altLang="ja-JP" sz="2000" dirty="0">
                <a:ea typeface="ＭＳ Ｐゴシック" charset="-128"/>
              </a:rPr>
              <a:t> of thought in IR</a:t>
            </a:r>
          </a:p>
          <a:p>
            <a:pPr eaLnBrk="1" hangingPunct="1">
              <a:lnSpc>
                <a:spcPct val="90000"/>
              </a:lnSpc>
              <a:buFont typeface="Wingdings"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dominated the study of </a:t>
            </a:r>
            <a:r>
              <a:rPr lang="en-US" altLang="x-none" sz="2000" dirty="0">
                <a:solidFill>
                  <a:srgbClr val="00B0F0"/>
                </a:solidFill>
                <a:ea typeface="ＭＳ Ｐゴシック" charset="-128"/>
              </a:rPr>
              <a:t>IR in America </a:t>
            </a:r>
            <a:r>
              <a:rPr lang="en-US" altLang="x-none" sz="2000" dirty="0">
                <a:ea typeface="ＭＳ Ｐゴシック" charset="-128"/>
              </a:rPr>
              <a:t>from 1939 until the 1980s, and shared the dominant position from the 1980s until basically today.  (Not always in the 1990s, though.)</a:t>
            </a:r>
          </a:p>
          <a:p>
            <a:pPr marL="0" indent="0" eaLnBrk="1" hangingPunct="1">
              <a:lnSpc>
                <a:spcPct val="90000"/>
              </a:lnSpc>
              <a:buFont typeface="Wingdings" pitchFamily="2" charset="2"/>
              <a:buNone/>
              <a:defRPr/>
            </a:pPr>
            <a:endParaRPr lang="en-US" altLang="x-none" sz="2000" dirty="0">
              <a:ea typeface="ＭＳ Ｐゴシック"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1C10AD7-4A70-1CA6-95D9-A716BBD16103}"/>
              </a:ext>
            </a:extLst>
          </p:cNvPr>
          <p:cNvSpPr>
            <a:spLocks noGrp="1" noChangeArrowheads="1"/>
          </p:cNvSpPr>
          <p:nvPr>
            <p:ph type="title"/>
          </p:nvPr>
        </p:nvSpPr>
        <p:spPr>
          <a:xfrm>
            <a:off x="0" y="76200"/>
            <a:ext cx="9144000" cy="838200"/>
          </a:xfrm>
        </p:spPr>
        <p:txBody>
          <a:bodyPr/>
          <a:lstStyle/>
          <a:p>
            <a:pPr eaLnBrk="1" hangingPunct="1">
              <a:defRPr/>
            </a:pPr>
            <a:r>
              <a:rPr lang="en-US" altLang="x-none" sz="3200" dirty="0">
                <a:solidFill>
                  <a:srgbClr val="FFFF00"/>
                </a:solidFill>
                <a:ea typeface="ＭＳ Ｐゴシック" charset="-128"/>
              </a:rPr>
              <a:t>What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so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root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about Realism </a:t>
            </a:r>
            <a:br>
              <a:rPr lang="en-US" altLang="ja-JP" sz="3200" dirty="0">
                <a:solidFill>
                  <a:srgbClr val="FFFF00"/>
                </a:solidFill>
                <a:ea typeface="ＭＳ Ｐゴシック" charset="-128"/>
              </a:rPr>
            </a:br>
            <a:r>
              <a:rPr lang="en-US" altLang="ja-JP" sz="3200" dirty="0">
                <a:solidFill>
                  <a:srgbClr val="FFFF00"/>
                </a:solidFill>
                <a:ea typeface="ＭＳ Ｐゴシック" charset="-128"/>
              </a:rPr>
              <a:t>as an IR Discourse?</a:t>
            </a:r>
            <a:endParaRPr lang="en-US" altLang="x-none" sz="3200" dirty="0">
              <a:solidFill>
                <a:srgbClr val="FFFF00"/>
              </a:solidFill>
              <a:ea typeface="ＭＳ Ｐゴシック" charset="-128"/>
            </a:endParaRPr>
          </a:p>
        </p:txBody>
      </p:sp>
      <p:sp>
        <p:nvSpPr>
          <p:cNvPr id="7171" name="Rectangle 3">
            <a:extLst>
              <a:ext uri="{FF2B5EF4-FFF2-40B4-BE49-F238E27FC236}">
                <a16:creationId xmlns:a16="http://schemas.microsoft.com/office/drawing/2014/main" id="{8505341A-BF57-5308-D0A1-56CD4D9EBB8A}"/>
              </a:ext>
            </a:extLst>
          </p:cNvPr>
          <p:cNvSpPr>
            <a:spLocks noGrp="1" noChangeArrowheads="1"/>
          </p:cNvSpPr>
          <p:nvPr>
            <p:ph type="body" idx="1"/>
          </p:nvPr>
        </p:nvSpPr>
        <p:spPr>
          <a:xfrm>
            <a:off x="457200" y="990600"/>
            <a:ext cx="8229600" cy="4800600"/>
          </a:xfrm>
        </p:spPr>
        <p:txBody>
          <a:bodyPr/>
          <a:lstStyle/>
          <a:p>
            <a:pPr eaLnBrk="1" hangingPunct="1">
              <a:lnSpc>
                <a:spcPct val="90000"/>
              </a:lnSpc>
              <a:buFont typeface="Wingdings" charset="2"/>
              <a:buChar char="l"/>
              <a:defRPr/>
            </a:pPr>
            <a:endParaRPr lang="en-US" altLang="x-none" sz="12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is the oldest </a:t>
            </a:r>
            <a:r>
              <a:rPr lang="ja-JP" altLang="en-US" sz="2000">
                <a:ea typeface="ＭＳ Ｐゴシック" charset="-128"/>
              </a:rPr>
              <a:t>“</a:t>
            </a:r>
            <a:r>
              <a:rPr lang="en-US" altLang="ja-JP" sz="2000" dirty="0">
                <a:ea typeface="ＭＳ Ｐゴシック" charset="-128"/>
              </a:rPr>
              <a:t>school</a:t>
            </a:r>
            <a:r>
              <a:rPr lang="ja-JP" altLang="en-US" sz="2000">
                <a:ea typeface="ＭＳ Ｐゴシック" charset="-128"/>
              </a:rPr>
              <a:t>”</a:t>
            </a:r>
            <a:r>
              <a:rPr lang="en-US" altLang="ja-JP" sz="2000" dirty="0">
                <a:ea typeface="ＭＳ Ｐゴシック" charset="-128"/>
              </a:rPr>
              <a:t> of thought in IR</a:t>
            </a:r>
          </a:p>
          <a:p>
            <a:pPr eaLnBrk="1" hangingPunct="1">
              <a:lnSpc>
                <a:spcPct val="90000"/>
              </a:lnSpc>
              <a:buFont typeface="Wingdings"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dominated the study of </a:t>
            </a:r>
            <a:r>
              <a:rPr lang="en-US" altLang="x-none" sz="2000" dirty="0">
                <a:solidFill>
                  <a:srgbClr val="00B0F0"/>
                </a:solidFill>
                <a:ea typeface="ＭＳ Ｐゴシック" charset="-128"/>
              </a:rPr>
              <a:t>IR in America </a:t>
            </a:r>
            <a:r>
              <a:rPr lang="en-US" altLang="x-none" sz="2000" dirty="0">
                <a:ea typeface="ＭＳ Ｐゴシック" charset="-128"/>
              </a:rPr>
              <a:t>from 1939 until the 1980s, and shared the dominant position from the 1980s until basically today.  (Not always in the 1990s, though.)</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did NOT always dominate globally </a:t>
            </a:r>
            <a:r>
              <a:rPr lang="en-US" altLang="x-none" sz="2000" i="1" dirty="0">
                <a:ea typeface="ＭＳ Ｐゴシック" charset="-128"/>
              </a:rPr>
              <a:t>before</a:t>
            </a:r>
            <a:r>
              <a:rPr lang="en-US" altLang="x-none" sz="2000" dirty="0">
                <a:ea typeface="ＭＳ Ｐゴシック" charset="-128"/>
              </a:rPr>
              <a:t> 1939.  In Western Europe, international lawyers were increasingly influential from the 1600s on.  “Idealists” were dominant in the 1920s and 1930s.  In East Asia, the China-centered Tribute System flourished.</a:t>
            </a:r>
          </a:p>
          <a:p>
            <a:pPr marL="0" indent="0" eaLnBrk="1" hangingPunct="1">
              <a:lnSpc>
                <a:spcPct val="90000"/>
              </a:lnSpc>
              <a:buFont typeface="Wingdings" pitchFamily="2" charset="2"/>
              <a:buNone/>
              <a:defRPr/>
            </a:pPr>
            <a:endParaRPr lang="en-US" altLang="x-none" sz="2000" dirty="0">
              <a:ea typeface="ＭＳ Ｐゴシック"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B93FB08-860F-02CC-23A5-EEBDAC6F50FA}"/>
              </a:ext>
            </a:extLst>
          </p:cNvPr>
          <p:cNvSpPr>
            <a:spLocks noGrp="1" noChangeArrowheads="1"/>
          </p:cNvSpPr>
          <p:nvPr>
            <p:ph type="title"/>
          </p:nvPr>
        </p:nvSpPr>
        <p:spPr>
          <a:xfrm>
            <a:off x="0" y="76200"/>
            <a:ext cx="9144000" cy="838200"/>
          </a:xfrm>
        </p:spPr>
        <p:txBody>
          <a:bodyPr/>
          <a:lstStyle/>
          <a:p>
            <a:pPr eaLnBrk="1" hangingPunct="1">
              <a:defRPr/>
            </a:pPr>
            <a:r>
              <a:rPr lang="en-US" altLang="x-none" sz="3200" dirty="0">
                <a:solidFill>
                  <a:srgbClr val="FFFF00"/>
                </a:solidFill>
                <a:ea typeface="ＭＳ Ｐゴシック" charset="-128"/>
              </a:rPr>
              <a:t>What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so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root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about Realism </a:t>
            </a:r>
            <a:br>
              <a:rPr lang="en-US" altLang="ja-JP" sz="3200" dirty="0">
                <a:solidFill>
                  <a:srgbClr val="FFFF00"/>
                </a:solidFill>
                <a:ea typeface="ＭＳ Ｐゴシック" charset="-128"/>
              </a:rPr>
            </a:br>
            <a:r>
              <a:rPr lang="en-US" altLang="ja-JP" sz="3200" dirty="0">
                <a:solidFill>
                  <a:srgbClr val="FFFF00"/>
                </a:solidFill>
                <a:ea typeface="ＭＳ Ｐゴシック" charset="-128"/>
              </a:rPr>
              <a:t>as an IR Discourse?</a:t>
            </a:r>
            <a:endParaRPr lang="en-US" altLang="x-none" sz="3200" dirty="0">
              <a:solidFill>
                <a:srgbClr val="FFFF00"/>
              </a:solidFill>
              <a:ea typeface="ＭＳ Ｐゴシック" charset="-128"/>
            </a:endParaRPr>
          </a:p>
        </p:txBody>
      </p:sp>
      <p:sp>
        <p:nvSpPr>
          <p:cNvPr id="7171" name="Rectangle 3">
            <a:extLst>
              <a:ext uri="{FF2B5EF4-FFF2-40B4-BE49-F238E27FC236}">
                <a16:creationId xmlns:a16="http://schemas.microsoft.com/office/drawing/2014/main" id="{5A8FDC69-B4B9-7A39-705F-064A710450D1}"/>
              </a:ext>
            </a:extLst>
          </p:cNvPr>
          <p:cNvSpPr>
            <a:spLocks noGrp="1" noChangeArrowheads="1"/>
          </p:cNvSpPr>
          <p:nvPr>
            <p:ph type="body" idx="1"/>
          </p:nvPr>
        </p:nvSpPr>
        <p:spPr>
          <a:xfrm>
            <a:off x="457200" y="990600"/>
            <a:ext cx="8229600" cy="4800600"/>
          </a:xfrm>
        </p:spPr>
        <p:txBody>
          <a:bodyPr/>
          <a:lstStyle/>
          <a:p>
            <a:pPr eaLnBrk="1" hangingPunct="1">
              <a:lnSpc>
                <a:spcPct val="90000"/>
              </a:lnSpc>
              <a:buFont typeface="Wingdings" charset="2"/>
              <a:buChar char="l"/>
              <a:defRPr/>
            </a:pPr>
            <a:endParaRPr lang="en-US" altLang="x-none" sz="12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is the oldest </a:t>
            </a:r>
            <a:r>
              <a:rPr lang="ja-JP" altLang="en-US" sz="2000">
                <a:ea typeface="ＭＳ Ｐゴシック" charset="-128"/>
              </a:rPr>
              <a:t>“</a:t>
            </a:r>
            <a:r>
              <a:rPr lang="en-US" altLang="ja-JP" sz="2000" dirty="0">
                <a:ea typeface="ＭＳ Ｐゴシック" charset="-128"/>
              </a:rPr>
              <a:t>school</a:t>
            </a:r>
            <a:r>
              <a:rPr lang="ja-JP" altLang="en-US" sz="2000">
                <a:ea typeface="ＭＳ Ｐゴシック" charset="-128"/>
              </a:rPr>
              <a:t>”</a:t>
            </a:r>
            <a:r>
              <a:rPr lang="en-US" altLang="ja-JP" sz="2000" dirty="0">
                <a:ea typeface="ＭＳ Ｐゴシック" charset="-128"/>
              </a:rPr>
              <a:t> of thought in IR</a:t>
            </a:r>
          </a:p>
          <a:p>
            <a:pPr eaLnBrk="1" hangingPunct="1">
              <a:lnSpc>
                <a:spcPct val="90000"/>
              </a:lnSpc>
              <a:buFont typeface="Wingdings"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dominated the study of </a:t>
            </a:r>
            <a:r>
              <a:rPr lang="en-US" altLang="x-none" sz="2000" dirty="0">
                <a:solidFill>
                  <a:srgbClr val="00B0F0"/>
                </a:solidFill>
                <a:ea typeface="ＭＳ Ｐゴシック" charset="-128"/>
              </a:rPr>
              <a:t>IR in America </a:t>
            </a:r>
            <a:r>
              <a:rPr lang="en-US" altLang="x-none" sz="2000" dirty="0">
                <a:ea typeface="ＭＳ Ｐゴシック" charset="-128"/>
              </a:rPr>
              <a:t>from 1939 until the 1980s, and shared the dominant position from the 1980s until basically today.  (Not always in the 1990s, though.)</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did NOT always dominate globally </a:t>
            </a:r>
            <a:r>
              <a:rPr lang="en-US" altLang="x-none" sz="2000" i="1" dirty="0">
                <a:ea typeface="ＭＳ Ｐゴシック" charset="-128"/>
              </a:rPr>
              <a:t>before</a:t>
            </a:r>
            <a:r>
              <a:rPr lang="en-US" altLang="x-none" sz="2000" dirty="0">
                <a:ea typeface="ＭＳ Ｐゴシック" charset="-128"/>
              </a:rPr>
              <a:t> 1939.  In Western Europe, international lawyers were increasingly influential from the 1600s on.  “Idealists” were dominant in the 1920s and 1930s.  In East Asia, the China-centered Tribute System flourished.</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But after 1939, and continuing through the Cold War, realism became dominant in America (and the Soviet Union, and China), and </a:t>
            </a:r>
            <a:r>
              <a:rPr lang="en-US" altLang="x-none" sz="2000" i="1" dirty="0">
                <a:ea typeface="ＭＳ Ｐゴシック" charset="-128"/>
              </a:rPr>
              <a:t>American IR theory became the most influential globally</a:t>
            </a:r>
            <a:r>
              <a:rPr lang="en-US" altLang="x-none" sz="2000" dirty="0">
                <a:ea typeface="ＭＳ Ｐゴシック" charset="-128"/>
              </a:rPr>
              <a:t>.</a:t>
            </a:r>
          </a:p>
          <a:p>
            <a:pPr marL="0" indent="0" eaLnBrk="1" hangingPunct="1">
              <a:lnSpc>
                <a:spcPct val="90000"/>
              </a:lnSpc>
              <a:buFont typeface="Wingdings" pitchFamily="2" charset="2"/>
              <a:buNone/>
              <a:defRPr/>
            </a:pPr>
            <a:endParaRPr lang="en-US" altLang="x-none" sz="2000" dirty="0">
              <a:ea typeface="ＭＳ Ｐゴシック"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8053513-E75C-BA38-3482-810BA4D51204}"/>
              </a:ext>
            </a:extLst>
          </p:cNvPr>
          <p:cNvSpPr>
            <a:spLocks noGrp="1" noChangeArrowheads="1"/>
          </p:cNvSpPr>
          <p:nvPr>
            <p:ph type="title"/>
          </p:nvPr>
        </p:nvSpPr>
        <p:spPr>
          <a:xfrm>
            <a:off x="0" y="76200"/>
            <a:ext cx="9144000" cy="838200"/>
          </a:xfrm>
        </p:spPr>
        <p:txBody>
          <a:bodyPr/>
          <a:lstStyle/>
          <a:p>
            <a:pPr eaLnBrk="1" hangingPunct="1">
              <a:defRPr/>
            </a:pPr>
            <a:r>
              <a:rPr lang="en-US" altLang="x-none" sz="3200" dirty="0">
                <a:solidFill>
                  <a:srgbClr val="FFFF00"/>
                </a:solidFill>
                <a:ea typeface="ＭＳ Ｐゴシック" charset="-128"/>
              </a:rPr>
              <a:t>What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s so </a:t>
            </a:r>
            <a:r>
              <a:rPr lang="ja-JP" altLang="en-US" sz="3200">
                <a:solidFill>
                  <a:srgbClr val="FFFF00"/>
                </a:solidFill>
                <a:ea typeface="ＭＳ Ｐゴシック" charset="-128"/>
              </a:rPr>
              <a:t>“</a:t>
            </a:r>
            <a:r>
              <a:rPr lang="en-US" altLang="ja-JP" sz="3200" dirty="0">
                <a:solidFill>
                  <a:srgbClr val="FFFF00"/>
                </a:solidFill>
                <a:ea typeface="ＭＳ Ｐゴシック" charset="-128"/>
              </a:rPr>
              <a:t>root</a:t>
            </a:r>
            <a:r>
              <a:rPr lang="ja-JP" altLang="en-US" sz="3200">
                <a:solidFill>
                  <a:srgbClr val="FFFF00"/>
                </a:solidFill>
                <a:ea typeface="ＭＳ Ｐゴシック" charset="-128"/>
              </a:rPr>
              <a:t>”</a:t>
            </a:r>
            <a:r>
              <a:rPr lang="en-US" altLang="ja-JP" sz="3200" dirty="0">
                <a:solidFill>
                  <a:srgbClr val="FFFF00"/>
                </a:solidFill>
                <a:ea typeface="ＭＳ Ｐゴシック" charset="-128"/>
              </a:rPr>
              <a:t> about Realism </a:t>
            </a:r>
            <a:br>
              <a:rPr lang="en-US" altLang="ja-JP" sz="3200" dirty="0">
                <a:solidFill>
                  <a:srgbClr val="FFFF00"/>
                </a:solidFill>
                <a:ea typeface="ＭＳ Ｐゴシック" charset="-128"/>
              </a:rPr>
            </a:br>
            <a:r>
              <a:rPr lang="en-US" altLang="ja-JP" sz="3200" dirty="0">
                <a:solidFill>
                  <a:srgbClr val="FFFF00"/>
                </a:solidFill>
                <a:ea typeface="ＭＳ Ｐゴシック" charset="-128"/>
              </a:rPr>
              <a:t>as an IR Discourse?</a:t>
            </a:r>
            <a:endParaRPr lang="en-US" altLang="x-none" sz="3200" dirty="0">
              <a:solidFill>
                <a:srgbClr val="FFFF00"/>
              </a:solidFill>
              <a:ea typeface="ＭＳ Ｐゴシック" charset="-128"/>
            </a:endParaRPr>
          </a:p>
        </p:txBody>
      </p:sp>
      <p:sp>
        <p:nvSpPr>
          <p:cNvPr id="7171" name="Rectangle 3">
            <a:extLst>
              <a:ext uri="{FF2B5EF4-FFF2-40B4-BE49-F238E27FC236}">
                <a16:creationId xmlns:a16="http://schemas.microsoft.com/office/drawing/2014/main" id="{F369BEF9-0343-83C1-7AED-556BB494841A}"/>
              </a:ext>
            </a:extLst>
          </p:cNvPr>
          <p:cNvSpPr>
            <a:spLocks noGrp="1" noChangeArrowheads="1"/>
          </p:cNvSpPr>
          <p:nvPr>
            <p:ph type="body" idx="1"/>
          </p:nvPr>
        </p:nvSpPr>
        <p:spPr>
          <a:xfrm>
            <a:off x="457200" y="990600"/>
            <a:ext cx="8229600" cy="4800600"/>
          </a:xfrm>
        </p:spPr>
        <p:txBody>
          <a:bodyPr/>
          <a:lstStyle/>
          <a:p>
            <a:pPr eaLnBrk="1" hangingPunct="1">
              <a:lnSpc>
                <a:spcPct val="90000"/>
              </a:lnSpc>
              <a:buFont typeface="Wingdings" charset="2"/>
              <a:buChar char="l"/>
              <a:defRPr/>
            </a:pPr>
            <a:endParaRPr lang="en-US" altLang="x-none" sz="12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is the oldest </a:t>
            </a:r>
            <a:r>
              <a:rPr lang="ja-JP" altLang="en-US" sz="2000">
                <a:ea typeface="ＭＳ Ｐゴシック" charset="-128"/>
              </a:rPr>
              <a:t>“</a:t>
            </a:r>
            <a:r>
              <a:rPr lang="en-US" altLang="ja-JP" sz="2000" dirty="0">
                <a:ea typeface="ＭＳ Ｐゴシック" charset="-128"/>
              </a:rPr>
              <a:t>school</a:t>
            </a:r>
            <a:r>
              <a:rPr lang="ja-JP" altLang="en-US" sz="2000">
                <a:ea typeface="ＭＳ Ｐゴシック" charset="-128"/>
              </a:rPr>
              <a:t>”</a:t>
            </a:r>
            <a:r>
              <a:rPr lang="en-US" altLang="ja-JP" sz="2000" dirty="0">
                <a:ea typeface="ＭＳ Ｐゴシック" charset="-128"/>
              </a:rPr>
              <a:t> of thought in IR</a:t>
            </a:r>
          </a:p>
          <a:p>
            <a:pPr eaLnBrk="1" hangingPunct="1">
              <a:lnSpc>
                <a:spcPct val="90000"/>
              </a:lnSpc>
              <a:buFont typeface="Wingdings"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dominated the study of </a:t>
            </a:r>
            <a:r>
              <a:rPr lang="en-US" altLang="x-none" sz="2000" dirty="0">
                <a:solidFill>
                  <a:srgbClr val="00B0F0"/>
                </a:solidFill>
                <a:ea typeface="ＭＳ Ｐゴシック" charset="-128"/>
              </a:rPr>
              <a:t>IR in America </a:t>
            </a:r>
            <a:r>
              <a:rPr lang="en-US" altLang="x-none" sz="2000" dirty="0">
                <a:ea typeface="ＭＳ Ｐゴシック" charset="-128"/>
              </a:rPr>
              <a:t>from 1939 until the 1980s, and shared the dominant position from the 1980s until basically today.  (Not always in the 1990s, though.)</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Realism did NOT always dominate globally </a:t>
            </a:r>
            <a:r>
              <a:rPr lang="en-US" altLang="x-none" sz="2000" i="1" dirty="0">
                <a:ea typeface="ＭＳ Ｐゴシック" charset="-128"/>
              </a:rPr>
              <a:t>before</a:t>
            </a:r>
            <a:r>
              <a:rPr lang="en-US" altLang="x-none" sz="2000" dirty="0">
                <a:ea typeface="ＭＳ Ｐゴシック" charset="-128"/>
              </a:rPr>
              <a:t> 1939.  In Western Europe, international lawyers were increasingly influential from the 1600s on.  “Idealists” were dominant in the 1920s and 1930s.  In East Asia, the China-centered Tribute System flourished.</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But after 1939, and continuing through the Cold War, realism became dominant in America (and the Soviet Union, and China), and </a:t>
            </a:r>
            <a:r>
              <a:rPr lang="en-US" altLang="x-none" sz="2000" i="1" dirty="0">
                <a:ea typeface="ＭＳ Ｐゴシック" charset="-128"/>
              </a:rPr>
              <a:t>American IR theory became the most influential globally</a:t>
            </a:r>
            <a:r>
              <a:rPr lang="en-US" altLang="x-none" sz="2000" dirty="0">
                <a:ea typeface="ＭＳ Ｐゴシック" charset="-128"/>
              </a:rPr>
              <a:t>.</a:t>
            </a:r>
          </a:p>
          <a:p>
            <a:pPr marL="0" indent="0" eaLnBrk="1" hangingPunct="1">
              <a:lnSpc>
                <a:spcPct val="90000"/>
              </a:lnSpc>
              <a:buFont typeface="Wingdings" pitchFamily="2" charset="2"/>
              <a:buNone/>
              <a:defRPr/>
            </a:pPr>
            <a:endParaRPr lang="en-US" altLang="x-none" sz="2000" dirty="0">
              <a:ea typeface="ＭＳ Ｐゴシック" charset="-128"/>
            </a:endParaRPr>
          </a:p>
          <a:p>
            <a:pPr eaLnBrk="1" hangingPunct="1">
              <a:lnSpc>
                <a:spcPct val="90000"/>
              </a:lnSpc>
              <a:buFont typeface="Wingdings" charset="2"/>
              <a:buChar char="l"/>
              <a:defRPr/>
            </a:pPr>
            <a:r>
              <a:rPr lang="en-US" altLang="x-none" sz="2000" dirty="0">
                <a:ea typeface="ＭＳ Ｐゴシック" charset="-128"/>
              </a:rPr>
              <a:t>As ever, though, </a:t>
            </a:r>
            <a:r>
              <a:rPr lang="en-US" altLang="x-none" sz="2000" dirty="0">
                <a:solidFill>
                  <a:srgbClr val="00B050"/>
                </a:solidFill>
                <a:ea typeface="ＭＳ Ｐゴシック" charset="-128"/>
              </a:rPr>
              <a:t>we have to ask whether this means that realism was RIGHT, empirically, or dominant simply because the powerful states were promoting and practicing Realism</a:t>
            </a:r>
            <a:r>
              <a:rPr lang="en-US" altLang="x-none" sz="2000" dirty="0">
                <a:ea typeface="ＭＳ Ｐゴシック" charset="-128"/>
              </a:rPr>
              <a:t>?</a:t>
            </a:r>
          </a:p>
          <a:p>
            <a:pPr eaLnBrk="1" hangingPunct="1">
              <a:lnSpc>
                <a:spcPct val="90000"/>
              </a:lnSpc>
              <a:buFont typeface="Wingdings" charset="2"/>
              <a:buNone/>
              <a:defRPr/>
            </a:pPr>
            <a:endParaRPr lang="en-US" altLang="x-none" sz="1600" dirty="0">
              <a:ea typeface="ＭＳ Ｐゴシック" charset="-128"/>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D3FFC1AA-A6B3-9E86-0DF0-5B56CC19B826}"/>
              </a:ext>
            </a:extLst>
          </p:cNvPr>
          <p:cNvSpPr>
            <a:spLocks noGrp="1"/>
          </p:cNvSpPr>
          <p:nvPr>
            <p:ph type="title"/>
          </p:nvPr>
        </p:nvSpPr>
        <p:spPr>
          <a:xfrm>
            <a:off x="152400" y="152401"/>
            <a:ext cx="8839200" cy="1295400"/>
          </a:xfrm>
        </p:spPr>
        <p:txBody>
          <a:bodyPr/>
          <a:lstStyle/>
          <a:p>
            <a:pPr eaLnBrk="1" hangingPunct="1">
              <a:defRPr/>
            </a:pPr>
            <a:r>
              <a:rPr lang="en-US" sz="3600" dirty="0">
                <a:solidFill>
                  <a:srgbClr val="FFC000"/>
                </a:solidFill>
                <a:effectLst>
                  <a:outerShdw blurRad="38100" dist="38100" dir="2700000" algn="tl">
                    <a:srgbClr val="010199"/>
                  </a:outerShdw>
                </a:effectLst>
              </a:rPr>
              <a:t>Reification</a:t>
            </a:r>
            <a:r>
              <a:rPr lang="en-US" sz="3600" dirty="0">
                <a:solidFill>
                  <a:schemeClr val="tx1"/>
                </a:solidFill>
                <a:effectLst>
                  <a:outerShdw blurRad="38100" dist="38100" dir="2700000" algn="tl">
                    <a:srgbClr val="010199"/>
                  </a:outerShdw>
                </a:effectLst>
              </a:rPr>
              <a:t>:</a:t>
            </a:r>
            <a:br>
              <a:rPr lang="en-US" sz="3600" dirty="0">
                <a:solidFill>
                  <a:schemeClr val="tx1"/>
                </a:solidFill>
                <a:effectLst>
                  <a:outerShdw blurRad="38100" dist="38100" dir="2700000" algn="tl">
                    <a:srgbClr val="010199"/>
                  </a:outerShdw>
                </a:effectLst>
              </a:rPr>
            </a:br>
            <a:br>
              <a:rPr lang="en-US" sz="1600" dirty="0">
                <a:solidFill>
                  <a:schemeClr val="tx1"/>
                </a:solidFill>
                <a:effectLst>
                  <a:outerShdw blurRad="38100" dist="38100" dir="2700000" algn="tl">
                    <a:srgbClr val="010199"/>
                  </a:outerShdw>
                </a:effectLst>
              </a:rPr>
            </a:br>
            <a:r>
              <a:rPr lang="en-US" sz="2400" dirty="0">
                <a:solidFill>
                  <a:schemeClr val="tx1"/>
                </a:solidFill>
                <a:effectLst>
                  <a:outerShdw blurRad="38100" dist="38100" dir="2700000" algn="tl">
                    <a:srgbClr val="010199"/>
                  </a:outerShdw>
                </a:effectLst>
              </a:rPr>
              <a:t>Which comes first, anarchy or the belief that anarchy is a real source of threat that states must counter (by creating anarchy)?</a:t>
            </a:r>
            <a:endParaRPr lang="en-US" sz="3600" dirty="0">
              <a:solidFill>
                <a:schemeClr val="tx1"/>
              </a:solidFill>
              <a:effectLst>
                <a:outerShdw blurRad="38100" dist="38100" dir="2700000" algn="tl">
                  <a:srgbClr val="010199"/>
                </a:outerShdw>
              </a:effectLst>
            </a:endParaRPr>
          </a:p>
        </p:txBody>
      </p:sp>
      <p:pic>
        <p:nvPicPr>
          <p:cNvPr id="44034" name="Content Placeholder 3" descr="Reification.gif">
            <a:extLst>
              <a:ext uri="{FF2B5EF4-FFF2-40B4-BE49-F238E27FC236}">
                <a16:creationId xmlns:a16="http://schemas.microsoft.com/office/drawing/2014/main" id="{D9630D23-9C4E-817D-69B8-60A0BFA9D1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1087" y="1981200"/>
            <a:ext cx="4441825" cy="4530725"/>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34612F1-4CDE-B93C-CD60-8A08FB819E62}"/>
              </a:ext>
            </a:extLst>
          </p:cNvPr>
          <p:cNvSpPr>
            <a:spLocks noGrp="1" noChangeArrowheads="1"/>
          </p:cNvSpPr>
          <p:nvPr>
            <p:ph type="title"/>
          </p:nvPr>
        </p:nvSpPr>
        <p:spPr>
          <a:xfrm>
            <a:off x="457200" y="0"/>
            <a:ext cx="8229600" cy="914400"/>
          </a:xfrm>
        </p:spPr>
        <p:txBody>
          <a:bodyPr/>
          <a:lstStyle/>
          <a:p>
            <a:pPr eaLnBrk="1" hangingPunct="1">
              <a:defRPr/>
            </a:pPr>
            <a:r>
              <a:rPr lang="en-US" altLang="x-none" sz="3600" dirty="0">
                <a:solidFill>
                  <a:schemeClr val="tx1"/>
                </a:solidFill>
                <a:ea typeface="ＭＳ Ｐゴシック" charset="-128"/>
              </a:rPr>
              <a:t>Hans J. Morgenthau (1904-1980)</a:t>
            </a:r>
          </a:p>
        </p:txBody>
      </p:sp>
      <p:sp>
        <p:nvSpPr>
          <p:cNvPr id="15363" name="Rectangle 3">
            <a:extLst>
              <a:ext uri="{FF2B5EF4-FFF2-40B4-BE49-F238E27FC236}">
                <a16:creationId xmlns:a16="http://schemas.microsoft.com/office/drawing/2014/main" id="{B0A4F1DD-E136-F2DA-D78A-EA0F79BC517E}"/>
              </a:ext>
            </a:extLst>
          </p:cNvPr>
          <p:cNvSpPr>
            <a:spLocks noGrp="1" noChangeArrowheads="1"/>
          </p:cNvSpPr>
          <p:nvPr>
            <p:ph type="body" idx="1"/>
          </p:nvPr>
        </p:nvSpPr>
        <p:spPr/>
        <p:txBody>
          <a:bodyPr/>
          <a:lstStyle/>
          <a:p>
            <a:pPr marL="609600" indent="-609600" eaLnBrk="1" hangingPunct="1">
              <a:buFont typeface="Wingdings" charset="0"/>
              <a:buAutoNum type="arabicPeriod"/>
              <a:defRPr/>
            </a:pPr>
            <a:endParaRPr lang="en-US" dirty="0"/>
          </a:p>
          <a:p>
            <a:pPr marL="609600" indent="-609600" eaLnBrk="1" hangingPunct="1">
              <a:buFont typeface="Wingdings" charset="0"/>
              <a:buNone/>
              <a:defRPr/>
            </a:pPr>
            <a:endParaRPr lang="en-US" dirty="0"/>
          </a:p>
        </p:txBody>
      </p:sp>
      <p:pic>
        <p:nvPicPr>
          <p:cNvPr id="45059" name="Picture 6" descr="Morgenthau, Hans">
            <a:extLst>
              <a:ext uri="{FF2B5EF4-FFF2-40B4-BE49-F238E27FC236}">
                <a16:creationId xmlns:a16="http://schemas.microsoft.com/office/drawing/2014/main" id="{62A11BC8-BA80-1D39-01CB-C98B9360F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37369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5" descr="Morgenthau (book cover)">
            <a:extLst>
              <a:ext uri="{FF2B5EF4-FFF2-40B4-BE49-F238E27FC236}">
                <a16:creationId xmlns:a16="http://schemas.microsoft.com/office/drawing/2014/main" id="{35CE86C4-7016-119D-403C-D1A748C64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295400"/>
            <a:ext cx="34305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8FB3ABB-CC1F-A4F4-F007-8A5185947059}"/>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17411" name="Rectangle 3">
            <a:extLst>
              <a:ext uri="{FF2B5EF4-FFF2-40B4-BE49-F238E27FC236}">
                <a16:creationId xmlns:a16="http://schemas.microsoft.com/office/drawing/2014/main" id="{CD926560-46D3-ECCD-0D27-102B6E900E87}"/>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1.		International politics – or politics among 	</a:t>
            </a:r>
            <a:r>
              <a:rPr lang="en-US" altLang="x-none" i="1" dirty="0">
                <a:ea typeface="ＭＳ Ｐゴシック" charset="-128"/>
              </a:rPr>
              <a:t>states</a:t>
            </a:r>
            <a:r>
              <a:rPr lang="en-US" altLang="x-none" dirty="0">
                <a:ea typeface="ＭＳ Ｐゴシック" charset="-128"/>
              </a:rPr>
              <a:t> – is </a:t>
            </a:r>
            <a:r>
              <a:rPr lang="en-US" altLang="x-none" u="sng" dirty="0">
                <a:ea typeface="ＭＳ Ｐゴシック" charset="-128"/>
              </a:rPr>
              <a:t>governed</a:t>
            </a:r>
            <a:r>
              <a:rPr lang="en-US" altLang="x-none" dirty="0">
                <a:ea typeface="ＭＳ Ｐゴシック" charset="-128"/>
              </a:rPr>
              <a:t> by </a:t>
            </a:r>
            <a:r>
              <a:rPr lang="en-US" altLang="x-none" i="1" dirty="0">
                <a:solidFill>
                  <a:srgbClr val="92D050"/>
                </a:solidFill>
                <a:ea typeface="ＭＳ Ｐゴシック" charset="-128"/>
              </a:rPr>
              <a:t>laws</a:t>
            </a:r>
            <a:r>
              <a:rPr lang="en-US" altLang="x-none" dirty="0">
                <a:ea typeface="ＭＳ Ｐゴシック" charset="-128"/>
              </a:rPr>
              <a:t>, laws 	which can be uncovered through 	reasoned analysis.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8FB3ABB-CC1F-A4F4-F007-8A5185947059}"/>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17411" name="Rectangle 3">
            <a:extLst>
              <a:ext uri="{FF2B5EF4-FFF2-40B4-BE49-F238E27FC236}">
                <a16:creationId xmlns:a16="http://schemas.microsoft.com/office/drawing/2014/main" id="{CD926560-46D3-ECCD-0D27-102B6E900E87}"/>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1.		International politics – or politics among 	</a:t>
            </a:r>
            <a:r>
              <a:rPr lang="en-US" altLang="x-none" i="1" dirty="0">
                <a:ea typeface="ＭＳ Ｐゴシック" charset="-128"/>
              </a:rPr>
              <a:t>states</a:t>
            </a:r>
            <a:r>
              <a:rPr lang="en-US" altLang="x-none" dirty="0">
                <a:ea typeface="ＭＳ Ｐゴシック" charset="-128"/>
              </a:rPr>
              <a:t> – is </a:t>
            </a:r>
            <a:r>
              <a:rPr lang="en-US" altLang="x-none" u="sng" dirty="0">
                <a:ea typeface="ＭＳ Ｐゴシック" charset="-128"/>
              </a:rPr>
              <a:t>governed</a:t>
            </a:r>
            <a:r>
              <a:rPr lang="en-US" altLang="x-none" dirty="0">
                <a:ea typeface="ＭＳ Ｐゴシック" charset="-128"/>
              </a:rPr>
              <a:t> by </a:t>
            </a:r>
            <a:r>
              <a:rPr lang="en-US" altLang="x-none" i="1" dirty="0">
                <a:solidFill>
                  <a:srgbClr val="92D050"/>
                </a:solidFill>
                <a:ea typeface="ＭＳ Ｐゴシック" charset="-128"/>
              </a:rPr>
              <a:t>laws</a:t>
            </a:r>
            <a:r>
              <a:rPr lang="en-US" altLang="x-none" dirty="0">
                <a:ea typeface="ＭＳ Ｐゴシック" charset="-128"/>
              </a:rPr>
              <a:t>, laws 	which can be uncovered through 	reasoned analysis.  </a:t>
            </a:r>
            <a:r>
              <a:rPr lang="en-US" altLang="x-none" i="1" dirty="0">
                <a:ea typeface="ＭＳ Ｐゴシック" charset="-128"/>
              </a:rPr>
              <a:t>The consciousness  	or identity/culture of the humans who 	run states doesn’t matter much</a:t>
            </a:r>
            <a:r>
              <a:rPr lang="en-US" altLang="x-none" dirty="0">
                <a:ea typeface="ＭＳ Ｐゴシック" charset="-128"/>
              </a:rPr>
              <a:t>.</a:t>
            </a:r>
          </a:p>
        </p:txBody>
      </p:sp>
    </p:spTree>
    <p:extLst>
      <p:ext uri="{BB962C8B-B14F-4D97-AF65-F5344CB8AC3E}">
        <p14:creationId xmlns:p14="http://schemas.microsoft.com/office/powerpoint/2010/main" val="997877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852ACB3-6A60-5060-7226-89DB34DFB23F}"/>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17411" name="Rectangle 3">
            <a:extLst>
              <a:ext uri="{FF2B5EF4-FFF2-40B4-BE49-F238E27FC236}">
                <a16:creationId xmlns:a16="http://schemas.microsoft.com/office/drawing/2014/main" id="{EFF89FB0-B8D9-D109-20DA-0127818CF5E8}"/>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2.		States</a:t>
            </a:r>
            <a:r>
              <a:rPr lang="en-US" altLang="x-none" i="1" dirty="0">
                <a:ea typeface="ＭＳ Ｐゴシック" charset="-128"/>
              </a:rPr>
              <a:t>men</a:t>
            </a:r>
            <a:r>
              <a:rPr lang="en-US" altLang="x-none" dirty="0">
                <a:ea typeface="ＭＳ Ｐゴシック" charset="-128"/>
              </a:rPr>
              <a:t> think and act in terms of 	</a:t>
            </a:r>
            <a:r>
              <a:rPr lang="en-US" altLang="x-none" i="1" dirty="0">
                <a:ea typeface="ＭＳ Ｐゴシック" charset="-128"/>
              </a:rPr>
              <a:t>interest</a:t>
            </a:r>
            <a:r>
              <a:rPr lang="en-US" altLang="x-none" dirty="0">
                <a:ea typeface="ＭＳ Ｐゴシック" charset="-128"/>
              </a:rPr>
              <a:t> defined as </a:t>
            </a:r>
            <a:r>
              <a:rPr lang="en-US" altLang="x-none" i="1" dirty="0">
                <a:ea typeface="ＭＳ Ｐゴシック" charset="-128"/>
              </a:rPr>
              <a:t>power.</a:t>
            </a:r>
          </a:p>
          <a:p>
            <a:pPr eaLnBrk="1" hangingPunct="1">
              <a:spcBef>
                <a:spcPct val="0"/>
              </a:spcBef>
              <a:buFont typeface="Wingdings" charset="2"/>
              <a:buNone/>
              <a:defRPr/>
            </a:pPr>
            <a:endParaRPr lang="en-US" altLang="x-none" i="1" dirty="0">
              <a:ea typeface="ＭＳ Ｐゴシック" charset="-128"/>
            </a:endParaRPr>
          </a:p>
          <a:p>
            <a:pPr eaLnBrk="1" hangingPunct="1">
              <a:spcBef>
                <a:spcPct val="0"/>
              </a:spcBef>
              <a:buFont typeface="Wingdings" charset="2"/>
              <a:buNone/>
              <a:defRPr/>
            </a:pPr>
            <a:r>
              <a:rPr lang="en-US" altLang="x-none" i="1" dirty="0">
                <a:ea typeface="ＭＳ Ｐゴシック" charset="-128"/>
              </a:rPr>
              <a:t>		</a:t>
            </a:r>
            <a:endParaRPr lang="en-US" altLang="x-none" dirty="0">
              <a:ea typeface="ＭＳ Ｐゴシック" charset="-128"/>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2C82FE0-4818-5E5F-528C-DFFE8D50B402}"/>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17411" name="Rectangle 3">
            <a:extLst>
              <a:ext uri="{FF2B5EF4-FFF2-40B4-BE49-F238E27FC236}">
                <a16:creationId xmlns:a16="http://schemas.microsoft.com/office/drawing/2014/main" id="{2CADFA1C-25A6-4667-D087-EADB170F8D5E}"/>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2.		States</a:t>
            </a:r>
            <a:r>
              <a:rPr lang="en-US" altLang="x-none" i="1" dirty="0">
                <a:ea typeface="ＭＳ Ｐゴシック" charset="-128"/>
              </a:rPr>
              <a:t>men</a:t>
            </a:r>
            <a:r>
              <a:rPr lang="en-US" altLang="x-none" dirty="0">
                <a:ea typeface="ＭＳ Ｐゴシック" charset="-128"/>
              </a:rPr>
              <a:t> think and act in terms of 	</a:t>
            </a:r>
            <a:r>
              <a:rPr lang="en-US" altLang="x-none" i="1" dirty="0">
                <a:ea typeface="ＭＳ Ｐゴシック" charset="-128"/>
              </a:rPr>
              <a:t>interest</a:t>
            </a:r>
            <a:r>
              <a:rPr lang="en-US" altLang="x-none" dirty="0">
                <a:ea typeface="ＭＳ Ｐゴシック" charset="-128"/>
              </a:rPr>
              <a:t> defined as </a:t>
            </a:r>
            <a:r>
              <a:rPr lang="en-US" altLang="x-none" i="1" dirty="0">
                <a:ea typeface="ＭＳ Ｐゴシック" charset="-128"/>
              </a:rPr>
              <a:t>power.</a:t>
            </a:r>
          </a:p>
          <a:p>
            <a:pPr eaLnBrk="1" hangingPunct="1">
              <a:spcBef>
                <a:spcPct val="0"/>
              </a:spcBef>
              <a:buFont typeface="Wingdings" charset="2"/>
              <a:buNone/>
              <a:defRPr/>
            </a:pPr>
            <a:endParaRPr lang="en-US" altLang="x-none" i="1" dirty="0">
              <a:ea typeface="ＭＳ Ｐゴシック" charset="-128"/>
            </a:endParaRPr>
          </a:p>
          <a:p>
            <a:pPr eaLnBrk="1" hangingPunct="1">
              <a:spcBef>
                <a:spcPct val="0"/>
              </a:spcBef>
              <a:buFont typeface="Wingdings" charset="2"/>
              <a:buNone/>
              <a:defRPr/>
            </a:pPr>
            <a:r>
              <a:rPr lang="en-US" altLang="x-none" i="1" dirty="0">
                <a:ea typeface="ＭＳ Ｐゴシック" charset="-128"/>
              </a:rPr>
              <a:t>		</a:t>
            </a:r>
            <a:r>
              <a:rPr lang="en-US" altLang="x-none" dirty="0">
                <a:ea typeface="ＭＳ Ｐゴシック" charset="-128"/>
              </a:rPr>
              <a:t>This tends to induce PRUDENCE in 	foreign and security policymaking, 	based on careful and </a:t>
            </a:r>
            <a:r>
              <a:rPr lang="en-US" altLang="x-none" dirty="0">
                <a:solidFill>
                  <a:srgbClr val="00B0F0"/>
                </a:solidFill>
                <a:ea typeface="ＭＳ Ｐゴシック" charset="-128"/>
              </a:rPr>
              <a:t>rational</a:t>
            </a:r>
            <a:r>
              <a:rPr lang="en-US" altLang="x-none" dirty="0">
                <a:ea typeface="ＭＳ Ｐゴシック" charset="-128"/>
              </a:rPr>
              <a:t> decision-	making.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8A9F-293B-5A5A-CAE6-A8C9E4D6B6AA}"/>
              </a:ext>
            </a:extLst>
          </p:cNvPr>
          <p:cNvSpPr>
            <a:spLocks noGrp="1"/>
          </p:cNvSpPr>
          <p:nvPr>
            <p:ph type="title"/>
          </p:nvPr>
        </p:nvSpPr>
        <p:spPr>
          <a:xfrm>
            <a:off x="457200" y="277813"/>
            <a:ext cx="8229600" cy="712787"/>
          </a:xfrm>
        </p:spPr>
        <p:txBody>
          <a:bodyPr/>
          <a:lstStyle/>
          <a:p>
            <a:pPr>
              <a:defRPr/>
            </a:pPr>
            <a:r>
              <a:rPr lang="en-US" sz="3200" dirty="0">
                <a:solidFill>
                  <a:schemeClr val="tx1"/>
                </a:solidFill>
              </a:rPr>
              <a:t>What about Trump?</a:t>
            </a:r>
          </a:p>
        </p:txBody>
      </p:sp>
      <p:pic>
        <p:nvPicPr>
          <p:cNvPr id="53250" name="Content Placeholder 4">
            <a:extLst>
              <a:ext uri="{FF2B5EF4-FFF2-40B4-BE49-F238E27FC236}">
                <a16:creationId xmlns:a16="http://schemas.microsoft.com/office/drawing/2014/main" id="{0177A77E-FD53-A8D7-96AB-CCA94098DA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66725" y="1295400"/>
            <a:ext cx="8220075" cy="5045075"/>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0F89E06-CF90-DCB4-F239-1F74440A1E9A}"/>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18435" name="Rectangle 3">
            <a:extLst>
              <a:ext uri="{FF2B5EF4-FFF2-40B4-BE49-F238E27FC236}">
                <a16:creationId xmlns:a16="http://schemas.microsoft.com/office/drawing/2014/main" id="{A0E155EC-6589-17F0-F8EB-1681F0C2F2CF}"/>
              </a:ext>
            </a:extLst>
          </p:cNvPr>
          <p:cNvSpPr>
            <a:spLocks noGrp="1" noChangeArrowheads="1"/>
          </p:cNvSpPr>
          <p:nvPr>
            <p:ph type="body" idx="1"/>
          </p:nvPr>
        </p:nvSpPr>
        <p:spPr/>
        <p:txBody>
          <a:bodyPr/>
          <a:lstStyle/>
          <a:p>
            <a:pPr eaLnBrk="1" hangingPunct="1">
              <a:buFont typeface="Wingdings" charset="2"/>
              <a:buChar char="l"/>
              <a:defRPr/>
            </a:pPr>
            <a:endParaRPr lang="en-US" altLang="x-none" dirty="0">
              <a:ea typeface="ＭＳ Ｐゴシック" charset="-128"/>
            </a:endParaRPr>
          </a:p>
          <a:p>
            <a:pPr eaLnBrk="1" hangingPunct="1">
              <a:buFont typeface="Wingdings" charset="2"/>
              <a:buChar char="l"/>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3.		The principle that statesmen think and 	act in terms of interest defined as 	power is </a:t>
            </a:r>
            <a:r>
              <a:rPr lang="en-US" altLang="x-none" dirty="0">
                <a:solidFill>
                  <a:srgbClr val="FFC000"/>
                </a:solidFill>
                <a:ea typeface="ＭＳ Ｐゴシック" charset="-128"/>
              </a:rPr>
              <a:t>universally</a:t>
            </a:r>
            <a:r>
              <a:rPr lang="en-US" altLang="x-none" dirty="0">
                <a:ea typeface="ＭＳ Ｐゴシック" charset="-128"/>
              </a:rPr>
              <a:t> valid, in all times 	and places.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1977-8B1D-9527-3492-FECB7B5EB798}"/>
              </a:ext>
            </a:extLst>
          </p:cNvPr>
          <p:cNvSpPr>
            <a:spLocks noGrp="1"/>
          </p:cNvSpPr>
          <p:nvPr>
            <p:ph type="title"/>
          </p:nvPr>
        </p:nvSpPr>
        <p:spPr>
          <a:xfrm>
            <a:off x="457200" y="277813"/>
            <a:ext cx="8229600" cy="636587"/>
          </a:xfrm>
        </p:spPr>
        <p:txBody>
          <a:bodyPr/>
          <a:lstStyle/>
          <a:p>
            <a:pPr>
              <a:defRPr/>
            </a:pPr>
            <a:r>
              <a:rPr lang="en-US" altLang="x-none" sz="4000" dirty="0">
                <a:solidFill>
                  <a:srgbClr val="FFFF00"/>
                </a:solidFill>
                <a:ea typeface="ＭＳ Ｐゴシック" charset="-128"/>
              </a:rPr>
              <a:t>Thucydides</a:t>
            </a:r>
            <a:br>
              <a:rPr lang="en-US" altLang="x-none" sz="3600" dirty="0">
                <a:ea typeface="ＭＳ Ｐゴシック" charset="-128"/>
              </a:rPr>
            </a:br>
            <a:r>
              <a:rPr lang="en-US" altLang="x-none" sz="2400" dirty="0">
                <a:ea typeface="ＭＳ Ｐゴシック" charset="-128"/>
              </a:rPr>
              <a:t>(c. 460 BCE - 395 BCE)</a:t>
            </a:r>
          </a:p>
        </p:txBody>
      </p:sp>
      <p:pic>
        <p:nvPicPr>
          <p:cNvPr id="56322" name="Content Placeholder 3" descr="Thucydides.jpg">
            <a:extLst>
              <a:ext uri="{FF2B5EF4-FFF2-40B4-BE49-F238E27FC236}">
                <a16:creationId xmlns:a16="http://schemas.microsoft.com/office/drawing/2014/main" id="{8A9CE7E8-E1A1-B94E-3B50-CB81BB203D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1868" r="-51868"/>
          <a:stretch>
            <a:fillRect/>
          </a:stretch>
        </p:blipFill>
        <p:spPr>
          <a:xfrm>
            <a:off x="1219200" y="1335088"/>
            <a:ext cx="6694488" cy="3657600"/>
          </a:xfrm>
        </p:spPr>
      </p:pic>
      <p:sp>
        <p:nvSpPr>
          <p:cNvPr id="56323" name="TextBox 4">
            <a:extLst>
              <a:ext uri="{FF2B5EF4-FFF2-40B4-BE49-F238E27FC236}">
                <a16:creationId xmlns:a16="http://schemas.microsoft.com/office/drawing/2014/main" id="{5458EB25-8F84-7AB8-C79E-6BAA51CEBA94}"/>
              </a:ext>
            </a:extLst>
          </p:cNvPr>
          <p:cNvSpPr txBox="1">
            <a:spLocks noChangeArrowheads="1"/>
          </p:cNvSpPr>
          <p:nvPr/>
        </p:nvSpPr>
        <p:spPr bwMode="auto">
          <a:xfrm>
            <a:off x="261938" y="5257800"/>
            <a:ext cx="8610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1600" i="1"/>
              <a:t>First </a:t>
            </a:r>
            <a:r>
              <a:rPr lang="en-US" altLang="en-US" sz="1600" i="1" u="sng"/>
              <a:t>known</a:t>
            </a:r>
            <a:r>
              <a:rPr lang="en-US" altLang="en-US" sz="1600" i="1"/>
              <a:t> Realist in the history of humanity—although very shortly thereafter, people thinking along similar lines appeared in China and elsewhere.  Thucydides analyzed the Peloponnesian War (431-404 BCE) and concluded (among many other things):</a:t>
            </a:r>
          </a:p>
          <a:p>
            <a:pPr algn="just" eaLnBrk="1" hangingPunct="1">
              <a:spcBef>
                <a:spcPct val="0"/>
              </a:spcBef>
              <a:buClrTx/>
              <a:buSzTx/>
              <a:buFontTx/>
              <a:buNone/>
            </a:pPr>
            <a:endParaRPr lang="en-US" altLang="en-US" sz="1600" i="1"/>
          </a:p>
          <a:p>
            <a:pPr algn="ctr" eaLnBrk="1" hangingPunct="1">
              <a:spcBef>
                <a:spcPct val="0"/>
              </a:spcBef>
              <a:buClrTx/>
              <a:buSzTx/>
              <a:buFontTx/>
              <a:buNone/>
            </a:pPr>
            <a:r>
              <a:rPr lang="en-US" altLang="en-US" sz="1600" b="1" i="1">
                <a:solidFill>
                  <a:srgbClr val="FFFF00"/>
                </a:solidFill>
              </a:rPr>
              <a:t>“The strong do what they can, and the weak suffer what they must.”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B28F37D-86C2-428A-FABC-033CA6A4EE2E}"/>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21507" name="Rectangle 3">
            <a:extLst>
              <a:ext uri="{FF2B5EF4-FFF2-40B4-BE49-F238E27FC236}">
                <a16:creationId xmlns:a16="http://schemas.microsoft.com/office/drawing/2014/main" id="{331EF3A2-F514-6DE8-800D-C52F51D059B1}"/>
              </a:ext>
            </a:extLst>
          </p:cNvPr>
          <p:cNvSpPr>
            <a:spLocks noGrp="1" noChangeArrowheads="1"/>
          </p:cNvSpPr>
          <p:nvPr>
            <p:ph type="body" idx="1"/>
          </p:nvPr>
        </p:nvSpPr>
        <p:spPr>
          <a:xfrm>
            <a:off x="457200" y="1219200"/>
            <a:ext cx="8229600" cy="4530725"/>
          </a:xfrm>
        </p:spPr>
        <p:txBody>
          <a:bodyPr/>
          <a:lstStyle/>
          <a:p>
            <a:pPr marL="0" indent="0" eaLnBrk="1" hangingPunct="1">
              <a:buFont typeface="Wingdings" pitchFamily="2" charset="2"/>
              <a:buNone/>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4.		Universal moral laws or globe-wide 	</a:t>
            </a:r>
            <a:r>
              <a:rPr lang="en-US" altLang="x-none" i="1" dirty="0">
                <a:ea typeface="ＭＳ Ｐゴシック" charset="-128"/>
              </a:rPr>
              <a:t>cultural values </a:t>
            </a:r>
            <a:r>
              <a:rPr lang="en-US" altLang="x-none" u="sng" dirty="0">
                <a:ea typeface="ＭＳ Ｐゴシック" charset="-128"/>
              </a:rPr>
              <a:t>cannot</a:t>
            </a:r>
            <a:r>
              <a:rPr lang="en-US" altLang="x-none" dirty="0">
                <a:ea typeface="ＭＳ Ｐゴシック" charset="-128"/>
              </a:rPr>
              <a:t> be used to </a:t>
            </a:r>
            <a:r>
              <a:rPr lang="en-US" altLang="x-none" u="sng" dirty="0">
                <a:ea typeface="ＭＳ Ｐゴシック" charset="-128"/>
              </a:rPr>
              <a:t>judge</a:t>
            </a:r>
            <a:r>
              <a:rPr lang="en-US" altLang="x-none" dirty="0">
                <a:ea typeface="ＭＳ Ｐゴシック" charset="-128"/>
              </a:rPr>
              <a:t> 	a state’</a:t>
            </a:r>
            <a:r>
              <a:rPr lang="en-US" altLang="ja-JP" dirty="0">
                <a:ea typeface="ＭＳ Ｐゴシック" charset="-128"/>
              </a:rPr>
              <a:t>s behavior.  States have their 	own morality.</a:t>
            </a: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8D109EF-1886-CE6F-99C1-5BA13635347D}"/>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21507" name="Rectangle 3">
            <a:extLst>
              <a:ext uri="{FF2B5EF4-FFF2-40B4-BE49-F238E27FC236}">
                <a16:creationId xmlns:a16="http://schemas.microsoft.com/office/drawing/2014/main" id="{89451892-BFC4-9EE2-D2F5-D466E5E71B03}"/>
              </a:ext>
            </a:extLst>
          </p:cNvPr>
          <p:cNvSpPr>
            <a:spLocks noGrp="1" noChangeArrowheads="1"/>
          </p:cNvSpPr>
          <p:nvPr>
            <p:ph type="body" idx="1"/>
          </p:nvPr>
        </p:nvSpPr>
        <p:spPr>
          <a:xfrm>
            <a:off x="457200" y="1219200"/>
            <a:ext cx="8229600" cy="4530725"/>
          </a:xfrm>
        </p:spPr>
        <p:txBody>
          <a:bodyPr/>
          <a:lstStyle/>
          <a:p>
            <a:pPr marL="0" indent="0" eaLnBrk="1" hangingPunct="1">
              <a:buFont typeface="Wingdings" pitchFamily="2" charset="2"/>
              <a:buNone/>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4.		Universal moral laws or globe-wide 	</a:t>
            </a:r>
            <a:r>
              <a:rPr lang="en-US" altLang="x-none" i="1" dirty="0">
                <a:ea typeface="ＭＳ Ｐゴシック" charset="-128"/>
              </a:rPr>
              <a:t>cultural values </a:t>
            </a:r>
            <a:r>
              <a:rPr lang="en-US" altLang="x-none" u="sng" dirty="0">
                <a:ea typeface="ＭＳ Ｐゴシック" charset="-128"/>
              </a:rPr>
              <a:t>cannot</a:t>
            </a:r>
            <a:r>
              <a:rPr lang="en-US" altLang="x-none" dirty="0">
                <a:ea typeface="ＭＳ Ｐゴシック" charset="-128"/>
              </a:rPr>
              <a:t> be used to </a:t>
            </a:r>
            <a:r>
              <a:rPr lang="en-US" altLang="x-none" u="sng" dirty="0">
                <a:ea typeface="ＭＳ Ｐゴシック" charset="-128"/>
              </a:rPr>
              <a:t>judge</a:t>
            </a:r>
            <a:r>
              <a:rPr lang="en-US" altLang="x-none" dirty="0">
                <a:ea typeface="ＭＳ Ｐゴシック" charset="-128"/>
              </a:rPr>
              <a:t> 	a state’</a:t>
            </a:r>
            <a:r>
              <a:rPr lang="en-US" altLang="ja-JP" dirty="0">
                <a:ea typeface="ＭＳ Ｐゴシック" charset="-128"/>
              </a:rPr>
              <a:t>s behavior.  States have their 	own morality.</a:t>
            </a:r>
          </a:p>
          <a:p>
            <a:pPr eaLnBrk="1" hangingPunct="1">
              <a:spcBef>
                <a:spcPct val="0"/>
              </a:spcBef>
              <a:buFont typeface="Wingdings" charset="2"/>
              <a:buNone/>
              <a:defRPr/>
            </a:pPr>
            <a:endParaRPr lang="en-US" altLang="ja-JP" dirty="0">
              <a:ea typeface="ＭＳ Ｐゴシック" charset="-128"/>
            </a:endParaRPr>
          </a:p>
          <a:p>
            <a:pPr eaLnBrk="1" hangingPunct="1">
              <a:spcBef>
                <a:spcPct val="0"/>
              </a:spcBef>
              <a:buFont typeface="Wingdings" charset="2"/>
              <a:buNone/>
              <a:defRPr/>
            </a:pPr>
            <a:r>
              <a:rPr lang="en-US" altLang="ja-JP" dirty="0">
                <a:ea typeface="ＭＳ Ｐゴシック" charset="-128"/>
              </a:rPr>
              <a:t>		EXCEPT:  A state has no right to 	sacrifice “its” nation in pursuit of 	some grand moral vision.  </a:t>
            </a:r>
            <a:r>
              <a:rPr lang="en-US" altLang="ja-JP" i="1" dirty="0">
                <a:ea typeface="ＭＳ Ｐゴシック" charset="-128"/>
              </a:rPr>
              <a:t>All states 	have a moral requirement to defend 	or advance the “</a:t>
            </a:r>
            <a:r>
              <a:rPr lang="en-US" altLang="ja-JP" i="1" dirty="0">
                <a:solidFill>
                  <a:srgbClr val="92D050"/>
                </a:solidFill>
                <a:ea typeface="ＭＳ Ｐゴシック" charset="-128"/>
              </a:rPr>
              <a:t>national interest</a:t>
            </a:r>
            <a:r>
              <a:rPr lang="en-US" altLang="ja-JP" i="1" dirty="0">
                <a:ea typeface="ＭＳ Ｐゴシック" charset="-128"/>
              </a:rPr>
              <a:t>”</a:t>
            </a:r>
            <a:endParaRPr lang="en-US" altLang="ja-JP" dirty="0">
              <a:ea typeface="ＭＳ Ｐゴシック" charset="-128"/>
            </a:endParaRPr>
          </a:p>
          <a:p>
            <a:pPr eaLnBrk="1" hangingPunct="1">
              <a:spcBef>
                <a:spcPct val="0"/>
              </a:spcBef>
              <a:buFont typeface="Wingdings" charset="2"/>
              <a:buNone/>
              <a:defRPr/>
            </a:pPr>
            <a:endParaRPr lang="en-US" altLang="x-none" dirty="0">
              <a:ea typeface="ＭＳ Ｐゴシック" charset="-128"/>
            </a:endParaRPr>
          </a:p>
          <a:p>
            <a:pPr eaLnBrk="1" hangingPunct="1">
              <a:spcBef>
                <a:spcPct val="0"/>
              </a:spcBef>
              <a:buFont typeface="Wingdings" charset="2"/>
              <a:buNone/>
              <a:defRPr/>
            </a:pPr>
            <a:r>
              <a:rPr lang="en-US" altLang="x-none" dirty="0">
                <a:ea typeface="ＭＳ Ｐゴシック" charset="-128"/>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7DA9070-1A49-616F-E358-60587883125B}"/>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23555" name="Rectangle 3">
            <a:extLst>
              <a:ext uri="{FF2B5EF4-FFF2-40B4-BE49-F238E27FC236}">
                <a16:creationId xmlns:a16="http://schemas.microsoft.com/office/drawing/2014/main" id="{8E7D20CA-7A8C-0A33-5B8E-55CCDCFA5CBB}"/>
              </a:ext>
            </a:extLst>
          </p:cNvPr>
          <p:cNvSpPr>
            <a:spLocks noGrp="1" noChangeArrowheads="1"/>
          </p:cNvSpPr>
          <p:nvPr>
            <p:ph type="body" idx="1"/>
          </p:nvPr>
        </p:nvSpPr>
        <p:spPr/>
        <p:txBody>
          <a:bodyPr/>
          <a:lstStyle/>
          <a:p>
            <a:pPr eaLnBrk="1" hangingPunct="1">
              <a:buFont typeface="Wingdings" charset="0"/>
              <a:buChar char="l"/>
              <a:defRPr/>
            </a:pPr>
            <a:endParaRPr lang="en-US" dirty="0"/>
          </a:p>
          <a:p>
            <a:pPr eaLnBrk="1" hangingPunct="1">
              <a:buFont typeface="Wingdings" charset="0"/>
              <a:buChar char="l"/>
              <a:defRPr/>
            </a:pPr>
            <a:endParaRPr lang="en-US" dirty="0"/>
          </a:p>
          <a:p>
            <a:pPr eaLnBrk="1" hangingPunct="1">
              <a:spcBef>
                <a:spcPct val="0"/>
              </a:spcBef>
              <a:buFont typeface="Wingdings" charset="0"/>
              <a:buNone/>
              <a:defRPr/>
            </a:pPr>
            <a:r>
              <a:rPr lang="en-US" dirty="0"/>
              <a:t>5.		States must not try to universalize their 	particular moral vision.  They must not 	be preachy and morally presumptuous.</a:t>
            </a:r>
          </a:p>
          <a:p>
            <a:pPr eaLnBrk="1" hangingPunct="1">
              <a:buFont typeface="Wingdings" charset="0"/>
              <a:buNone/>
              <a:defRPr/>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72F97FC-88C3-92E8-8CFC-1367CBF527D7}"/>
              </a:ext>
            </a:extLst>
          </p:cNvPr>
          <p:cNvSpPr>
            <a:spLocks noGrp="1" noChangeArrowheads="1"/>
          </p:cNvSpPr>
          <p:nvPr>
            <p:ph type="title"/>
          </p:nvPr>
        </p:nvSpPr>
        <p:spPr/>
        <p:txBody>
          <a:bodyPr/>
          <a:lstStyle/>
          <a:p>
            <a:pPr eaLnBrk="1" hangingPunct="1">
              <a:defRPr/>
            </a:pPr>
            <a:r>
              <a:rPr lang="en-US" altLang="x-none" sz="4000" dirty="0">
                <a:solidFill>
                  <a:srgbClr val="FFFF00"/>
                </a:solidFill>
                <a:ea typeface="ＭＳ Ｐゴシック" charset="-128"/>
              </a:rPr>
              <a:t>Morgenthau</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 </a:t>
            </a:r>
            <a:r>
              <a:rPr lang="ja-JP" altLang="en-US" sz="4000">
                <a:solidFill>
                  <a:srgbClr val="FFFF00"/>
                </a:solidFill>
                <a:ea typeface="ＭＳ Ｐゴシック" charset="-128"/>
              </a:rPr>
              <a:t>“</a:t>
            </a:r>
            <a:r>
              <a:rPr lang="en-US" altLang="ja-JP" sz="4000" dirty="0">
                <a:solidFill>
                  <a:srgbClr val="FFFF00"/>
                </a:solidFill>
                <a:ea typeface="ＭＳ Ｐゴシック" charset="-128"/>
              </a:rPr>
              <a:t>Six Principles of Political Realism</a:t>
            </a:r>
            <a:r>
              <a:rPr lang="ja-JP" altLang="en-US" sz="4000">
                <a:solidFill>
                  <a:srgbClr val="FFFF00"/>
                </a:solidFill>
                <a:ea typeface="ＭＳ Ｐゴシック" charset="-128"/>
              </a:rPr>
              <a:t>”</a:t>
            </a:r>
            <a:endParaRPr lang="en-US" altLang="x-none" sz="4000" dirty="0">
              <a:solidFill>
                <a:srgbClr val="FFFF00"/>
              </a:solidFill>
              <a:ea typeface="ＭＳ Ｐゴシック" charset="-128"/>
            </a:endParaRPr>
          </a:p>
        </p:txBody>
      </p:sp>
      <p:sp>
        <p:nvSpPr>
          <p:cNvPr id="25603" name="Rectangle 3">
            <a:extLst>
              <a:ext uri="{FF2B5EF4-FFF2-40B4-BE49-F238E27FC236}">
                <a16:creationId xmlns:a16="http://schemas.microsoft.com/office/drawing/2014/main" id="{5CFC55E6-023C-4D5C-F14F-724333D8F80F}"/>
              </a:ext>
            </a:extLst>
          </p:cNvPr>
          <p:cNvSpPr>
            <a:spLocks noGrp="1" noChangeArrowheads="1"/>
          </p:cNvSpPr>
          <p:nvPr>
            <p:ph type="body" idx="1"/>
          </p:nvPr>
        </p:nvSpPr>
        <p:spPr/>
        <p:txBody>
          <a:bodyPr/>
          <a:lstStyle/>
          <a:p>
            <a:pPr eaLnBrk="1" hangingPunct="1">
              <a:buFont typeface="Wingdings" charset="0"/>
              <a:buChar char="l"/>
              <a:defRPr/>
            </a:pPr>
            <a:endParaRPr lang="en-US" dirty="0"/>
          </a:p>
          <a:p>
            <a:pPr eaLnBrk="1" hangingPunct="1">
              <a:buFont typeface="Wingdings" charset="0"/>
              <a:buChar char="l"/>
              <a:defRPr/>
            </a:pPr>
            <a:endParaRPr lang="en-US" dirty="0"/>
          </a:p>
          <a:p>
            <a:pPr eaLnBrk="1" hangingPunct="1">
              <a:spcBef>
                <a:spcPct val="0"/>
              </a:spcBef>
              <a:buFont typeface="Wingdings" charset="0"/>
              <a:buNone/>
              <a:defRPr/>
            </a:pPr>
            <a:r>
              <a:rPr lang="en-US" dirty="0"/>
              <a:t>6.		Politics and international relations are 	distinct from other social spheres and 	must be analyzed as such.</a:t>
            </a:r>
          </a:p>
          <a:p>
            <a:pPr eaLnBrk="1" hangingPunct="1">
              <a:spcBef>
                <a:spcPct val="0"/>
              </a:spcBef>
              <a:buFont typeface="Wingdings" charset="0"/>
              <a:buNone/>
              <a:defRPr/>
            </a:pPr>
            <a:endParaRPr lang="en-US" dirty="0"/>
          </a:p>
          <a:p>
            <a:pPr eaLnBrk="1" hangingPunct="1">
              <a:spcBef>
                <a:spcPct val="0"/>
              </a:spcBef>
              <a:buFont typeface="Wingdings" charset="0"/>
              <a:buNone/>
              <a:defRPr/>
            </a:pPr>
            <a:r>
              <a:rPr lang="en-US" dirty="0"/>
              <a:t>		You can’t assume that the international 	political realm functions like an 	economy, or a society, or a network, 	etc.</a:t>
            </a:r>
          </a:p>
          <a:p>
            <a:pPr eaLnBrk="1" hangingPunct="1">
              <a:buFont typeface="Wingdings" charset="0"/>
              <a:buNone/>
              <a:defRPr/>
            </a:pP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01ECE02-5474-DAB1-A085-994BE464E5D7}"/>
              </a:ext>
            </a:extLst>
          </p:cNvPr>
          <p:cNvSpPr>
            <a:spLocks noGrp="1" noChangeArrowheads="1"/>
          </p:cNvSpPr>
          <p:nvPr>
            <p:ph type="title"/>
          </p:nvPr>
        </p:nvSpPr>
        <p:spPr>
          <a:xfrm>
            <a:off x="457200" y="0"/>
            <a:ext cx="8229600" cy="914400"/>
          </a:xfrm>
        </p:spPr>
        <p:txBody>
          <a:bodyPr/>
          <a:lstStyle/>
          <a:p>
            <a:pPr eaLnBrk="1" hangingPunct="1">
              <a:defRPr/>
            </a:pPr>
            <a:r>
              <a:rPr lang="en-US" altLang="x-none" sz="3600" dirty="0">
                <a:solidFill>
                  <a:schemeClr val="tx1"/>
                </a:solidFill>
                <a:ea typeface="ＭＳ Ｐゴシック" charset="-128"/>
              </a:rPr>
              <a:t>Hans J. Morgenthau (</a:t>
            </a:r>
            <a:r>
              <a:rPr lang="en-US" altLang="x-none" sz="3600" u="sng" dirty="0">
                <a:solidFill>
                  <a:srgbClr val="FFFF00"/>
                </a:solidFill>
                <a:ea typeface="ＭＳ Ｐゴシック" charset="-128"/>
              </a:rPr>
              <a:t>1904-1980</a:t>
            </a:r>
            <a:r>
              <a:rPr lang="en-US" altLang="x-none" sz="3600" dirty="0">
                <a:solidFill>
                  <a:schemeClr val="tx1"/>
                </a:solidFill>
                <a:ea typeface="ＭＳ Ｐゴシック" charset="-128"/>
              </a:rPr>
              <a:t>)</a:t>
            </a:r>
          </a:p>
        </p:txBody>
      </p:sp>
      <p:sp>
        <p:nvSpPr>
          <p:cNvPr id="15363" name="Rectangle 3">
            <a:extLst>
              <a:ext uri="{FF2B5EF4-FFF2-40B4-BE49-F238E27FC236}">
                <a16:creationId xmlns:a16="http://schemas.microsoft.com/office/drawing/2014/main" id="{CE6C6196-09A6-A8EC-8728-3597546491B3}"/>
              </a:ext>
            </a:extLst>
          </p:cNvPr>
          <p:cNvSpPr>
            <a:spLocks noGrp="1" noChangeArrowheads="1"/>
          </p:cNvSpPr>
          <p:nvPr>
            <p:ph type="body" idx="1"/>
          </p:nvPr>
        </p:nvSpPr>
        <p:spPr/>
        <p:txBody>
          <a:bodyPr/>
          <a:lstStyle/>
          <a:p>
            <a:pPr marL="609600" indent="-609600" eaLnBrk="1" hangingPunct="1">
              <a:buFont typeface="Wingdings" charset="0"/>
              <a:buAutoNum type="arabicPeriod"/>
              <a:defRPr/>
            </a:pPr>
            <a:endParaRPr lang="en-US" dirty="0"/>
          </a:p>
          <a:p>
            <a:pPr marL="609600" indent="-609600" eaLnBrk="1" hangingPunct="1">
              <a:buFont typeface="Wingdings" charset="0"/>
              <a:buNone/>
              <a:defRPr/>
            </a:pPr>
            <a:endParaRPr lang="en-US" dirty="0"/>
          </a:p>
        </p:txBody>
      </p:sp>
      <p:pic>
        <p:nvPicPr>
          <p:cNvPr id="66563" name="Picture 6" descr="Morgenthau, Hans">
            <a:extLst>
              <a:ext uri="{FF2B5EF4-FFF2-40B4-BE49-F238E27FC236}">
                <a16:creationId xmlns:a16="http://schemas.microsoft.com/office/drawing/2014/main" id="{5192B5C3-7868-49CA-7796-713FD5ED6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95400"/>
            <a:ext cx="37369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5" descr="Morgenthau (book cover)">
            <a:extLst>
              <a:ext uri="{FF2B5EF4-FFF2-40B4-BE49-F238E27FC236}">
                <a16:creationId xmlns:a16="http://schemas.microsoft.com/office/drawing/2014/main" id="{568BE893-5A77-2426-F4ED-6A33571AB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295400"/>
            <a:ext cx="34305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CC1E-5307-B9DA-14F3-467D73C53642}"/>
              </a:ext>
            </a:extLst>
          </p:cNvPr>
          <p:cNvSpPr>
            <a:spLocks noGrp="1"/>
          </p:cNvSpPr>
          <p:nvPr>
            <p:ph type="title"/>
          </p:nvPr>
        </p:nvSpPr>
        <p:spPr/>
        <p:txBody>
          <a:bodyPr/>
          <a:lstStyle/>
          <a:p>
            <a:pPr>
              <a:defRPr/>
            </a:pPr>
            <a:endParaRPr lang="en-US" altLang="en-US" dirty="0">
              <a:ea typeface="ＭＳ Ｐゴシック" panose="020B0600070205080204" pitchFamily="34" charset="-128"/>
            </a:endParaRPr>
          </a:p>
        </p:txBody>
      </p:sp>
      <p:pic>
        <p:nvPicPr>
          <p:cNvPr id="68610" name="Content Placeholder 3" descr="Economics as a Model for IR (science).png">
            <a:extLst>
              <a:ext uri="{FF2B5EF4-FFF2-40B4-BE49-F238E27FC236}">
                <a16:creationId xmlns:a16="http://schemas.microsoft.com/office/drawing/2014/main" id="{A09682F6-EE51-961D-7836-D7AC40C6778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7344" r="-87344"/>
          <a:stretch>
            <a:fillRect/>
          </a:stretch>
        </p:blipFill>
        <p:spPr>
          <a:xfrm>
            <a:off x="-3313113" y="0"/>
            <a:ext cx="12457113" cy="6858000"/>
          </a:xfrm>
        </p:spPr>
      </p:pic>
      <p:sp>
        <p:nvSpPr>
          <p:cNvPr id="68611" name="TextBox 4">
            <a:extLst>
              <a:ext uri="{FF2B5EF4-FFF2-40B4-BE49-F238E27FC236}">
                <a16:creationId xmlns:a16="http://schemas.microsoft.com/office/drawing/2014/main" id="{72983180-4974-A1FF-33C2-2076250818E5}"/>
              </a:ext>
            </a:extLst>
          </p:cNvPr>
          <p:cNvSpPr txBox="1">
            <a:spLocks noChangeArrowheads="1"/>
          </p:cNvSpPr>
          <p:nvPr/>
        </p:nvSpPr>
        <p:spPr bwMode="auto">
          <a:xfrm>
            <a:off x="5562600" y="685800"/>
            <a:ext cx="3048000" cy="60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2800" u="sng">
                <a:solidFill>
                  <a:srgbClr val="FFFF00"/>
                </a:solidFill>
              </a:rPr>
              <a:t>NEO</a:t>
            </a:r>
            <a:r>
              <a:rPr lang="en-US" altLang="en-US" sz="2800">
                <a:solidFill>
                  <a:srgbClr val="FFFF00"/>
                </a:solidFill>
              </a:rPr>
              <a:t>-Realism</a:t>
            </a:r>
          </a:p>
          <a:p>
            <a:pPr eaLnBrk="1" hangingPunct="1">
              <a:spcBef>
                <a:spcPct val="0"/>
              </a:spcBef>
              <a:buClrTx/>
              <a:buSzTx/>
              <a:buFontTx/>
              <a:buNone/>
            </a:pPr>
            <a:endParaRPr lang="en-US" altLang="en-US" sz="2000" i="1"/>
          </a:p>
          <a:p>
            <a:pPr eaLnBrk="1" hangingPunct="1">
              <a:spcBef>
                <a:spcPct val="0"/>
              </a:spcBef>
              <a:buClrTx/>
              <a:buSzTx/>
              <a:buFontTx/>
              <a:buNone/>
            </a:pPr>
            <a:r>
              <a:rPr lang="en-US" altLang="en-US" sz="2000" i="1"/>
              <a:t>Owing to its scientific rigor, conceptual clarity, elegance of explanation, and demonstrated successes in predicting the future, </a:t>
            </a:r>
            <a:r>
              <a:rPr lang="en-US" altLang="en-US" sz="2000" i="1" u="sng"/>
              <a:t>Economics </a:t>
            </a:r>
            <a:r>
              <a:rPr lang="en-US" altLang="en-US" sz="2000" i="1"/>
              <a:t>rapidly became the model social science to emulate for many IR scholars in US political science departments in the 1950s and </a:t>
            </a:r>
            <a:r>
              <a:rPr lang="ja-JP" altLang="en-US" sz="2000" i="1"/>
              <a:t>‘</a:t>
            </a:r>
            <a:r>
              <a:rPr lang="en-US" altLang="ja-JP" sz="2000" i="1"/>
              <a:t>60s.</a:t>
            </a:r>
          </a:p>
          <a:p>
            <a:pPr eaLnBrk="1" hangingPunct="1">
              <a:spcBef>
                <a:spcPct val="0"/>
              </a:spcBef>
              <a:buClrTx/>
              <a:buSzTx/>
              <a:buFontTx/>
              <a:buNone/>
            </a:pPr>
            <a:endParaRPr lang="en-US" altLang="en-US" sz="2000" i="1"/>
          </a:p>
          <a:p>
            <a:pPr eaLnBrk="1" hangingPunct="1">
              <a:spcBef>
                <a:spcPct val="0"/>
              </a:spcBef>
              <a:buClrTx/>
              <a:buSzTx/>
              <a:buFontTx/>
              <a:buNone/>
            </a:pPr>
            <a:r>
              <a:rPr lang="en-US" altLang="en-US" sz="2000" i="1"/>
              <a:t>Such was not the case in Europe (including Britain), Australia, and other places.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FC23807-6870-77F9-59C3-78B50B0882F2}"/>
              </a:ext>
            </a:extLst>
          </p:cNvPr>
          <p:cNvSpPr>
            <a:spLocks noGrp="1" noChangeArrowheads="1"/>
          </p:cNvSpPr>
          <p:nvPr>
            <p:ph type="title"/>
          </p:nvPr>
        </p:nvSpPr>
        <p:spPr>
          <a:xfrm>
            <a:off x="457200" y="277813"/>
            <a:ext cx="8229600" cy="1017587"/>
          </a:xfrm>
        </p:spPr>
        <p:txBody>
          <a:bodyPr/>
          <a:lstStyle/>
          <a:p>
            <a:pPr eaLnBrk="1" hangingPunct="1">
              <a:defRPr/>
            </a:pPr>
            <a:r>
              <a:rPr lang="en-US" altLang="en-US" sz="3600" u="sng" dirty="0">
                <a:solidFill>
                  <a:schemeClr val="tx1"/>
                </a:solidFill>
                <a:ea typeface="ＭＳ Ｐゴシック" panose="020B0600070205080204" pitchFamily="34" charset="-128"/>
              </a:rPr>
              <a:t>Neorealism</a:t>
            </a:r>
            <a:br>
              <a:rPr lang="en-US" altLang="en-US" sz="3600" dirty="0">
                <a:solidFill>
                  <a:schemeClr val="tx1"/>
                </a:solidFill>
                <a:ea typeface="ＭＳ Ｐゴシック" panose="020B0600070205080204" pitchFamily="34" charset="-128"/>
              </a:rPr>
            </a:br>
            <a:r>
              <a:rPr lang="en-US" altLang="en-US" sz="3200" dirty="0">
                <a:solidFill>
                  <a:schemeClr val="tx1"/>
                </a:solidFill>
                <a:ea typeface="ＭＳ Ｐゴシック" panose="020B0600070205080204" pitchFamily="34" charset="-128"/>
              </a:rPr>
              <a:t>born in the 1970s</a:t>
            </a:r>
          </a:p>
        </p:txBody>
      </p:sp>
      <p:sp>
        <p:nvSpPr>
          <p:cNvPr id="29699" name="Rectangle 3">
            <a:extLst>
              <a:ext uri="{FF2B5EF4-FFF2-40B4-BE49-F238E27FC236}">
                <a16:creationId xmlns:a16="http://schemas.microsoft.com/office/drawing/2014/main" id="{2D8E1CBD-9F04-5B96-B896-D714D575D725}"/>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71683" name="Picture 4" descr="Waltz, Kenneth">
            <a:extLst>
              <a:ext uri="{FF2B5EF4-FFF2-40B4-BE49-F238E27FC236}">
                <a16:creationId xmlns:a16="http://schemas.microsoft.com/office/drawing/2014/main" id="{EF8871DC-BB02-07D7-E1E6-FB47738D09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600200"/>
            <a:ext cx="3168650" cy="457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4" name="Picture 5" descr="Waltz (book cover)">
            <a:extLst>
              <a:ext uri="{FF2B5EF4-FFF2-40B4-BE49-F238E27FC236}">
                <a16:creationId xmlns:a16="http://schemas.microsoft.com/office/drawing/2014/main" id="{0994CF24-0F87-9AB7-5FCA-B9901EAB73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600200"/>
            <a:ext cx="304323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AA2A-8BB4-3727-C462-E94218C77898}"/>
              </a:ext>
            </a:extLst>
          </p:cNvPr>
          <p:cNvSpPr>
            <a:spLocks noGrp="1"/>
          </p:cNvSpPr>
          <p:nvPr>
            <p:ph type="title"/>
          </p:nvPr>
        </p:nvSpPr>
        <p:spPr/>
        <p:txBody>
          <a:bodyPr/>
          <a:lstStyle/>
          <a:p>
            <a:pPr>
              <a:defRPr/>
            </a:pPr>
            <a:r>
              <a:rPr lang="en-US" altLang="x-none" sz="3600" dirty="0">
                <a:solidFill>
                  <a:srgbClr val="FFFF00"/>
                </a:solidFill>
                <a:ea typeface="ＭＳ Ｐゴシック" charset="-128"/>
              </a:rPr>
              <a:t>The Neorealists’ </a:t>
            </a:r>
            <a:r>
              <a:rPr lang="en-US" altLang="ja-JP" sz="3600" dirty="0">
                <a:solidFill>
                  <a:srgbClr val="FFFF00"/>
                </a:solidFill>
                <a:ea typeface="ＭＳ Ｐゴシック" charset="-128"/>
              </a:rPr>
              <a:t>Two Main Objectives</a:t>
            </a:r>
            <a:endParaRPr lang="en-US" altLang="x-none" sz="36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F45E0E13-E3E5-7CC1-F629-02D18255065D}"/>
              </a:ext>
            </a:extLst>
          </p:cNvPr>
          <p:cNvSpPr>
            <a:spLocks noGrp="1"/>
          </p:cNvSpPr>
          <p:nvPr>
            <p:ph idx="1"/>
          </p:nvPr>
        </p:nvSpPr>
        <p:spPr/>
        <p:txBody>
          <a:bodyPr/>
          <a:lstStyle/>
          <a:p>
            <a:pPr>
              <a:buFont typeface="Wingdings" charset="2"/>
              <a:buNone/>
              <a:defRPr/>
            </a:pPr>
            <a:endParaRPr lang="en-US" altLang="x-none" sz="2800" dirty="0">
              <a:ea typeface="ＭＳ Ｐゴシック" charset="-128"/>
            </a:endParaRPr>
          </a:p>
          <a:p>
            <a:pPr>
              <a:spcBef>
                <a:spcPct val="0"/>
              </a:spcBef>
              <a:buFont typeface="Wingdings" charset="2"/>
              <a:buNone/>
              <a:defRPr/>
            </a:pPr>
            <a:r>
              <a:rPr lang="en-US" altLang="x-none" sz="2800" dirty="0">
                <a:ea typeface="ＭＳ Ｐゴシック" charset="-128"/>
              </a:rPr>
              <a:t>1.		Make Classical Realism more scientific and 	rigorous by moving it away from history, 	philosophy, and law, and toward economics 	and the natural sciences – </a:t>
            </a:r>
            <a:r>
              <a:rPr lang="en-US" altLang="x-none" sz="2800" dirty="0">
                <a:solidFill>
                  <a:srgbClr val="FFFF00"/>
                </a:solidFill>
                <a:ea typeface="ＭＳ Ｐゴシック" charset="-128"/>
              </a:rPr>
              <a:t>while still 	adhering to Morgenthau’s Six Principles.</a:t>
            </a:r>
            <a:endParaRPr lang="en-US" altLang="x-none" sz="2800" dirty="0">
              <a:ea typeface="ＭＳ Ｐゴシック" charset="-128"/>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550E3-06E2-8931-0CD9-D6CDA1584BE2}"/>
              </a:ext>
            </a:extLst>
          </p:cNvPr>
          <p:cNvSpPr>
            <a:spLocks noGrp="1"/>
          </p:cNvSpPr>
          <p:nvPr>
            <p:ph type="title"/>
          </p:nvPr>
        </p:nvSpPr>
        <p:spPr/>
        <p:txBody>
          <a:bodyPr/>
          <a:lstStyle/>
          <a:p>
            <a:pPr>
              <a:defRPr/>
            </a:pPr>
            <a:r>
              <a:rPr lang="en-US" altLang="x-none" sz="3600" dirty="0">
                <a:solidFill>
                  <a:srgbClr val="FFFF00"/>
                </a:solidFill>
                <a:ea typeface="ＭＳ Ｐゴシック" charset="-128"/>
              </a:rPr>
              <a:t>The Neorealists’ </a:t>
            </a:r>
            <a:r>
              <a:rPr lang="en-US" altLang="ja-JP" sz="3600" dirty="0">
                <a:solidFill>
                  <a:srgbClr val="FFFF00"/>
                </a:solidFill>
                <a:ea typeface="ＭＳ Ｐゴシック" charset="-128"/>
              </a:rPr>
              <a:t>Two Main Objectives</a:t>
            </a:r>
            <a:endParaRPr lang="en-US" altLang="x-none" sz="36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A88EA281-8DD4-002D-5318-1103E2AD0DDA}"/>
              </a:ext>
            </a:extLst>
          </p:cNvPr>
          <p:cNvSpPr>
            <a:spLocks noGrp="1"/>
          </p:cNvSpPr>
          <p:nvPr>
            <p:ph idx="1"/>
          </p:nvPr>
        </p:nvSpPr>
        <p:spPr/>
        <p:txBody>
          <a:bodyPr/>
          <a:lstStyle/>
          <a:p>
            <a:pPr>
              <a:buFont typeface="Wingdings" charset="2"/>
              <a:buNone/>
              <a:defRPr/>
            </a:pPr>
            <a:endParaRPr lang="en-US" altLang="x-none" sz="2800" dirty="0">
              <a:ea typeface="ＭＳ Ｐゴシック" charset="-128"/>
            </a:endParaRPr>
          </a:p>
          <a:p>
            <a:pPr>
              <a:spcBef>
                <a:spcPct val="0"/>
              </a:spcBef>
              <a:buFont typeface="Wingdings" charset="2"/>
              <a:buNone/>
              <a:defRPr/>
            </a:pPr>
            <a:r>
              <a:rPr lang="en-US" altLang="x-none" sz="2800" dirty="0">
                <a:ea typeface="ＭＳ Ｐゴシック" charset="-128"/>
              </a:rPr>
              <a:t>1.		Make Classical Realism more scientific and 	rigorous by moving it away from history, 	philosophy, and law, and toward economics 	and the natural sciences – </a:t>
            </a:r>
            <a:r>
              <a:rPr lang="en-US" altLang="x-none" sz="2800" dirty="0">
                <a:solidFill>
                  <a:srgbClr val="FFFF00"/>
                </a:solidFill>
                <a:ea typeface="ＭＳ Ｐゴシック" charset="-128"/>
              </a:rPr>
              <a:t>while still 	adhering to Morgenthau’s Six Principles.</a:t>
            </a:r>
          </a:p>
          <a:p>
            <a:pPr>
              <a:spcBef>
                <a:spcPct val="0"/>
              </a:spcBef>
              <a:buFont typeface="Wingdings" charset="2"/>
              <a:buNone/>
              <a:defRPr/>
            </a:pPr>
            <a:endParaRPr lang="en-US" altLang="x-none" sz="2800" dirty="0">
              <a:ea typeface="ＭＳ Ｐゴシック" charset="-128"/>
            </a:endParaRPr>
          </a:p>
          <a:p>
            <a:pPr>
              <a:spcBef>
                <a:spcPct val="0"/>
              </a:spcBef>
              <a:buFont typeface="Wingdings" charset="2"/>
              <a:buNone/>
              <a:defRPr/>
            </a:pPr>
            <a:r>
              <a:rPr lang="en-US" altLang="x-none" sz="2800" dirty="0">
                <a:ea typeface="ＭＳ Ｐゴシック" charset="-128"/>
              </a:rPr>
              <a:t>2.		Put down a theoretical challenge </a:t>
            </a:r>
            <a:r>
              <a:rPr lang="en-US" altLang="x-none" sz="2800" dirty="0">
                <a:solidFill>
                  <a:srgbClr val="00B0F0"/>
                </a:solidFill>
                <a:ea typeface="ＭＳ Ｐゴシック" charset="-128"/>
              </a:rPr>
              <a:t>from 	students of transnational relations and 	interdependence (“neoliberals,” in the IR 	sense)</a:t>
            </a:r>
            <a:r>
              <a:rPr lang="en-US" altLang="x-none" sz="2800" dirty="0">
                <a:ea typeface="ＭＳ Ｐゴシック" charset="-128"/>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A7D8-36CD-F6DF-5FE1-F941B0824A37}"/>
              </a:ext>
            </a:extLst>
          </p:cNvPr>
          <p:cNvSpPr>
            <a:spLocks noGrp="1"/>
          </p:cNvSpPr>
          <p:nvPr>
            <p:ph type="title"/>
          </p:nvPr>
        </p:nvSpPr>
        <p:spPr/>
        <p:txBody>
          <a:bodyPr/>
          <a:lstStyle/>
          <a:p>
            <a:pPr>
              <a:defRPr/>
            </a:pPr>
            <a:endParaRPr lang="en-US" altLang="en-US" dirty="0">
              <a:ea typeface="ＭＳ Ｐゴシック" panose="020B0600070205080204" pitchFamily="34" charset="-128"/>
            </a:endParaRPr>
          </a:p>
        </p:txBody>
      </p:sp>
      <p:pic>
        <p:nvPicPr>
          <p:cNvPr id="75778" name="Picture 4" descr="https://www.economicshelp.org/wp-content/uploads/2013/03/world-exports-as-percent-gdp.png">
            <a:extLst>
              <a:ext uri="{FF2B5EF4-FFF2-40B4-BE49-F238E27FC236}">
                <a16:creationId xmlns:a16="http://schemas.microsoft.com/office/drawing/2014/main" id="{3F772D15-693A-4738-0653-7AC9C18F85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57275" y="879475"/>
            <a:ext cx="7029450" cy="4911725"/>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47EAE745-55AB-39C3-21F5-8E5929CA29D9}"/>
              </a:ext>
            </a:extLst>
          </p:cNvPr>
          <p:cNvSpPr>
            <a:spLocks noGrp="1"/>
          </p:cNvSpPr>
          <p:nvPr>
            <p:ph type="title"/>
          </p:nvPr>
        </p:nvSpPr>
        <p:spPr>
          <a:xfrm>
            <a:off x="457200" y="381000"/>
            <a:ext cx="8229600" cy="609600"/>
          </a:xfrm>
        </p:spPr>
        <p:txBody>
          <a:bodyPr/>
          <a:lstStyle/>
          <a:p>
            <a:pPr eaLnBrk="1" hangingPunct="1">
              <a:defRPr/>
            </a:pPr>
            <a:r>
              <a:rPr lang="en-US" altLang="en-US" sz="2800" dirty="0">
                <a:solidFill>
                  <a:schemeClr val="tx1"/>
                </a:solidFill>
                <a:ea typeface="ＭＳ Ｐゴシック" panose="020B0600070205080204" pitchFamily="34" charset="-128"/>
              </a:rPr>
              <a:t>Stable Cold War Bipolarity, 1980</a:t>
            </a:r>
          </a:p>
        </p:txBody>
      </p:sp>
      <p:sp>
        <p:nvSpPr>
          <p:cNvPr id="3" name="Content Placeholder 2">
            <a:extLst>
              <a:ext uri="{FF2B5EF4-FFF2-40B4-BE49-F238E27FC236}">
                <a16:creationId xmlns:a16="http://schemas.microsoft.com/office/drawing/2014/main" id="{54CF9053-8AEC-CA7F-F23A-39DB23290BA3}"/>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22E2515A-CE62-EBB2-6FB6-2E062467C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9078262" cy="4603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29C114D-71C1-3669-27A0-F11F63B9FA73}"/>
              </a:ext>
            </a:extLst>
          </p:cNvPr>
          <p:cNvSpPr txBox="1"/>
          <p:nvPr/>
        </p:nvSpPr>
        <p:spPr>
          <a:xfrm>
            <a:off x="2133600" y="6323586"/>
            <a:ext cx="6324600" cy="461665"/>
          </a:xfrm>
          <a:prstGeom prst="rect">
            <a:avLst/>
          </a:prstGeom>
          <a:noFill/>
        </p:spPr>
        <p:txBody>
          <a:bodyPr wrap="square" rtlCol="0">
            <a:spAutoFit/>
          </a:bodyPr>
          <a:lstStyle/>
          <a:p>
            <a:r>
              <a:rPr lang="en-US" sz="1200" dirty="0">
                <a:solidFill>
                  <a:srgbClr val="FF0000"/>
                </a:solidFill>
              </a:rPr>
              <a:t>Red x’s</a:t>
            </a:r>
            <a:r>
              <a:rPr lang="en-US" sz="1200" dirty="0"/>
              <a:t>:  Communist insurgencies challenging US-supporting states</a:t>
            </a:r>
          </a:p>
          <a:p>
            <a:r>
              <a:rPr lang="en-US" sz="1200" dirty="0">
                <a:solidFill>
                  <a:srgbClr val="0070C0"/>
                </a:solidFill>
              </a:rPr>
              <a:t>Blue x’s</a:t>
            </a:r>
            <a:r>
              <a:rPr lang="en-US" sz="1200" dirty="0"/>
              <a:t>:  Right-wing insurgencies challenging USSR-supporting states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7A2E-F2F5-60DF-B741-438F205815A0}"/>
              </a:ext>
            </a:extLst>
          </p:cNvPr>
          <p:cNvSpPr>
            <a:spLocks noGrp="1"/>
          </p:cNvSpPr>
          <p:nvPr>
            <p:ph type="title"/>
          </p:nvPr>
        </p:nvSpPr>
        <p:spPr/>
        <p:txBody>
          <a:bodyPr/>
          <a:lstStyle/>
          <a:p>
            <a:pPr>
              <a:defRPr/>
            </a:pPr>
            <a:r>
              <a:rPr lang="en-US" sz="3200" dirty="0">
                <a:solidFill>
                  <a:schemeClr val="tx1"/>
                </a:solidFill>
              </a:rPr>
              <a:t>To Waltz, the international system</a:t>
            </a:r>
            <a:br>
              <a:rPr lang="en-US" sz="3200" dirty="0">
                <a:solidFill>
                  <a:schemeClr val="tx1"/>
                </a:solidFill>
              </a:rPr>
            </a:br>
            <a:r>
              <a:rPr lang="en-US" sz="3200" dirty="0">
                <a:solidFill>
                  <a:schemeClr val="tx1"/>
                </a:solidFill>
              </a:rPr>
              <a:t>was very much like a market</a:t>
            </a:r>
          </a:p>
        </p:txBody>
      </p:sp>
      <p:sp>
        <p:nvSpPr>
          <p:cNvPr id="4" name="Content Placeholder 3">
            <a:extLst>
              <a:ext uri="{FF2B5EF4-FFF2-40B4-BE49-F238E27FC236}">
                <a16:creationId xmlns:a16="http://schemas.microsoft.com/office/drawing/2014/main" id="{37444B00-1967-4EFC-205F-B255DEF28FD8}"/>
              </a:ext>
            </a:extLst>
          </p:cNvPr>
          <p:cNvSpPr>
            <a:spLocks noGrp="1"/>
          </p:cNvSpPr>
          <p:nvPr>
            <p:ph idx="1"/>
          </p:nvPr>
        </p:nvSpPr>
        <p:spPr/>
        <p:txBody>
          <a:bodyPr/>
          <a:lstStyle/>
          <a:p>
            <a:pPr>
              <a:defRPr/>
            </a:pPr>
            <a:endParaRPr lang="en-US" dirty="0"/>
          </a:p>
        </p:txBody>
      </p:sp>
      <p:pic>
        <p:nvPicPr>
          <p:cNvPr id="77827" name="Picture 4" descr="market equilibrium">
            <a:extLst>
              <a:ext uri="{FF2B5EF4-FFF2-40B4-BE49-F238E27FC236}">
                <a16:creationId xmlns:a16="http://schemas.microsoft.com/office/drawing/2014/main" id="{ECB8AEA7-2B65-CA76-EC53-74BE7A78A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575" y="1752600"/>
            <a:ext cx="5530850"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a:extLst>
              <a:ext uri="{FF2B5EF4-FFF2-40B4-BE49-F238E27FC236}">
                <a16:creationId xmlns:a16="http://schemas.microsoft.com/office/drawing/2014/main" id="{C0824E8C-6F4B-AD74-6DC0-CA785B5F6227}"/>
              </a:ext>
            </a:extLst>
          </p:cNvPr>
          <p:cNvSpPr>
            <a:spLocks noGrp="1" noChangeArrowheads="1"/>
          </p:cNvSpPr>
          <p:nvPr>
            <p:ph type="title"/>
          </p:nvPr>
        </p:nvSpPr>
        <p:spPr/>
        <p:txBody>
          <a:bodyPr/>
          <a:lstStyle/>
          <a:p>
            <a:pPr eaLnBrk="1" hangingPunct="1">
              <a:defRPr/>
            </a:pPr>
            <a:r>
              <a:rPr lang="en-US" sz="3200" dirty="0">
                <a:solidFill>
                  <a:srgbClr val="FFFF00"/>
                </a:solidFill>
              </a:rPr>
              <a:t>The outcome of competitive state jostling is international STRUCTURE</a:t>
            </a:r>
          </a:p>
        </p:txBody>
      </p:sp>
      <p:sp>
        <p:nvSpPr>
          <p:cNvPr id="1091587" name="Rectangle 3">
            <a:extLst>
              <a:ext uri="{FF2B5EF4-FFF2-40B4-BE49-F238E27FC236}">
                <a16:creationId xmlns:a16="http://schemas.microsoft.com/office/drawing/2014/main" id="{E049B626-9E2C-8A99-C5E8-6B4BC03EE682}"/>
              </a:ext>
            </a:extLst>
          </p:cNvPr>
          <p:cNvSpPr>
            <a:spLocks noGrp="1" noChangeArrowheads="1"/>
          </p:cNvSpPr>
          <p:nvPr>
            <p:ph type="body" idx="1"/>
          </p:nvPr>
        </p:nvSpPr>
        <p:spPr/>
        <p:txBody>
          <a:bodyPr/>
          <a:lstStyle/>
          <a:p>
            <a:pPr eaLnBrk="1" hangingPunct="1">
              <a:buFont typeface="Wingdings" charset="0"/>
              <a:buNone/>
              <a:defRPr/>
            </a:pPr>
            <a:endParaRPr lang="en-US" dirty="0"/>
          </a:p>
          <a:p>
            <a:pPr eaLnBrk="1" hangingPunct="1">
              <a:buFont typeface="Wingdings" charset="0"/>
              <a:buNone/>
              <a:defRPr/>
            </a:pPr>
            <a:r>
              <a:rPr lang="en-US" dirty="0"/>
              <a:t>	</a:t>
            </a:r>
            <a:r>
              <a:rPr lang="en-US" sz="2800" u="sng" dirty="0"/>
              <a:t>Structure</a:t>
            </a:r>
            <a:r>
              <a:rPr lang="en-US" sz="2800" dirty="0"/>
              <a:t>:  the </a:t>
            </a:r>
            <a:r>
              <a:rPr lang="en-US" sz="2800" dirty="0">
                <a:solidFill>
                  <a:srgbClr val="FFFF00"/>
                </a:solidFill>
              </a:rPr>
              <a:t>principles</a:t>
            </a:r>
            <a:r>
              <a:rPr lang="en-US" sz="2800" dirty="0"/>
              <a:t> by which </a:t>
            </a:r>
            <a:r>
              <a:rPr lang="en-US" sz="2800" dirty="0">
                <a:solidFill>
                  <a:srgbClr val="FFFF00"/>
                </a:solidFill>
              </a:rPr>
              <a:t>units</a:t>
            </a:r>
            <a:r>
              <a:rPr lang="en-US" sz="2800" dirty="0"/>
              <a:t> are arranged into </a:t>
            </a:r>
            <a:r>
              <a:rPr lang="en-US" sz="2800" dirty="0">
                <a:solidFill>
                  <a:srgbClr val="FFFF00"/>
                </a:solidFill>
              </a:rPr>
              <a:t>an international system</a:t>
            </a:r>
            <a:r>
              <a:rPr lang="en-US" sz="2800" dirty="0"/>
              <a:t>, how units are differentiated from each other, and how they stand in relation to each other in terms of relative capabilities.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60F1-3D53-EC38-67A2-0BD52F73F9FF}"/>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B8331CFA-BBFC-ADB8-5400-6559C51CBEDF}"/>
              </a:ext>
            </a:extLst>
          </p:cNvPr>
          <p:cNvSpPr>
            <a:spLocks noGrp="1" noChangeArrowheads="1"/>
          </p:cNvSpPr>
          <p:nvPr>
            <p:ph type="title"/>
          </p:nvPr>
        </p:nvSpPr>
        <p:spPr/>
        <p:txBody>
          <a:bodyPr/>
          <a:lstStyle/>
          <a:p>
            <a:pPr eaLnBrk="1" hangingPunct="1">
              <a:defRPr/>
            </a:pPr>
            <a:r>
              <a:rPr lang="en-US" sz="3200" dirty="0">
                <a:solidFill>
                  <a:srgbClr val="FFFF00"/>
                </a:solidFill>
              </a:rPr>
              <a:t>The Neorealists’ Three Dimensions to </a:t>
            </a:r>
            <a:br>
              <a:rPr lang="en-US" sz="3200" dirty="0">
                <a:solidFill>
                  <a:srgbClr val="FFFF00"/>
                </a:solidFill>
              </a:rPr>
            </a:br>
            <a:r>
              <a:rPr lang="en-US" sz="3200" dirty="0">
                <a:solidFill>
                  <a:srgbClr val="FFFF00"/>
                </a:solidFill>
              </a:rPr>
              <a:t>International Structure</a:t>
            </a:r>
          </a:p>
        </p:txBody>
      </p:sp>
      <p:sp>
        <p:nvSpPr>
          <p:cNvPr id="1091587" name="Rectangle 3">
            <a:extLst>
              <a:ext uri="{FF2B5EF4-FFF2-40B4-BE49-F238E27FC236}">
                <a16:creationId xmlns:a16="http://schemas.microsoft.com/office/drawing/2014/main" id="{632C2C8A-9CAD-9E7F-2586-6406B38C1EB5}"/>
              </a:ext>
            </a:extLst>
          </p:cNvPr>
          <p:cNvSpPr>
            <a:spLocks noGrp="1" noChangeArrowheads="1"/>
          </p:cNvSpPr>
          <p:nvPr>
            <p:ph type="body" idx="1"/>
          </p:nvPr>
        </p:nvSpPr>
        <p:spPr/>
        <p:txBody>
          <a:bodyPr/>
          <a:lstStyle/>
          <a:p>
            <a:pPr eaLnBrk="1" hangingPunct="1">
              <a:buFont typeface="Wingdings" charset="0"/>
              <a:buNone/>
              <a:defRPr/>
            </a:pPr>
            <a:endParaRPr lang="en-US" dirty="0"/>
          </a:p>
        </p:txBody>
      </p:sp>
    </p:spTree>
    <p:extLst>
      <p:ext uri="{BB962C8B-B14F-4D97-AF65-F5344CB8AC3E}">
        <p14:creationId xmlns:p14="http://schemas.microsoft.com/office/powerpoint/2010/main" val="34875771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232A-CDBB-F235-8FBF-2862E652C041}"/>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416EEE61-52AD-FC57-60F2-7E32B9CE51E4}"/>
              </a:ext>
            </a:extLst>
          </p:cNvPr>
          <p:cNvSpPr>
            <a:spLocks noGrp="1" noChangeArrowheads="1"/>
          </p:cNvSpPr>
          <p:nvPr>
            <p:ph type="title"/>
          </p:nvPr>
        </p:nvSpPr>
        <p:spPr/>
        <p:txBody>
          <a:bodyPr/>
          <a:lstStyle/>
          <a:p>
            <a:pPr eaLnBrk="1" hangingPunct="1">
              <a:defRPr/>
            </a:pPr>
            <a:r>
              <a:rPr lang="en-US" sz="3200" dirty="0">
                <a:solidFill>
                  <a:srgbClr val="FFFF00"/>
                </a:solidFill>
              </a:rPr>
              <a:t>The Neorealists’ Three Dimensions to </a:t>
            </a:r>
            <a:br>
              <a:rPr lang="en-US" sz="3200" dirty="0">
                <a:solidFill>
                  <a:srgbClr val="FFFF00"/>
                </a:solidFill>
              </a:rPr>
            </a:br>
            <a:r>
              <a:rPr lang="en-US" sz="3200" dirty="0">
                <a:solidFill>
                  <a:srgbClr val="FFFF00"/>
                </a:solidFill>
              </a:rPr>
              <a:t>International Structure</a:t>
            </a:r>
          </a:p>
        </p:txBody>
      </p:sp>
      <p:sp>
        <p:nvSpPr>
          <p:cNvPr id="1091587" name="Rectangle 3">
            <a:extLst>
              <a:ext uri="{FF2B5EF4-FFF2-40B4-BE49-F238E27FC236}">
                <a16:creationId xmlns:a16="http://schemas.microsoft.com/office/drawing/2014/main" id="{CA882279-05DC-85AE-9BDB-4186E9CB0B58}"/>
              </a:ext>
            </a:extLst>
          </p:cNvPr>
          <p:cNvSpPr>
            <a:spLocks noGrp="1" noChangeArrowheads="1"/>
          </p:cNvSpPr>
          <p:nvPr>
            <p:ph type="body" idx="1"/>
          </p:nvPr>
        </p:nvSpPr>
        <p:spPr/>
        <p:txBody>
          <a:bodyPr/>
          <a:lstStyle/>
          <a:p>
            <a:pPr eaLnBrk="1" hangingPunct="1">
              <a:buFont typeface="Wingdings" charset="0"/>
              <a:buNone/>
              <a:defRPr/>
            </a:pPr>
            <a:endParaRPr lang="en-US" dirty="0"/>
          </a:p>
          <a:p>
            <a:pPr eaLnBrk="1" hangingPunct="1">
              <a:buFont typeface="Wingdings" charset="0"/>
              <a:buNone/>
              <a:defRPr/>
            </a:pPr>
            <a:r>
              <a:rPr lang="en-US" sz="1800" dirty="0"/>
              <a:t>1.	</a:t>
            </a:r>
            <a:r>
              <a:rPr lang="en-US" sz="1800" u="sng" dirty="0"/>
              <a:t>Ordering Principle</a:t>
            </a:r>
            <a:r>
              <a:rPr lang="en-US" sz="1800" dirty="0"/>
              <a:t>. This is binary: either hierarchy or anarchy.</a:t>
            </a:r>
          </a:p>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17223555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EECE-02EE-F52E-C26F-EBFE56C36109}"/>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14B03CD1-F4E2-C518-9FAD-BC9B3C7BD960}"/>
              </a:ext>
            </a:extLst>
          </p:cNvPr>
          <p:cNvSpPr>
            <a:spLocks noGrp="1" noChangeArrowheads="1"/>
          </p:cNvSpPr>
          <p:nvPr>
            <p:ph type="title"/>
          </p:nvPr>
        </p:nvSpPr>
        <p:spPr/>
        <p:txBody>
          <a:bodyPr/>
          <a:lstStyle/>
          <a:p>
            <a:pPr eaLnBrk="1" hangingPunct="1">
              <a:defRPr/>
            </a:pPr>
            <a:r>
              <a:rPr lang="en-US" sz="3200" dirty="0">
                <a:solidFill>
                  <a:srgbClr val="FFFF00"/>
                </a:solidFill>
              </a:rPr>
              <a:t>The Neorealists’ Three Dimensions to </a:t>
            </a:r>
            <a:br>
              <a:rPr lang="en-US" sz="3200" dirty="0">
                <a:solidFill>
                  <a:srgbClr val="FFFF00"/>
                </a:solidFill>
              </a:rPr>
            </a:br>
            <a:r>
              <a:rPr lang="en-US" sz="3200" dirty="0">
                <a:solidFill>
                  <a:srgbClr val="FFFF00"/>
                </a:solidFill>
              </a:rPr>
              <a:t>International Structure</a:t>
            </a:r>
          </a:p>
        </p:txBody>
      </p:sp>
      <p:sp>
        <p:nvSpPr>
          <p:cNvPr id="1091587" name="Rectangle 3">
            <a:extLst>
              <a:ext uri="{FF2B5EF4-FFF2-40B4-BE49-F238E27FC236}">
                <a16:creationId xmlns:a16="http://schemas.microsoft.com/office/drawing/2014/main" id="{BAB379B9-D62A-AE5A-97ED-FF7F0E2777A9}"/>
              </a:ext>
            </a:extLst>
          </p:cNvPr>
          <p:cNvSpPr>
            <a:spLocks noGrp="1" noChangeArrowheads="1"/>
          </p:cNvSpPr>
          <p:nvPr>
            <p:ph type="body" idx="1"/>
          </p:nvPr>
        </p:nvSpPr>
        <p:spPr/>
        <p:txBody>
          <a:bodyPr/>
          <a:lstStyle/>
          <a:p>
            <a:pPr eaLnBrk="1" hangingPunct="1">
              <a:buFont typeface="Wingdings" charset="0"/>
              <a:buNone/>
              <a:defRPr/>
            </a:pPr>
            <a:endParaRPr lang="en-US" dirty="0"/>
          </a:p>
          <a:p>
            <a:pPr eaLnBrk="1" hangingPunct="1">
              <a:buFont typeface="Wingdings" charset="0"/>
              <a:buNone/>
              <a:defRPr/>
            </a:pPr>
            <a:r>
              <a:rPr lang="en-US" sz="1800" dirty="0"/>
              <a:t>1.	</a:t>
            </a:r>
            <a:r>
              <a:rPr lang="en-US" sz="1800" u="sng" dirty="0"/>
              <a:t>Ordering Principle</a:t>
            </a:r>
            <a:r>
              <a:rPr lang="en-US" sz="1800" dirty="0"/>
              <a:t>. This is binary: either hierarchy or anarchy.</a:t>
            </a:r>
          </a:p>
          <a:p>
            <a:pPr eaLnBrk="1" hangingPunct="1">
              <a:buFont typeface="Wingdings" charset="0"/>
              <a:buNone/>
              <a:defRPr/>
            </a:pPr>
            <a:endParaRPr lang="en-US" sz="1800" dirty="0"/>
          </a:p>
          <a:p>
            <a:pPr eaLnBrk="1" hangingPunct="1">
              <a:buFont typeface="Wingdings" charset="0"/>
              <a:buNone/>
              <a:defRPr/>
            </a:pPr>
            <a:endParaRPr lang="en-US" sz="1800" dirty="0"/>
          </a:p>
          <a:p>
            <a:pPr eaLnBrk="1" hangingPunct="1">
              <a:buFont typeface="Wingdings" charset="0"/>
              <a:buNone/>
              <a:defRPr/>
            </a:pPr>
            <a:r>
              <a:rPr lang="en-US" sz="1800" dirty="0"/>
              <a:t>2.	</a:t>
            </a:r>
            <a:r>
              <a:rPr lang="en-US" sz="1800" u="sng" dirty="0"/>
              <a:t>Functional Differentiation of Units</a:t>
            </a:r>
            <a:r>
              <a:rPr lang="en-US" sz="1800" dirty="0"/>
              <a:t>:  Because the system is anarchic and survival is paramount, all states must perform the same basic tasks.  They are functionally similar, regardless of whether they are democracies or dictatorships.  Waltz treats the insides of states as black boxes.</a:t>
            </a:r>
          </a:p>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4457407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DE61B-153C-8219-B64C-F212152CEDE0}"/>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4D1B0EE2-579E-B61C-B6C0-2E40F0CDB866}"/>
              </a:ext>
            </a:extLst>
          </p:cNvPr>
          <p:cNvSpPr>
            <a:spLocks noGrp="1" noChangeArrowheads="1"/>
          </p:cNvSpPr>
          <p:nvPr>
            <p:ph type="title"/>
          </p:nvPr>
        </p:nvSpPr>
        <p:spPr/>
        <p:txBody>
          <a:bodyPr/>
          <a:lstStyle/>
          <a:p>
            <a:pPr eaLnBrk="1" hangingPunct="1">
              <a:defRPr/>
            </a:pPr>
            <a:r>
              <a:rPr lang="en-US" sz="3200" dirty="0">
                <a:solidFill>
                  <a:srgbClr val="FFFF00"/>
                </a:solidFill>
              </a:rPr>
              <a:t>The Neorealists’ Three Dimensions to </a:t>
            </a:r>
            <a:br>
              <a:rPr lang="en-US" sz="3200" dirty="0">
                <a:solidFill>
                  <a:srgbClr val="FFFF00"/>
                </a:solidFill>
              </a:rPr>
            </a:br>
            <a:r>
              <a:rPr lang="en-US" sz="3200" dirty="0">
                <a:solidFill>
                  <a:srgbClr val="FFFF00"/>
                </a:solidFill>
              </a:rPr>
              <a:t>International Structure</a:t>
            </a:r>
          </a:p>
        </p:txBody>
      </p:sp>
      <p:sp>
        <p:nvSpPr>
          <p:cNvPr id="1091587" name="Rectangle 3">
            <a:extLst>
              <a:ext uri="{FF2B5EF4-FFF2-40B4-BE49-F238E27FC236}">
                <a16:creationId xmlns:a16="http://schemas.microsoft.com/office/drawing/2014/main" id="{19493D20-BBB8-6FB0-62E3-C64329498277}"/>
              </a:ext>
            </a:extLst>
          </p:cNvPr>
          <p:cNvSpPr>
            <a:spLocks noGrp="1" noChangeArrowheads="1"/>
          </p:cNvSpPr>
          <p:nvPr>
            <p:ph type="body" idx="1"/>
          </p:nvPr>
        </p:nvSpPr>
        <p:spPr/>
        <p:txBody>
          <a:bodyPr/>
          <a:lstStyle/>
          <a:p>
            <a:pPr eaLnBrk="1" hangingPunct="1">
              <a:buFont typeface="Wingdings" charset="0"/>
              <a:buNone/>
              <a:defRPr/>
            </a:pPr>
            <a:endParaRPr lang="en-US" dirty="0"/>
          </a:p>
          <a:p>
            <a:pPr eaLnBrk="1" hangingPunct="1">
              <a:buFont typeface="Wingdings" charset="0"/>
              <a:buNone/>
              <a:defRPr/>
            </a:pPr>
            <a:r>
              <a:rPr lang="en-US" sz="1800" dirty="0"/>
              <a:t>1.	</a:t>
            </a:r>
            <a:r>
              <a:rPr lang="en-US" sz="1800" u="sng" dirty="0"/>
              <a:t>Ordering Principle</a:t>
            </a:r>
            <a:r>
              <a:rPr lang="en-US" sz="1800" dirty="0"/>
              <a:t>. This is binary: either hierarchy or anarchy.</a:t>
            </a:r>
          </a:p>
          <a:p>
            <a:pPr eaLnBrk="1" hangingPunct="1">
              <a:buFont typeface="Wingdings" charset="0"/>
              <a:buNone/>
              <a:defRPr/>
            </a:pPr>
            <a:endParaRPr lang="en-US" sz="1800" dirty="0"/>
          </a:p>
          <a:p>
            <a:pPr eaLnBrk="1" hangingPunct="1">
              <a:buFont typeface="Wingdings" charset="0"/>
              <a:buNone/>
              <a:defRPr/>
            </a:pPr>
            <a:endParaRPr lang="en-US" sz="1800" dirty="0"/>
          </a:p>
          <a:p>
            <a:pPr eaLnBrk="1" hangingPunct="1">
              <a:buFont typeface="Wingdings" charset="0"/>
              <a:buNone/>
              <a:defRPr/>
            </a:pPr>
            <a:r>
              <a:rPr lang="en-US" sz="1800" dirty="0"/>
              <a:t>2.	</a:t>
            </a:r>
            <a:r>
              <a:rPr lang="en-US" sz="1800" u="sng" dirty="0"/>
              <a:t>Functional Differentiation of Units</a:t>
            </a:r>
            <a:r>
              <a:rPr lang="en-US" sz="1800" dirty="0"/>
              <a:t>:  Because the system is anarchic and survival is paramount, all states must perform the same basic tasks.  They are functionally similar, regardless of whether they are democracies or dictatorships.  Waltz treats the insides of states as black boxes.</a:t>
            </a:r>
          </a:p>
          <a:p>
            <a:pPr eaLnBrk="1" hangingPunct="1">
              <a:buFont typeface="Wingdings" charset="0"/>
              <a:buNone/>
              <a:defRPr/>
            </a:pPr>
            <a:endParaRPr lang="en-US" sz="1800" dirty="0"/>
          </a:p>
          <a:p>
            <a:pPr eaLnBrk="1" hangingPunct="1">
              <a:buFont typeface="Wingdings" charset="0"/>
              <a:buNone/>
              <a:defRPr/>
            </a:pPr>
            <a:endParaRPr lang="en-US" sz="1800" dirty="0"/>
          </a:p>
          <a:p>
            <a:pPr eaLnBrk="1" hangingPunct="1">
              <a:buFont typeface="Wingdings" charset="0"/>
              <a:buNone/>
              <a:defRPr/>
            </a:pPr>
            <a:r>
              <a:rPr lang="en-US" sz="1800" dirty="0"/>
              <a:t>3.	</a:t>
            </a:r>
            <a:r>
              <a:rPr lang="en-US" sz="1800" u="sng" dirty="0"/>
              <a:t>Distribution of Capabilities</a:t>
            </a:r>
            <a:r>
              <a:rPr lang="en-US" sz="1800" dirty="0"/>
              <a:t>.  This is where systems differ.  How is power distributed?  Is it concentrated in one state, two (Bipolarity, like the Cold War), or many (Multipolarity)?  This distribution dictates the nature of international competition.</a:t>
            </a:r>
          </a:p>
        </p:txBody>
      </p:sp>
    </p:spTree>
    <p:extLst>
      <p:ext uri="{BB962C8B-B14F-4D97-AF65-F5344CB8AC3E}">
        <p14:creationId xmlns:p14="http://schemas.microsoft.com/office/powerpoint/2010/main" val="1132661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8523A-FB55-9E15-63A0-9046788DEF63}"/>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9B9B2741-24DE-7296-A94E-C31A8681B685}"/>
              </a:ext>
            </a:extLst>
          </p:cNvPr>
          <p:cNvSpPr>
            <a:spLocks noGrp="1" noChangeArrowheads="1"/>
          </p:cNvSpPr>
          <p:nvPr>
            <p:ph type="title"/>
          </p:nvPr>
        </p:nvSpPr>
        <p:spPr/>
        <p:txBody>
          <a:bodyPr/>
          <a:lstStyle/>
          <a:p>
            <a:pPr eaLnBrk="1" hangingPunct="1">
              <a:defRPr/>
            </a:pPr>
            <a:r>
              <a:rPr lang="en-US" sz="3200" dirty="0">
                <a:solidFill>
                  <a:srgbClr val="FFFF00"/>
                </a:solidFill>
              </a:rPr>
              <a:t>Why Neorealists Consider that</a:t>
            </a:r>
            <a:br>
              <a:rPr lang="en-US" sz="3200" dirty="0">
                <a:solidFill>
                  <a:srgbClr val="FFFF00"/>
                </a:solidFill>
              </a:rPr>
            </a:br>
            <a:r>
              <a:rPr lang="en-US" sz="3200" dirty="0">
                <a:solidFill>
                  <a:srgbClr val="FFFF00"/>
                </a:solidFill>
              </a:rPr>
              <a:t>Bipolarity Is More Stable than Multipolarity</a:t>
            </a:r>
          </a:p>
        </p:txBody>
      </p:sp>
      <p:sp>
        <p:nvSpPr>
          <p:cNvPr id="1091587" name="Rectangle 3">
            <a:extLst>
              <a:ext uri="{FF2B5EF4-FFF2-40B4-BE49-F238E27FC236}">
                <a16:creationId xmlns:a16="http://schemas.microsoft.com/office/drawing/2014/main" id="{C71AF3BB-DF75-7573-948B-BCE43DB2337C}"/>
              </a:ext>
            </a:extLst>
          </p:cNvPr>
          <p:cNvSpPr>
            <a:spLocks noGrp="1" noChangeArrowheads="1"/>
          </p:cNvSpPr>
          <p:nvPr>
            <p:ph type="body" idx="1"/>
          </p:nvPr>
        </p:nvSpPr>
        <p:spPr/>
        <p:txBody>
          <a:bodyPr/>
          <a:lstStyle/>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4093358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0C2F-4B22-5E23-D628-2C61862EED52}"/>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19B6A0F9-10CC-4F49-E70E-000CA93E298B}"/>
              </a:ext>
            </a:extLst>
          </p:cNvPr>
          <p:cNvSpPr>
            <a:spLocks noGrp="1" noChangeArrowheads="1"/>
          </p:cNvSpPr>
          <p:nvPr>
            <p:ph type="title"/>
          </p:nvPr>
        </p:nvSpPr>
        <p:spPr/>
        <p:txBody>
          <a:bodyPr/>
          <a:lstStyle/>
          <a:p>
            <a:pPr eaLnBrk="1" hangingPunct="1">
              <a:defRPr/>
            </a:pPr>
            <a:r>
              <a:rPr lang="en-US" sz="3200" dirty="0">
                <a:solidFill>
                  <a:srgbClr val="FFFF00"/>
                </a:solidFill>
              </a:rPr>
              <a:t>Why Neorealists Consider that</a:t>
            </a:r>
            <a:br>
              <a:rPr lang="en-US" sz="3200" dirty="0">
                <a:solidFill>
                  <a:srgbClr val="FFFF00"/>
                </a:solidFill>
              </a:rPr>
            </a:br>
            <a:r>
              <a:rPr lang="en-US" sz="3200" dirty="0">
                <a:solidFill>
                  <a:srgbClr val="FFFF00"/>
                </a:solidFill>
              </a:rPr>
              <a:t>Bipolarity Is More Stable than Multipolarity</a:t>
            </a:r>
          </a:p>
        </p:txBody>
      </p:sp>
      <p:sp>
        <p:nvSpPr>
          <p:cNvPr id="1091587" name="Rectangle 3">
            <a:extLst>
              <a:ext uri="{FF2B5EF4-FFF2-40B4-BE49-F238E27FC236}">
                <a16:creationId xmlns:a16="http://schemas.microsoft.com/office/drawing/2014/main" id="{C1B8309F-7972-0F76-72E4-BBAE6DB66256}"/>
              </a:ext>
            </a:extLst>
          </p:cNvPr>
          <p:cNvSpPr>
            <a:spLocks noGrp="1" noChangeArrowheads="1"/>
          </p:cNvSpPr>
          <p:nvPr>
            <p:ph type="body" idx="1"/>
          </p:nvPr>
        </p:nvSpPr>
        <p:spPr/>
        <p:txBody>
          <a:bodyPr/>
          <a:lstStyle/>
          <a:p>
            <a:pPr eaLnBrk="1" hangingPunct="1">
              <a:buFont typeface="Wingdings" charset="0"/>
              <a:buNone/>
              <a:defRPr/>
            </a:pPr>
            <a:r>
              <a:rPr lang="en-US" sz="1800" dirty="0"/>
              <a:t>1.	</a:t>
            </a:r>
            <a:r>
              <a:rPr lang="en-US" sz="1800" u="sng" dirty="0"/>
              <a:t>Simple math</a:t>
            </a:r>
            <a:r>
              <a:rPr lang="en-US" sz="1800" dirty="0"/>
              <a:t>:  A system with five great powers has ten potential conflict pairings.  A bipolar system has only one.  This reduces the </a:t>
            </a:r>
            <a:r>
              <a:rPr lang="en-US" sz="1800" i="1" dirty="0"/>
              <a:t>opportunities</a:t>
            </a:r>
            <a:r>
              <a:rPr lang="en-US" sz="1800" dirty="0"/>
              <a:t> for great power wars to break out.</a:t>
            </a:r>
          </a:p>
          <a:p>
            <a:pPr eaLnBrk="1" hangingPunct="1">
              <a:buFont typeface="Wingdings" charset="0"/>
              <a:buNone/>
              <a:defRPr/>
            </a:pPr>
            <a:endParaRPr lang="en-US" sz="1800" u="sng" dirty="0"/>
          </a:p>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2298959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505B-AAB9-6E95-1408-A6F9DDAAC1F3}"/>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9E9D2FB7-3449-56D7-7E0F-40719785969A}"/>
              </a:ext>
            </a:extLst>
          </p:cNvPr>
          <p:cNvSpPr>
            <a:spLocks noGrp="1" noChangeArrowheads="1"/>
          </p:cNvSpPr>
          <p:nvPr>
            <p:ph type="title"/>
          </p:nvPr>
        </p:nvSpPr>
        <p:spPr/>
        <p:txBody>
          <a:bodyPr/>
          <a:lstStyle/>
          <a:p>
            <a:pPr eaLnBrk="1" hangingPunct="1">
              <a:defRPr/>
            </a:pPr>
            <a:r>
              <a:rPr lang="en-US" sz="3200" dirty="0">
                <a:solidFill>
                  <a:srgbClr val="FFFF00"/>
                </a:solidFill>
              </a:rPr>
              <a:t>Why Neorealists Consider that</a:t>
            </a:r>
            <a:br>
              <a:rPr lang="en-US" sz="3200" dirty="0">
                <a:solidFill>
                  <a:srgbClr val="FFFF00"/>
                </a:solidFill>
              </a:rPr>
            </a:br>
            <a:r>
              <a:rPr lang="en-US" sz="3200" dirty="0">
                <a:solidFill>
                  <a:srgbClr val="FFFF00"/>
                </a:solidFill>
              </a:rPr>
              <a:t>Bipolarity Is More Stable than Multipolarity</a:t>
            </a:r>
          </a:p>
        </p:txBody>
      </p:sp>
      <p:sp>
        <p:nvSpPr>
          <p:cNvPr id="1091587" name="Rectangle 3">
            <a:extLst>
              <a:ext uri="{FF2B5EF4-FFF2-40B4-BE49-F238E27FC236}">
                <a16:creationId xmlns:a16="http://schemas.microsoft.com/office/drawing/2014/main" id="{475BD800-C6DE-ED80-5071-206F6FBE8CB2}"/>
              </a:ext>
            </a:extLst>
          </p:cNvPr>
          <p:cNvSpPr>
            <a:spLocks noGrp="1" noChangeArrowheads="1"/>
          </p:cNvSpPr>
          <p:nvPr>
            <p:ph type="body" idx="1"/>
          </p:nvPr>
        </p:nvSpPr>
        <p:spPr/>
        <p:txBody>
          <a:bodyPr/>
          <a:lstStyle/>
          <a:p>
            <a:pPr eaLnBrk="1" hangingPunct="1">
              <a:buFont typeface="Wingdings" charset="0"/>
              <a:buNone/>
              <a:defRPr/>
            </a:pPr>
            <a:r>
              <a:rPr lang="en-US" sz="1800" dirty="0"/>
              <a:t>1.	</a:t>
            </a:r>
            <a:r>
              <a:rPr lang="en-US" sz="1800" u="sng" dirty="0"/>
              <a:t>Simple math</a:t>
            </a:r>
            <a:r>
              <a:rPr lang="en-US" sz="1800" dirty="0"/>
              <a:t>:  A system with five great powers has ten potential conflict pairings.  A bipolar system has only one.  This reduces the </a:t>
            </a:r>
            <a:r>
              <a:rPr lang="en-US" sz="1800" i="1" dirty="0"/>
              <a:t>opportunities</a:t>
            </a:r>
            <a:r>
              <a:rPr lang="en-US" sz="1800" dirty="0"/>
              <a:t> for great power wars to break out.</a:t>
            </a:r>
          </a:p>
          <a:p>
            <a:pPr eaLnBrk="1" hangingPunct="1">
              <a:buFont typeface="Wingdings" charset="0"/>
              <a:buNone/>
              <a:defRPr/>
            </a:pPr>
            <a:endParaRPr lang="en-US" sz="1800" u="sng" dirty="0"/>
          </a:p>
          <a:p>
            <a:pPr eaLnBrk="1" hangingPunct="1">
              <a:buFont typeface="Wingdings" charset="0"/>
              <a:buNone/>
              <a:defRPr/>
            </a:pPr>
            <a:r>
              <a:rPr lang="en-US" sz="1800" dirty="0"/>
              <a:t>2.	</a:t>
            </a:r>
            <a:r>
              <a:rPr lang="en-US" sz="1800" u="sng" dirty="0"/>
              <a:t>Easier Deterrence &amp; Less Miscalculation</a:t>
            </a:r>
            <a:r>
              <a:rPr lang="en-US" sz="1800" dirty="0"/>
              <a:t>:  In a bipolar world, threats are clearer, and the adversary is unambiguous.  The two superpowers are preoccupied with each other's every move, leading to more careful calculation and fewer catastrophic misjudgments about capabilities or resolve.</a:t>
            </a:r>
          </a:p>
          <a:p>
            <a:pPr marL="0" indent="0" eaLnBrk="1" hangingPunct="1">
              <a:buNone/>
              <a:defRPr/>
            </a:pPr>
            <a:endParaRPr lang="en-US" sz="1800" dirty="0"/>
          </a:p>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2834114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1EB38-CEC3-635A-C9D0-2471AC1D15C2}"/>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56362901-CAFE-71AB-3C46-22252DCE0032}"/>
              </a:ext>
            </a:extLst>
          </p:cNvPr>
          <p:cNvSpPr>
            <a:spLocks noGrp="1" noChangeArrowheads="1"/>
          </p:cNvSpPr>
          <p:nvPr>
            <p:ph type="title"/>
          </p:nvPr>
        </p:nvSpPr>
        <p:spPr/>
        <p:txBody>
          <a:bodyPr/>
          <a:lstStyle/>
          <a:p>
            <a:pPr eaLnBrk="1" hangingPunct="1">
              <a:defRPr/>
            </a:pPr>
            <a:r>
              <a:rPr lang="en-US" sz="3200" dirty="0">
                <a:solidFill>
                  <a:srgbClr val="FFFF00"/>
                </a:solidFill>
              </a:rPr>
              <a:t>Why Neorealists Consider that</a:t>
            </a:r>
            <a:br>
              <a:rPr lang="en-US" sz="3200" dirty="0">
                <a:solidFill>
                  <a:srgbClr val="FFFF00"/>
                </a:solidFill>
              </a:rPr>
            </a:br>
            <a:r>
              <a:rPr lang="en-US" sz="3200" dirty="0">
                <a:solidFill>
                  <a:srgbClr val="FFFF00"/>
                </a:solidFill>
              </a:rPr>
              <a:t>Bipolarity Is More Stable than Multipolarity</a:t>
            </a:r>
          </a:p>
        </p:txBody>
      </p:sp>
      <p:sp>
        <p:nvSpPr>
          <p:cNvPr id="1091587" name="Rectangle 3">
            <a:extLst>
              <a:ext uri="{FF2B5EF4-FFF2-40B4-BE49-F238E27FC236}">
                <a16:creationId xmlns:a16="http://schemas.microsoft.com/office/drawing/2014/main" id="{91C2BEAF-D771-D5DB-7BF0-AB30D9223979}"/>
              </a:ext>
            </a:extLst>
          </p:cNvPr>
          <p:cNvSpPr>
            <a:spLocks noGrp="1" noChangeArrowheads="1"/>
          </p:cNvSpPr>
          <p:nvPr>
            <p:ph type="body" idx="1"/>
          </p:nvPr>
        </p:nvSpPr>
        <p:spPr/>
        <p:txBody>
          <a:bodyPr/>
          <a:lstStyle/>
          <a:p>
            <a:pPr eaLnBrk="1" hangingPunct="1">
              <a:buFont typeface="Wingdings" charset="0"/>
              <a:buNone/>
              <a:defRPr/>
            </a:pPr>
            <a:r>
              <a:rPr lang="en-US" sz="1800" dirty="0"/>
              <a:t>1.	</a:t>
            </a:r>
            <a:r>
              <a:rPr lang="en-US" sz="1800" u="sng" dirty="0"/>
              <a:t>Simple math</a:t>
            </a:r>
            <a:r>
              <a:rPr lang="en-US" sz="1800" dirty="0"/>
              <a:t>:  A system with five great powers has ten potential conflict pairings.  A bipolar system has only one.  This reduces the </a:t>
            </a:r>
            <a:r>
              <a:rPr lang="en-US" sz="1800" i="1" dirty="0"/>
              <a:t>opportunities</a:t>
            </a:r>
            <a:r>
              <a:rPr lang="en-US" sz="1800" dirty="0"/>
              <a:t> for great power wars to break out.</a:t>
            </a:r>
          </a:p>
          <a:p>
            <a:pPr eaLnBrk="1" hangingPunct="1">
              <a:buFont typeface="Wingdings" charset="0"/>
              <a:buNone/>
              <a:defRPr/>
            </a:pPr>
            <a:endParaRPr lang="en-US" sz="1800" u="sng" dirty="0"/>
          </a:p>
          <a:p>
            <a:pPr eaLnBrk="1" hangingPunct="1">
              <a:buFont typeface="Wingdings" charset="0"/>
              <a:buNone/>
              <a:defRPr/>
            </a:pPr>
            <a:r>
              <a:rPr lang="en-US" sz="1800" dirty="0"/>
              <a:t>2.	</a:t>
            </a:r>
            <a:r>
              <a:rPr lang="en-US" sz="1800" u="sng" dirty="0"/>
              <a:t>Easier Deterrence &amp; Less Miscalculation</a:t>
            </a:r>
            <a:r>
              <a:rPr lang="en-US" sz="1800" dirty="0"/>
              <a:t>:  In a bipolar world, threats are clearer, and the adversary is unambiguous.  The two superpowers are preoccupied with each other's every move, leading to more careful calculation and fewer catastrophic misjudgments about capabilities or resolve.</a:t>
            </a:r>
          </a:p>
          <a:p>
            <a:pPr marL="0" indent="0" eaLnBrk="1" hangingPunct="1">
              <a:buNone/>
              <a:defRPr/>
            </a:pPr>
            <a:endParaRPr lang="en-US" sz="1800" dirty="0"/>
          </a:p>
          <a:p>
            <a:pPr eaLnBrk="1" hangingPunct="1">
              <a:buFont typeface="Wingdings" charset="0"/>
              <a:buNone/>
              <a:defRPr/>
            </a:pPr>
            <a:r>
              <a:rPr lang="en-US" sz="1800" dirty="0"/>
              <a:t>3.	</a:t>
            </a:r>
            <a:r>
              <a:rPr lang="en-US" sz="1800" u="sng" dirty="0"/>
              <a:t>Reduces “</a:t>
            </a:r>
            <a:r>
              <a:rPr lang="en-US" sz="1800" u="sng" dirty="0">
                <a:solidFill>
                  <a:srgbClr val="00B0F0"/>
                </a:solidFill>
              </a:rPr>
              <a:t>Buck-Passing</a:t>
            </a:r>
            <a:r>
              <a:rPr lang="en-US" sz="1800" u="sng" dirty="0"/>
              <a:t>” and “</a:t>
            </a:r>
            <a:r>
              <a:rPr lang="en-US" sz="1800" u="sng" dirty="0">
                <a:solidFill>
                  <a:srgbClr val="00B050"/>
                </a:solidFill>
              </a:rPr>
              <a:t>Chain-Ganging</a:t>
            </a:r>
            <a:r>
              <a:rPr lang="en-US" sz="1800" u="sng" dirty="0"/>
              <a:t>”</a:t>
            </a:r>
            <a:r>
              <a:rPr lang="en-US" sz="1800" dirty="0"/>
              <a:t>:  </a:t>
            </a:r>
            <a:r>
              <a:rPr lang="en-US" sz="1800" dirty="0">
                <a:solidFill>
                  <a:srgbClr val="00B0F0"/>
                </a:solidFill>
              </a:rPr>
              <a:t>Buck-Passing</a:t>
            </a:r>
            <a:r>
              <a:rPr lang="en-US" sz="1800" dirty="0"/>
              <a:t> is when facing a rising threat, states in a multipolar system might hope another great power will bear the costs of confronting it (i.e., "pass the buck").  This can allow an aggressor to grow too powerful.</a:t>
            </a:r>
          </a:p>
        </p:txBody>
      </p:sp>
    </p:spTree>
    <p:extLst>
      <p:ext uri="{BB962C8B-B14F-4D97-AF65-F5344CB8AC3E}">
        <p14:creationId xmlns:p14="http://schemas.microsoft.com/office/powerpoint/2010/main" val="1024660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E21C-5479-27DB-ACF1-F9B81361E0C3}"/>
            </a:ext>
          </a:extLst>
        </p:cNvPr>
        <p:cNvGrpSpPr/>
        <p:nvPr/>
      </p:nvGrpSpPr>
      <p:grpSpPr>
        <a:xfrm>
          <a:off x="0" y="0"/>
          <a:ext cx="0" cy="0"/>
          <a:chOff x="0" y="0"/>
          <a:chExt cx="0" cy="0"/>
        </a:xfrm>
      </p:grpSpPr>
      <p:sp>
        <p:nvSpPr>
          <p:cNvPr id="1091586" name="Rectangle 2">
            <a:extLst>
              <a:ext uri="{FF2B5EF4-FFF2-40B4-BE49-F238E27FC236}">
                <a16:creationId xmlns:a16="http://schemas.microsoft.com/office/drawing/2014/main" id="{9B2E2DA2-F4A1-8066-53BC-5A2F20DAFBA8}"/>
              </a:ext>
            </a:extLst>
          </p:cNvPr>
          <p:cNvSpPr>
            <a:spLocks noGrp="1" noChangeArrowheads="1"/>
          </p:cNvSpPr>
          <p:nvPr>
            <p:ph type="title"/>
          </p:nvPr>
        </p:nvSpPr>
        <p:spPr/>
        <p:txBody>
          <a:bodyPr/>
          <a:lstStyle/>
          <a:p>
            <a:pPr eaLnBrk="1" hangingPunct="1">
              <a:defRPr/>
            </a:pPr>
            <a:r>
              <a:rPr lang="en-US" sz="3200" dirty="0">
                <a:solidFill>
                  <a:srgbClr val="FFFF00"/>
                </a:solidFill>
              </a:rPr>
              <a:t>Why Neorealists Consider that</a:t>
            </a:r>
            <a:br>
              <a:rPr lang="en-US" sz="3200" dirty="0">
                <a:solidFill>
                  <a:srgbClr val="FFFF00"/>
                </a:solidFill>
              </a:rPr>
            </a:br>
            <a:r>
              <a:rPr lang="en-US" sz="3200" dirty="0">
                <a:solidFill>
                  <a:srgbClr val="FFFF00"/>
                </a:solidFill>
              </a:rPr>
              <a:t>Bipolarity Is More Stable than Multipolarity</a:t>
            </a:r>
          </a:p>
        </p:txBody>
      </p:sp>
      <p:sp>
        <p:nvSpPr>
          <p:cNvPr id="1091587" name="Rectangle 3">
            <a:extLst>
              <a:ext uri="{FF2B5EF4-FFF2-40B4-BE49-F238E27FC236}">
                <a16:creationId xmlns:a16="http://schemas.microsoft.com/office/drawing/2014/main" id="{30DDFBB4-37D4-5BB6-71CD-E3CCC26787BA}"/>
              </a:ext>
            </a:extLst>
          </p:cNvPr>
          <p:cNvSpPr>
            <a:spLocks noGrp="1" noChangeArrowheads="1"/>
          </p:cNvSpPr>
          <p:nvPr>
            <p:ph type="body" idx="1"/>
          </p:nvPr>
        </p:nvSpPr>
        <p:spPr/>
        <p:txBody>
          <a:bodyPr/>
          <a:lstStyle/>
          <a:p>
            <a:pPr eaLnBrk="1" hangingPunct="1">
              <a:buFont typeface="Wingdings" charset="0"/>
              <a:buNone/>
              <a:defRPr/>
            </a:pPr>
            <a:r>
              <a:rPr lang="en-US" sz="1800" dirty="0"/>
              <a:t>1.	</a:t>
            </a:r>
            <a:r>
              <a:rPr lang="en-US" sz="1800" u="sng" dirty="0"/>
              <a:t>Simple math</a:t>
            </a:r>
            <a:r>
              <a:rPr lang="en-US" sz="1800" dirty="0"/>
              <a:t>:  A system with five great powers has ten potential conflict pairings.  A bipolar system has only one.  This reduces the </a:t>
            </a:r>
            <a:r>
              <a:rPr lang="en-US" sz="1800" i="1" dirty="0"/>
              <a:t>opportunities</a:t>
            </a:r>
            <a:r>
              <a:rPr lang="en-US" sz="1800" dirty="0"/>
              <a:t> for great power wars to break out.</a:t>
            </a:r>
          </a:p>
          <a:p>
            <a:pPr eaLnBrk="1" hangingPunct="1">
              <a:buFont typeface="Wingdings" charset="0"/>
              <a:buNone/>
              <a:defRPr/>
            </a:pPr>
            <a:endParaRPr lang="en-US" sz="1800" u="sng" dirty="0"/>
          </a:p>
          <a:p>
            <a:pPr eaLnBrk="1" hangingPunct="1">
              <a:buFont typeface="Wingdings" charset="0"/>
              <a:buNone/>
              <a:defRPr/>
            </a:pPr>
            <a:r>
              <a:rPr lang="en-US" sz="1800" dirty="0"/>
              <a:t>2.	</a:t>
            </a:r>
            <a:r>
              <a:rPr lang="en-US" sz="1800" u="sng" dirty="0"/>
              <a:t>Easier Deterrence &amp; Less Miscalculation</a:t>
            </a:r>
            <a:r>
              <a:rPr lang="en-US" sz="1800" dirty="0"/>
              <a:t>:  In a bipolar world, threats are clearer, and the adversary is unambiguous.  The two superpowers are preoccupied with each other's every move, leading to more careful calculation and fewer catastrophic misjudgments about capabilities or resolve.</a:t>
            </a:r>
          </a:p>
          <a:p>
            <a:pPr marL="0" indent="0" eaLnBrk="1" hangingPunct="1">
              <a:buNone/>
              <a:defRPr/>
            </a:pPr>
            <a:endParaRPr lang="en-US" sz="1800" dirty="0"/>
          </a:p>
          <a:p>
            <a:pPr eaLnBrk="1" hangingPunct="1">
              <a:buFont typeface="Wingdings" charset="0"/>
              <a:buNone/>
              <a:defRPr/>
            </a:pPr>
            <a:r>
              <a:rPr lang="en-US" sz="1800" dirty="0"/>
              <a:t>3.	</a:t>
            </a:r>
            <a:r>
              <a:rPr lang="en-US" sz="1800" u="sng" dirty="0"/>
              <a:t>Reduces “</a:t>
            </a:r>
            <a:r>
              <a:rPr lang="en-US" sz="1800" u="sng" dirty="0">
                <a:solidFill>
                  <a:srgbClr val="00B0F0"/>
                </a:solidFill>
              </a:rPr>
              <a:t>Buck-Passing</a:t>
            </a:r>
            <a:r>
              <a:rPr lang="en-US" sz="1800" u="sng" dirty="0"/>
              <a:t>” and “</a:t>
            </a:r>
            <a:r>
              <a:rPr lang="en-US" sz="1800" u="sng" dirty="0">
                <a:solidFill>
                  <a:srgbClr val="00B050"/>
                </a:solidFill>
              </a:rPr>
              <a:t>Chain-Ganging</a:t>
            </a:r>
            <a:r>
              <a:rPr lang="en-US" sz="1800" u="sng" dirty="0"/>
              <a:t>”</a:t>
            </a:r>
            <a:r>
              <a:rPr lang="en-US" sz="1800" dirty="0"/>
              <a:t>:  </a:t>
            </a:r>
            <a:r>
              <a:rPr lang="en-US" sz="1800" dirty="0">
                <a:solidFill>
                  <a:srgbClr val="00B0F0"/>
                </a:solidFill>
              </a:rPr>
              <a:t>Buck-Passing</a:t>
            </a:r>
            <a:r>
              <a:rPr lang="en-US" sz="1800" dirty="0"/>
              <a:t> is when facing a rising threat, states in a multipolar system might hope another great power will bear the costs of confronting it (i.e., "pass the buck").  This can allow an aggressor to grow too powerful.  </a:t>
            </a:r>
            <a:r>
              <a:rPr lang="en-US" sz="1800" dirty="0">
                <a:solidFill>
                  <a:srgbClr val="00B050"/>
                </a:solidFill>
              </a:rPr>
              <a:t>Chain-Ganging</a:t>
            </a:r>
            <a:r>
              <a:rPr lang="en-US" sz="1800" dirty="0"/>
              <a:t> is when states feel their own security is so intertwined with their allies' security that they get dragged into peripheral conflicts (e.g., the alliance system before WWI).</a:t>
            </a:r>
          </a:p>
          <a:p>
            <a:pPr eaLnBrk="1" hangingPunct="1">
              <a:buFont typeface="Wingdings" charset="0"/>
              <a:buNone/>
              <a:defRPr/>
            </a:pPr>
            <a:endParaRPr lang="en-US" sz="1800" dirty="0"/>
          </a:p>
          <a:p>
            <a:pPr eaLnBrk="1" hangingPunct="1">
              <a:buFont typeface="Wingdings" charset="0"/>
              <a:buNone/>
              <a:defRPr/>
            </a:pPr>
            <a:endParaRPr lang="en-US" sz="1800" dirty="0"/>
          </a:p>
        </p:txBody>
      </p:sp>
    </p:spTree>
    <p:extLst>
      <p:ext uri="{BB962C8B-B14F-4D97-AF65-F5344CB8AC3E}">
        <p14:creationId xmlns:p14="http://schemas.microsoft.com/office/powerpoint/2010/main" val="175070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02BF-85FA-5263-84A3-026FFE60FBD2}"/>
              </a:ext>
            </a:extLst>
          </p:cNvPr>
          <p:cNvSpPr>
            <a:spLocks noGrp="1"/>
          </p:cNvSpPr>
          <p:nvPr>
            <p:ph type="title"/>
          </p:nvPr>
        </p:nvSpPr>
        <p:spPr>
          <a:xfrm>
            <a:off x="457200" y="277813"/>
            <a:ext cx="8229600" cy="712787"/>
          </a:xfrm>
        </p:spPr>
        <p:txBody>
          <a:bodyPr/>
          <a:lstStyle/>
          <a:p>
            <a:r>
              <a:rPr lang="en-US" sz="2800" dirty="0">
                <a:solidFill>
                  <a:schemeClr val="tx1"/>
                </a:solidFill>
              </a:rPr>
              <a:t> “</a:t>
            </a:r>
            <a:r>
              <a:rPr lang="en-US" sz="2800" dirty="0">
                <a:solidFill>
                  <a:srgbClr val="00B050"/>
                </a:solidFill>
              </a:rPr>
              <a:t>Chain-Ganging</a:t>
            </a:r>
            <a:r>
              <a:rPr lang="en-US" sz="2800" dirty="0">
                <a:solidFill>
                  <a:schemeClr val="tx1"/>
                </a:solidFill>
              </a:rPr>
              <a:t>” Under Multipolarity</a:t>
            </a:r>
            <a:br>
              <a:rPr lang="en-US" sz="2800" dirty="0">
                <a:solidFill>
                  <a:schemeClr val="tx1"/>
                </a:solidFill>
              </a:rPr>
            </a:br>
            <a:r>
              <a:rPr lang="en-US" sz="2800" dirty="0">
                <a:solidFill>
                  <a:schemeClr val="tx1"/>
                </a:solidFill>
              </a:rPr>
              <a:t>Leads to World War I</a:t>
            </a:r>
          </a:p>
        </p:txBody>
      </p:sp>
      <p:pic>
        <p:nvPicPr>
          <p:cNvPr id="2050" name="Picture 2">
            <a:extLst>
              <a:ext uri="{FF2B5EF4-FFF2-40B4-BE49-F238E27FC236}">
                <a16:creationId xmlns:a16="http://schemas.microsoft.com/office/drawing/2014/main" id="{3786872F-D904-9129-8DD6-DBB438FAEB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447800"/>
            <a:ext cx="7620000" cy="450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632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C672-3AF6-3277-45E1-CFCF0A4BCDA1}"/>
            </a:ext>
          </a:extLst>
        </p:cNvPr>
        <p:cNvGrpSpPr/>
        <p:nvPr/>
      </p:nvGrpSpPr>
      <p:grpSpPr>
        <a:xfrm>
          <a:off x="0" y="0"/>
          <a:ext cx="0" cy="0"/>
          <a:chOff x="0" y="0"/>
          <a:chExt cx="0" cy="0"/>
        </a:xfrm>
      </p:grpSpPr>
      <p:sp>
        <p:nvSpPr>
          <p:cNvPr id="99330" name="Title 1">
            <a:extLst>
              <a:ext uri="{FF2B5EF4-FFF2-40B4-BE49-F238E27FC236}">
                <a16:creationId xmlns:a16="http://schemas.microsoft.com/office/drawing/2014/main" id="{AB9DD5ED-8272-82BE-F07F-2BC2A67F7D89}"/>
              </a:ext>
            </a:extLst>
          </p:cNvPr>
          <p:cNvSpPr>
            <a:spLocks noGrp="1"/>
          </p:cNvSpPr>
          <p:nvPr>
            <p:ph type="title"/>
          </p:nvPr>
        </p:nvSpPr>
        <p:spPr>
          <a:xfrm>
            <a:off x="457200" y="381000"/>
            <a:ext cx="8229600" cy="609600"/>
          </a:xfrm>
        </p:spPr>
        <p:txBody>
          <a:bodyPr/>
          <a:lstStyle/>
          <a:p>
            <a:pPr eaLnBrk="1" hangingPunct="1">
              <a:defRPr/>
            </a:pPr>
            <a:r>
              <a:rPr lang="en-US" altLang="en-US" sz="2800" dirty="0">
                <a:solidFill>
                  <a:schemeClr val="tx1"/>
                </a:solidFill>
                <a:ea typeface="ＭＳ Ｐゴシック" panose="020B0600070205080204" pitchFamily="34" charset="-128"/>
              </a:rPr>
              <a:t>Stable Cold War Bipolarity, 1980</a:t>
            </a:r>
          </a:p>
        </p:txBody>
      </p:sp>
      <p:sp>
        <p:nvSpPr>
          <p:cNvPr id="3" name="Content Placeholder 2">
            <a:extLst>
              <a:ext uri="{FF2B5EF4-FFF2-40B4-BE49-F238E27FC236}">
                <a16:creationId xmlns:a16="http://schemas.microsoft.com/office/drawing/2014/main" id="{E6D67382-57C4-319C-C847-EE6ADBF1A5FD}"/>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319C8C96-AC1C-2DDF-8F90-56822B6C4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9078262" cy="4603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4ECABEF-D678-6E8A-4816-83A6AFE38B94}"/>
              </a:ext>
            </a:extLst>
          </p:cNvPr>
          <p:cNvSpPr txBox="1"/>
          <p:nvPr/>
        </p:nvSpPr>
        <p:spPr>
          <a:xfrm>
            <a:off x="2133600" y="6323586"/>
            <a:ext cx="6324600" cy="461665"/>
          </a:xfrm>
          <a:prstGeom prst="rect">
            <a:avLst/>
          </a:prstGeom>
          <a:noFill/>
        </p:spPr>
        <p:txBody>
          <a:bodyPr wrap="square" rtlCol="0">
            <a:spAutoFit/>
          </a:bodyPr>
          <a:lstStyle/>
          <a:p>
            <a:r>
              <a:rPr lang="en-US" sz="1200" dirty="0">
                <a:solidFill>
                  <a:srgbClr val="FF0000"/>
                </a:solidFill>
              </a:rPr>
              <a:t>Red x’s</a:t>
            </a:r>
            <a:r>
              <a:rPr lang="en-US" sz="1200" dirty="0"/>
              <a:t>:  Communist insurgencies challenging US-supporting states</a:t>
            </a:r>
          </a:p>
          <a:p>
            <a:r>
              <a:rPr lang="en-US" sz="1200" dirty="0">
                <a:solidFill>
                  <a:srgbClr val="0070C0"/>
                </a:solidFill>
              </a:rPr>
              <a:t>Blue x’s</a:t>
            </a:r>
            <a:r>
              <a:rPr lang="en-US" sz="1200" dirty="0"/>
              <a:t>:  Right-wing insurgencies challenging USSR-supporting states</a:t>
            </a:r>
          </a:p>
        </p:txBody>
      </p:sp>
    </p:spTree>
    <p:extLst>
      <p:ext uri="{BB962C8B-B14F-4D97-AF65-F5344CB8AC3E}">
        <p14:creationId xmlns:p14="http://schemas.microsoft.com/office/powerpoint/2010/main" val="39373822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FD5FA810-350E-1464-1972-A94192AEEA7B}"/>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517087E1-84FC-37F0-6ADC-87A3D38B6D37}"/>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81923" name="Picture 4" descr="Levels of analysis">
            <a:extLst>
              <a:ext uri="{FF2B5EF4-FFF2-40B4-BE49-F238E27FC236}">
                <a16:creationId xmlns:a16="http://schemas.microsoft.com/office/drawing/2014/main" id="{C1C07D72-D6CE-B3D5-7ACE-E2F98AD6F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TextBox 1">
            <a:extLst>
              <a:ext uri="{FF2B5EF4-FFF2-40B4-BE49-F238E27FC236}">
                <a16:creationId xmlns:a16="http://schemas.microsoft.com/office/drawing/2014/main" id="{612DDDF8-9EE4-FE1C-DE46-77CF057DB8EF}"/>
              </a:ext>
            </a:extLst>
          </p:cNvPr>
          <p:cNvSpPr txBox="1">
            <a:spLocks noChangeArrowheads="1"/>
          </p:cNvSpPr>
          <p:nvPr/>
        </p:nvSpPr>
        <p:spPr bwMode="auto">
          <a:xfrm>
            <a:off x="3389313" y="873125"/>
            <a:ext cx="23622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a:solidFill>
                  <a:schemeClr val="bg1"/>
                </a:solidFill>
              </a:rPr>
              <a:t>ANARCHY!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44AC0-0F73-AE76-DB21-56F904863812}"/>
              </a:ext>
            </a:extLst>
          </p:cNvPr>
          <p:cNvSpPr>
            <a:spLocks noGrp="1"/>
          </p:cNvSpPr>
          <p:nvPr>
            <p:ph type="title"/>
          </p:nvPr>
        </p:nvSpPr>
        <p:spPr>
          <a:xfrm>
            <a:off x="0" y="152400"/>
            <a:ext cx="9144000" cy="914400"/>
          </a:xfrm>
        </p:spPr>
        <p:txBody>
          <a:bodyPr/>
          <a:lstStyle/>
          <a:p>
            <a:pPr>
              <a:defRPr/>
            </a:pPr>
            <a:r>
              <a:rPr lang="en-US" altLang="x-none" sz="3600" dirty="0">
                <a:solidFill>
                  <a:schemeClr val="tx1"/>
                </a:solidFill>
                <a:ea typeface="ＭＳ Ｐゴシック" charset="-128"/>
              </a:rPr>
              <a:t>Michael Mastanduno</a:t>
            </a:r>
            <a:br>
              <a:rPr lang="en-US" altLang="x-none" sz="3200" dirty="0">
                <a:solidFill>
                  <a:schemeClr val="tx1"/>
                </a:solidFill>
                <a:ea typeface="ＭＳ Ｐゴシック" charset="-128"/>
              </a:rPr>
            </a:br>
            <a:r>
              <a:rPr lang="en-US" altLang="x-none" sz="3200" dirty="0">
                <a:solidFill>
                  <a:schemeClr val="tx1"/>
                </a:solidFill>
                <a:ea typeface="ＭＳ Ｐゴシック" charset="-128"/>
              </a:rPr>
              <a:t>(seeks </a:t>
            </a:r>
            <a:r>
              <a:rPr lang="en-US" altLang="x-none" sz="3200" dirty="0">
                <a:solidFill>
                  <a:srgbClr val="FFFF00"/>
                </a:solidFill>
                <a:ea typeface="ＭＳ Ｐゴシック" charset="-128"/>
              </a:rPr>
              <a:t>in 1999 </a:t>
            </a:r>
            <a:r>
              <a:rPr lang="en-US" altLang="x-none" sz="3200" dirty="0">
                <a:solidFill>
                  <a:schemeClr val="tx1"/>
                </a:solidFill>
                <a:ea typeface="ＭＳ Ｐゴシック" charset="-128"/>
              </a:rPr>
              <a:t>to update Neorealism itself)</a:t>
            </a:r>
          </a:p>
        </p:txBody>
      </p:sp>
      <p:pic>
        <p:nvPicPr>
          <p:cNvPr id="83970" name="Content Placeholder 3">
            <a:extLst>
              <a:ext uri="{FF2B5EF4-FFF2-40B4-BE49-F238E27FC236}">
                <a16:creationId xmlns:a16="http://schemas.microsoft.com/office/drawing/2014/main" id="{C4B6B0B8-2F4C-0164-BD81-66108A1EFB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1981200"/>
            <a:ext cx="3005138" cy="3773488"/>
          </a:xfrm>
        </p:spPr>
      </p:pic>
      <p:pic>
        <p:nvPicPr>
          <p:cNvPr id="83971" name="Picture 4" descr="Mastanduno (book cover).jpg">
            <a:extLst>
              <a:ext uri="{FF2B5EF4-FFF2-40B4-BE49-F238E27FC236}">
                <a16:creationId xmlns:a16="http://schemas.microsoft.com/office/drawing/2014/main" id="{9362EC90-AED5-2136-6E7C-5C842D7212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816100"/>
            <a:ext cx="2662238" cy="401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7A1C6DF-5992-FCF0-0BC5-FCA29938C4C7}"/>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3600" dirty="0">
                <a:solidFill>
                  <a:srgbClr val="FFFF00"/>
                </a:solidFill>
                <a:ea typeface="ＭＳ Ｐゴシック" charset="-128"/>
              </a:rPr>
              <a:t>Mastanduno</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Four Fundamental Realist Assumptions</a:t>
            </a:r>
            <a:endParaRPr lang="en-US" altLang="x-none" sz="3600" dirty="0">
              <a:solidFill>
                <a:srgbClr val="FFFF00"/>
              </a:solidFill>
              <a:ea typeface="ＭＳ Ｐゴシック" charset="-128"/>
            </a:endParaRPr>
          </a:p>
        </p:txBody>
      </p:sp>
      <p:sp>
        <p:nvSpPr>
          <p:cNvPr id="33795" name="Rectangle 3">
            <a:extLst>
              <a:ext uri="{FF2B5EF4-FFF2-40B4-BE49-F238E27FC236}">
                <a16:creationId xmlns:a16="http://schemas.microsoft.com/office/drawing/2014/main" id="{F0D70CF0-8933-5280-B2A8-BDE9C81A0E9C}"/>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2800" dirty="0">
                <a:ea typeface="ＭＳ Ｐゴシック" charset="-128"/>
              </a:rPr>
              <a:t>	1.	The most important actors in world 	politics are territorially-organized entities.</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D906805-3D77-D1AA-8462-C3C0A546B3D4}"/>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3600" dirty="0">
                <a:solidFill>
                  <a:srgbClr val="FFFF00"/>
                </a:solidFill>
                <a:ea typeface="ＭＳ Ｐゴシック" charset="-128"/>
              </a:rPr>
              <a:t>Mastanduno</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Four Fundamental Realist Assumptions</a:t>
            </a:r>
            <a:endParaRPr lang="en-US" altLang="x-none" sz="3600" dirty="0">
              <a:solidFill>
                <a:srgbClr val="FFFF00"/>
              </a:solidFill>
              <a:ea typeface="ＭＳ Ｐゴシック" charset="-128"/>
            </a:endParaRPr>
          </a:p>
        </p:txBody>
      </p:sp>
      <p:sp>
        <p:nvSpPr>
          <p:cNvPr id="33795" name="Rectangle 3">
            <a:extLst>
              <a:ext uri="{FF2B5EF4-FFF2-40B4-BE49-F238E27FC236}">
                <a16:creationId xmlns:a16="http://schemas.microsoft.com/office/drawing/2014/main" id="{785D7594-F467-92AC-C446-7F2BCE59E23E}"/>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2800" dirty="0">
                <a:ea typeface="ＭＳ Ｐゴシック" charset="-128"/>
              </a:rPr>
              <a:t>	1.	The most important actors in world 	politics are territorially-organized entities.</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2.	State behavior can be explained as the 	product of rational decision-making.</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FF380CC-CF1C-3B84-03CC-39CB931E700A}"/>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3600" dirty="0">
                <a:solidFill>
                  <a:srgbClr val="FFFF00"/>
                </a:solidFill>
                <a:ea typeface="ＭＳ Ｐゴシック" charset="-128"/>
              </a:rPr>
              <a:t>Mastanduno</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Four Fundamental Realist Assumptions</a:t>
            </a:r>
            <a:endParaRPr lang="en-US" altLang="x-none" sz="3600" dirty="0">
              <a:solidFill>
                <a:srgbClr val="FFFF00"/>
              </a:solidFill>
              <a:ea typeface="ＭＳ Ｐゴシック" charset="-128"/>
            </a:endParaRPr>
          </a:p>
        </p:txBody>
      </p:sp>
      <p:sp>
        <p:nvSpPr>
          <p:cNvPr id="33795" name="Rectangle 3">
            <a:extLst>
              <a:ext uri="{FF2B5EF4-FFF2-40B4-BE49-F238E27FC236}">
                <a16:creationId xmlns:a16="http://schemas.microsoft.com/office/drawing/2014/main" id="{C15701B2-CEFF-3F5C-A82B-8C082ACC4076}"/>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2800" dirty="0">
                <a:ea typeface="ＭＳ Ｐゴシック" charset="-128"/>
              </a:rPr>
              <a:t>	1.	The most important actors in world 	politics are territorially-organized entities.</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2.	State behavior can be explained as the 	product of rational decision-making.</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3.	All states seek power, but they don</a:t>
            </a:r>
            <a:r>
              <a:rPr lang="ja-JP" altLang="en-US" sz="2800">
                <a:ea typeface="ＭＳ Ｐゴシック" charset="-128"/>
              </a:rPr>
              <a:t>’</a:t>
            </a:r>
            <a:r>
              <a:rPr lang="en-US" altLang="ja-JP" sz="2800" dirty="0">
                <a:ea typeface="ＭＳ Ｐゴシック" charset="-128"/>
              </a:rPr>
              <a:t>t 	all necessarily seek to </a:t>
            </a:r>
            <a:r>
              <a:rPr lang="en-US" altLang="ja-JP" sz="2800" i="1" dirty="0">
                <a:ea typeface="ＭＳ Ｐゴシック" charset="-128"/>
              </a:rPr>
              <a:t>maximize</a:t>
            </a:r>
            <a:r>
              <a:rPr lang="en-US" altLang="ja-JP" sz="2800" dirty="0">
                <a:ea typeface="ＭＳ Ｐゴシック" charset="-128"/>
              </a:rPr>
              <a:t> power.</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A2B76E6-1CF8-B001-DD4B-BB9E2D77F4BD}"/>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3600" dirty="0">
                <a:solidFill>
                  <a:srgbClr val="FFFF00"/>
                </a:solidFill>
                <a:ea typeface="ＭＳ Ｐゴシック" charset="-128"/>
              </a:rPr>
              <a:t>Mastanduno</a:t>
            </a:r>
            <a:r>
              <a:rPr lang="ja-JP" altLang="en-US" sz="3600">
                <a:solidFill>
                  <a:srgbClr val="FFFF00"/>
                </a:solidFill>
                <a:ea typeface="ＭＳ Ｐゴシック" charset="-128"/>
              </a:rPr>
              <a:t>’</a:t>
            </a:r>
            <a:r>
              <a:rPr lang="en-US" altLang="ja-JP" sz="3600" dirty="0">
                <a:solidFill>
                  <a:srgbClr val="FFFF00"/>
                </a:solidFill>
                <a:ea typeface="ＭＳ Ｐゴシック" charset="-128"/>
              </a:rPr>
              <a:t>s Four Fundamental Realist Assumptions</a:t>
            </a:r>
            <a:endParaRPr lang="en-US" altLang="x-none" sz="3600" dirty="0">
              <a:solidFill>
                <a:srgbClr val="FFFF00"/>
              </a:solidFill>
              <a:ea typeface="ＭＳ Ｐゴシック" charset="-128"/>
            </a:endParaRPr>
          </a:p>
        </p:txBody>
      </p:sp>
      <p:sp>
        <p:nvSpPr>
          <p:cNvPr id="33795" name="Rectangle 3">
            <a:extLst>
              <a:ext uri="{FF2B5EF4-FFF2-40B4-BE49-F238E27FC236}">
                <a16:creationId xmlns:a16="http://schemas.microsoft.com/office/drawing/2014/main" id="{3A3BF5C4-16D3-3E26-E5D0-ABB6E09598C9}"/>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2800" dirty="0">
                <a:ea typeface="ＭＳ Ｐゴシック" charset="-128"/>
              </a:rPr>
              <a:t>	1.	The most important actors in world 	politics are territorially-organized entities.</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2.	State behavior can be explained as the 	product of rational decision-making.</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3.	All states seek power, but they don</a:t>
            </a:r>
            <a:r>
              <a:rPr lang="ja-JP" altLang="en-US" sz="2800">
                <a:ea typeface="ＭＳ Ｐゴシック" charset="-128"/>
              </a:rPr>
              <a:t>’</a:t>
            </a:r>
            <a:r>
              <a:rPr lang="en-US" altLang="ja-JP" sz="2800" dirty="0">
                <a:ea typeface="ＭＳ Ｐゴシック" charset="-128"/>
              </a:rPr>
              <a:t>t 	all necessarily seek to </a:t>
            </a:r>
            <a:r>
              <a:rPr lang="en-US" altLang="ja-JP" sz="2800" i="1" dirty="0">
                <a:ea typeface="ＭＳ Ｐゴシック" charset="-128"/>
              </a:rPr>
              <a:t>maximize</a:t>
            </a:r>
            <a:r>
              <a:rPr lang="en-US" altLang="ja-JP" sz="2800" dirty="0">
                <a:ea typeface="ＭＳ Ｐゴシック" charset="-128"/>
              </a:rPr>
              <a:t> power.</a:t>
            </a:r>
          </a:p>
          <a:p>
            <a:pPr marL="0" indent="0" eaLnBrk="1" hangingPunct="1">
              <a:spcBef>
                <a:spcPct val="0"/>
              </a:spcBef>
              <a:buFont typeface="Wingdings" charset="2"/>
              <a:buNone/>
              <a:defRPr/>
            </a:pPr>
            <a:endParaRPr lang="en-US" altLang="x-none" sz="1400" dirty="0">
              <a:ea typeface="ＭＳ Ｐゴシック" charset="-128"/>
            </a:endParaRPr>
          </a:p>
          <a:p>
            <a:pPr marL="0" indent="0" eaLnBrk="1" hangingPunct="1">
              <a:spcBef>
                <a:spcPct val="0"/>
              </a:spcBef>
              <a:buFont typeface="Wingdings" charset="2"/>
              <a:buNone/>
              <a:defRPr/>
            </a:pPr>
            <a:r>
              <a:rPr lang="en-US" altLang="x-none" sz="2800" dirty="0">
                <a:ea typeface="ＭＳ Ｐゴシック" charset="-128"/>
              </a:rPr>
              <a:t>	4.	Relations among states are </a:t>
            </a:r>
            <a:r>
              <a:rPr lang="en-US" altLang="x-none" sz="2800" i="1" dirty="0">
                <a:ea typeface="ＭＳ Ｐゴシック" charset="-128"/>
              </a:rPr>
              <a:t>inherently 	competitive</a:t>
            </a:r>
            <a:r>
              <a:rPr lang="en-US" altLang="x-none" sz="2800" dirty="0">
                <a:ea typeface="ＭＳ Ｐゴシック" charset="-128"/>
              </a:rPr>
              <a:t> as states strive to improve their 	</a:t>
            </a:r>
            <a:r>
              <a:rPr lang="en-US" altLang="x-none" sz="2800" i="1" dirty="0">
                <a:solidFill>
                  <a:srgbClr val="92D050"/>
                </a:solidFill>
                <a:ea typeface="ＭＳ Ｐゴシック" charset="-128"/>
              </a:rPr>
              <a:t>relative</a:t>
            </a:r>
            <a:r>
              <a:rPr lang="en-US" altLang="x-none" sz="2800" dirty="0">
                <a:ea typeface="ＭＳ Ｐゴシック" charset="-128"/>
              </a:rPr>
              <a:t> positions.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566A-0495-827A-A007-F65B3C615B4F}"/>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9BE0DE7B-2EB3-7A33-94F8-EC0C162DB09D}"/>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Neoclassical Realism (NCR):</a:t>
            </a:r>
            <a:br>
              <a:rPr lang="en-US" altLang="x-none" sz="2800" dirty="0">
                <a:solidFill>
                  <a:srgbClr val="FFFF00"/>
                </a:solidFill>
                <a:ea typeface="ＭＳ Ｐゴシック" charset="-128"/>
              </a:rPr>
            </a:br>
            <a:r>
              <a:rPr lang="en-US" altLang="x-none" sz="2800" dirty="0">
                <a:solidFill>
                  <a:srgbClr val="FFFF00"/>
                </a:solidFill>
                <a:ea typeface="ＭＳ Ｐゴシック" charset="-128"/>
              </a:rPr>
              <a:t>A New School of Thought from the 1990s-2010s</a:t>
            </a:r>
          </a:p>
        </p:txBody>
      </p:sp>
      <p:sp>
        <p:nvSpPr>
          <p:cNvPr id="33795" name="Rectangle 3">
            <a:extLst>
              <a:ext uri="{FF2B5EF4-FFF2-40B4-BE49-F238E27FC236}">
                <a16:creationId xmlns:a16="http://schemas.microsoft.com/office/drawing/2014/main" id="{3EAE0576-5AB0-7C88-2B0B-B14272BB61E9}"/>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12102853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BF3F0-1075-6786-B1FE-5B5F324F0F7B}"/>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F8DBC47B-2858-77AE-FCF1-378DFAC4D45A}"/>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Neoclassical Realism (NCR):</a:t>
            </a:r>
            <a:br>
              <a:rPr lang="en-US" altLang="x-none" sz="2800" dirty="0">
                <a:solidFill>
                  <a:srgbClr val="FFFF00"/>
                </a:solidFill>
                <a:ea typeface="ＭＳ Ｐゴシック" charset="-128"/>
              </a:rPr>
            </a:br>
            <a:r>
              <a:rPr lang="en-US" altLang="x-none" sz="2800" dirty="0">
                <a:solidFill>
                  <a:srgbClr val="FFFF00"/>
                </a:solidFill>
                <a:ea typeface="ＭＳ Ｐゴシック" charset="-128"/>
              </a:rPr>
              <a:t>A New School of Thought from the 1990s-2010s</a:t>
            </a:r>
          </a:p>
        </p:txBody>
      </p:sp>
      <p:sp>
        <p:nvSpPr>
          <p:cNvPr id="33795" name="Rectangle 3">
            <a:extLst>
              <a:ext uri="{FF2B5EF4-FFF2-40B4-BE49-F238E27FC236}">
                <a16:creationId xmlns:a16="http://schemas.microsoft.com/office/drawing/2014/main" id="{28462E01-F0BA-165A-D628-C03ADF564126}"/>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1600" dirty="0">
                <a:ea typeface="ＭＳ Ｐゴシック" charset="-128"/>
              </a:rPr>
              <a:t>It agrees that the systemic distribution of power is the </a:t>
            </a:r>
            <a:r>
              <a:rPr lang="en-US" altLang="x-none" sz="1600" i="1" dirty="0">
                <a:ea typeface="ＭＳ Ｐゴシック" charset="-128"/>
              </a:rPr>
              <a:t>primary</a:t>
            </a:r>
            <a:r>
              <a:rPr lang="en-US" altLang="x-none" sz="1600" dirty="0">
                <a:ea typeface="ＭＳ Ｐゴシック" charset="-128"/>
              </a:rPr>
              <a:t> driver of foreign policy (the independent variable).  BUT:  </a:t>
            </a:r>
            <a:r>
              <a:rPr lang="en-US" altLang="x-none" sz="1600" i="1" dirty="0">
                <a:solidFill>
                  <a:srgbClr val="FFC000"/>
                </a:solidFill>
                <a:ea typeface="ＭＳ Ｐゴシック" charset="-128"/>
              </a:rPr>
              <a:t>Systemic pressures are filtered through domestic-level intervening variables</a:t>
            </a:r>
            <a:r>
              <a:rPr lang="en-US" altLang="x-none" sz="1600" dirty="0">
                <a:solidFill>
                  <a:srgbClr val="FFC000"/>
                </a:solidFill>
                <a:ea typeface="ＭＳ Ｐゴシック" charset="-128"/>
              </a:rPr>
              <a:t>.</a:t>
            </a: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25138514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2192-D183-5014-B374-9613C1792B84}"/>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6C41F775-E4DA-D875-A657-F242356568B9}"/>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Neoclassical Realism (NCR):</a:t>
            </a:r>
            <a:br>
              <a:rPr lang="en-US" altLang="x-none" sz="2800" dirty="0">
                <a:solidFill>
                  <a:srgbClr val="FFFF00"/>
                </a:solidFill>
                <a:ea typeface="ＭＳ Ｐゴシック" charset="-128"/>
              </a:rPr>
            </a:br>
            <a:r>
              <a:rPr lang="en-US" altLang="x-none" sz="2800" dirty="0">
                <a:solidFill>
                  <a:srgbClr val="FFFF00"/>
                </a:solidFill>
                <a:ea typeface="ＭＳ Ｐゴシック" charset="-128"/>
              </a:rPr>
              <a:t>A New School of Thought from the 1990s-2010s</a:t>
            </a:r>
          </a:p>
        </p:txBody>
      </p:sp>
      <p:sp>
        <p:nvSpPr>
          <p:cNvPr id="33795" name="Rectangle 3">
            <a:extLst>
              <a:ext uri="{FF2B5EF4-FFF2-40B4-BE49-F238E27FC236}">
                <a16:creationId xmlns:a16="http://schemas.microsoft.com/office/drawing/2014/main" id="{3A26603F-AAA4-C044-DD1B-DD760B299213}"/>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1600" dirty="0">
                <a:ea typeface="ＭＳ Ｐゴシック" charset="-128"/>
              </a:rPr>
              <a:t>It agrees that the systemic distribution of power is the </a:t>
            </a:r>
            <a:r>
              <a:rPr lang="en-US" altLang="x-none" sz="1600" i="1" dirty="0">
                <a:ea typeface="ＭＳ Ｐゴシック" charset="-128"/>
              </a:rPr>
              <a:t>primary</a:t>
            </a:r>
            <a:r>
              <a:rPr lang="en-US" altLang="x-none" sz="1600" dirty="0">
                <a:ea typeface="ＭＳ Ｐゴシック" charset="-128"/>
              </a:rPr>
              <a:t> driver of foreign policy (the independent variable).  BUT:  </a:t>
            </a:r>
            <a:r>
              <a:rPr lang="en-US" altLang="x-none" sz="1600" i="1" dirty="0">
                <a:solidFill>
                  <a:srgbClr val="FFC000"/>
                </a:solidFill>
                <a:ea typeface="ＭＳ Ｐゴシック" charset="-128"/>
              </a:rPr>
              <a:t>Systemic pressures are filtered through domestic-level intervening variables</a:t>
            </a:r>
            <a:r>
              <a:rPr lang="en-US" altLang="x-none" sz="1600" dirty="0">
                <a:solidFill>
                  <a:srgbClr val="FFC000"/>
                </a:solidFill>
                <a:ea typeface="ＭＳ Ｐゴシック" charset="-128"/>
              </a:rPr>
              <a:t>.</a:t>
            </a: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1.	Systemic Pressures (Independent Variable):  Anarchy, distribution of capabilities (e.g., rise of a rival power).</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40002227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01305-75BB-A02A-91E1-079861995D52}"/>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3D403C0C-D089-7128-D26F-2E9DB43A955B}"/>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Neoclassical Realism (NCR):</a:t>
            </a:r>
            <a:br>
              <a:rPr lang="en-US" altLang="x-none" sz="2800" dirty="0">
                <a:solidFill>
                  <a:srgbClr val="FFFF00"/>
                </a:solidFill>
                <a:ea typeface="ＭＳ Ｐゴシック" charset="-128"/>
              </a:rPr>
            </a:br>
            <a:r>
              <a:rPr lang="en-US" altLang="x-none" sz="2800" dirty="0">
                <a:solidFill>
                  <a:srgbClr val="FFFF00"/>
                </a:solidFill>
                <a:ea typeface="ＭＳ Ｐゴシック" charset="-128"/>
              </a:rPr>
              <a:t>A New School of Thought from the 1990s-2010s</a:t>
            </a:r>
          </a:p>
        </p:txBody>
      </p:sp>
      <p:sp>
        <p:nvSpPr>
          <p:cNvPr id="33795" name="Rectangle 3">
            <a:extLst>
              <a:ext uri="{FF2B5EF4-FFF2-40B4-BE49-F238E27FC236}">
                <a16:creationId xmlns:a16="http://schemas.microsoft.com/office/drawing/2014/main" id="{9ED413EA-221B-938F-6D36-FA761123FCFB}"/>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1600" dirty="0">
                <a:ea typeface="ＭＳ Ｐゴシック" charset="-128"/>
              </a:rPr>
              <a:t>It agrees that the systemic distribution of power is the </a:t>
            </a:r>
            <a:r>
              <a:rPr lang="en-US" altLang="x-none" sz="1600" i="1" dirty="0">
                <a:ea typeface="ＭＳ Ｐゴシック" charset="-128"/>
              </a:rPr>
              <a:t>primary</a:t>
            </a:r>
            <a:r>
              <a:rPr lang="en-US" altLang="x-none" sz="1600" dirty="0">
                <a:ea typeface="ＭＳ Ｐゴシック" charset="-128"/>
              </a:rPr>
              <a:t> driver of foreign policy (the independent variable).  BUT:  </a:t>
            </a:r>
            <a:r>
              <a:rPr lang="en-US" altLang="x-none" sz="1600" i="1" dirty="0">
                <a:solidFill>
                  <a:srgbClr val="FFC000"/>
                </a:solidFill>
                <a:ea typeface="ＭＳ Ｐゴシック" charset="-128"/>
              </a:rPr>
              <a:t>Systemic pressures are filtered through domestic-level intervening variables</a:t>
            </a:r>
            <a:r>
              <a:rPr lang="en-US" altLang="x-none" sz="1600" dirty="0">
                <a:solidFill>
                  <a:srgbClr val="FFC000"/>
                </a:solidFill>
                <a:ea typeface="ＭＳ Ｐゴシック" charset="-128"/>
              </a:rPr>
              <a:t>.</a:t>
            </a: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1.	Systemic Pressures (Independent Variable):  Anarchy, distribution of capabilities (e.g., rise of a rival power).</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2.	Intervening Variables (Domestic Factors):</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a.  Leader Perceptions: How do leaders understand the external threats 	and opportunities?  Are they risk-averse or risk-acceptant?</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b.  State-Society Relations: How easily can leaders mobilize societal 	resources for foreign policy goals? (e.g., tax revenue, military conscription).</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c.  Domestic Institutions: Democratic checks and balances, powerful 	bureaucracies, etc.</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7380783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186CF-75B7-F8FB-0415-73ABBCBD2E8D}"/>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8A8EB6CB-D2C0-B9EF-7339-113EA57604B4}"/>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Neoclassical Realism (NCR):</a:t>
            </a:r>
            <a:br>
              <a:rPr lang="en-US" altLang="x-none" sz="2800" dirty="0">
                <a:solidFill>
                  <a:srgbClr val="FFFF00"/>
                </a:solidFill>
                <a:ea typeface="ＭＳ Ｐゴシック" charset="-128"/>
              </a:rPr>
            </a:br>
            <a:r>
              <a:rPr lang="en-US" altLang="x-none" sz="2800" dirty="0">
                <a:solidFill>
                  <a:srgbClr val="FFFF00"/>
                </a:solidFill>
                <a:ea typeface="ＭＳ Ｐゴシック" charset="-128"/>
              </a:rPr>
              <a:t>A New School of Thought from the 1990s-2010s</a:t>
            </a:r>
          </a:p>
        </p:txBody>
      </p:sp>
      <p:sp>
        <p:nvSpPr>
          <p:cNvPr id="33795" name="Rectangle 3">
            <a:extLst>
              <a:ext uri="{FF2B5EF4-FFF2-40B4-BE49-F238E27FC236}">
                <a16:creationId xmlns:a16="http://schemas.microsoft.com/office/drawing/2014/main" id="{84448059-F9DB-F0B0-DB62-932E78079B82}"/>
              </a:ext>
            </a:extLst>
          </p:cNvPr>
          <p:cNvSpPr>
            <a:spLocks noGrp="1" noChangeArrowheads="1"/>
          </p:cNvSpPr>
          <p:nvPr>
            <p:ph type="body" idx="1"/>
          </p:nvPr>
        </p:nvSpPr>
        <p:spPr>
          <a:xfrm>
            <a:off x="457200" y="1524000"/>
            <a:ext cx="8229600" cy="4953000"/>
          </a:xfrm>
        </p:spPr>
        <p:txBody>
          <a:bodyPr/>
          <a:lstStyle/>
          <a:p>
            <a:pPr marL="0" indent="0" eaLnBrk="1" hangingPunct="1">
              <a:spcBef>
                <a:spcPct val="0"/>
              </a:spcBef>
              <a:buFont typeface="Wingdings" charset="2"/>
              <a:buNone/>
              <a:defRPr/>
            </a:pPr>
            <a:r>
              <a:rPr lang="en-US" altLang="x-none" sz="1600" dirty="0">
                <a:ea typeface="ＭＳ Ｐゴシック" charset="-128"/>
              </a:rPr>
              <a:t>It agrees that the systemic distribution of power is the </a:t>
            </a:r>
            <a:r>
              <a:rPr lang="en-US" altLang="x-none" sz="1600" i="1" dirty="0">
                <a:ea typeface="ＭＳ Ｐゴシック" charset="-128"/>
              </a:rPr>
              <a:t>primary</a:t>
            </a:r>
            <a:r>
              <a:rPr lang="en-US" altLang="x-none" sz="1600" dirty="0">
                <a:ea typeface="ＭＳ Ｐゴシック" charset="-128"/>
              </a:rPr>
              <a:t> driver of foreign policy (the independent variable).  BUT:  </a:t>
            </a:r>
            <a:r>
              <a:rPr lang="en-US" altLang="x-none" sz="1600" i="1" dirty="0">
                <a:solidFill>
                  <a:srgbClr val="FFC000"/>
                </a:solidFill>
                <a:ea typeface="ＭＳ Ｐゴシック" charset="-128"/>
              </a:rPr>
              <a:t>Systemic pressures are filtered through domestic-level intervening variables</a:t>
            </a:r>
            <a:r>
              <a:rPr lang="en-US" altLang="x-none" sz="1600" dirty="0">
                <a:solidFill>
                  <a:srgbClr val="FFC000"/>
                </a:solidFill>
                <a:ea typeface="ＭＳ Ｐゴシック" charset="-128"/>
              </a:rPr>
              <a:t>.</a:t>
            </a: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1.	Systemic Pressures (Independent Variable):  Anarchy, distribution of capabilities (e.g., rise of a rival power).</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2.	Intervening Variables (Domestic Factors):</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a.  Leader Perceptions: How do leaders understand the external threats 	and opportunities?  Are they risk-averse or risk-acceptant?</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b.  State-Society Relations: How easily can leaders mobilize societal 	resources for foreign policy goals? (e.g., tax revenue, military conscription).</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c.  Domestic Institutions: Democratic checks and balances, powerful 	bureaucracies, etc.</a:t>
            </a: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endParaRPr lang="en-US" altLang="x-none" sz="10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3.	Foreign Policy Outcome (Dependent Variable):</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dirty="0">
                <a:ea typeface="ＭＳ Ｐゴシック" charset="-128"/>
              </a:rPr>
              <a:t>	a.  The specific diplomatic, military, or economic strategy a state pursues.</a:t>
            </a:r>
          </a:p>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1022046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F4D41-D756-2386-420E-6C1E2106D3D2}"/>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062AC660-7CC1-AEFF-7988-400D09049584}"/>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Critiques of Neoclassical Realism</a:t>
            </a:r>
          </a:p>
        </p:txBody>
      </p:sp>
      <p:sp>
        <p:nvSpPr>
          <p:cNvPr id="33795" name="Rectangle 3">
            <a:extLst>
              <a:ext uri="{FF2B5EF4-FFF2-40B4-BE49-F238E27FC236}">
                <a16:creationId xmlns:a16="http://schemas.microsoft.com/office/drawing/2014/main" id="{A1728768-B8EB-4198-32F6-372C09F1F787}"/>
              </a:ext>
            </a:extLst>
          </p:cNvPr>
          <p:cNvSpPr>
            <a:spLocks noGrp="1" noChangeArrowheads="1"/>
          </p:cNvSpPr>
          <p:nvPr>
            <p:ph type="body" idx="1"/>
          </p:nvPr>
        </p:nvSpPr>
        <p:spPr>
          <a:xfrm>
            <a:off x="457200" y="1371600"/>
            <a:ext cx="8229600" cy="4953000"/>
          </a:xfrm>
        </p:spPr>
        <p:txBody>
          <a:bodyPr/>
          <a:lstStyle/>
          <a:p>
            <a:pPr marL="0" indent="0" eaLnBrk="1" hangingPunct="1">
              <a:spcBef>
                <a:spcPct val="0"/>
              </a:spcBef>
              <a:buFont typeface="Wingdings" charset="2"/>
              <a:buNone/>
              <a:defRPr/>
            </a:pPr>
            <a:endParaRPr lang="en-US" altLang="x-none" sz="1800" dirty="0">
              <a:ea typeface="ＭＳ Ｐゴシック" charset="-128"/>
            </a:endParaRPr>
          </a:p>
        </p:txBody>
      </p:sp>
    </p:spTree>
    <p:extLst>
      <p:ext uri="{BB962C8B-B14F-4D97-AF65-F5344CB8AC3E}">
        <p14:creationId xmlns:p14="http://schemas.microsoft.com/office/powerpoint/2010/main" val="156673764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03D1-7A56-3A8B-A888-99C09F9B213D}"/>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AE7BED90-3722-B0A0-3022-59D6E4103B91}"/>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Critiques of Neoclassical Realism</a:t>
            </a:r>
          </a:p>
        </p:txBody>
      </p:sp>
      <p:sp>
        <p:nvSpPr>
          <p:cNvPr id="33795" name="Rectangle 3">
            <a:extLst>
              <a:ext uri="{FF2B5EF4-FFF2-40B4-BE49-F238E27FC236}">
                <a16:creationId xmlns:a16="http://schemas.microsoft.com/office/drawing/2014/main" id="{A6C73D6B-132C-C6D0-0EDA-BF488FA947B4}"/>
              </a:ext>
            </a:extLst>
          </p:cNvPr>
          <p:cNvSpPr>
            <a:spLocks noGrp="1" noChangeArrowheads="1"/>
          </p:cNvSpPr>
          <p:nvPr>
            <p:ph type="body" idx="1"/>
          </p:nvPr>
        </p:nvSpPr>
        <p:spPr>
          <a:xfrm>
            <a:off x="457200" y="1371600"/>
            <a:ext cx="8229600" cy="4953000"/>
          </a:xfrm>
        </p:spPr>
        <p:txBody>
          <a:bodyPr/>
          <a:lstStyle/>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r>
              <a:rPr lang="en-US" altLang="x-none" sz="1600" u="sng" dirty="0">
                <a:solidFill>
                  <a:srgbClr val="FFC000"/>
                </a:solidFill>
                <a:ea typeface="ＭＳ Ｐゴシック" charset="-128"/>
              </a:rPr>
              <a:t>Loss of Parsimony</a:t>
            </a:r>
            <a:r>
              <a:rPr lang="en-US" altLang="x-none" sz="1600" dirty="0">
                <a:ea typeface="ＭＳ Ｐゴシック" charset="-128"/>
              </a:rPr>
              <a:t>:  Waltz’s Neorealism was beautiful because it explained big outcomes with a single variable: the distribution of power in an anarchic system.  NCR adds a whole host of complex and messy domestic factors – leader psychology, bureaucratic politics, legislative-executive relations, national culture, etc.  Critics argue this turns it into a “kitchen sink” theory where you can throw in any variable you want to explain a case.</a:t>
            </a:r>
          </a:p>
          <a:p>
            <a:pPr marL="0" indent="0" eaLnBrk="1" hangingPunct="1">
              <a:spcBef>
                <a:spcPct val="0"/>
              </a:spcBef>
              <a:buFont typeface="Wingdings" charset="2"/>
              <a:buNone/>
              <a:defRPr/>
            </a:pPr>
            <a:endParaRPr lang="en-US" altLang="x-none" sz="1600" dirty="0">
              <a:ea typeface="ＭＳ Ｐゴシック" charset="-128"/>
            </a:endParaRPr>
          </a:p>
        </p:txBody>
      </p:sp>
    </p:spTree>
    <p:extLst>
      <p:ext uri="{BB962C8B-B14F-4D97-AF65-F5344CB8AC3E}">
        <p14:creationId xmlns:p14="http://schemas.microsoft.com/office/powerpoint/2010/main" val="21619605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6D74-063B-B750-38D9-0704368725E7}"/>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AB10EEB1-ED1E-7B01-7614-0FED83D44E9F}"/>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Critiques of Neoclassical Realism</a:t>
            </a:r>
          </a:p>
        </p:txBody>
      </p:sp>
      <p:sp>
        <p:nvSpPr>
          <p:cNvPr id="33795" name="Rectangle 3">
            <a:extLst>
              <a:ext uri="{FF2B5EF4-FFF2-40B4-BE49-F238E27FC236}">
                <a16:creationId xmlns:a16="http://schemas.microsoft.com/office/drawing/2014/main" id="{6FE01A30-EBA7-493B-5F28-6C694DC5E6FF}"/>
              </a:ext>
            </a:extLst>
          </p:cNvPr>
          <p:cNvSpPr>
            <a:spLocks noGrp="1" noChangeArrowheads="1"/>
          </p:cNvSpPr>
          <p:nvPr>
            <p:ph type="body" idx="1"/>
          </p:nvPr>
        </p:nvSpPr>
        <p:spPr>
          <a:xfrm>
            <a:off x="457200" y="1371600"/>
            <a:ext cx="8229600" cy="4953000"/>
          </a:xfrm>
        </p:spPr>
        <p:txBody>
          <a:bodyPr/>
          <a:lstStyle/>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r>
              <a:rPr lang="en-US" altLang="x-none" sz="1600" u="sng" dirty="0">
                <a:solidFill>
                  <a:srgbClr val="FFC000"/>
                </a:solidFill>
                <a:ea typeface="ＭＳ Ｐゴシック" charset="-128"/>
              </a:rPr>
              <a:t>Loss of Parsimony</a:t>
            </a:r>
            <a:r>
              <a:rPr lang="en-US" altLang="x-none" sz="1600" dirty="0">
                <a:ea typeface="ＭＳ Ｐゴシック" charset="-128"/>
              </a:rPr>
              <a:t>:  Waltz’s Neorealism was beautiful because it explained big outcomes with a single variable: the distribution of power in an anarchic system.  NCR adds a whole host of complex and messy domestic factors – leader psychology, bureaucratic politics, legislative-executive relations, national culture, etc.  Critics argue this turns it into a “kitchen sink” theory where you can throw in any variable you want to explain a case.</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u="sng" dirty="0">
                <a:solidFill>
                  <a:srgbClr val="00B0F0"/>
                </a:solidFill>
                <a:ea typeface="ＭＳ Ｐゴシック" charset="-128"/>
              </a:rPr>
              <a:t>It’s Not Falsifiable</a:t>
            </a:r>
            <a:r>
              <a:rPr lang="en-US" altLang="x-none" sz="1600" dirty="0">
                <a:ea typeface="ＭＳ Ｐゴシック" charset="-128"/>
              </a:rPr>
              <a:t>:  This is the biggest challenge.  If a state acts as Neorealism predicts (e.g., it balances against a rising power), the NCR theorist can say, “See, the systemic pressures were clearly transmitted.”  But if the state fails to balance, the NCR theorist can just as easily say, “Well, that's because flawed domestic institutions or misperceptions blocked the transmission of systemic pressures.”  When a theory can explain both an outcome and its opposite, it risks explaining nothing at all and becoming unfalsifiable.</a:t>
            </a:r>
          </a:p>
          <a:p>
            <a:pPr marL="0" indent="0" eaLnBrk="1" hangingPunct="1">
              <a:spcBef>
                <a:spcPct val="0"/>
              </a:spcBef>
              <a:buFont typeface="Wingdings" charset="2"/>
              <a:buNone/>
              <a:defRPr/>
            </a:pPr>
            <a:endParaRPr lang="en-US" altLang="x-none" sz="1600" dirty="0">
              <a:ea typeface="ＭＳ Ｐゴシック" charset="-128"/>
            </a:endParaRPr>
          </a:p>
        </p:txBody>
      </p:sp>
    </p:spTree>
    <p:extLst>
      <p:ext uri="{BB962C8B-B14F-4D97-AF65-F5344CB8AC3E}">
        <p14:creationId xmlns:p14="http://schemas.microsoft.com/office/powerpoint/2010/main" val="37864040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7F16E-B412-EC69-B7DB-AD025D635A2C}"/>
            </a:ext>
          </a:extLst>
        </p:cNvPr>
        <p:cNvGrpSpPr/>
        <p:nvPr/>
      </p:nvGrpSpPr>
      <p:grpSpPr>
        <a:xfrm>
          <a:off x="0" y="0"/>
          <a:ext cx="0" cy="0"/>
          <a:chOff x="0" y="0"/>
          <a:chExt cx="0" cy="0"/>
        </a:xfrm>
      </p:grpSpPr>
      <p:sp>
        <p:nvSpPr>
          <p:cNvPr id="33794" name="Rectangle 2">
            <a:extLst>
              <a:ext uri="{FF2B5EF4-FFF2-40B4-BE49-F238E27FC236}">
                <a16:creationId xmlns:a16="http://schemas.microsoft.com/office/drawing/2014/main" id="{9249A4BF-D469-E1BF-677B-34A739DA59D0}"/>
              </a:ext>
            </a:extLst>
          </p:cNvPr>
          <p:cNvSpPr>
            <a:spLocks noGrp="1" noChangeArrowheads="1"/>
          </p:cNvSpPr>
          <p:nvPr>
            <p:ph type="title"/>
          </p:nvPr>
        </p:nvSpPr>
        <p:spPr>
          <a:xfrm>
            <a:off x="457200" y="152400"/>
            <a:ext cx="8229600" cy="914400"/>
          </a:xfrm>
        </p:spPr>
        <p:txBody>
          <a:bodyPr/>
          <a:lstStyle/>
          <a:p>
            <a:pPr eaLnBrk="1" hangingPunct="1">
              <a:defRPr/>
            </a:pPr>
            <a:r>
              <a:rPr lang="en-US" altLang="x-none" sz="2800" dirty="0">
                <a:solidFill>
                  <a:srgbClr val="FFFF00"/>
                </a:solidFill>
                <a:ea typeface="ＭＳ Ｐゴシック" charset="-128"/>
              </a:rPr>
              <a:t>Critiques of Neoclassical Realism</a:t>
            </a:r>
          </a:p>
        </p:txBody>
      </p:sp>
      <p:sp>
        <p:nvSpPr>
          <p:cNvPr id="33795" name="Rectangle 3">
            <a:extLst>
              <a:ext uri="{FF2B5EF4-FFF2-40B4-BE49-F238E27FC236}">
                <a16:creationId xmlns:a16="http://schemas.microsoft.com/office/drawing/2014/main" id="{EA48AC6D-E0E7-B3B8-7708-D24D92EE23BA}"/>
              </a:ext>
            </a:extLst>
          </p:cNvPr>
          <p:cNvSpPr>
            <a:spLocks noGrp="1" noChangeArrowheads="1"/>
          </p:cNvSpPr>
          <p:nvPr>
            <p:ph type="body" idx="1"/>
          </p:nvPr>
        </p:nvSpPr>
        <p:spPr>
          <a:xfrm>
            <a:off x="457200" y="1371600"/>
            <a:ext cx="8229600" cy="4953000"/>
          </a:xfrm>
        </p:spPr>
        <p:txBody>
          <a:bodyPr/>
          <a:lstStyle/>
          <a:p>
            <a:pPr marL="0" indent="0" eaLnBrk="1" hangingPunct="1">
              <a:spcBef>
                <a:spcPct val="0"/>
              </a:spcBef>
              <a:buFont typeface="Wingdings" charset="2"/>
              <a:buNone/>
              <a:defRPr/>
            </a:pPr>
            <a:endParaRPr lang="en-US" altLang="x-none" sz="1800" dirty="0">
              <a:ea typeface="ＭＳ Ｐゴシック" charset="-128"/>
            </a:endParaRPr>
          </a:p>
          <a:p>
            <a:pPr marL="0" indent="0" eaLnBrk="1" hangingPunct="1">
              <a:spcBef>
                <a:spcPct val="0"/>
              </a:spcBef>
              <a:buFont typeface="Wingdings" charset="2"/>
              <a:buNone/>
              <a:defRPr/>
            </a:pPr>
            <a:r>
              <a:rPr lang="en-US" altLang="x-none" sz="1600" u="sng" dirty="0">
                <a:solidFill>
                  <a:srgbClr val="FFC000"/>
                </a:solidFill>
                <a:ea typeface="ＭＳ Ｐゴシック" charset="-128"/>
              </a:rPr>
              <a:t>Loss of Parsimony</a:t>
            </a:r>
            <a:r>
              <a:rPr lang="en-US" altLang="x-none" sz="1600" dirty="0">
                <a:ea typeface="ＭＳ Ｐゴシック" charset="-128"/>
              </a:rPr>
              <a:t>:  Waltz’s Neorealism was beautiful because it explained big outcomes with a single variable: the distribution of power in an anarchic system.  NCR adds a whole host of complex and messy domestic factors – leader psychology, bureaucratic politics, legislative-executive relations, national culture, etc.  Critics argue this turns it into a “kitchen sink” theory where you can throw in any variable you want to explain a case.</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u="sng" dirty="0">
                <a:solidFill>
                  <a:srgbClr val="00B0F0"/>
                </a:solidFill>
                <a:ea typeface="ＭＳ Ｐゴシック" charset="-128"/>
              </a:rPr>
              <a:t>It’s Not Falsifiable</a:t>
            </a:r>
            <a:r>
              <a:rPr lang="en-US" altLang="x-none" sz="1600" dirty="0">
                <a:ea typeface="ＭＳ Ｐゴシック" charset="-128"/>
              </a:rPr>
              <a:t>:  This is the biggest challenge.  If a state acts as Neorealism predicts (e.g., it balances against a rising power), the NCR theorist can say, “See, the systemic pressures were clearly transmitted.”  But if the state fails to balance, the NCR theorist can just as easily say, “Well, that's because flawed domestic institutions or misperceptions blocked the transmission of systemic pressures.”  When a theory can explain both an outcome and its opposite, it risks explaining nothing at all and becoming unfalsifiable.</a:t>
            </a:r>
          </a:p>
          <a:p>
            <a:pPr marL="0" indent="0" eaLnBrk="1" hangingPunct="1">
              <a:spcBef>
                <a:spcPct val="0"/>
              </a:spcBef>
              <a:buFont typeface="Wingdings" charset="2"/>
              <a:buNone/>
              <a:defRPr/>
            </a:pPr>
            <a:endParaRPr lang="en-US" altLang="x-none" sz="1600" dirty="0">
              <a:ea typeface="ＭＳ Ｐゴシック" charset="-128"/>
            </a:endParaRPr>
          </a:p>
          <a:p>
            <a:pPr marL="0" indent="0" eaLnBrk="1" hangingPunct="1">
              <a:spcBef>
                <a:spcPct val="0"/>
              </a:spcBef>
              <a:buFont typeface="Wingdings" charset="2"/>
              <a:buNone/>
              <a:defRPr/>
            </a:pPr>
            <a:r>
              <a:rPr lang="en-US" altLang="x-none" sz="1600" u="sng" dirty="0">
                <a:solidFill>
                  <a:srgbClr val="00B050"/>
                </a:solidFill>
                <a:ea typeface="ＭＳ Ｐゴシック" charset="-128"/>
              </a:rPr>
              <a:t>Downgrading the International System</a:t>
            </a:r>
            <a:r>
              <a:rPr lang="en-US" altLang="x-none" sz="1600" dirty="0">
                <a:ea typeface="ＭＳ Ｐゴシック" charset="-128"/>
              </a:rPr>
              <a:t>:  If the intervening domestic variables are doing all the heavy lifting to explain the specific foreign policy, then the international system starts to look less like a determinant structure and more like a permissive environment or a simple background condition.  At that point, critics ask, “In what meaningful way is this still a realist or systemic theory?</a:t>
            </a:r>
            <a:r>
              <a:rPr lang="en-US" altLang="x-none" sz="1600" i="1" dirty="0">
                <a:ea typeface="ＭＳ Ｐゴシック" charset="-128"/>
              </a:rPr>
              <a:t>  </a:t>
            </a:r>
            <a:r>
              <a:rPr lang="en-US" altLang="x-none" sz="1600" i="1" dirty="0">
                <a:solidFill>
                  <a:srgbClr val="FFFF00"/>
                </a:solidFill>
                <a:ea typeface="ＭＳ Ｐゴシック" charset="-128"/>
              </a:rPr>
              <a:t>In what meaningful way is it even an IR theory if the </a:t>
            </a:r>
            <a:r>
              <a:rPr lang="en-US" altLang="x-none" sz="1600" i="1" u="sng" dirty="0">
                <a:solidFill>
                  <a:srgbClr val="FFFF00"/>
                </a:solidFill>
                <a:ea typeface="ＭＳ Ｐゴシック" charset="-128"/>
              </a:rPr>
              <a:t>international system level of analysis</a:t>
            </a:r>
            <a:r>
              <a:rPr lang="en-US" altLang="x-none" sz="1600" i="1" dirty="0">
                <a:solidFill>
                  <a:srgbClr val="FFFF00"/>
                </a:solidFill>
                <a:ea typeface="ＭＳ Ｐゴシック" charset="-128"/>
              </a:rPr>
              <a:t> no longer matters that much?”</a:t>
            </a:r>
            <a:endParaRPr lang="en-US" altLang="x-none" sz="1600" dirty="0">
              <a:ea typeface="ＭＳ Ｐゴシック" charset="-128"/>
            </a:endParaRPr>
          </a:p>
        </p:txBody>
      </p:sp>
    </p:spTree>
    <p:extLst>
      <p:ext uri="{BB962C8B-B14F-4D97-AF65-F5344CB8AC3E}">
        <p14:creationId xmlns:p14="http://schemas.microsoft.com/office/powerpoint/2010/main" val="27339628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106B-4F84-F2BB-F50A-DD8CA6FA4FD8}"/>
            </a:ext>
          </a:extLst>
        </p:cNvPr>
        <p:cNvGrpSpPr/>
        <p:nvPr/>
      </p:nvGrpSpPr>
      <p:grpSpPr>
        <a:xfrm>
          <a:off x="0" y="0"/>
          <a:ext cx="0" cy="0"/>
          <a:chOff x="0" y="0"/>
          <a:chExt cx="0" cy="0"/>
        </a:xfrm>
      </p:grpSpPr>
      <p:sp>
        <p:nvSpPr>
          <p:cNvPr id="1067010" name="Rectangle 2">
            <a:extLst>
              <a:ext uri="{FF2B5EF4-FFF2-40B4-BE49-F238E27FC236}">
                <a16:creationId xmlns:a16="http://schemas.microsoft.com/office/drawing/2014/main" id="{F32A135B-A327-5CD8-D063-8CD1D490C517}"/>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AB247CF3-AB64-4092-C19D-AD7F31417E43}"/>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81923" name="Picture 4" descr="Levels of analysis">
            <a:extLst>
              <a:ext uri="{FF2B5EF4-FFF2-40B4-BE49-F238E27FC236}">
                <a16:creationId xmlns:a16="http://schemas.microsoft.com/office/drawing/2014/main" id="{DD359A9A-B5E3-EAD4-744A-45603FD33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TextBox 1">
            <a:extLst>
              <a:ext uri="{FF2B5EF4-FFF2-40B4-BE49-F238E27FC236}">
                <a16:creationId xmlns:a16="http://schemas.microsoft.com/office/drawing/2014/main" id="{64040228-5265-03E7-239A-190632BD7306}"/>
              </a:ext>
            </a:extLst>
          </p:cNvPr>
          <p:cNvSpPr txBox="1">
            <a:spLocks noChangeArrowheads="1"/>
          </p:cNvSpPr>
          <p:nvPr/>
        </p:nvSpPr>
        <p:spPr bwMode="auto">
          <a:xfrm>
            <a:off x="3389313" y="873125"/>
            <a:ext cx="23622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a:solidFill>
                  <a:schemeClr val="bg1"/>
                </a:solidFill>
              </a:rPr>
              <a:t>ANARCHY!</a:t>
            </a:r>
          </a:p>
        </p:txBody>
      </p:sp>
    </p:spTree>
    <p:extLst>
      <p:ext uri="{BB962C8B-B14F-4D97-AF65-F5344CB8AC3E}">
        <p14:creationId xmlns:p14="http://schemas.microsoft.com/office/powerpoint/2010/main" val="2579557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187D9-34B6-DBAB-A36D-3FD0493786F0}"/>
              </a:ext>
            </a:extLst>
          </p:cNvPr>
          <p:cNvSpPr>
            <a:spLocks noGrp="1"/>
          </p:cNvSpPr>
          <p:nvPr>
            <p:ph type="title"/>
          </p:nvPr>
        </p:nvSpPr>
        <p:spPr/>
        <p:txBody>
          <a:bodyPr/>
          <a:lstStyle/>
          <a:p>
            <a:pPr>
              <a:defRPr/>
            </a:pPr>
            <a:r>
              <a:rPr lang="en-US" altLang="x-none" sz="3200" dirty="0">
                <a:solidFill>
                  <a:schemeClr val="tx1"/>
                </a:solidFill>
                <a:ea typeface="ＭＳ Ｐゴシック" charset="-128"/>
              </a:rPr>
              <a:t>Power Transition Theory</a:t>
            </a:r>
          </a:p>
        </p:txBody>
      </p:sp>
      <p:sp>
        <p:nvSpPr>
          <p:cNvPr id="3" name="Content Placeholder 2">
            <a:extLst>
              <a:ext uri="{FF2B5EF4-FFF2-40B4-BE49-F238E27FC236}">
                <a16:creationId xmlns:a16="http://schemas.microsoft.com/office/drawing/2014/main" id="{4BD81B09-F944-6A31-3007-FCC3950FCBE1}"/>
              </a:ext>
            </a:extLst>
          </p:cNvPr>
          <p:cNvSpPr>
            <a:spLocks noGrp="1"/>
          </p:cNvSpPr>
          <p:nvPr>
            <p:ph idx="1"/>
          </p:nvPr>
        </p:nvSpPr>
        <p:spPr/>
        <p:txBody>
          <a:bodyPr/>
          <a:lstStyle/>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r>
              <a:rPr lang="en-US" altLang="x-none" sz="2000" dirty="0">
                <a:ea typeface="ＭＳ Ｐゴシック" charset="-128"/>
              </a:rPr>
              <a:t>Hegemon (US)</a:t>
            </a:r>
          </a:p>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endParaRPr lang="en-US" altLang="x-none" sz="2000" dirty="0">
              <a:ea typeface="ＭＳ Ｐゴシック" charset="-128"/>
            </a:endParaRPr>
          </a:p>
          <a:p>
            <a:pPr>
              <a:buFont typeface="Wingdings" charset="2"/>
              <a:buChar char="l"/>
              <a:defRPr/>
            </a:pPr>
            <a:r>
              <a:rPr lang="en-US" altLang="x-none" sz="2000" dirty="0">
                <a:ea typeface="ＭＳ Ｐゴシック" charset="-128"/>
              </a:rPr>
              <a:t>Challenger (China?)</a:t>
            </a:r>
          </a:p>
        </p:txBody>
      </p:sp>
      <p:cxnSp>
        <p:nvCxnSpPr>
          <p:cNvPr id="5" name="Straight Connector 4">
            <a:extLst>
              <a:ext uri="{FF2B5EF4-FFF2-40B4-BE49-F238E27FC236}">
                <a16:creationId xmlns:a16="http://schemas.microsoft.com/office/drawing/2014/main" id="{AD5A2CB5-2A71-BA9F-98AF-53CC27A14457}"/>
              </a:ext>
            </a:extLst>
          </p:cNvPr>
          <p:cNvCxnSpPr/>
          <p:nvPr/>
        </p:nvCxnSpPr>
        <p:spPr>
          <a:xfrm flipV="1">
            <a:off x="1066800" y="1905000"/>
            <a:ext cx="6858000" cy="2895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224C1D-F385-2AF4-E084-67516AC2142C}"/>
              </a:ext>
            </a:extLst>
          </p:cNvPr>
          <p:cNvCxnSpPr>
            <a:cxnSpLocks noChangeShapeType="1"/>
          </p:cNvCxnSpPr>
          <p:nvPr/>
        </p:nvCxnSpPr>
        <p:spPr bwMode="auto">
          <a:xfrm flipV="1">
            <a:off x="1066800" y="2209800"/>
            <a:ext cx="6858000" cy="609600"/>
          </a:xfrm>
          <a:prstGeom prst="line">
            <a:avLst/>
          </a:prstGeom>
          <a:noFill/>
          <a:ln w="38100">
            <a:solidFill>
              <a:schemeClr val="tx1"/>
            </a:solidFill>
            <a:round/>
            <a:headEnd/>
            <a:tailEnd/>
          </a:ln>
          <a:effectLst>
            <a:outerShdw blurRad="63500" dist="20000" dir="5400000" rotWithShape="0">
              <a:srgbClr val="000000">
                <a:alpha val="37999"/>
              </a:srgbClr>
            </a:outerShdw>
          </a:effectLst>
        </p:spPr>
      </p:cxnSp>
      <p:grpSp>
        <p:nvGrpSpPr>
          <p:cNvPr id="115717" name="Oval 5">
            <a:extLst>
              <a:ext uri="{FF2B5EF4-FFF2-40B4-BE49-F238E27FC236}">
                <a16:creationId xmlns:a16="http://schemas.microsoft.com/office/drawing/2014/main" id="{45A0EB87-72C9-8A97-EBED-A3176A9C8AF0}"/>
              </a:ext>
            </a:extLst>
          </p:cNvPr>
          <p:cNvGrpSpPr>
            <a:grpSpLocks/>
          </p:cNvGrpSpPr>
          <p:nvPr/>
        </p:nvGrpSpPr>
        <p:grpSpPr bwMode="auto">
          <a:xfrm>
            <a:off x="6096000" y="1892300"/>
            <a:ext cx="1308100" cy="876300"/>
            <a:chOff x="3840" y="1192"/>
            <a:chExt cx="824" cy="552"/>
          </a:xfrm>
        </p:grpSpPr>
        <p:pic>
          <p:nvPicPr>
            <p:cNvPr id="115718" name="Oval 5">
              <a:extLst>
                <a:ext uri="{FF2B5EF4-FFF2-40B4-BE49-F238E27FC236}">
                  <a16:creationId xmlns:a16="http://schemas.microsoft.com/office/drawing/2014/main" id="{4EC88047-518F-AF16-D455-34E2C1F4B98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0" y="1192"/>
              <a:ext cx="824"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9" name="Text Box 6">
              <a:extLst>
                <a:ext uri="{FF2B5EF4-FFF2-40B4-BE49-F238E27FC236}">
                  <a16:creationId xmlns:a16="http://schemas.microsoft.com/office/drawing/2014/main" id="{23A8846A-7F0A-FBF8-D148-2059430EF449}"/>
                </a:ext>
              </a:extLst>
            </p:cNvPr>
            <p:cNvSpPr txBox="1">
              <a:spLocks noChangeArrowheads="1"/>
            </p:cNvSpPr>
            <p:nvPr/>
          </p:nvSpPr>
          <p:spPr bwMode="auto">
            <a:xfrm rot="-880005">
              <a:off x="3967" y="1293"/>
              <a:ext cx="57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en-US" altLang="en-US" sz="1800">
                <a:solidFill>
                  <a:srgbClr val="FFFFFF"/>
                </a:solidFill>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4628D2BA-8901-3DAB-F7BC-D48E696473F9}"/>
              </a:ext>
            </a:extLst>
          </p:cNvPr>
          <p:cNvSpPr>
            <a:spLocks noGrp="1" noChangeArrowheads="1"/>
          </p:cNvSpPr>
          <p:nvPr>
            <p:ph type="title"/>
          </p:nvPr>
        </p:nvSpPr>
        <p:spPr>
          <a:xfrm>
            <a:off x="1727200" y="115888"/>
            <a:ext cx="6096000" cy="493712"/>
          </a:xfrm>
        </p:spPr>
        <p:txBody>
          <a:bodyPr/>
          <a:lstStyle/>
          <a:p>
            <a:pPr eaLnBrk="1" hangingPunct="1">
              <a:defRPr/>
            </a:pPr>
            <a:r>
              <a:rPr lang="en-US" altLang="x-none" sz="3600" dirty="0">
                <a:solidFill>
                  <a:srgbClr val="FFFF00"/>
                </a:solidFill>
                <a:ea typeface="ＭＳ Ｐゴシック" charset="-128"/>
              </a:rPr>
              <a:t>Power Transition Theory</a:t>
            </a:r>
          </a:p>
        </p:txBody>
      </p:sp>
      <p:sp>
        <p:nvSpPr>
          <p:cNvPr id="112643" name="Rectangle 3">
            <a:extLst>
              <a:ext uri="{FF2B5EF4-FFF2-40B4-BE49-F238E27FC236}">
                <a16:creationId xmlns:a16="http://schemas.microsoft.com/office/drawing/2014/main" id="{9CEB37F6-8B0D-F638-8E28-8EE8F6D30F60}"/>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119811" name="Picture 4" descr="The Power Transition (3-D)">
            <a:extLst>
              <a:ext uri="{FF2B5EF4-FFF2-40B4-BE49-F238E27FC236}">
                <a16:creationId xmlns:a16="http://schemas.microsoft.com/office/drawing/2014/main" id="{EE303FAE-747D-2A73-16E9-ACA2FBD5C7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990600"/>
            <a:ext cx="7596188" cy="569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09226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a:extLst>
              <a:ext uri="{FF2B5EF4-FFF2-40B4-BE49-F238E27FC236}">
                <a16:creationId xmlns:a16="http://schemas.microsoft.com/office/drawing/2014/main" id="{FB6FD679-BC11-E5E6-E8C0-7F2679D0ECE4}"/>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385027" name="Rectangle 3">
            <a:extLst>
              <a:ext uri="{FF2B5EF4-FFF2-40B4-BE49-F238E27FC236}">
                <a16:creationId xmlns:a16="http://schemas.microsoft.com/office/drawing/2014/main" id="{C06D9CD9-FA5F-7DE7-2CC4-A9D2DC209A63}"/>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117763" name="Picture 4" descr="Mearsheimer (sits for interview on China)">
            <a:extLst>
              <a:ext uri="{FF2B5EF4-FFF2-40B4-BE49-F238E27FC236}">
                <a16:creationId xmlns:a16="http://schemas.microsoft.com/office/drawing/2014/main" id="{96F1166C-7CDB-5963-306A-A5144315CCE3}"/>
              </a:ext>
            </a:extLst>
          </p:cNvPr>
          <p:cNvPicPr>
            <a:picLocks noChangeAspect="1" noChangeArrowheads="1"/>
          </p:cNvPicPr>
          <p:nvPr/>
        </p:nvPicPr>
        <p:blipFill>
          <a:blip r:embed="rId3">
            <a:lum bright="-2000" contrast="8000"/>
            <a:extLst>
              <a:ext uri="{28A0092B-C50C-407E-A947-70E740481C1C}">
                <a14:useLocalDpi xmlns:a14="http://schemas.microsoft.com/office/drawing/2010/main" val="0"/>
              </a:ext>
            </a:extLst>
          </a:blip>
          <a:srcRect/>
          <a:stretch>
            <a:fillRect/>
          </a:stretch>
        </p:blipFill>
        <p:spPr bwMode="auto">
          <a:xfrm>
            <a:off x="228600" y="1447800"/>
            <a:ext cx="8686800" cy="3657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7888-E891-9CB7-1D65-2803B2CFA0AA}"/>
              </a:ext>
            </a:extLst>
          </p:cNvPr>
          <p:cNvSpPr>
            <a:spLocks noGrp="1"/>
          </p:cNvSpPr>
          <p:nvPr>
            <p:ph type="title"/>
          </p:nvPr>
        </p:nvSpPr>
        <p:spPr/>
        <p:txBody>
          <a:bodyPr/>
          <a:lstStyle/>
          <a:p>
            <a:pPr eaLnBrk="1" hangingPunct="1">
              <a:defRPr/>
            </a:pPr>
            <a:r>
              <a:rPr lang="en-US" altLang="x-none" sz="4000" dirty="0">
                <a:solidFill>
                  <a:srgbClr val="FFFF00"/>
                </a:solidFill>
                <a:ea typeface="ＭＳ Ｐゴシック" charset="-128"/>
              </a:rPr>
              <a:t>Discourses</a:t>
            </a:r>
          </a:p>
        </p:txBody>
      </p:sp>
      <p:sp>
        <p:nvSpPr>
          <p:cNvPr id="3" name="Content Placeholder 2">
            <a:extLst>
              <a:ext uri="{FF2B5EF4-FFF2-40B4-BE49-F238E27FC236}">
                <a16:creationId xmlns:a16="http://schemas.microsoft.com/office/drawing/2014/main" id="{377AFB40-1729-4D93-75D2-BDB54865326C}"/>
              </a:ext>
            </a:extLst>
          </p:cNvPr>
          <p:cNvSpPr>
            <a:spLocks noGrp="1"/>
          </p:cNvSpPr>
          <p:nvPr>
            <p:ph idx="1"/>
          </p:nvPr>
        </p:nvSpPr>
        <p:spPr/>
        <p:txBody>
          <a:bodyPr/>
          <a:lstStyle/>
          <a:p>
            <a:pPr eaLnBrk="1" hangingPunct="1">
              <a:buFont typeface="Wingdings" charset="2"/>
              <a:buNone/>
              <a:defRPr/>
            </a:pPr>
            <a:r>
              <a:rPr lang="en-US" altLang="x-none" dirty="0">
                <a:ea typeface="ＭＳ Ｐゴシック" charset="-128"/>
              </a:rPr>
              <a:t>Foucault argued that discourses</a:t>
            </a:r>
          </a:p>
          <a:p>
            <a:pPr eaLnBrk="1" hangingPunct="1">
              <a:buFont typeface="Wingdings" charset="2"/>
              <a:buNone/>
              <a:defRPr/>
            </a:pPr>
            <a:r>
              <a:rPr lang="en-US" altLang="x-none" u="sng" dirty="0">
                <a:ea typeface="ＭＳ Ｐゴシック" charset="-128"/>
              </a:rPr>
              <a:t>produce</a:t>
            </a:r>
            <a:r>
              <a:rPr lang="en-US" altLang="x-none" dirty="0">
                <a:ea typeface="ＭＳ Ｐゴシック" charset="-128"/>
              </a:rPr>
              <a:t> what we come to see as</a:t>
            </a:r>
          </a:p>
          <a:p>
            <a:pPr eaLnBrk="1" hangingPunct="1">
              <a:buFont typeface="Wingdings" charset="2"/>
              <a:buNone/>
              <a:defRPr/>
            </a:pPr>
            <a:r>
              <a:rPr lang="en-US" altLang="x-none" dirty="0">
                <a:ea typeface="ＭＳ Ｐゴシック" charset="-128"/>
              </a:rPr>
              <a:t>real.</a:t>
            </a:r>
          </a:p>
          <a:p>
            <a:pPr eaLnBrk="1" hangingPunct="1">
              <a:buFont typeface="Wingdings" charset="2"/>
              <a:buNone/>
              <a:defRPr/>
            </a:pPr>
            <a:endParaRPr lang="en-US" altLang="x-none" sz="2400" dirty="0">
              <a:ea typeface="ＭＳ Ｐゴシック" charset="-128"/>
            </a:endParaRPr>
          </a:p>
          <a:p>
            <a:pPr eaLnBrk="1" hangingPunct="1">
              <a:buFont typeface="Wingdings" charset="2"/>
              <a:buNone/>
              <a:defRPr/>
            </a:pPr>
            <a:r>
              <a:rPr lang="en-US" altLang="x-none" dirty="0">
                <a:ea typeface="ＭＳ Ｐゴシック" charset="-128"/>
              </a:rPr>
              <a:t>They determine what </a:t>
            </a:r>
            <a:r>
              <a:rPr lang="en-US" altLang="x-none" i="1" dirty="0">
                <a:ea typeface="ＭＳ Ｐゴシック" charset="-128"/>
              </a:rPr>
              <a:t>can</a:t>
            </a:r>
            <a:r>
              <a:rPr lang="en-US" altLang="x-none" dirty="0">
                <a:ea typeface="ＭＳ Ｐゴシック" charset="-128"/>
              </a:rPr>
              <a:t> (not just </a:t>
            </a:r>
            <a:r>
              <a:rPr lang="ja-JP" altLang="en-US">
                <a:ea typeface="ＭＳ Ｐゴシック" charset="-128"/>
              </a:rPr>
              <a:t>“</a:t>
            </a:r>
            <a:r>
              <a:rPr lang="en-US" altLang="ja-JP" dirty="0">
                <a:ea typeface="ＭＳ Ｐゴシック" charset="-128"/>
              </a:rPr>
              <a:t>may</a:t>
            </a:r>
            <a:r>
              <a:rPr lang="ja-JP" altLang="en-US">
                <a:ea typeface="ＭＳ Ｐゴシック" charset="-128"/>
              </a:rPr>
              <a:t>”</a:t>
            </a:r>
            <a:r>
              <a:rPr lang="en-US" altLang="ja-JP" dirty="0">
                <a:ea typeface="ＭＳ Ｐゴシック" charset="-128"/>
              </a:rPr>
              <a:t>)</a:t>
            </a:r>
          </a:p>
          <a:p>
            <a:pPr eaLnBrk="1" hangingPunct="1">
              <a:buFont typeface="Wingdings" charset="2"/>
              <a:buNone/>
              <a:defRPr/>
            </a:pPr>
            <a:r>
              <a:rPr lang="en-US" altLang="x-none" dirty="0">
                <a:ea typeface="ＭＳ Ｐゴシック" charset="-128"/>
              </a:rPr>
              <a:t>be said, and even what can be thought.</a:t>
            </a:r>
          </a:p>
        </p:txBody>
      </p:sp>
      <p:pic>
        <p:nvPicPr>
          <p:cNvPr id="135171" name="Picture 4" descr="Foucault, Michel">
            <a:extLst>
              <a:ext uri="{FF2B5EF4-FFF2-40B4-BE49-F238E27FC236}">
                <a16:creationId xmlns:a16="http://schemas.microsoft.com/office/drawing/2014/main" id="{84D02A9C-E1BB-4C0E-CBB6-A158A44F5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6875" y="609600"/>
            <a:ext cx="23971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5103</TotalTime>
  <Words>4082</Words>
  <Application>Microsoft Macintosh PowerPoint</Application>
  <PresentationFormat>On-screen Show (4:3)</PresentationFormat>
  <Paragraphs>420</Paragraphs>
  <Slides>77</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ＭＳ Ｐゴシック</vt:lpstr>
      <vt:lpstr>Arial</vt:lpstr>
      <vt:lpstr>Wingdings</vt:lpstr>
      <vt:lpstr>Orbit</vt:lpstr>
      <vt:lpstr>PIA 3121  8 September 2026</vt:lpstr>
      <vt:lpstr>PIA 3121 Schedule</vt:lpstr>
      <vt:lpstr>PowerPoint Presentation</vt:lpstr>
      <vt:lpstr>The 5 Sectors: Lenses for Analysis</vt:lpstr>
      <vt:lpstr>A Danger in Sectoral Analysis!</vt:lpstr>
      <vt:lpstr>Defining “Discourse” and Specifying Its Importance</vt:lpstr>
      <vt:lpstr>Defining “Discourse” and Specifying Its Importance</vt:lpstr>
      <vt:lpstr>Defining “Discourse” and Specifying Its Importance</vt:lpstr>
      <vt:lpstr>PowerPoint Presentation</vt:lpstr>
      <vt:lpstr>PowerPoint Presentation</vt:lpstr>
      <vt:lpstr>PowerPoint Presentation</vt:lpstr>
      <vt:lpstr>SOFT POWER: The Ability to Coax and Persuade</vt:lpstr>
      <vt:lpstr>Defining “Discourse” and Specifying Its Importance</vt:lpstr>
      <vt:lpstr>PowerPoint Presentation</vt:lpstr>
      <vt:lpstr>Discourses</vt:lpstr>
      <vt:lpstr>Discourses</vt:lpstr>
      <vt:lpstr>Discourses</vt:lpstr>
      <vt:lpstr>What’s so “root” about Realism  as an IR Discourse?</vt:lpstr>
      <vt:lpstr>Thucydides (c. 460 BCE - 395 BCE)</vt:lpstr>
      <vt:lpstr>PowerPoint Presentation</vt:lpstr>
      <vt:lpstr>What’s so “root” about Realism  as an IR Discourse?</vt:lpstr>
      <vt:lpstr>What’s so “root” about Realism  as an IR Discourse?</vt:lpstr>
      <vt:lpstr>What’s so “root” about Realism  as an IR Discourse?</vt:lpstr>
      <vt:lpstr>What’s so “root” about Realism  as an IR Discourse?</vt:lpstr>
      <vt:lpstr>Reification:  Which comes first, anarchy or the belief that anarchy is a real source of threat that states must counter (by creating anarchy)?</vt:lpstr>
      <vt:lpstr>Hans J. Morgenthau (1904-1980)</vt:lpstr>
      <vt:lpstr>Morgenthau’s “Six Principles of Political Realism”</vt:lpstr>
      <vt:lpstr>Morgenthau’s “Six Principles of Political Realism”</vt:lpstr>
      <vt:lpstr>Morgenthau’s “Six Principles of Political Realism”</vt:lpstr>
      <vt:lpstr>Morgenthau’s “Six Principles of Political Realism”</vt:lpstr>
      <vt:lpstr>What about Trump?</vt:lpstr>
      <vt:lpstr>Morgenthau’s “Six Principles of Political Realism”</vt:lpstr>
      <vt:lpstr>Thucydides (c. 460 BCE - 395 BCE)</vt:lpstr>
      <vt:lpstr>Morgenthau’s “Six Principles of Political Realism”</vt:lpstr>
      <vt:lpstr>Morgenthau’s “Six Principles of Political Realism”</vt:lpstr>
      <vt:lpstr>Morgenthau’s “Six Principles of Political Realism”</vt:lpstr>
      <vt:lpstr>Morgenthau’s “Six Principles of Political Realism”</vt:lpstr>
      <vt:lpstr>Hans J. Morgenthau (1904-1980)</vt:lpstr>
      <vt:lpstr>PowerPoint Presentation</vt:lpstr>
      <vt:lpstr>Neorealism born in the 1970s</vt:lpstr>
      <vt:lpstr>The Neorealists’ Two Main Objectives</vt:lpstr>
      <vt:lpstr>The Neorealists’ Two Main Objectives</vt:lpstr>
      <vt:lpstr>PowerPoint Presentation</vt:lpstr>
      <vt:lpstr>Stable Cold War Bipolarity, 1980</vt:lpstr>
      <vt:lpstr>To Waltz, the international system was very much like a market</vt:lpstr>
      <vt:lpstr>The outcome of competitive state jostling is international STRUCTURE</vt:lpstr>
      <vt:lpstr>The Neorealists’ Three Dimensions to  International Structure</vt:lpstr>
      <vt:lpstr>The Neorealists’ Three Dimensions to  International Structure</vt:lpstr>
      <vt:lpstr>The Neorealists’ Three Dimensions to  International Structure</vt:lpstr>
      <vt:lpstr>The Neorealists’ Three Dimensions to  International Structure</vt:lpstr>
      <vt:lpstr>Why Neorealists Consider that Bipolarity Is More Stable than Multipolarity</vt:lpstr>
      <vt:lpstr>Why Neorealists Consider that Bipolarity Is More Stable than Multipolarity</vt:lpstr>
      <vt:lpstr>Why Neorealists Consider that Bipolarity Is More Stable than Multipolarity</vt:lpstr>
      <vt:lpstr>Why Neorealists Consider that Bipolarity Is More Stable than Multipolarity</vt:lpstr>
      <vt:lpstr>Why Neorealists Consider that Bipolarity Is More Stable than Multipolarity</vt:lpstr>
      <vt:lpstr> “Chain-Ganging” Under Multipolarity Leads to World War I</vt:lpstr>
      <vt:lpstr>Stable Cold War Bipolarity, 1980</vt:lpstr>
      <vt:lpstr>PowerPoint Presentation</vt:lpstr>
      <vt:lpstr>Michael Mastanduno (seeks in 1999 to update Neorealism itself)</vt:lpstr>
      <vt:lpstr>Mastanduno’s Four Fundamental Realist Assumptions</vt:lpstr>
      <vt:lpstr>Mastanduno’s Four Fundamental Realist Assumptions</vt:lpstr>
      <vt:lpstr>Mastanduno’s Four Fundamental Realist Assumptions</vt:lpstr>
      <vt:lpstr>Mastanduno’s Four Fundamental Realist Assumptions</vt:lpstr>
      <vt:lpstr>Neoclassical Realism (NCR): A New School of Thought from the 1990s-2010s</vt:lpstr>
      <vt:lpstr>Neoclassical Realism (NCR): A New School of Thought from the 1990s-2010s</vt:lpstr>
      <vt:lpstr>Neoclassical Realism (NCR): A New School of Thought from the 1990s-2010s</vt:lpstr>
      <vt:lpstr>Neoclassical Realism (NCR): A New School of Thought from the 1990s-2010s</vt:lpstr>
      <vt:lpstr>Neoclassical Realism (NCR): A New School of Thought from the 1990s-2010s</vt:lpstr>
      <vt:lpstr>Critiques of Neoclassical Realism</vt:lpstr>
      <vt:lpstr>Critiques of Neoclassical Realism</vt:lpstr>
      <vt:lpstr>Critiques of Neoclassical Realism</vt:lpstr>
      <vt:lpstr>Critiques of Neoclassical Realism</vt:lpstr>
      <vt:lpstr>PowerPoint Presentation</vt:lpstr>
      <vt:lpstr>Power Transition Theory</vt:lpstr>
      <vt:lpstr>Power Transition Theory</vt:lpstr>
      <vt:lpstr>PowerPoint Presentation</vt:lpstr>
      <vt:lpstr>Discourses</vt:lpstr>
    </vt:vector>
  </TitlesOfParts>
  <Company>SIR@USC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210</dc:title>
  <dc:creator>Daniel C. Lynch</dc:creator>
  <cp:lastModifiedBy>Daniel Lynch</cp:lastModifiedBy>
  <cp:revision>153</cp:revision>
  <cp:lastPrinted>1601-01-01T00:00:00Z</cp:lastPrinted>
  <dcterms:created xsi:type="dcterms:W3CDTF">2010-09-26T23:37:24Z</dcterms:created>
  <dcterms:modified xsi:type="dcterms:W3CDTF">2026-09-07T15:46:13Z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