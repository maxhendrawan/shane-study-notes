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sldIdLst>
    <p:sldId id="256" r:id="rId2"/>
    <p:sldId id="257" r:id="rId3"/>
    <p:sldId id="258" r:id="rId4"/>
    <p:sldId id="263" r:id="rId5"/>
    <p:sldId id="259" r:id="rId6"/>
    <p:sldId id="265" r:id="rId7"/>
    <p:sldId id="262"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50"/>
    <p:restoredTop sz="94658"/>
  </p:normalViewPr>
  <p:slideViewPr>
    <p:cSldViewPr snapToGrid="0">
      <p:cViewPr varScale="1">
        <p:scale>
          <a:sx n="120" d="100"/>
          <a:sy n="120" d="100"/>
        </p:scale>
        <p:origin x="9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9/10/26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88784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9/10/26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43749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9/10/26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62105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9/10/26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32824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9/10/26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54025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9/10/26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1118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9/10/26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01513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9/10/26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99291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9/10/26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97279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9/10/26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48000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9/10/26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0337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9/10/26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978229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F0D829-440C-95F1-F99C-086163167699}"/>
              </a:ext>
            </a:extLst>
          </p:cNvPr>
          <p:cNvSpPr>
            <a:spLocks noGrp="1"/>
          </p:cNvSpPr>
          <p:nvPr>
            <p:ph type="ctrTitle"/>
          </p:nvPr>
        </p:nvSpPr>
        <p:spPr>
          <a:xfrm>
            <a:off x="4963633" y="914400"/>
            <a:ext cx="7141533" cy="3871143"/>
          </a:xfrm>
        </p:spPr>
        <p:txBody>
          <a:bodyPr>
            <a:normAutofit/>
          </a:bodyPr>
          <a:lstStyle/>
          <a:p>
            <a:pPr algn="ctr"/>
            <a:r>
              <a:rPr lang="en-US" sz="4000" dirty="0">
                <a:latin typeface="Times New Roman" panose="02020603050405020304" pitchFamily="18" charset="0"/>
                <a:cs typeface="Times New Roman" panose="02020603050405020304" pitchFamily="18" charset="0"/>
              </a:rPr>
              <a:t>PIA 2030 </a:t>
            </a:r>
            <a:br>
              <a:rPr lang="en-US" sz="4000" dirty="0">
                <a:latin typeface="Times New Roman" panose="02020603050405020304" pitchFamily="18" charset="0"/>
                <a:cs typeface="Times New Roman" panose="02020603050405020304" pitchFamily="18" charset="0"/>
              </a:rPr>
            </a:b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Traditions of Inquiry in the Social Sciences</a:t>
            </a:r>
          </a:p>
        </p:txBody>
      </p:sp>
      <p:sp>
        <p:nvSpPr>
          <p:cNvPr id="3" name="Subtitle 2">
            <a:extLst>
              <a:ext uri="{FF2B5EF4-FFF2-40B4-BE49-F238E27FC236}">
                <a16:creationId xmlns:a16="http://schemas.microsoft.com/office/drawing/2014/main" id="{7EE053A2-A912-885A-D6B7-86176AB4FF8D}"/>
              </a:ext>
            </a:extLst>
          </p:cNvPr>
          <p:cNvSpPr>
            <a:spLocks noGrp="1"/>
          </p:cNvSpPr>
          <p:nvPr>
            <p:ph type="subTitle" idx="1"/>
          </p:nvPr>
        </p:nvSpPr>
        <p:spPr>
          <a:xfrm>
            <a:off x="5619964" y="4785543"/>
            <a:ext cx="5322013" cy="1348547"/>
          </a:xfrm>
        </p:spPr>
        <p:txBody>
          <a:bodyPr>
            <a:normAutofit fontScale="85000" lnSpcReduction="20000"/>
          </a:bodyPr>
          <a:lstStyle/>
          <a:p>
            <a:pPr algn="ctr">
              <a:lnSpc>
                <a:spcPct val="100000"/>
              </a:lnSpc>
            </a:pPr>
            <a:r>
              <a:rPr lang="en-US" dirty="0"/>
              <a:t>Dr. Jun ZHANG</a:t>
            </a:r>
          </a:p>
          <a:p>
            <a:pPr algn="ctr">
              <a:lnSpc>
                <a:spcPct val="100000"/>
              </a:lnSpc>
            </a:pPr>
            <a:r>
              <a:rPr lang="en-US" dirty="0"/>
              <a:t>Department of Public and International Affairs</a:t>
            </a:r>
          </a:p>
          <a:p>
            <a:pPr algn="ctr">
              <a:lnSpc>
                <a:spcPct val="100000"/>
              </a:lnSpc>
            </a:pPr>
            <a:r>
              <a:rPr lang="en-US" dirty="0"/>
              <a:t>City University of Hong Kong</a:t>
            </a:r>
          </a:p>
          <a:p>
            <a:pPr algn="ctr">
              <a:lnSpc>
                <a:spcPct val="100000"/>
              </a:lnSpc>
            </a:pPr>
            <a:r>
              <a:rPr lang="en-US" dirty="0"/>
              <a:t>Semester A</a:t>
            </a:r>
            <a:r>
              <a:rPr lang="en-US"/>
              <a:t>, 2026-2026</a:t>
            </a:r>
            <a:endParaRPr lang="en-US" dirty="0"/>
          </a:p>
        </p:txBody>
      </p:sp>
      <p:pic>
        <p:nvPicPr>
          <p:cNvPr id="4" name="Picture 3">
            <a:extLst>
              <a:ext uri="{FF2B5EF4-FFF2-40B4-BE49-F238E27FC236}">
                <a16:creationId xmlns:a16="http://schemas.microsoft.com/office/drawing/2014/main" id="{1A12ABA2-D652-6C1C-08A1-4537E059AF40}"/>
              </a:ext>
            </a:extLst>
          </p:cNvPr>
          <p:cNvPicPr>
            <a:picLocks noChangeAspect="1"/>
          </p:cNvPicPr>
          <p:nvPr/>
        </p:nvPicPr>
        <p:blipFill>
          <a:blip r:embed="rId2"/>
          <a:srcRect l="33981" r="9130" b="-1"/>
          <a:stretch>
            <a:fillRect/>
          </a:stretch>
        </p:blipFill>
        <p:spPr>
          <a:xfrm>
            <a:off x="1" y="10"/>
            <a:ext cx="4876799" cy="6857989"/>
          </a:xfrm>
          <a:prstGeom prst="rect">
            <a:avLst/>
          </a:prstGeom>
        </p:spPr>
      </p:pic>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9793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D234BA-8C5A-04BC-61A8-D778D09786F1}"/>
              </a:ext>
            </a:extLst>
          </p:cNvPr>
          <p:cNvSpPr>
            <a:spLocks noGrp="1"/>
          </p:cNvSpPr>
          <p:nvPr>
            <p:ph type="title"/>
          </p:nvPr>
        </p:nvSpPr>
        <p:spPr>
          <a:xfrm>
            <a:off x="2125399" y="2860159"/>
            <a:ext cx="8879300" cy="1307592"/>
          </a:xfrm>
        </p:spPr>
        <p:txBody>
          <a:bodyPr/>
          <a:lstStyle/>
          <a:p>
            <a:r>
              <a:rPr lang="en-US" dirty="0"/>
              <a:t>W2 		LET’S TALK ABOUT AI</a:t>
            </a:r>
          </a:p>
        </p:txBody>
      </p:sp>
    </p:spTree>
    <p:extLst>
      <p:ext uri="{BB962C8B-B14F-4D97-AF65-F5344CB8AC3E}">
        <p14:creationId xmlns:p14="http://schemas.microsoft.com/office/powerpoint/2010/main" val="464491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A9864-AA1C-4C37-969B-E6919EE8E4A3}"/>
              </a:ext>
            </a:extLst>
          </p:cNvPr>
          <p:cNvSpPr>
            <a:spLocks noGrp="1"/>
          </p:cNvSpPr>
          <p:nvPr>
            <p:ph type="title"/>
          </p:nvPr>
        </p:nvSpPr>
        <p:spPr/>
        <p:txBody>
          <a:bodyPr/>
          <a:lstStyle/>
          <a:p>
            <a:r>
              <a:rPr lang="en-HK" dirty="0"/>
              <a:t>AI’s impact on cognitive ability </a:t>
            </a:r>
            <a:endParaRPr lang="en-US" dirty="0"/>
          </a:p>
        </p:txBody>
      </p:sp>
      <p:pic>
        <p:nvPicPr>
          <p:cNvPr id="4" name="Picture 3">
            <a:extLst>
              <a:ext uri="{FF2B5EF4-FFF2-40B4-BE49-F238E27FC236}">
                <a16:creationId xmlns:a16="http://schemas.microsoft.com/office/drawing/2014/main" id="{20FEB880-4098-6220-4C42-E67C1A560CA6}"/>
              </a:ext>
            </a:extLst>
          </p:cNvPr>
          <p:cNvPicPr>
            <a:picLocks noChangeAspect="1"/>
          </p:cNvPicPr>
          <p:nvPr/>
        </p:nvPicPr>
        <p:blipFill>
          <a:blip r:embed="rId2"/>
          <a:stretch>
            <a:fillRect/>
          </a:stretch>
        </p:blipFill>
        <p:spPr>
          <a:xfrm>
            <a:off x="2160067" y="1854743"/>
            <a:ext cx="7772400" cy="3914058"/>
          </a:xfrm>
          <a:prstGeom prst="rect">
            <a:avLst/>
          </a:prstGeom>
        </p:spPr>
      </p:pic>
      <p:sp>
        <p:nvSpPr>
          <p:cNvPr id="5" name="TextBox 4">
            <a:extLst>
              <a:ext uri="{FF2B5EF4-FFF2-40B4-BE49-F238E27FC236}">
                <a16:creationId xmlns:a16="http://schemas.microsoft.com/office/drawing/2014/main" id="{F431DAD7-08AD-B76F-8A77-D904CFA98CFC}"/>
              </a:ext>
            </a:extLst>
          </p:cNvPr>
          <p:cNvSpPr txBox="1"/>
          <p:nvPr/>
        </p:nvSpPr>
        <p:spPr>
          <a:xfrm>
            <a:off x="306274" y="6112478"/>
            <a:ext cx="11485234" cy="830997"/>
          </a:xfrm>
          <a:prstGeom prst="rect">
            <a:avLst/>
          </a:prstGeom>
          <a:noFill/>
        </p:spPr>
        <p:txBody>
          <a:bodyPr wrap="square" rtlCol="0">
            <a:spAutoFit/>
          </a:bodyPr>
          <a:lstStyle/>
          <a:p>
            <a:r>
              <a:rPr lang="en-HK" sz="1600" dirty="0"/>
              <a:t>Rani, Anku, Valdemar Danry, Paul Pu Liang, Andrew Lippman, and Pattie Maes. 2026. "Dialogues with AI Reduce Beliefs in Misinformation but Build No Lasting Discernment Skills." Proceedings of the 2026 CHI Conference on Human Factors in Computing Systems. </a:t>
            </a:r>
            <a:endParaRPr lang="en-US" sz="1600" dirty="0"/>
          </a:p>
        </p:txBody>
      </p:sp>
    </p:spTree>
    <p:extLst>
      <p:ext uri="{BB962C8B-B14F-4D97-AF65-F5344CB8AC3E}">
        <p14:creationId xmlns:p14="http://schemas.microsoft.com/office/powerpoint/2010/main" val="567700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EAA79A-147E-6A85-446D-684C52F1EBB7}"/>
              </a:ext>
            </a:extLst>
          </p:cNvPr>
          <p:cNvSpPr>
            <a:spLocks noGrp="1"/>
          </p:cNvSpPr>
          <p:nvPr>
            <p:ph type="title"/>
          </p:nvPr>
        </p:nvSpPr>
        <p:spPr/>
        <p:txBody>
          <a:bodyPr/>
          <a:lstStyle/>
          <a:p>
            <a:r>
              <a:rPr lang="en-US" dirty="0"/>
              <a:t>Evaluating misinformation</a:t>
            </a:r>
          </a:p>
        </p:txBody>
      </p:sp>
      <p:sp>
        <p:nvSpPr>
          <p:cNvPr id="4" name="Content Placeholder 3">
            <a:extLst>
              <a:ext uri="{FF2B5EF4-FFF2-40B4-BE49-F238E27FC236}">
                <a16:creationId xmlns:a16="http://schemas.microsoft.com/office/drawing/2014/main" id="{B763E38B-4786-BAF9-4B5D-FF749F34808B}"/>
              </a:ext>
            </a:extLst>
          </p:cNvPr>
          <p:cNvSpPr>
            <a:spLocks noGrp="1"/>
          </p:cNvSpPr>
          <p:nvPr>
            <p:ph idx="1"/>
          </p:nvPr>
        </p:nvSpPr>
        <p:spPr>
          <a:xfrm>
            <a:off x="1934012" y="2232412"/>
            <a:ext cx="9006891" cy="3739896"/>
          </a:xfrm>
        </p:spPr>
        <p:txBody>
          <a:bodyPr>
            <a:normAutofit/>
          </a:bodyPr>
          <a:lstStyle/>
          <a:p>
            <a:r>
              <a:rPr lang="en-US" sz="2800" dirty="0"/>
              <a:t>Short-term improvement: immediate improvement with AI assistance </a:t>
            </a:r>
          </a:p>
          <a:p>
            <a:r>
              <a:rPr lang="en-US" sz="2800" dirty="0"/>
              <a:t>Long-term risk: misinformation detection abilities</a:t>
            </a:r>
          </a:p>
        </p:txBody>
      </p:sp>
    </p:spTree>
    <p:extLst>
      <p:ext uri="{BB962C8B-B14F-4D97-AF65-F5344CB8AC3E}">
        <p14:creationId xmlns:p14="http://schemas.microsoft.com/office/powerpoint/2010/main" val="1653768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4D76D-394C-43F2-A0B0-AAC65A533353}"/>
              </a:ext>
            </a:extLst>
          </p:cNvPr>
          <p:cNvSpPr>
            <a:spLocks noGrp="1"/>
          </p:cNvSpPr>
          <p:nvPr>
            <p:ph type="title"/>
          </p:nvPr>
        </p:nvSpPr>
        <p:spPr/>
        <p:txBody>
          <a:bodyPr/>
          <a:lstStyle/>
          <a:p>
            <a:r>
              <a:rPr lang="en-US" dirty="0"/>
              <a:t>Cognitive Debt</a:t>
            </a:r>
          </a:p>
        </p:txBody>
      </p:sp>
      <p:sp>
        <p:nvSpPr>
          <p:cNvPr id="6" name="Content Placeholder 5">
            <a:extLst>
              <a:ext uri="{FF2B5EF4-FFF2-40B4-BE49-F238E27FC236}">
                <a16:creationId xmlns:a16="http://schemas.microsoft.com/office/drawing/2014/main" id="{F03F58D4-66F0-4430-3C87-C3056D7C3282}"/>
              </a:ext>
            </a:extLst>
          </p:cNvPr>
          <p:cNvSpPr>
            <a:spLocks noGrp="1"/>
          </p:cNvSpPr>
          <p:nvPr>
            <p:ph idx="1"/>
          </p:nvPr>
        </p:nvSpPr>
        <p:spPr>
          <a:xfrm>
            <a:off x="800100" y="1935126"/>
            <a:ext cx="10691265" cy="3888539"/>
          </a:xfrm>
        </p:spPr>
        <p:txBody>
          <a:bodyPr>
            <a:normAutofit/>
          </a:bodyPr>
          <a:lstStyle/>
          <a:p>
            <a:r>
              <a:rPr lang="en-US" sz="2400" dirty="0"/>
              <a:t>Research: </a:t>
            </a:r>
          </a:p>
          <a:p>
            <a:pPr lvl="1"/>
            <a:r>
              <a:rPr lang="en-US" sz="2400" dirty="0"/>
              <a:t>task: essay writing</a:t>
            </a:r>
          </a:p>
          <a:p>
            <a:pPr lvl="1"/>
            <a:r>
              <a:rPr lang="en-US" sz="2400" dirty="0"/>
              <a:t>First, three groups: LLM group, Search Engine group, Brain-only group</a:t>
            </a:r>
          </a:p>
          <a:p>
            <a:pPr lvl="1"/>
            <a:r>
              <a:rPr lang="en-US" sz="2400" dirty="0"/>
              <a:t>Second, LLM-to-Brain group, Brain-to-LLM group</a:t>
            </a:r>
          </a:p>
          <a:p>
            <a:r>
              <a:rPr lang="en-US" sz="2400" dirty="0"/>
              <a:t>Cognitive debt: a condition in which repeated reliance on external systems like LLMs replaces the effortful cognitive processes required for independent thinking (151)</a:t>
            </a:r>
          </a:p>
          <a:p>
            <a:r>
              <a:rPr lang="en-US" sz="2400" dirty="0"/>
              <a:t>Long-term costs v. short-term gains</a:t>
            </a:r>
          </a:p>
        </p:txBody>
      </p:sp>
      <p:sp>
        <p:nvSpPr>
          <p:cNvPr id="5" name="TextBox 4">
            <a:extLst>
              <a:ext uri="{FF2B5EF4-FFF2-40B4-BE49-F238E27FC236}">
                <a16:creationId xmlns:a16="http://schemas.microsoft.com/office/drawing/2014/main" id="{E3390BCA-6F43-35EA-3A90-FCB8B9312C2C}"/>
              </a:ext>
            </a:extLst>
          </p:cNvPr>
          <p:cNvSpPr txBox="1"/>
          <p:nvPr/>
        </p:nvSpPr>
        <p:spPr>
          <a:xfrm>
            <a:off x="935107" y="6211669"/>
            <a:ext cx="10222319" cy="646331"/>
          </a:xfrm>
          <a:prstGeom prst="rect">
            <a:avLst/>
          </a:prstGeom>
          <a:noFill/>
        </p:spPr>
        <p:txBody>
          <a:bodyPr wrap="square" rtlCol="0">
            <a:spAutoFit/>
          </a:bodyPr>
          <a:lstStyle/>
          <a:p>
            <a:r>
              <a:rPr lang="en-HK" dirty="0"/>
              <a:t>Nataliya </a:t>
            </a:r>
            <a:r>
              <a:rPr lang="en-HK" dirty="0" err="1"/>
              <a:t>Kosmyna</a:t>
            </a:r>
            <a:r>
              <a:rPr lang="en-HK" dirty="0"/>
              <a:t>, et al. 2025. "Your Brain on ChatGPT: Accumulation of Cognitive Debt when Using an AI Assistant for Essay Writing Task </a:t>
            </a:r>
            <a:endParaRPr lang="en-US" dirty="0"/>
          </a:p>
        </p:txBody>
      </p:sp>
    </p:spTree>
    <p:extLst>
      <p:ext uri="{BB962C8B-B14F-4D97-AF65-F5344CB8AC3E}">
        <p14:creationId xmlns:p14="http://schemas.microsoft.com/office/powerpoint/2010/main" val="733157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38C14360-B47E-4B98-3CF3-F2D4C0B0757C}"/>
              </a:ext>
            </a:extLst>
          </p:cNvPr>
          <p:cNvSpPr>
            <a:spLocks noGrp="1"/>
          </p:cNvSpPr>
          <p:nvPr>
            <p:ph type="title"/>
          </p:nvPr>
        </p:nvSpPr>
        <p:spPr>
          <a:xfrm>
            <a:off x="929614" y="2322570"/>
            <a:ext cx="4265763" cy="1441776"/>
          </a:xfrm>
        </p:spPr>
        <p:txBody>
          <a:bodyPr anchor="t">
            <a:normAutofit/>
          </a:bodyPr>
          <a:lstStyle/>
          <a:p>
            <a:r>
              <a:rPr lang="en-US" dirty="0"/>
              <a:t>The Hugging face event</a:t>
            </a:r>
          </a:p>
        </p:txBody>
      </p:sp>
      <p:sp>
        <p:nvSpPr>
          <p:cNvPr id="3" name="Content Placeholder 2">
            <a:extLst>
              <a:ext uri="{FF2B5EF4-FFF2-40B4-BE49-F238E27FC236}">
                <a16:creationId xmlns:a16="http://schemas.microsoft.com/office/drawing/2014/main" id="{82FD57C4-361C-A175-DDE8-506D05C83279}"/>
              </a:ext>
            </a:extLst>
          </p:cNvPr>
          <p:cNvSpPr>
            <a:spLocks noGrp="1"/>
          </p:cNvSpPr>
          <p:nvPr>
            <p:ph idx="1"/>
          </p:nvPr>
        </p:nvSpPr>
        <p:spPr>
          <a:xfrm>
            <a:off x="5871353" y="2200490"/>
            <a:ext cx="5825842" cy="3445399"/>
          </a:xfrm>
        </p:spPr>
        <p:txBody>
          <a:bodyPr>
            <a:normAutofit/>
          </a:bodyPr>
          <a:lstStyle/>
          <a:p>
            <a:r>
              <a:rPr lang="en-US" sz="2800" dirty="0"/>
              <a:t>Does AI reflect the worse side of human beings?</a:t>
            </a:r>
          </a:p>
          <a:p>
            <a:pPr lvl="1"/>
            <a:r>
              <a:rPr lang="en-US" sz="2600" dirty="0"/>
              <a:t>Hallucination: cheating, fabricating information, covering track after cheating …</a:t>
            </a:r>
          </a:p>
        </p:txBody>
      </p:sp>
      <p:cxnSp>
        <p:nvCxnSpPr>
          <p:cNvPr id="10" name="Straight Connector 9">
            <a:extLst>
              <a:ext uri="{FF2B5EF4-FFF2-40B4-BE49-F238E27FC236}">
                <a16:creationId xmlns:a16="http://schemas.microsoft.com/office/drawing/2014/main" id="{78F0A063-5253-8DF5-3B7B-12FE096705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50816" y="3764346"/>
            <a:ext cx="402336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4815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8D8565C6-8A15-3E7D-ED02-3ECA5C066EAE}"/>
              </a:ext>
            </a:extLst>
          </p:cNvPr>
          <p:cNvSpPr>
            <a:spLocks noGrp="1"/>
          </p:cNvSpPr>
          <p:nvPr>
            <p:ph type="title"/>
          </p:nvPr>
        </p:nvSpPr>
        <p:spPr>
          <a:xfrm>
            <a:off x="954823" y="2109493"/>
            <a:ext cx="4265763" cy="1441776"/>
          </a:xfrm>
        </p:spPr>
        <p:txBody>
          <a:bodyPr anchor="t">
            <a:normAutofit/>
          </a:bodyPr>
          <a:lstStyle/>
          <a:p>
            <a:r>
              <a:rPr lang="en-US" dirty="0"/>
              <a:t>Interaction</a:t>
            </a:r>
          </a:p>
        </p:txBody>
      </p:sp>
      <p:sp>
        <p:nvSpPr>
          <p:cNvPr id="5" name="Content Placeholder 4">
            <a:extLst>
              <a:ext uri="{FF2B5EF4-FFF2-40B4-BE49-F238E27FC236}">
                <a16:creationId xmlns:a16="http://schemas.microsoft.com/office/drawing/2014/main" id="{2D56238A-7B85-F418-6D10-B2036298C958}"/>
              </a:ext>
            </a:extLst>
          </p:cNvPr>
          <p:cNvSpPr>
            <a:spLocks noGrp="1"/>
          </p:cNvSpPr>
          <p:nvPr>
            <p:ph idx="1"/>
          </p:nvPr>
        </p:nvSpPr>
        <p:spPr>
          <a:xfrm>
            <a:off x="5871353" y="1414132"/>
            <a:ext cx="6228498" cy="4231758"/>
          </a:xfrm>
        </p:spPr>
        <p:txBody>
          <a:bodyPr>
            <a:normAutofit/>
          </a:bodyPr>
          <a:lstStyle/>
          <a:p>
            <a:r>
              <a:rPr lang="en-US" sz="3600" dirty="0">
                <a:latin typeface="Times New Roman" panose="02020603050405020304" pitchFamily="18" charset="0"/>
                <a:cs typeface="Times New Roman" panose="02020603050405020304" pitchFamily="18" charset="0"/>
              </a:rPr>
              <a:t>De-skilling in human interaction?</a:t>
            </a:r>
          </a:p>
          <a:p>
            <a:pPr lvl="1"/>
            <a:r>
              <a:rPr lang="en-US" sz="3400" dirty="0">
                <a:latin typeface="Times New Roman" panose="02020603050405020304" pitchFamily="18" charset="0"/>
                <a:cs typeface="Times New Roman" panose="02020603050405020304" pitchFamily="18" charset="0"/>
              </a:rPr>
              <a:t>Sycophancy</a:t>
            </a:r>
          </a:p>
          <a:p>
            <a:r>
              <a:rPr lang="en-US" sz="3600" dirty="0">
                <a:latin typeface="Times New Roman" panose="02020603050405020304" pitchFamily="18" charset="0"/>
                <a:cs typeface="Times New Roman" panose="02020603050405020304" pitchFamily="18" charset="0"/>
              </a:rPr>
              <a:t>Will human-to-human interaction become a privilege? </a:t>
            </a:r>
          </a:p>
          <a:p>
            <a:pPr lvl="1"/>
            <a:r>
              <a:rPr lang="en-US" sz="3400" dirty="0">
                <a:latin typeface="Times New Roman" panose="02020603050405020304" pitchFamily="18" charset="0"/>
                <a:cs typeface="Times New Roman" panose="02020603050405020304" pitchFamily="18" charset="0"/>
              </a:rPr>
              <a:t>Bot loop</a:t>
            </a:r>
          </a:p>
          <a:p>
            <a:endParaRPr lang="en-US" dirty="0"/>
          </a:p>
        </p:txBody>
      </p:sp>
      <p:cxnSp>
        <p:nvCxnSpPr>
          <p:cNvPr id="12" name="Straight Connector 11">
            <a:extLst>
              <a:ext uri="{FF2B5EF4-FFF2-40B4-BE49-F238E27FC236}">
                <a16:creationId xmlns:a16="http://schemas.microsoft.com/office/drawing/2014/main" id="{78F0A063-5253-8DF5-3B7B-12FE096705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50816" y="3764346"/>
            <a:ext cx="402336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3244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7" name="Rectangle 26">
            <a:extLst>
              <a:ext uri="{FF2B5EF4-FFF2-40B4-BE49-F238E27FC236}">
                <a16:creationId xmlns:a16="http://schemas.microsoft.com/office/drawing/2014/main" id="{74ABF6B1-3A9A-4CEE-889E-0D96AB03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FA200974-A84D-7B41-ED59-FCAEDA19CEEC}"/>
              </a:ext>
            </a:extLst>
          </p:cNvPr>
          <p:cNvSpPr>
            <a:spLocks noGrp="1"/>
          </p:cNvSpPr>
          <p:nvPr>
            <p:ph type="title"/>
          </p:nvPr>
        </p:nvSpPr>
        <p:spPr>
          <a:xfrm>
            <a:off x="1938482" y="4821885"/>
            <a:ext cx="8315036" cy="1334691"/>
          </a:xfrm>
        </p:spPr>
        <p:txBody>
          <a:bodyPr vert="horz" lIns="91440" tIns="45720" rIns="91440" bIns="45720" rtlCol="0" anchor="b">
            <a:normAutofit/>
          </a:bodyPr>
          <a:lstStyle/>
          <a:p>
            <a:pPr algn="ctr">
              <a:lnSpc>
                <a:spcPct val="90000"/>
              </a:lnSpc>
            </a:pPr>
            <a:r>
              <a:rPr lang="en-US" sz="2000" dirty="0">
                <a:latin typeface="Times New Roman" panose="02020603050405020304" pitchFamily="18" charset="0"/>
                <a:cs typeface="Times New Roman" panose="02020603050405020304" pitchFamily="18" charset="0"/>
              </a:rPr>
              <a:t>Why are sci-fi films </a:t>
            </a:r>
            <a:r>
              <a:rPr lang="en-US" sz="2000">
                <a:latin typeface="Times New Roman" panose="02020603050405020304" pitchFamily="18" charset="0"/>
                <a:cs typeface="Times New Roman" panose="02020603050405020304" pitchFamily="18" charset="0"/>
              </a:rPr>
              <a:t>mostly about Technological dystopia?</a:t>
            </a:r>
            <a:endParaRPr lang="en-US"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78E5F01-701F-991B-7949-526A4D6ACC3A}"/>
              </a:ext>
            </a:extLst>
          </p:cNvPr>
          <p:cNvPicPr>
            <a:picLocks noChangeAspect="1"/>
          </p:cNvPicPr>
          <p:nvPr/>
        </p:nvPicPr>
        <p:blipFill>
          <a:blip r:embed="rId2"/>
          <a:stretch>
            <a:fillRect/>
          </a:stretch>
        </p:blipFill>
        <p:spPr>
          <a:xfrm>
            <a:off x="1537569" y="701415"/>
            <a:ext cx="2472683" cy="3704396"/>
          </a:xfrm>
          <a:prstGeom prst="rect">
            <a:avLst/>
          </a:prstGeom>
        </p:spPr>
      </p:pic>
      <p:pic>
        <p:nvPicPr>
          <p:cNvPr id="12" name="Picture 11">
            <a:extLst>
              <a:ext uri="{FF2B5EF4-FFF2-40B4-BE49-F238E27FC236}">
                <a16:creationId xmlns:a16="http://schemas.microsoft.com/office/drawing/2014/main" id="{5F2EA3D6-27D9-B191-9FB7-8E13BD0BE4D2}"/>
              </a:ext>
            </a:extLst>
          </p:cNvPr>
          <p:cNvPicPr>
            <a:picLocks noChangeAspect="1"/>
          </p:cNvPicPr>
          <p:nvPr/>
        </p:nvPicPr>
        <p:blipFill>
          <a:blip r:embed="rId3"/>
          <a:stretch>
            <a:fillRect/>
          </a:stretch>
        </p:blipFill>
        <p:spPr>
          <a:xfrm>
            <a:off x="4875845" y="701415"/>
            <a:ext cx="2463423" cy="3704396"/>
          </a:xfrm>
          <a:prstGeom prst="rect">
            <a:avLst/>
          </a:prstGeom>
        </p:spPr>
      </p:pic>
      <p:pic>
        <p:nvPicPr>
          <p:cNvPr id="6" name="Picture 5">
            <a:extLst>
              <a:ext uri="{FF2B5EF4-FFF2-40B4-BE49-F238E27FC236}">
                <a16:creationId xmlns:a16="http://schemas.microsoft.com/office/drawing/2014/main" id="{49F11E25-04B9-1613-EB9B-F0A280925B6B}"/>
              </a:ext>
            </a:extLst>
          </p:cNvPr>
          <p:cNvPicPr>
            <a:picLocks noChangeAspect="1"/>
          </p:cNvPicPr>
          <p:nvPr/>
        </p:nvPicPr>
        <p:blipFill>
          <a:blip r:embed="rId4"/>
          <a:stretch>
            <a:fillRect/>
          </a:stretch>
        </p:blipFill>
        <p:spPr>
          <a:xfrm>
            <a:off x="8013893" y="701415"/>
            <a:ext cx="2796819" cy="3704396"/>
          </a:xfrm>
          <a:prstGeom prst="rect">
            <a:avLst/>
          </a:prstGeom>
        </p:spPr>
      </p:pic>
      <p:cxnSp>
        <p:nvCxnSpPr>
          <p:cNvPr id="29" name="Straight Connector 28">
            <a:extLst>
              <a:ext uri="{FF2B5EF4-FFF2-40B4-BE49-F238E27FC236}">
                <a16:creationId xmlns:a16="http://schemas.microsoft.com/office/drawing/2014/main" id="{E0AA8030-FA65-4B8E-8530-372EEE8517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76850" y="4613848"/>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9268961"/>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1210</TotalTime>
  <Words>245</Words>
  <Application>Microsoft Macintosh PowerPoint</Application>
  <PresentationFormat>Widescreen</PresentationFormat>
  <Paragraphs>28</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Bierstadt</vt:lpstr>
      <vt:lpstr>Calisto MT</vt:lpstr>
      <vt:lpstr>Times New Roman</vt:lpstr>
      <vt:lpstr>Univers Condensed</vt:lpstr>
      <vt:lpstr>ChronicleVTI</vt:lpstr>
      <vt:lpstr>PIA 2030   Traditions of Inquiry in the Social Sciences</vt:lpstr>
      <vt:lpstr>W2   LET’S TALK ABOUT AI</vt:lpstr>
      <vt:lpstr>AI’s impact on cognitive ability </vt:lpstr>
      <vt:lpstr>Evaluating misinformation</vt:lpstr>
      <vt:lpstr>Cognitive Debt</vt:lpstr>
      <vt:lpstr>The Hugging face event</vt:lpstr>
      <vt:lpstr>Interaction</vt:lpstr>
      <vt:lpstr>Why are sci-fi films mostly about Technological dystopia?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Prof. ZHANG Jun</dc:creator>
  <cp:lastModifiedBy>Prof. ZHANG Jun</cp:lastModifiedBy>
  <cp:revision>11</cp:revision>
  <dcterms:created xsi:type="dcterms:W3CDTF">2026-08-29T02:59:02Z</dcterms:created>
  <dcterms:modified xsi:type="dcterms:W3CDTF">2026-09-10T09:33:38Z</dcterms:modified>
</cp:coreProperties>
</file>